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0" r:id="rId2"/>
  </p:sldMasterIdLst>
  <p:notesMasterIdLst>
    <p:notesMasterId r:id="rId22"/>
  </p:notesMasterIdLst>
  <p:handoutMasterIdLst>
    <p:handoutMasterId r:id="rId23"/>
  </p:handoutMasterIdLst>
  <p:sldIdLst>
    <p:sldId id="260" r:id="rId3"/>
    <p:sldId id="279" r:id="rId4"/>
    <p:sldId id="257" r:id="rId5"/>
    <p:sldId id="283" r:id="rId6"/>
    <p:sldId id="281" r:id="rId7"/>
    <p:sldId id="261" r:id="rId8"/>
    <p:sldId id="280" r:id="rId9"/>
    <p:sldId id="288" r:id="rId10"/>
    <p:sldId id="289" r:id="rId11"/>
    <p:sldId id="264" r:id="rId12"/>
    <p:sldId id="276" r:id="rId13"/>
    <p:sldId id="291" r:id="rId14"/>
    <p:sldId id="269" r:id="rId15"/>
    <p:sldId id="293" r:id="rId16"/>
    <p:sldId id="294" r:id="rId17"/>
    <p:sldId id="265" r:id="rId18"/>
    <p:sldId id="292" r:id="rId19"/>
    <p:sldId id="273" r:id="rId20"/>
    <p:sldId id="272" r:id="rId21"/>
  </p:sldIdLst>
  <p:sldSz cx="9144000" cy="6858000" type="screen4x3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3250A4E-CA67-4111-B302-543F83E4B5F3}">
          <p14:sldIdLst>
            <p14:sldId id="260"/>
          </p14:sldIdLst>
        </p14:section>
        <p14:section name="Step_1" id="{2CD44FC8-0DEE-4F99-B151-D201DFC3E862}">
          <p14:sldIdLst>
            <p14:sldId id="279"/>
            <p14:sldId id="257"/>
            <p14:sldId id="283"/>
            <p14:sldId id="281"/>
            <p14:sldId id="261"/>
            <p14:sldId id="280"/>
            <p14:sldId id="288"/>
            <p14:sldId id="289"/>
            <p14:sldId id="264"/>
            <p14:sldId id="276"/>
            <p14:sldId id="291"/>
            <p14:sldId id="269"/>
            <p14:sldId id="293"/>
            <p14:sldId id="294"/>
            <p14:sldId id="265"/>
            <p14:sldId id="292"/>
            <p14:sldId id="273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DFEC"/>
    <a:srgbClr val="D7DEEC"/>
    <a:srgbClr val="D6DFEC"/>
    <a:srgbClr val="FEFEFE"/>
    <a:srgbClr val="E5ADB6"/>
    <a:srgbClr val="F6DE95"/>
    <a:srgbClr val="FFCC00"/>
    <a:srgbClr val="E3E3E3"/>
    <a:srgbClr val="D9DB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50" autoAdjust="0"/>
    <p:restoredTop sz="82876" autoAdjust="0"/>
  </p:normalViewPr>
  <p:slideViewPr>
    <p:cSldViewPr snapToGrid="0" snapToObjects="1">
      <p:cViewPr varScale="1">
        <p:scale>
          <a:sx n="68" d="100"/>
          <a:sy n="68" d="100"/>
        </p:scale>
        <p:origin x="2088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583D42-4FF6-4F41-92EE-A859FFB83A37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3D2487AF-8364-4D53-88F7-8C249F3189A6}">
      <dgm:prSet phldrT="[Text]" custT="1"/>
      <dgm:spPr/>
      <dgm:t>
        <a:bodyPr/>
        <a:lstStyle/>
        <a:p>
          <a:r>
            <a:rPr lang="de-DE" sz="1400" dirty="0"/>
            <a:t>Reservation Request</a:t>
          </a:r>
          <a:endParaRPr lang="en-DE" sz="1400" dirty="0"/>
        </a:p>
      </dgm:t>
    </dgm:pt>
    <dgm:pt modelId="{41F4328A-4DB4-46B6-8392-849044F616BD}" type="parTrans" cxnId="{0C3A0C1A-E569-4061-9EF8-E0EC27E82248}">
      <dgm:prSet/>
      <dgm:spPr/>
      <dgm:t>
        <a:bodyPr/>
        <a:lstStyle/>
        <a:p>
          <a:endParaRPr lang="en-DE"/>
        </a:p>
      </dgm:t>
    </dgm:pt>
    <dgm:pt modelId="{5A97DB39-2DFF-4A13-BED1-E848238DFFC1}" type="sibTrans" cxnId="{0C3A0C1A-E569-4061-9EF8-E0EC27E82248}">
      <dgm:prSet/>
      <dgm:spPr/>
      <dgm:t>
        <a:bodyPr/>
        <a:lstStyle/>
        <a:p>
          <a:endParaRPr lang="en-DE"/>
        </a:p>
      </dgm:t>
    </dgm:pt>
    <dgm:pt modelId="{1D27B9D2-21DC-4446-BC24-7645B7034FBB}">
      <dgm:prSet phldrT="[Text]"/>
      <dgm:spPr/>
      <dgm:t>
        <a:bodyPr/>
        <a:lstStyle/>
        <a:p>
          <a:r>
            <a:rPr lang="de-DE" dirty="0"/>
            <a:t> Conflict Check</a:t>
          </a:r>
          <a:endParaRPr lang="en-DE" dirty="0"/>
        </a:p>
      </dgm:t>
    </dgm:pt>
    <dgm:pt modelId="{7381DFB8-625C-4CF1-8917-532029339942}" type="parTrans" cxnId="{3E2B28EA-FED6-45DD-9653-C8F024BA613B}">
      <dgm:prSet/>
      <dgm:spPr/>
      <dgm:t>
        <a:bodyPr/>
        <a:lstStyle/>
        <a:p>
          <a:endParaRPr lang="en-DE"/>
        </a:p>
      </dgm:t>
    </dgm:pt>
    <dgm:pt modelId="{B8DCD724-9FE9-4C5F-9261-2B11A40EDDBD}" type="sibTrans" cxnId="{3E2B28EA-FED6-45DD-9653-C8F024BA613B}">
      <dgm:prSet/>
      <dgm:spPr/>
      <dgm:t>
        <a:bodyPr/>
        <a:lstStyle/>
        <a:p>
          <a:endParaRPr lang="en-DE"/>
        </a:p>
      </dgm:t>
    </dgm:pt>
    <dgm:pt modelId="{1660BAE8-ACCD-4C45-9E75-3F3B6380F2A7}">
      <dgm:prSet phldrT="[Text]"/>
      <dgm:spPr/>
      <dgm:t>
        <a:bodyPr/>
        <a:lstStyle/>
        <a:p>
          <a:r>
            <a:rPr lang="de-DE" dirty="0"/>
            <a:t>Grant / Wait </a:t>
          </a:r>
          <a:r>
            <a:rPr lang="de-DE" dirty="0" err="1"/>
            <a:t>Decision</a:t>
          </a:r>
          <a:endParaRPr lang="en-DE" dirty="0"/>
        </a:p>
      </dgm:t>
    </dgm:pt>
    <dgm:pt modelId="{C0569616-5BD1-46D6-ABB6-235B56ACB976}" type="parTrans" cxnId="{B9CCF91A-3FE5-4EA4-A594-E2A3A228E5FD}">
      <dgm:prSet/>
      <dgm:spPr/>
      <dgm:t>
        <a:bodyPr/>
        <a:lstStyle/>
        <a:p>
          <a:endParaRPr lang="en-DE"/>
        </a:p>
      </dgm:t>
    </dgm:pt>
    <dgm:pt modelId="{C7BDA507-109B-43B0-9572-7BCE6BF67D49}" type="sibTrans" cxnId="{B9CCF91A-3FE5-4EA4-A594-E2A3A228E5FD}">
      <dgm:prSet/>
      <dgm:spPr/>
      <dgm:t>
        <a:bodyPr/>
        <a:lstStyle/>
        <a:p>
          <a:endParaRPr lang="en-DE"/>
        </a:p>
      </dgm:t>
    </dgm:pt>
    <dgm:pt modelId="{5E621BDB-4EB2-4723-B7F1-DEAEECAD4686}" type="pres">
      <dgm:prSet presAssocID="{43583D42-4FF6-4F41-92EE-A859FFB83A37}" presName="Name0" presStyleCnt="0">
        <dgm:presLayoutVars>
          <dgm:dir/>
          <dgm:animLvl val="lvl"/>
          <dgm:resizeHandles val="exact"/>
        </dgm:presLayoutVars>
      </dgm:prSet>
      <dgm:spPr/>
    </dgm:pt>
    <dgm:pt modelId="{AD345A1D-26F5-4FA2-B81F-5B6FBDA57E4D}" type="pres">
      <dgm:prSet presAssocID="{3D2487AF-8364-4D53-88F7-8C249F3189A6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4D964801-7B12-4A04-90DA-E817D1AFD603}" type="pres">
      <dgm:prSet presAssocID="{5A97DB39-2DFF-4A13-BED1-E848238DFFC1}" presName="parTxOnlySpace" presStyleCnt="0"/>
      <dgm:spPr/>
    </dgm:pt>
    <dgm:pt modelId="{20CF2CD7-A25C-43BB-808C-0CBDCD9B86CD}" type="pres">
      <dgm:prSet presAssocID="{1D27B9D2-21DC-4446-BC24-7645B7034FBB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AF0E93D5-8B7D-4FB3-A2A7-D37C0BCBD8AC}" type="pres">
      <dgm:prSet presAssocID="{B8DCD724-9FE9-4C5F-9261-2B11A40EDDBD}" presName="parTxOnlySpace" presStyleCnt="0"/>
      <dgm:spPr/>
    </dgm:pt>
    <dgm:pt modelId="{AFFD5515-D1F8-4939-BC77-02CBED9EA8A1}" type="pres">
      <dgm:prSet presAssocID="{1660BAE8-ACCD-4C45-9E75-3F3B6380F2A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C3A0C1A-E569-4061-9EF8-E0EC27E82248}" srcId="{43583D42-4FF6-4F41-92EE-A859FFB83A37}" destId="{3D2487AF-8364-4D53-88F7-8C249F3189A6}" srcOrd="0" destOrd="0" parTransId="{41F4328A-4DB4-46B6-8392-849044F616BD}" sibTransId="{5A97DB39-2DFF-4A13-BED1-E848238DFFC1}"/>
    <dgm:cxn modelId="{B9CCF91A-3FE5-4EA4-A594-E2A3A228E5FD}" srcId="{43583D42-4FF6-4F41-92EE-A859FFB83A37}" destId="{1660BAE8-ACCD-4C45-9E75-3F3B6380F2A7}" srcOrd="2" destOrd="0" parTransId="{C0569616-5BD1-46D6-ABB6-235B56ACB976}" sibTransId="{C7BDA507-109B-43B0-9572-7BCE6BF67D49}"/>
    <dgm:cxn modelId="{2206C03A-3146-4C29-BEEE-56CC7998AE7C}" type="presOf" srcId="{3D2487AF-8364-4D53-88F7-8C249F3189A6}" destId="{AD345A1D-26F5-4FA2-B81F-5B6FBDA57E4D}" srcOrd="0" destOrd="0" presId="urn:microsoft.com/office/officeart/2005/8/layout/chevron1"/>
    <dgm:cxn modelId="{2335CC72-A2D7-4565-A475-ECA256908B6E}" type="presOf" srcId="{43583D42-4FF6-4F41-92EE-A859FFB83A37}" destId="{5E621BDB-4EB2-4723-B7F1-DEAEECAD4686}" srcOrd="0" destOrd="0" presId="urn:microsoft.com/office/officeart/2005/8/layout/chevron1"/>
    <dgm:cxn modelId="{411248B7-CE3B-4229-8A77-1399D13C4BE7}" type="presOf" srcId="{1D27B9D2-21DC-4446-BC24-7645B7034FBB}" destId="{20CF2CD7-A25C-43BB-808C-0CBDCD9B86CD}" srcOrd="0" destOrd="0" presId="urn:microsoft.com/office/officeart/2005/8/layout/chevron1"/>
    <dgm:cxn modelId="{3E2B28EA-FED6-45DD-9653-C8F024BA613B}" srcId="{43583D42-4FF6-4F41-92EE-A859FFB83A37}" destId="{1D27B9D2-21DC-4446-BC24-7645B7034FBB}" srcOrd="1" destOrd="0" parTransId="{7381DFB8-625C-4CF1-8917-532029339942}" sibTransId="{B8DCD724-9FE9-4C5F-9261-2B11A40EDDBD}"/>
    <dgm:cxn modelId="{132510EF-3A06-441B-8895-9D6E3AAC4CDF}" type="presOf" srcId="{1660BAE8-ACCD-4C45-9E75-3F3B6380F2A7}" destId="{AFFD5515-D1F8-4939-BC77-02CBED9EA8A1}" srcOrd="0" destOrd="0" presId="urn:microsoft.com/office/officeart/2005/8/layout/chevron1"/>
    <dgm:cxn modelId="{8EDC04E4-C471-4447-B6B4-1D3E6197342C}" type="presParOf" srcId="{5E621BDB-4EB2-4723-B7F1-DEAEECAD4686}" destId="{AD345A1D-26F5-4FA2-B81F-5B6FBDA57E4D}" srcOrd="0" destOrd="0" presId="urn:microsoft.com/office/officeart/2005/8/layout/chevron1"/>
    <dgm:cxn modelId="{46A5EE06-1B64-40A8-82B9-08F8DD76D509}" type="presParOf" srcId="{5E621BDB-4EB2-4723-B7F1-DEAEECAD4686}" destId="{4D964801-7B12-4A04-90DA-E817D1AFD603}" srcOrd="1" destOrd="0" presId="urn:microsoft.com/office/officeart/2005/8/layout/chevron1"/>
    <dgm:cxn modelId="{88BF8E71-050C-4A47-B28B-65D36E440B12}" type="presParOf" srcId="{5E621BDB-4EB2-4723-B7F1-DEAEECAD4686}" destId="{20CF2CD7-A25C-43BB-808C-0CBDCD9B86CD}" srcOrd="2" destOrd="0" presId="urn:microsoft.com/office/officeart/2005/8/layout/chevron1"/>
    <dgm:cxn modelId="{06E07D21-0981-472A-9F74-BC943F4E6818}" type="presParOf" srcId="{5E621BDB-4EB2-4723-B7F1-DEAEECAD4686}" destId="{AF0E93D5-8B7D-4FB3-A2A7-D37C0BCBD8AC}" srcOrd="3" destOrd="0" presId="urn:microsoft.com/office/officeart/2005/8/layout/chevron1"/>
    <dgm:cxn modelId="{C49E873B-BEAD-4168-A385-7994859DE999}" type="presParOf" srcId="{5E621BDB-4EB2-4723-B7F1-DEAEECAD4686}" destId="{AFFD5515-D1F8-4939-BC77-02CBED9EA8A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45A1D-26F5-4FA2-B81F-5B6FBDA57E4D}">
      <dsp:nvSpPr>
        <dsp:cNvPr id="0" name=""/>
        <dsp:cNvSpPr/>
      </dsp:nvSpPr>
      <dsp:spPr>
        <a:xfrm>
          <a:off x="1339" y="767343"/>
          <a:ext cx="1631900" cy="6527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Reservation Request</a:t>
          </a:r>
          <a:endParaRPr lang="en-DE" sz="1400" kern="1200" dirty="0"/>
        </a:p>
      </dsp:txBody>
      <dsp:txXfrm>
        <a:off x="327719" y="767343"/>
        <a:ext cx="979140" cy="652760"/>
      </dsp:txXfrm>
    </dsp:sp>
    <dsp:sp modelId="{20CF2CD7-A25C-43BB-808C-0CBDCD9B86CD}">
      <dsp:nvSpPr>
        <dsp:cNvPr id="0" name=""/>
        <dsp:cNvSpPr/>
      </dsp:nvSpPr>
      <dsp:spPr>
        <a:xfrm>
          <a:off x="1470049" y="767343"/>
          <a:ext cx="1631900" cy="6527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 Conflict Check</a:t>
          </a:r>
          <a:endParaRPr lang="en-DE" sz="1400" kern="1200" dirty="0"/>
        </a:p>
      </dsp:txBody>
      <dsp:txXfrm>
        <a:off x="1796429" y="767343"/>
        <a:ext cx="979140" cy="652760"/>
      </dsp:txXfrm>
    </dsp:sp>
    <dsp:sp modelId="{AFFD5515-D1F8-4939-BC77-02CBED9EA8A1}">
      <dsp:nvSpPr>
        <dsp:cNvPr id="0" name=""/>
        <dsp:cNvSpPr/>
      </dsp:nvSpPr>
      <dsp:spPr>
        <a:xfrm>
          <a:off x="2938760" y="767343"/>
          <a:ext cx="1631900" cy="6527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kern="1200" dirty="0"/>
            <a:t>Grant / Wait </a:t>
          </a:r>
          <a:r>
            <a:rPr lang="de-DE" sz="1400" kern="1200" dirty="0" err="1"/>
            <a:t>Decision</a:t>
          </a:r>
          <a:endParaRPr lang="en-DE" sz="1400" kern="1200" dirty="0"/>
        </a:p>
      </dsp:txBody>
      <dsp:txXfrm>
        <a:off x="3265140" y="767343"/>
        <a:ext cx="979140" cy="6527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817F0-84FC-C145-AFC3-FA42D1D21F8E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16E92-7EF2-5A47-8774-75AC8D7375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619881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0FA3C8-DE25-7348-A1F7-D749F91943C8}" type="datetimeFigureOut">
              <a:rPr lang="de-DE" smtClean="0"/>
              <a:t>18.07.2026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E6540-DBC8-1449-A578-CCAD6D2991B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2662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8942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1-making them the main bottlenecks in city road networks.</a:t>
            </a:r>
          </a:p>
          <a:p>
            <a:r>
              <a:rPr lang="en-US" dirty="0"/>
              <a:t>2-Drastic Reduction in Average Travel Delay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5918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823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3492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Trajectory Mapping: </a:t>
            </a:r>
            <a:r>
              <a:rPr lang="de-DE" dirty="0" err="1"/>
              <a:t>Discretizes</a:t>
            </a:r>
            <a:r>
              <a:rPr lang="de-DE" dirty="0"/>
              <a:t> 12 </a:t>
            </a:r>
            <a:r>
              <a:rPr lang="de-DE" dirty="0" err="1"/>
              <a:t>directional</a:t>
            </a:r>
            <a:r>
              <a:rPr lang="de-DE" dirty="0"/>
              <a:t> maneuvers (M1 to M12) into </a:t>
            </a:r>
            <a:r>
              <a:rPr lang="de-DE" dirty="0" err="1"/>
              <a:t>standardized</a:t>
            </a:r>
            <a:r>
              <a:rPr lang="de-DE" dirty="0"/>
              <a:t> straight and turning paths.</a:t>
            </a:r>
          </a:p>
          <a:p>
            <a:endParaRPr lang="de-DE" dirty="0"/>
          </a:p>
          <a:p>
            <a:r>
              <a:rPr lang="de-DE" dirty="0"/>
              <a:t>Spatial Resource Allocation: Links </a:t>
            </a:r>
            <a:r>
              <a:rPr lang="de-DE" dirty="0" err="1"/>
              <a:t>each</a:t>
            </a:r>
            <a:r>
              <a:rPr lang="de-DE" dirty="0"/>
              <a:t> </a:t>
            </a:r>
            <a:r>
              <a:rPr lang="de-DE" dirty="0" err="1"/>
              <a:t>movement</a:t>
            </a:r>
            <a:r>
              <a:rPr lang="de-DE" dirty="0"/>
              <a:t> to </a:t>
            </a:r>
            <a:r>
              <a:rPr lang="de-DE" dirty="0" err="1"/>
              <a:t>specific</a:t>
            </a:r>
            <a:r>
              <a:rPr lang="de-DE" dirty="0"/>
              <a:t> quadrant sequences (Q1 to Q4) to </a:t>
            </a:r>
            <a:r>
              <a:rPr lang="de-DE" dirty="0" err="1"/>
              <a:t>establish</a:t>
            </a:r>
            <a:r>
              <a:rPr lang="de-DE" dirty="0"/>
              <a:t> </a:t>
            </a:r>
            <a:r>
              <a:rPr lang="de-DE" dirty="0" err="1"/>
              <a:t>collision-avoidance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.</a:t>
            </a:r>
          </a:p>
          <a:p>
            <a:endParaRPr lang="de-DE" dirty="0"/>
          </a:p>
          <a:p>
            <a:r>
              <a:rPr lang="de-DE" dirty="0"/>
              <a:t>Conflict Identification: Isolates overlapping </a:t>
            </a:r>
            <a:r>
              <a:rPr lang="de-DE" dirty="0" err="1"/>
              <a:t>path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(e.g., M1, M9, and M10 all </a:t>
            </a:r>
            <a:r>
              <a:rPr lang="de-DE" dirty="0" err="1"/>
              <a:t>demanding</a:t>
            </a:r>
            <a:r>
              <a:rPr lang="de-DE" dirty="0"/>
              <a:t> Q2 \</a:t>
            </a:r>
            <a:r>
              <a:rPr lang="de-DE" dirty="0" err="1"/>
              <a:t>rightarrow</a:t>
            </a:r>
            <a:r>
              <a:rPr lang="de-DE" dirty="0"/>
              <a:t> Q3) to highlight </a:t>
            </a:r>
            <a:r>
              <a:rPr lang="de-DE" dirty="0" err="1"/>
              <a:t>scheduling</a:t>
            </a:r>
            <a:r>
              <a:rPr lang="de-DE" dirty="0"/>
              <a:t> bottlenecks.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5497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4474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1-	A-Slot Allocation: </a:t>
            </a:r>
            <a:r>
              <a:rPr lang="en-US" dirty="0"/>
              <a:t>Assigns the lowest open ID (</a:t>
            </a:r>
            <a:r>
              <a:rPr lang="en-US" dirty="0" err="1"/>
              <a:t>i</a:t>
            </a:r>
            <a:r>
              <a:rPr lang="en-US" dirty="0"/>
              <a:t> = 0 to 3) to the incoming vehicle.</a:t>
            </a:r>
          </a:p>
          <a:p>
            <a:r>
              <a:rPr lang="en-US" b="1" dirty="0"/>
              <a:t>	B-State Reset: </a:t>
            </a:r>
            <a:r>
              <a:rPr lang="en-US" dirty="0"/>
              <a:t>Activates the vehicle agent, maps its request, and resets its wait timer to 0. Cost Weighting: Sets cost = 1 for straight paths (M1–M4) and cost = 2 for turns.</a:t>
            </a:r>
          </a:p>
          <a:p>
            <a:r>
              <a:rPr lang="en-US" b="1" dirty="0"/>
              <a:t>	C-Maneuver Rotation: </a:t>
            </a:r>
            <a:r>
              <a:rPr lang="en-US" dirty="0"/>
              <a:t>Increments the global tracking counter, cycling from 1 to 12.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2-   </a:t>
            </a:r>
            <a:r>
              <a:rPr lang="en-US" b="1" dirty="0">
                <a:effectLst/>
                <a:latin typeface="Google Sans Text"/>
              </a:rPr>
              <a:t>	A-State Management:</a:t>
            </a:r>
            <a:r>
              <a:rPr lang="en-US" dirty="0">
                <a:effectLst/>
                <a:latin typeface="Google Sans Text"/>
              </a:rPr>
              <a:t> Advances the vehicle instance through a simple deterministic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1" dirty="0">
                <a:effectLst/>
                <a:latin typeface="Google Sans Text"/>
              </a:rPr>
              <a:t>            B-Liveness Notification:</a:t>
            </a:r>
            <a:r>
              <a:rPr lang="en-US" dirty="0">
                <a:effectLst/>
                <a:latin typeface="Google Sans Text"/>
              </a:rPr>
              <a:t> Toggles the activation flag (</a:t>
            </a:r>
            <a:r>
              <a:rPr lang="en-US" dirty="0" err="1">
                <a:effectLst/>
                <a:latin typeface="Google Sans Text"/>
              </a:rPr>
              <a:t>vehicleActive</a:t>
            </a:r>
            <a:r>
              <a:rPr lang="en-US" dirty="0">
                <a:effectLst/>
                <a:latin typeface="Google Sans Text"/>
              </a:rPr>
              <a:t>[vid] = true) to alert the core scheduler that a vehicle occupies the queue.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b="1" dirty="0">
                <a:effectLst/>
                <a:latin typeface="Google Sans Text"/>
              </a:rPr>
              <a:t>            C-Buffer Isolation:</a:t>
            </a:r>
            <a:r>
              <a:rPr lang="en-US" dirty="0">
                <a:effectLst/>
                <a:latin typeface="Google Sans Text"/>
              </a:rPr>
              <a:t> Stores its unique structural target in an internal variable </a:t>
            </a:r>
          </a:p>
          <a:p>
            <a:endParaRPr lang="en-DE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Future </a:t>
            </a:r>
            <a:r>
              <a:rPr lang="de-DE" dirty="0" err="1"/>
              <a:t>work</a:t>
            </a:r>
            <a:r>
              <a:rPr lang="de-DE" dirty="0"/>
              <a:t>: </a:t>
            </a:r>
            <a:r>
              <a:rPr lang="de-DE" dirty="0" err="1"/>
              <a:t>EmergencyHandlerOverrides</a:t>
            </a:r>
            <a:r>
              <a:rPr lang="de-DE" dirty="0"/>
              <a:t> normal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7818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Future </a:t>
            </a:r>
            <a:r>
              <a:rPr lang="de-DE" dirty="0" err="1"/>
              <a:t>work</a:t>
            </a:r>
            <a:r>
              <a:rPr lang="de-DE" dirty="0"/>
              <a:t>: </a:t>
            </a:r>
            <a:r>
              <a:rPr lang="de-DE" dirty="0" err="1"/>
              <a:t>EmergencyHandler</a:t>
            </a:r>
            <a:r>
              <a:rPr lang="de-DE" dirty="0"/>
              <a:t> </a:t>
            </a:r>
            <a:r>
              <a:rPr lang="de-DE" dirty="0" err="1"/>
              <a:t>Overrides</a:t>
            </a:r>
            <a:r>
              <a:rPr lang="de-DE" dirty="0"/>
              <a:t> normal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Achieve safe, deterministic, and real-time scheduling while balancing fairness and efficiency under strict intersection constraints.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verify the system using CTL properties in UPPAAL to ensure safety (no collisions), liveness (progress), and real-time constraints under all possible execution traces.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Reservation-based search through </a:t>
            </a:r>
            <a:r>
              <a:rPr lang="en-US" dirty="0" err="1"/>
              <a:t>queue</a:t>
            </a:r>
            <a:r>
              <a:rPr lang="en-US" b="1" dirty="0" err="1"/>
              <a:t>O</a:t>
            </a:r>
            <a:r>
              <a:rPr lang="en-US" b="1" dirty="0"/>
              <a:t>(N)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Fully parallel FPGA reservation engine</a:t>
            </a:r>
            <a:r>
              <a:rPr lang="en-DE" dirty="0"/>
              <a:t> </a:t>
            </a:r>
            <a:r>
              <a:rPr lang="en-US" b="1" dirty="0"/>
              <a:t>Approximately O(1)</a:t>
            </a:r>
            <a:r>
              <a:rPr lang="en-US" dirty="0"/>
              <a:t> scheduling latency</a:t>
            </a:r>
            <a:endParaRPr lang="en-DE" dirty="0"/>
          </a:p>
          <a:p>
            <a:endParaRPr lang="en-DE" dirty="0"/>
          </a:p>
          <a:p>
            <a:r>
              <a:rPr lang="en-US" dirty="0"/>
              <a:t>During each scheduling cycle, only the head-of-queue request is evaluated, and the FPGA performs conflict detection and reservation using fixed-size quadrant logic. Consequently, the scheduling decision has </a:t>
            </a:r>
            <a:r>
              <a:rPr lang="en-US" b="1" dirty="0"/>
              <a:t>constant time complexity, O(1)O(1)O(1),</a:t>
            </a:r>
            <a:r>
              <a:rPr lang="en-US" dirty="0"/>
              <a:t> independent of the number of waiting vehicles.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454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Future </a:t>
            </a:r>
            <a:r>
              <a:rPr lang="de-DE" dirty="0" err="1"/>
              <a:t>work</a:t>
            </a:r>
            <a:r>
              <a:rPr lang="de-DE" dirty="0"/>
              <a:t>: </a:t>
            </a:r>
            <a:r>
              <a:rPr lang="de-DE" dirty="0" err="1"/>
              <a:t>EmergencyHandler</a:t>
            </a:r>
            <a:r>
              <a:rPr lang="de-DE" dirty="0"/>
              <a:t> </a:t>
            </a:r>
            <a:r>
              <a:rPr lang="de-DE" dirty="0" err="1"/>
              <a:t>Overrides</a:t>
            </a:r>
            <a:r>
              <a:rPr lang="de-DE" dirty="0"/>
              <a:t> normal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needed</a:t>
            </a:r>
            <a:endParaRPr lang="de-DE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Achieve safe, deterministic, and real-time scheduling while balancing fairness and efficiency under strict intersection constraints.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verify the system using CTL properties in UPPAAL to ensure safety (no collisions), liveness (progress), and real-time constraints under all possible execution traces.</a:t>
            </a:r>
            <a:endParaRPr lang="en-DE" dirty="0"/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345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8099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0ef712f42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3f0ef712f42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 can say edge deployment a sa title </a:t>
            </a:r>
            <a:endParaRPr/>
          </a:p>
        </p:txBody>
      </p:sp>
      <p:sp>
        <p:nvSpPr>
          <p:cNvPr id="158" name="Google Shape;158;g3f0ef712f42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sz="1200" b="1" dirty="0">
                <a:solidFill>
                  <a:schemeClr val="dk1"/>
                </a:solidFill>
              </a:rPr>
              <a:t>Software </a:t>
            </a:r>
            <a:r>
              <a:rPr lang="de-DE" sz="1200" b="1" dirty="0" err="1">
                <a:solidFill>
                  <a:schemeClr val="dk1"/>
                </a:solidFill>
              </a:rPr>
              <a:t>Allocations</a:t>
            </a:r>
            <a:r>
              <a:rPr lang="de-DE" sz="1200" b="1" dirty="0">
                <a:solidFill>
                  <a:schemeClr val="dk1"/>
                </a:solidFill>
              </a:rPr>
              <a:t>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200" b="1" dirty="0">
              <a:solidFill>
                <a:schemeClr val="dk1"/>
              </a:solidFill>
            </a:endParaRP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1" dirty="0">
                <a:solidFill>
                  <a:schemeClr val="dk1"/>
                </a:solidFill>
              </a:rPr>
              <a:t>Movement Identification: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Evolving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movement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tracking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logic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requires</a:t>
            </a:r>
            <a:r>
              <a:rPr lang="de-DE" sz="1200" dirty="0">
                <a:solidFill>
                  <a:schemeClr val="dk1"/>
                </a:solidFill>
              </a:rPr>
              <a:t> flexible </a:t>
            </a:r>
            <a:r>
              <a:rPr lang="de-DE" sz="1200" dirty="0" err="1">
                <a:solidFill>
                  <a:schemeClr val="dk1"/>
                </a:solidFill>
              </a:rPr>
              <a:t>software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implementation</a:t>
            </a:r>
            <a:r>
              <a:rPr lang="de-DE" sz="1200" dirty="0">
                <a:solidFill>
                  <a:schemeClr val="dk1"/>
                </a:solidFill>
              </a:rPr>
              <a:t>.</a:t>
            </a: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1" dirty="0">
                <a:solidFill>
                  <a:schemeClr val="dk1"/>
                </a:solidFill>
              </a:rPr>
              <a:t>Queue Management:</a:t>
            </a:r>
            <a:r>
              <a:rPr lang="de-DE" sz="1200" dirty="0">
                <a:solidFill>
                  <a:schemeClr val="dk1"/>
                </a:solidFill>
              </a:rPr>
              <a:t> Dynamic </a:t>
            </a:r>
            <a:r>
              <a:rPr lang="de-DE" sz="1200" dirty="0" err="1">
                <a:solidFill>
                  <a:schemeClr val="dk1"/>
                </a:solidFill>
              </a:rPr>
              <a:t>data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structures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are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easier</a:t>
            </a:r>
            <a:r>
              <a:rPr lang="de-DE" sz="1200" dirty="0">
                <a:solidFill>
                  <a:schemeClr val="dk1"/>
                </a:solidFill>
              </a:rPr>
              <a:t> to </a:t>
            </a:r>
            <a:r>
              <a:rPr lang="de-DE" sz="1200" dirty="0" err="1">
                <a:solidFill>
                  <a:schemeClr val="dk1"/>
                </a:solidFill>
              </a:rPr>
              <a:t>implement</a:t>
            </a:r>
            <a:r>
              <a:rPr lang="de-DE" sz="1200" dirty="0">
                <a:solidFill>
                  <a:schemeClr val="dk1"/>
                </a:solidFill>
              </a:rPr>
              <a:t> and </a:t>
            </a:r>
            <a:r>
              <a:rPr lang="de-DE" sz="1200" dirty="0" err="1">
                <a:solidFill>
                  <a:schemeClr val="dk1"/>
                </a:solidFill>
              </a:rPr>
              <a:t>modify</a:t>
            </a:r>
            <a:r>
              <a:rPr lang="de-DE" sz="1200" dirty="0">
                <a:solidFill>
                  <a:schemeClr val="dk1"/>
                </a:solidFill>
              </a:rPr>
              <a:t>.</a:t>
            </a: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1" dirty="0">
                <a:solidFill>
                  <a:schemeClr val="dk1"/>
                </a:solidFill>
              </a:rPr>
              <a:t>Scheduler &amp; Reservation:</a:t>
            </a:r>
            <a:r>
              <a:rPr lang="de-DE" sz="1200" dirty="0">
                <a:solidFill>
                  <a:schemeClr val="dk1"/>
                </a:solidFill>
              </a:rPr>
              <a:t> Fairness </a:t>
            </a:r>
            <a:r>
              <a:rPr lang="de-DE" sz="1200" dirty="0" err="1">
                <a:solidFill>
                  <a:schemeClr val="dk1"/>
                </a:solidFill>
              </a:rPr>
              <a:t>algorithms</a:t>
            </a:r>
            <a:r>
              <a:rPr lang="de-DE" sz="1200" dirty="0">
                <a:solidFill>
                  <a:schemeClr val="dk1"/>
                </a:solidFill>
              </a:rPr>
              <a:t> and </a:t>
            </a:r>
            <a:r>
              <a:rPr lang="de-DE" sz="1200" dirty="0" err="1">
                <a:solidFill>
                  <a:schemeClr val="dk1"/>
                </a:solidFill>
              </a:rPr>
              <a:t>availability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checks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are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easier</a:t>
            </a:r>
            <a:r>
              <a:rPr lang="de-DE" sz="1200" dirty="0">
                <a:solidFill>
                  <a:schemeClr val="dk1"/>
                </a:solidFill>
              </a:rPr>
              <a:t> to </a:t>
            </a:r>
            <a:r>
              <a:rPr lang="de-DE" sz="1200" dirty="0" err="1">
                <a:solidFill>
                  <a:schemeClr val="dk1"/>
                </a:solidFill>
              </a:rPr>
              <a:t>verify</a:t>
            </a:r>
            <a:r>
              <a:rPr lang="de-DE" sz="1200" dirty="0">
                <a:solidFill>
                  <a:schemeClr val="dk1"/>
                </a:solidFill>
              </a:rPr>
              <a:t>.</a:t>
            </a: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1" dirty="0">
                <a:solidFill>
                  <a:schemeClr val="dk1"/>
                </a:solidFill>
              </a:rPr>
              <a:t>Quadrant Manager: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Occupancy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states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utilize</a:t>
            </a:r>
            <a:r>
              <a:rPr lang="de-DE" sz="1200" dirty="0">
                <a:solidFill>
                  <a:schemeClr val="dk1"/>
                </a:solidFill>
              </a:rPr>
              <a:t> simple, </a:t>
            </a:r>
            <a:r>
              <a:rPr lang="de-DE" sz="1200" dirty="0" err="1">
                <a:solidFill>
                  <a:schemeClr val="dk1"/>
                </a:solidFill>
              </a:rPr>
              <a:t>highly</a:t>
            </a:r>
            <a:r>
              <a:rPr lang="de-DE" sz="1200" dirty="0">
                <a:solidFill>
                  <a:schemeClr val="dk1"/>
                </a:solidFill>
              </a:rPr>
              <a:t> flexible, </a:t>
            </a:r>
            <a:r>
              <a:rPr lang="de-DE" sz="1200" dirty="0" err="1">
                <a:solidFill>
                  <a:schemeClr val="dk1"/>
                </a:solidFill>
              </a:rPr>
              <a:t>low-load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software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bitmasks</a:t>
            </a:r>
            <a:r>
              <a:rPr lang="de-DE" sz="1200" dirty="0">
                <a:solidFill>
                  <a:schemeClr val="dk1"/>
                </a:solidFill>
              </a:rPr>
              <a:t>.</a:t>
            </a: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sz="1200" b="1" dirty="0" err="1">
                <a:solidFill>
                  <a:schemeClr val="dk1"/>
                </a:solidFill>
              </a:rPr>
              <a:t>Diagnostics</a:t>
            </a:r>
            <a:r>
              <a:rPr lang="de-DE" sz="1200" b="1" dirty="0">
                <a:solidFill>
                  <a:schemeClr val="dk1"/>
                </a:solidFill>
              </a:rPr>
              <a:t> &amp; </a:t>
            </a:r>
            <a:r>
              <a:rPr lang="de-DE" sz="1200" b="1" dirty="0" err="1">
                <a:solidFill>
                  <a:schemeClr val="dk1"/>
                </a:solidFill>
              </a:rPr>
              <a:t>Logging</a:t>
            </a:r>
            <a:r>
              <a:rPr lang="de-DE" sz="1200" b="1" dirty="0">
                <a:solidFill>
                  <a:schemeClr val="dk1"/>
                </a:solidFill>
              </a:rPr>
              <a:t>:</a:t>
            </a:r>
            <a:r>
              <a:rPr lang="de-DE" sz="1200" dirty="0">
                <a:solidFill>
                  <a:schemeClr val="dk1"/>
                </a:solidFill>
              </a:rPr>
              <a:t> Event </a:t>
            </a:r>
            <a:r>
              <a:rPr lang="de-DE" sz="1200" dirty="0" err="1">
                <a:solidFill>
                  <a:schemeClr val="dk1"/>
                </a:solidFill>
              </a:rPr>
              <a:t>tracking</a:t>
            </a:r>
            <a:r>
              <a:rPr lang="de-DE" sz="1200" dirty="0">
                <a:solidFill>
                  <a:schemeClr val="dk1"/>
                </a:solidFill>
              </a:rPr>
              <a:t> and </a:t>
            </a:r>
            <a:r>
              <a:rPr lang="de-DE" sz="1200" dirty="0" err="1">
                <a:solidFill>
                  <a:schemeClr val="dk1"/>
                </a:solidFill>
              </a:rPr>
              <a:t>statistics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are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naturally</a:t>
            </a:r>
            <a:r>
              <a:rPr lang="de-DE" sz="1200" dirty="0">
                <a:solidFill>
                  <a:schemeClr val="dk1"/>
                </a:solidFill>
              </a:rPr>
              <a:t> software-</a:t>
            </a:r>
            <a:r>
              <a:rPr lang="de-DE" sz="1200" dirty="0" err="1">
                <a:solidFill>
                  <a:schemeClr val="dk1"/>
                </a:solidFill>
              </a:rPr>
              <a:t>based</a:t>
            </a:r>
            <a:r>
              <a:rPr lang="de-DE" sz="1200" dirty="0">
                <a:solidFill>
                  <a:schemeClr val="dk1"/>
                </a:solidFill>
              </a:rPr>
              <a:t> </a:t>
            </a:r>
            <a:r>
              <a:rPr lang="de-DE" sz="1200" dirty="0" err="1">
                <a:solidFill>
                  <a:schemeClr val="dk1"/>
                </a:solidFill>
              </a:rPr>
              <a:t>responsibilities</a:t>
            </a:r>
            <a:r>
              <a:rPr lang="de-DE" sz="1200" dirty="0">
                <a:solidFill>
                  <a:schemeClr val="dk1"/>
                </a:solidFill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dirty="0">
              <a:solidFill>
                <a:schemeClr val="dk1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b="1" dirty="0">
                <a:solidFill>
                  <a:schemeClr val="dk1"/>
                </a:solidFill>
              </a:rPr>
              <a:t>Hybrid </a:t>
            </a:r>
            <a:r>
              <a:rPr lang="de-DE" sz="1200" b="1" dirty="0" err="1">
                <a:solidFill>
                  <a:schemeClr val="dk1"/>
                </a:solidFill>
              </a:rPr>
              <a:t>Allocations</a:t>
            </a:r>
            <a:r>
              <a:rPr lang="de-DE" sz="1200" b="1" dirty="0">
                <a:solidFill>
                  <a:schemeClr val="dk1"/>
                </a:solidFill>
              </a:rPr>
              <a:t> (Controllers, Emergency, Communication)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1200" b="1" dirty="0">
              <a:solidFill>
                <a:schemeClr val="dk1"/>
              </a:solidFill>
            </a:endParaRPr>
          </a:p>
          <a:p>
            <a:pPr marL="628650" marR="0" lvl="1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dirty="0">
                <a:solidFill>
                  <a:schemeClr val="dk1"/>
                </a:solidFill>
              </a:rPr>
              <a:t>Division of Labor</a:t>
            </a:r>
            <a:r>
              <a:rPr lang="en-US" sz="1200" dirty="0">
                <a:solidFill>
                  <a:schemeClr val="dk1"/>
                </a:solidFill>
              </a:rPr>
              <a:t>: Software decides logic and protocols; hardware drives physical outputs.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E6540-DBC8-1449-A578-CCAD6D2991BC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1632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 can say edge deployment a sa title </a:t>
            </a:r>
            <a:endParaRPr/>
          </a:p>
        </p:txBody>
      </p:sp>
      <p:sp>
        <p:nvSpPr>
          <p:cNvPr id="182" name="Google Shape;18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We can say edge deployment a sa title </a:t>
            </a:r>
            <a:endParaRPr/>
          </a:p>
        </p:txBody>
      </p:sp>
      <p:sp>
        <p:nvSpPr>
          <p:cNvPr id="182" name="Google Shape;18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8767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8001" y="1438812"/>
            <a:ext cx="7520410" cy="1470025"/>
          </a:xfrm>
        </p:spPr>
        <p:txBody>
          <a:bodyPr>
            <a:normAutofit/>
          </a:bodyPr>
          <a:lstStyle>
            <a:lvl1pPr algn="l">
              <a:defRPr sz="4000" b="1" i="0">
                <a:latin typeface="Source Sans Pro"/>
                <a:cs typeface="Source Sans Pro"/>
              </a:defRPr>
            </a:lvl1pPr>
          </a:lstStyle>
          <a:p>
            <a:r>
              <a:rPr lang="en-US"/>
              <a:t>Click to edit Master title style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8001" y="3176700"/>
            <a:ext cx="7520410" cy="2254848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 dirty="0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38AA678D-45DE-4A45-9AF1-C3CF72F1D8AC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1125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FE4F8792-90DA-41DF-9FAC-38C85DC1B127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67264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29308-0A50-42AE-874F-925BED2566E6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6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FBCF4-5648-491F-839E-CD427C575ED3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96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3CF-B170-4E40-AE27-4185126A6BB4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763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C76B7-F820-4CEF-8F23-46FE5D099E54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085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E0AC0-A047-4AE0-AD75-48BF9A5E116A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144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03D-B73A-41A6-AAEF-8A47143791F5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067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1B270-2C3E-41AA-90FC-AD4D6139DA5E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575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9DBB6-C825-4F2C-8F67-FEF13215519C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3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98EA9-5D13-40DA-86FF-FE26F745940F}" type="datetime8">
              <a:rPr lang="en-DE" smtClean="0"/>
              <a:t>18/07/2026 21:59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697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74C4A-08B8-CA46-0EF6-D7018790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5CD060-1EA1-1311-5D33-C80E8D034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11788-833C-90E4-F59D-EAFFF424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51CE9-8B8D-461F-B90F-496116DA5F4E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5698-1062-D596-6992-BB008620D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45934-C7AD-F4A3-9AB0-E03FD9C8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30119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0AEA-5376-0590-10F2-E89297666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A1DBE-BFFF-BC1C-5E5E-A7548B646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E7359-446F-80C9-F7AB-90DB5540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EBB28-6DC6-4D75-A259-CB683095EAB8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A9DCC-93E7-3679-1DC8-BB43B4DE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D5285-D699-DCA6-BDC7-1F1B5673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869556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49914-727C-23CE-A41A-AA8C17ECD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2AF17-859B-1884-10B8-A5D83435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8FD882-96F7-2F4F-62B3-CF8865B4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1BAFC-9C00-4692-8730-AA1EF46C15B2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99AF6-37DB-A302-7418-7DD9144E1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78122-48CE-DB49-13E8-654A39E71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434959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9BEE-6A1F-95BE-AAF2-25F1CB33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3BDE-F217-4AD6-2404-671CEBC25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3E6EB-06AA-6220-138F-FC9C3C437A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816AB-B2CA-3BF7-8B0B-17E9C5F5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25472-2CC5-43B2-930F-9E3AF7C6BE87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7AD68-AE43-8F58-FB00-55564394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14057-A30C-2AC5-F4FD-94F88106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3659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9EBF-62DC-1EB5-64E9-93117D01C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92348-2103-7E67-26A2-62047FEC6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D896E-AF3A-A885-006F-6BEEA6A42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7DFA14-4D11-2BCA-E108-E99225DBA2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F46532-3570-60AB-3EFB-E100145828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329D2-4869-907C-4C3B-9149F5F86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9BDA7-626E-44E6-8211-D21704F290D7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DD4CE-8D97-F3BE-3571-FE1535712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9C99A-A049-0377-31BD-236F4C55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13938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79658-5FE5-B518-CC8D-2E984548E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C6A41A-4A7F-4A5B-D63E-AA9BD3C8E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04D91-7D65-4B6C-8077-B0CFA285DC75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B191-0CB9-9EA7-A490-0324437CB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344D3-8EE9-97FB-429C-37FE4FC40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3262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13B90-1915-3F00-DD2A-989B2583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DAB3E-55CA-49BD-923E-F2D8889A324C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58BFE-13EA-79B0-3573-B104C1857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7031-0675-9B57-78A1-09F572A2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8741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12736-8B5D-C696-95D5-CB996DCEF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D950C-F5D3-FCE8-0498-382572397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6F44A-B5F0-505A-DE7D-B95275F47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81B3F-7D6E-E7B9-0EF9-FEC9D9AF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4AD65-38C8-4C4F-B9B3-90D1F4818304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CF0BC-3359-1DC1-911C-E59A9C3A8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D548A-291A-E749-DC47-B969F8A8D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30965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7961-4CE8-91F3-1040-EE49FC10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65BAED-69FB-60AB-10AE-398A88A276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D6F11-BD5B-1C88-0F0D-7D60A31D0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C9286-2966-C3D9-6785-7190DB39C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D071E-CE23-45F6-8E55-A84B6E4C4FBF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2DBFA-6F84-350C-7020-F54AE3CCA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5007D-B99A-711F-B898-A1A7F926D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664228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243C-BBC7-DDC7-23D1-7F0C9E69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E32E3-41C0-D9B4-A1B7-1EDACDAA5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379B9-B11A-1238-D81A-61A672B1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89F66-8F0F-472C-AFA3-FB194DE51785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90606-0902-1FAB-9C51-9F995563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1B34F-165F-0B27-F90D-2F124BE3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54521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90C93-26A8-1A30-719F-5432D6A1D2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49A52-4173-E8E4-E8D1-F3B55373C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7729C-4CC9-81CE-F907-1DCB119B3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D3F6-8185-4D14-AF64-D4F1B422744C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57FE-E9B6-0094-BF07-64F63267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D0672-574E-020A-B659-D1DFEFE9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46387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0" y="648000"/>
            <a:ext cx="8532000" cy="567000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48000" y="745650"/>
            <a:ext cx="767543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48000" y="2021180"/>
            <a:ext cx="7675432" cy="4104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700" b="0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1B7715C6-8431-4CD5-B9DC-AE77D516C727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 i="0">
                <a:solidFill>
                  <a:schemeClr val="tx1"/>
                </a:solidFill>
                <a:latin typeface="Source Sans Pro"/>
                <a:cs typeface="Source Sans Pro"/>
              </a:defRPr>
            </a:lvl1pPr>
          </a:lstStyle>
          <a:p>
            <a:fld id="{E7BE1CCD-89A0-CC45-BF3E-2A331A7F0490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7" name="Bild 6" descr="HSHL_Logo_horizontal_RGB_Sequenz_Animation.gif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000" y="223200"/>
            <a:ext cx="1404000" cy="20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9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4000" b="1" i="0" kern="1200">
          <a:solidFill>
            <a:schemeClr val="tx1"/>
          </a:solidFill>
          <a:latin typeface="Source Sans Pro"/>
          <a:ea typeface="+mj-ea"/>
          <a:cs typeface="Source Sans Pro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b="0" i="0" kern="1200">
          <a:solidFill>
            <a:schemeClr val="tx1"/>
          </a:solidFill>
          <a:latin typeface="Source Sans Pro"/>
          <a:ea typeface="+mn-ea"/>
          <a:cs typeface="Source Sans Pro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b="0" i="0" kern="1200">
          <a:solidFill>
            <a:schemeClr val="tx1"/>
          </a:solidFill>
          <a:latin typeface="Source Sans Pro"/>
          <a:ea typeface="+mn-ea"/>
          <a:cs typeface="Source Sans Pro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Source Sans Pro"/>
          <a:ea typeface="+mn-ea"/>
          <a:cs typeface="Source Sans Pro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Source Sans Pro"/>
          <a:ea typeface="+mn-ea"/>
          <a:cs typeface="Source Sans Pro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754D0-7FAE-A45D-4023-B24D3BAC0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314D1-BCFC-5234-4EC4-84313D4D7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0EFB6-8CFB-9150-70AF-A80F0BCDD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5B4FF9-B9AE-41A5-B62A-C79EBF9A02E7}" type="datetime8">
              <a:rPr lang="en-DE" smtClean="0"/>
              <a:t>18/07/2026 21:59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69B1E-1609-392C-A752-1BB9E6EC7E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0697-C8AD-7E67-0C34-DE0736978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EFCA2-C7D8-4D7E-994A-0969D3AFD12D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07001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A logo with a white cross&#10;&#10;AI-generated content may be incorrect.">
            <a:extLst>
              <a:ext uri="{FF2B5EF4-FFF2-40B4-BE49-F238E27FC236}">
                <a16:creationId xmlns:a16="http://schemas.microsoft.com/office/drawing/2014/main" id="{0BB7B5BA-86D7-C0E5-6A11-4CEBB6B5C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35" y="502659"/>
            <a:ext cx="2635321" cy="2283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6EDA6E-A0F0-2958-F1A7-F6AA59E53C94}"/>
              </a:ext>
            </a:extLst>
          </p:cNvPr>
          <p:cNvSpPr txBox="1"/>
          <p:nvPr/>
        </p:nvSpPr>
        <p:spPr>
          <a:xfrm>
            <a:off x="872611" y="2630597"/>
            <a:ext cx="7398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3200" b="1" dirty="0"/>
              <a:t>Autonomous Traffic Intersection Management</a:t>
            </a:r>
            <a:endParaRPr lang="en-DE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54C4E5-323F-DE21-1C70-E3676C88A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62001"/>
              </p:ext>
            </p:extLst>
          </p:nvPr>
        </p:nvGraphicFramePr>
        <p:xfrm>
          <a:off x="1523994" y="3779121"/>
          <a:ext cx="6096000" cy="153162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18943565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987382678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400" b="1" dirty="0">
                          <a:solidFill>
                            <a:schemeClr val="bg1"/>
                          </a:solidFill>
                        </a:rPr>
                        <a:t>Name </a:t>
                      </a:r>
                      <a:endParaRPr lang="de-DE" altLang="zh-CN" sz="1400" b="1" dirty="0">
                        <a:solidFill>
                          <a:schemeClr val="bg1"/>
                        </a:solidFill>
                        <a:latin typeface="Open Sans" panose="020B0606030504020204" charset="0"/>
                        <a:ea typeface="Open Sans" panose="020B0606030504020204" charset="0"/>
                        <a:cs typeface="Open Sans" panose="020B0606030504020204" charset="0"/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altLang="zh-CN" sz="1400" b="1" dirty="0">
                          <a:solidFill>
                            <a:schemeClr val="bg1"/>
                          </a:solidFill>
                        </a:rPr>
                        <a:t>Mat</a:t>
                      </a:r>
                      <a:endParaRPr lang="en-DE" sz="1000" dirty="0">
                        <a:solidFill>
                          <a:schemeClr val="bg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13606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DE" sz="1600" b="1" dirty="0">
                          <a:solidFill>
                            <a:schemeClr val="tx1"/>
                          </a:solidFill>
                        </a:rPr>
                        <a:t>Nader </a:t>
                      </a:r>
                      <a:r>
                        <a:rPr lang="de-DE" sz="1600" b="1" dirty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en-DE" sz="1600" b="1" dirty="0" err="1">
                          <a:solidFill>
                            <a:schemeClr val="tx1"/>
                          </a:solidFill>
                        </a:rPr>
                        <a:t>ahia</a:t>
                      </a:r>
                      <a:endParaRPr lang="en-D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b="1" dirty="0">
                          <a:solidFill>
                            <a:schemeClr val="tx1"/>
                          </a:solidFill>
                        </a:rPr>
                        <a:t>2210026</a:t>
                      </a:r>
                      <a:endParaRPr lang="en-DE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3933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chemeClr val="tx1"/>
                          </a:solidFill>
                        </a:rPr>
                        <a:t>Hassan </a:t>
                      </a:r>
                      <a:r>
                        <a:rPr lang="de-DE" sz="1600" b="1" dirty="0" err="1">
                          <a:solidFill>
                            <a:schemeClr val="tx1"/>
                          </a:solidFill>
                        </a:rPr>
                        <a:t>Sazid</a:t>
                      </a:r>
                      <a:endParaRPr lang="en-D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 dirty="0">
                          <a:solidFill>
                            <a:schemeClr val="tx1"/>
                          </a:solidFill>
                        </a:rPr>
                        <a:t>2220046</a:t>
                      </a: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27846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 err="1">
                          <a:solidFill>
                            <a:schemeClr val="tx1"/>
                          </a:solidFill>
                        </a:rPr>
                        <a:t>Mostafizur</a:t>
                      </a:r>
                      <a:r>
                        <a:rPr lang="de-DE" sz="1600" b="1" dirty="0">
                          <a:solidFill>
                            <a:schemeClr val="tx1"/>
                          </a:solidFill>
                        </a:rPr>
                        <a:t> Rahman</a:t>
                      </a:r>
                      <a:endParaRPr lang="en-D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 dirty="0">
                          <a:solidFill>
                            <a:schemeClr val="tx1"/>
                          </a:solidFill>
                        </a:rPr>
                        <a:t>2219941</a:t>
                      </a: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089695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de-DE" sz="1600" b="1" dirty="0" err="1">
                          <a:solidFill>
                            <a:schemeClr val="tx1"/>
                          </a:solidFill>
                        </a:rPr>
                        <a:t>Umer</a:t>
                      </a:r>
                      <a:r>
                        <a:rPr lang="de-DE" sz="1600" b="1" dirty="0">
                          <a:solidFill>
                            <a:schemeClr val="tx1"/>
                          </a:solidFill>
                        </a:rPr>
                        <a:t> Hayat</a:t>
                      </a:r>
                      <a:endParaRPr lang="en-DE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 b="1" dirty="0">
                          <a:solidFill>
                            <a:schemeClr val="tx1"/>
                          </a:solidFill>
                        </a:rPr>
                        <a:t>1232270</a:t>
                      </a:r>
                    </a:p>
                  </a:txBody>
                  <a:tcPr marL="68580" marR="68580" marT="34290" marB="3429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095781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B62A46-ED02-DCB2-0209-9FED2A2EE930}"/>
              </a:ext>
            </a:extLst>
          </p:cNvPr>
          <p:cNvSpPr txBox="1"/>
          <p:nvPr/>
        </p:nvSpPr>
        <p:spPr>
          <a:xfrm>
            <a:off x="3719507" y="5466421"/>
            <a:ext cx="1704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de-DE" altLang="zh-CN" sz="1800" b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Supervisors</a:t>
            </a:r>
            <a:endParaRPr lang="en-DE" sz="11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E420D-6B82-DA8D-E417-E51FC71FBCB0}"/>
              </a:ext>
            </a:extLst>
          </p:cNvPr>
          <p:cNvSpPr txBox="1"/>
          <p:nvPr/>
        </p:nvSpPr>
        <p:spPr>
          <a:xfrm>
            <a:off x="2967033" y="5835753"/>
            <a:ext cx="34575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800" b="1" dirty="0">
                <a:solidFill>
                  <a:schemeClr val="tx1"/>
                </a:solidFill>
              </a:rPr>
              <a:t>Prof. Dr.</a:t>
            </a:r>
            <a:r>
              <a:rPr lang="en-DE" sz="1800" b="1" dirty="0" err="1">
                <a:solidFill>
                  <a:schemeClr val="tx1"/>
                </a:solidFill>
              </a:rPr>
              <a:t>rer.nat</a:t>
            </a:r>
            <a:r>
              <a:rPr lang="de-DE" sz="1800" b="1" dirty="0">
                <a:solidFill>
                  <a:schemeClr val="tx1"/>
                </a:solidFill>
              </a:rPr>
              <a:t>. Achim Rettberg</a:t>
            </a:r>
            <a:endParaRPr lang="en-DE" sz="1800" b="1" dirty="0">
              <a:solidFill>
                <a:schemeClr val="tx1"/>
              </a:solidFill>
            </a:endParaRPr>
          </a:p>
          <a:p>
            <a:pPr algn="ctr"/>
            <a:r>
              <a:rPr lang="en-DE" b="1" dirty="0" err="1"/>
              <a:t>Prof.Dr.rer.nat</a:t>
            </a:r>
            <a:r>
              <a:rPr lang="en-DE" b="1" dirty="0"/>
              <a:t>. Stefan </a:t>
            </a:r>
            <a:r>
              <a:rPr lang="en-DE" b="1" dirty="0" err="1"/>
              <a:t>Henkler</a:t>
            </a:r>
            <a:endParaRPr lang="en-DE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976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2DDE267-8A7D-B1F3-EDDA-09E89F32F8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6" t="7782" r="2305" b="5968"/>
          <a:stretch/>
        </p:blipFill>
        <p:spPr>
          <a:xfrm>
            <a:off x="4926330" y="658568"/>
            <a:ext cx="3588525" cy="56714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C6C0D0-AEAB-8C89-F987-E135F611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3517056" cy="685655"/>
          </a:xfrm>
        </p:spPr>
        <p:txBody>
          <a:bodyPr>
            <a:normAutofit fontScale="90000"/>
          </a:bodyPr>
          <a:lstStyle/>
          <a:p>
            <a:r>
              <a:rPr lang="de-DE" i="1" dirty="0"/>
              <a:t>Motivation</a:t>
            </a:r>
            <a:endParaRPr lang="en-D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23178-3710-8B8F-C0A0-D68F8284BE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670CF3-B5D0-409B-969A-0F8019247644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183B76-74F4-C488-DCF1-7EFF666AC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D87E5B-302B-1418-0444-DA7D87408FEB}"/>
              </a:ext>
            </a:extLst>
          </p:cNvPr>
          <p:cNvSpPr txBox="1"/>
          <p:nvPr/>
        </p:nvSpPr>
        <p:spPr>
          <a:xfrm>
            <a:off x="134777" y="1291441"/>
            <a:ext cx="47402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FHWA, intersections cause about 45% of all urban traffic congestion</a:t>
            </a:r>
            <a:r>
              <a:rPr lang="en-DE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Fixed-time traffic lights are inefficient under dynamic and heterogeneous traffic conditions.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Eco-Driving and Fuel Consumption Mitigation.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Elimination of Human Driver Errors.</a:t>
            </a: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Drastic Reduction in Average Travel Delay</a:t>
            </a:r>
            <a:r>
              <a:rPr lang="en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</p:txBody>
      </p:sp>
      <p:sp>
        <p:nvSpPr>
          <p:cNvPr id="22" name="AutoShape 2" descr=", KI-generiert">
            <a:extLst>
              <a:ext uri="{FF2B5EF4-FFF2-40B4-BE49-F238E27FC236}">
                <a16:creationId xmlns:a16="http://schemas.microsoft.com/office/drawing/2014/main" id="{283E1039-80DC-B099-95C6-BE60199D20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473DE-A10C-61DF-3165-CCF0B0B01685}"/>
              </a:ext>
            </a:extLst>
          </p:cNvPr>
          <p:cNvSpPr txBox="1"/>
          <p:nvPr/>
        </p:nvSpPr>
        <p:spPr>
          <a:xfrm>
            <a:off x="7593189" y="5960641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[1]-[3]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7338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9999" y="0"/>
            <a:ext cx="3105689" cy="648000"/>
          </a:xfrm>
        </p:spPr>
        <p:txBody>
          <a:bodyPr>
            <a:noAutofit/>
          </a:bodyPr>
          <a:lstStyle/>
          <a:p>
            <a:r>
              <a:rPr lang="de-DE" sz="3600" i="1" dirty="0" err="1"/>
              <a:t>Requir</a:t>
            </a:r>
            <a:r>
              <a:rPr lang="en-DE" sz="3600" i="1" dirty="0"/>
              <a:t>e</a:t>
            </a:r>
            <a:r>
              <a:rPr lang="de-DE" sz="3600" i="1" dirty="0" err="1"/>
              <a:t>ments</a:t>
            </a:r>
            <a:endParaRPr lang="de-DE" sz="3600" i="1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69C699A-52F1-4626-87FA-8EF88ADE769D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C78DE-B33D-6FAA-0FA7-A23E0894573B}"/>
              </a:ext>
            </a:extLst>
          </p:cNvPr>
          <p:cNvSpPr txBox="1"/>
          <p:nvPr/>
        </p:nvSpPr>
        <p:spPr>
          <a:xfrm>
            <a:off x="8055864" y="5960903"/>
            <a:ext cx="54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[4]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62A54-048D-0975-2ADE-87FCCC6D1F6D}"/>
              </a:ext>
            </a:extLst>
          </p:cNvPr>
          <p:cNvSpPr txBox="1"/>
          <p:nvPr/>
        </p:nvSpPr>
        <p:spPr>
          <a:xfrm>
            <a:off x="360000" y="1081762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Functional</a:t>
            </a:r>
            <a:r>
              <a:rPr lang="de-DE" b="1" dirty="0"/>
              <a:t> Core</a:t>
            </a:r>
            <a:endParaRPr lang="en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2273E7-CDE4-BE12-3774-8A8116B21261}"/>
              </a:ext>
            </a:extLst>
          </p:cNvPr>
          <p:cNvSpPr txBox="1"/>
          <p:nvPr/>
        </p:nvSpPr>
        <p:spPr>
          <a:xfrm>
            <a:off x="798912" y="1577642"/>
            <a:ext cx="535951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Detect vehicle state (V2X + sensors).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Maintain intersection queue and global state.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Detect conflicts between vehicle paths.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Assign safe time-space reservations.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Control entry + execution of vehicles.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Handle emergency priority requests (Future work).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0348E3-EFD8-23EE-800D-C088608E0826}"/>
              </a:ext>
            </a:extLst>
          </p:cNvPr>
          <p:cNvSpPr txBox="1"/>
          <p:nvPr/>
        </p:nvSpPr>
        <p:spPr>
          <a:xfrm>
            <a:off x="360000" y="3458516"/>
            <a:ext cx="4576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 err="1"/>
              <a:t>Safety</a:t>
            </a:r>
            <a:r>
              <a:rPr lang="de-DE" b="1" dirty="0"/>
              <a:t> </a:t>
            </a:r>
            <a:r>
              <a:rPr lang="de-DE" b="1" dirty="0" err="1"/>
              <a:t>Requirements</a:t>
            </a:r>
            <a:endParaRPr lang="en-DE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0B6AFB-AC32-4F51-05F9-FAECAC945CB3}"/>
              </a:ext>
            </a:extLst>
          </p:cNvPr>
          <p:cNvSpPr txBox="1"/>
          <p:nvPr/>
        </p:nvSpPr>
        <p:spPr>
          <a:xfrm>
            <a:off x="704220" y="3952275"/>
            <a:ext cx="77050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 err="1"/>
              <a:t>No</a:t>
            </a:r>
            <a:r>
              <a:rPr lang="de-DE" dirty="0"/>
              <a:t> collision in </a:t>
            </a:r>
            <a:r>
              <a:rPr lang="de-DE" dirty="0" err="1"/>
              <a:t>intersection</a:t>
            </a:r>
            <a:r>
              <a:rPr lang="de-DE" dirty="0"/>
              <a:t> </a:t>
            </a:r>
            <a:r>
              <a:rPr lang="de-DE" dirty="0" err="1"/>
              <a:t>zones</a:t>
            </a:r>
            <a:r>
              <a:rPr lang="de-DE" dirty="0"/>
              <a:t>→ mutual </a:t>
            </a:r>
            <a:r>
              <a:rPr lang="de-DE" dirty="0" err="1"/>
              <a:t>exclusion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Q1–Q4.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deadlock</a:t>
            </a:r>
            <a:r>
              <a:rPr lang="de-DE" dirty="0"/>
              <a:t> in </a:t>
            </a:r>
            <a:r>
              <a:rPr lang="de-DE" dirty="0" err="1"/>
              <a:t>system</a:t>
            </a:r>
            <a:r>
              <a:rPr lang="de-DE" dirty="0"/>
              <a:t>→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progresses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starvation</a:t>
            </a:r>
            <a:r>
              <a:rPr lang="de-DE" dirty="0"/>
              <a:t>→ </a:t>
            </a:r>
            <a:r>
              <a:rPr lang="de-DE" dirty="0" err="1"/>
              <a:t>every</a:t>
            </a:r>
            <a:r>
              <a:rPr lang="de-DE" dirty="0"/>
              <a:t>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eventually</a:t>
            </a:r>
            <a:r>
              <a:rPr lang="de-DE" dirty="0"/>
              <a:t> </a:t>
            </a:r>
            <a:r>
              <a:rPr lang="de-DE" dirty="0" err="1"/>
              <a:t>gets</a:t>
            </a:r>
            <a:r>
              <a:rPr lang="de-DE" dirty="0"/>
              <a:t> </a:t>
            </a:r>
            <a:r>
              <a:rPr lang="de-DE" dirty="0" err="1"/>
              <a:t>service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Real-time </a:t>
            </a:r>
            <a:r>
              <a:rPr lang="de-DE" dirty="0" err="1"/>
              <a:t>bounded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→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within</a:t>
            </a:r>
            <a:r>
              <a:rPr lang="de-DE" dirty="0"/>
              <a:t> time </a:t>
            </a:r>
            <a:r>
              <a:rPr lang="de-DE" dirty="0" err="1"/>
              <a:t>limits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Safe </a:t>
            </a:r>
            <a:r>
              <a:rPr lang="de-DE" dirty="0" err="1"/>
              <a:t>emergency</a:t>
            </a:r>
            <a:r>
              <a:rPr lang="de-DE" dirty="0"/>
              <a:t> </a:t>
            </a:r>
            <a:r>
              <a:rPr lang="de-DE" dirty="0" err="1"/>
              <a:t>handling</a:t>
            </a:r>
            <a:r>
              <a:rPr lang="de-DE" dirty="0"/>
              <a:t>→ </a:t>
            </a:r>
            <a:r>
              <a:rPr lang="de-DE" dirty="0" err="1"/>
              <a:t>priority</a:t>
            </a:r>
            <a:r>
              <a:rPr lang="de-DE" dirty="0"/>
              <a:t> </a:t>
            </a:r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violating</a:t>
            </a:r>
            <a:r>
              <a:rPr lang="de-DE" dirty="0"/>
              <a:t> </a:t>
            </a:r>
            <a:r>
              <a:rPr lang="de-DE" dirty="0" err="1"/>
              <a:t>safety</a:t>
            </a:r>
            <a:r>
              <a:rPr lang="de-DE" dirty="0"/>
              <a:t> (Future </a:t>
            </a:r>
            <a:r>
              <a:rPr lang="de-DE" dirty="0" err="1"/>
              <a:t>work</a:t>
            </a:r>
            <a:r>
              <a:rPr lang="de-DE" dirty="0"/>
              <a:t>).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11613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8D7A7-34FA-411B-AE59-B56DF65380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4747F0A-FEF0-420F-996B-FAFAC9420F50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6DE09-7500-6AF8-02AF-B2853A55B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6F1CD-1E99-6452-45DD-3A9E85A59FCC}"/>
              </a:ext>
            </a:extLst>
          </p:cNvPr>
          <p:cNvSpPr txBox="1"/>
          <p:nvPr/>
        </p:nvSpPr>
        <p:spPr>
          <a:xfrm>
            <a:off x="360000" y="51882"/>
            <a:ext cx="23064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600" b="1" i="1" dirty="0">
                <a:latin typeface="Source Sans Pro"/>
                <a:ea typeface="+mj-ea"/>
              </a:rPr>
              <a:t>Use Cases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5C29CF-1F3F-8FDE-D301-4DE581BA5F19}"/>
              </a:ext>
            </a:extLst>
          </p:cNvPr>
          <p:cNvSpPr txBox="1"/>
          <p:nvPr/>
        </p:nvSpPr>
        <p:spPr>
          <a:xfrm>
            <a:off x="1315512" y="1723196"/>
            <a:ext cx="7216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180022-8FE9-FD12-61FF-6FBDC47D72A3}"/>
              </a:ext>
            </a:extLst>
          </p:cNvPr>
          <p:cNvSpPr txBox="1"/>
          <p:nvPr/>
        </p:nvSpPr>
        <p:spPr>
          <a:xfrm>
            <a:off x="1895928" y="2396983"/>
            <a:ext cx="5591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A2DDA8-965E-C574-E036-0F1F96BFEAC5}"/>
              </a:ext>
            </a:extLst>
          </p:cNvPr>
          <p:cNvSpPr txBox="1"/>
          <p:nvPr/>
        </p:nvSpPr>
        <p:spPr>
          <a:xfrm>
            <a:off x="1315512" y="302453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CCC4D8-692F-137C-980B-0FFF26942730}"/>
              </a:ext>
            </a:extLst>
          </p:cNvPr>
          <p:cNvSpPr txBox="1"/>
          <p:nvPr/>
        </p:nvSpPr>
        <p:spPr>
          <a:xfrm>
            <a:off x="1937304" y="3429000"/>
            <a:ext cx="3950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344AB-868A-137F-BD5D-1DC81DCC7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83989"/>
            <a:ext cx="4576393" cy="3432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D93B1D-A9AF-18DB-3768-25488BA09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707" y="1483052"/>
            <a:ext cx="3972686" cy="3433232"/>
          </a:xfrm>
          <a:prstGeom prst="rect">
            <a:avLst/>
          </a:prstGeom>
        </p:spPr>
      </p:pic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6D3A486-3C1A-AC78-15FC-5C2E76328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5664605"/>
              </p:ext>
            </p:extLst>
          </p:nvPr>
        </p:nvGraphicFramePr>
        <p:xfrm>
          <a:off x="2055851" y="4257023"/>
          <a:ext cx="4572000" cy="2187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E74C414-5810-B4FA-D156-AF337548C5B9}"/>
              </a:ext>
            </a:extLst>
          </p:cNvPr>
          <p:cNvSpPr txBox="1"/>
          <p:nvPr/>
        </p:nvSpPr>
        <p:spPr>
          <a:xfrm>
            <a:off x="6550050" y="4909270"/>
            <a:ext cx="20810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 err="1"/>
              <a:t>Src</a:t>
            </a:r>
            <a:r>
              <a:rPr lang="en-US" sz="1000" i="1" dirty="0"/>
              <a:t>: Image </a:t>
            </a:r>
            <a:r>
              <a:rPr lang="en-US" sz="1000" i="1" dirty="0" err="1"/>
              <a:t>Genrated</a:t>
            </a:r>
            <a:r>
              <a:rPr lang="en-US" sz="1000" i="1" dirty="0"/>
              <a:t> by ChatGPT-5.5</a:t>
            </a:r>
            <a:endParaRPr lang="en-DE" sz="1000" i="1" dirty="0"/>
          </a:p>
        </p:txBody>
      </p:sp>
    </p:spTree>
    <p:extLst>
      <p:ext uri="{BB962C8B-B14F-4D97-AF65-F5344CB8AC3E}">
        <p14:creationId xmlns:p14="http://schemas.microsoft.com/office/powerpoint/2010/main" val="68514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410B790-40E6-4106-F239-D883C7DF70CB}"/>
              </a:ext>
            </a:extLst>
          </p:cNvPr>
          <p:cNvSpPr/>
          <p:nvPr/>
        </p:nvSpPr>
        <p:spPr>
          <a:xfrm>
            <a:off x="360000" y="3170705"/>
            <a:ext cx="4211999" cy="3100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13A6708-A6BF-D734-0FD6-5F3BC06133D1}"/>
              </a:ext>
            </a:extLst>
          </p:cNvPr>
          <p:cNvSpPr/>
          <p:nvPr/>
        </p:nvSpPr>
        <p:spPr>
          <a:xfrm>
            <a:off x="4703399" y="3175097"/>
            <a:ext cx="3411556" cy="310090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7A2D84-176B-646E-EBD7-7BED7C110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4859700" cy="646331"/>
          </a:xfrm>
        </p:spPr>
        <p:txBody>
          <a:bodyPr>
            <a:normAutofit fontScale="90000"/>
          </a:bodyPr>
          <a:lstStyle/>
          <a:p>
            <a:r>
              <a:rPr lang="de-DE" i="1" dirty="0"/>
              <a:t>Intersection Trajectory</a:t>
            </a:r>
            <a:endParaRPr lang="en-DE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67E7-6A4C-16FD-8C05-E76F8484CA2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2587347-9E00-4260-881E-68E696F4BFA5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92F5F-70C6-F2A9-67B5-D6B5C7E0E5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5</a:t>
            </a:fld>
            <a:endParaRPr lang="de-DE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D15B30-4419-611E-581A-976D67949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3391857"/>
            <a:ext cx="3734100" cy="25993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6E7557-EAF9-5CC0-54A5-7860DD38A7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129" y="3472743"/>
            <a:ext cx="3008541" cy="256535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D7D804A-36EB-0A6C-4611-D8C14866ABEE}"/>
              </a:ext>
            </a:extLst>
          </p:cNvPr>
          <p:cNvSpPr/>
          <p:nvPr/>
        </p:nvSpPr>
        <p:spPr>
          <a:xfrm>
            <a:off x="360000" y="866774"/>
            <a:ext cx="7759410" cy="2187199"/>
          </a:xfrm>
          <a:prstGeom prst="roundRect">
            <a:avLst/>
          </a:prstGeom>
          <a:solidFill>
            <a:srgbClr val="FEFE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C0253-C19F-D956-8CC4-A48DE363EC3D}"/>
              </a:ext>
            </a:extLst>
          </p:cNvPr>
          <p:cNvSpPr txBox="1"/>
          <p:nvPr/>
        </p:nvSpPr>
        <p:spPr>
          <a:xfrm>
            <a:off x="482299" y="1041052"/>
            <a:ext cx="75148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Trajectory Mapping: </a:t>
            </a:r>
            <a:r>
              <a:rPr lang="de-DE" dirty="0"/>
              <a:t>Groups 12 maneuvers (M1–M12) into standard straight or turning paths.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Spatial Resource Allocation: </a:t>
            </a:r>
            <a:r>
              <a:rPr lang="de-DE" dirty="0"/>
              <a:t>Links paths to quadrant sequences (Q1–Q4) for collision avoidance.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b="1" dirty="0"/>
              <a:t>Conflict Identification: </a:t>
            </a:r>
            <a:r>
              <a:rPr lang="de-DE" dirty="0"/>
              <a:t>Flags overlapping paths (e.g., M1, M9, M10 sharing Q2,Q3) to spot bottlenecks.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55165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D70EB-327A-8B39-9CD1-F4A45D1D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4572000" cy="648000"/>
          </a:xfrm>
        </p:spPr>
        <p:txBody>
          <a:bodyPr>
            <a:noAutofit/>
          </a:bodyPr>
          <a:lstStyle/>
          <a:p>
            <a:r>
              <a:rPr lang="de-DE" sz="3600" i="1" dirty="0"/>
              <a:t>System Architecture</a:t>
            </a:r>
            <a:endParaRPr lang="en-DE" sz="36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36757-5485-034C-6F27-5528EBBE4F4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BED79E7-45B6-4509-A35E-1B40C9468D42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EDB136-9E7D-DD82-D5ED-51CC59C4D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67DDE977-A9BC-BA2F-8216-180B9283C1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sp>
        <p:nvSpPr>
          <p:cNvPr id="31" name="AutoShape 4">
            <a:extLst>
              <a:ext uri="{FF2B5EF4-FFF2-40B4-BE49-F238E27FC236}">
                <a16:creationId xmlns:a16="http://schemas.microsoft.com/office/drawing/2014/main" id="{792623D1-72F2-D05A-DFE5-AC6B46BCB9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E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460BE41-E5D8-965F-FFD2-6D3358BDD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88" y="648000"/>
            <a:ext cx="6753529" cy="569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77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>
                <a:solidFill>
                  <a:prstClr val="black"/>
                </a:solidFill>
              </a:rPr>
              <a:t>UPPAAL Model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73F15DB-054E-4A4D-A76C-997A5E6C4785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B6F53F-7386-4588-481A-2C6F44883EBD}"/>
              </a:ext>
            </a:extLst>
          </p:cNvPr>
          <p:cNvSpPr txBox="1"/>
          <p:nvPr/>
        </p:nvSpPr>
        <p:spPr>
          <a:xfrm>
            <a:off x="360000" y="2267809"/>
            <a:ext cx="3221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Generates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requests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Assigns</a:t>
            </a:r>
            <a:r>
              <a:rPr lang="de-DE" dirty="0"/>
              <a:t> </a:t>
            </a:r>
            <a:r>
              <a:rPr lang="de-DE" dirty="0" err="1"/>
              <a:t>movement</a:t>
            </a:r>
            <a:r>
              <a:rPr lang="de-DE" dirty="0"/>
              <a:t> type.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Activates</a:t>
            </a:r>
            <a:r>
              <a:rPr lang="de-DE" dirty="0"/>
              <a:t> </a:t>
            </a:r>
            <a:r>
              <a:rPr lang="de-DE" dirty="0" err="1"/>
              <a:t>vehicles</a:t>
            </a:r>
            <a:r>
              <a:rPr lang="de-DE" dirty="0"/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AA4485-2066-DCC3-C025-EF0EE1594509}"/>
              </a:ext>
            </a:extLst>
          </p:cNvPr>
          <p:cNvSpPr txBox="1"/>
          <p:nvPr/>
        </p:nvSpPr>
        <p:spPr>
          <a:xfrm>
            <a:off x="4624912" y="2267809"/>
            <a:ext cx="37424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Represent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lifecycle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Toggles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activation</a:t>
            </a:r>
            <a:r>
              <a:rPr lang="de-DE" dirty="0"/>
              <a:t> </a:t>
            </a:r>
            <a:r>
              <a:rPr lang="de-DE" dirty="0" err="1"/>
              <a:t>flag</a:t>
            </a:r>
            <a:r>
              <a:rPr lang="de-DE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Preserving  routing data.</a:t>
            </a:r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44387B-4DBC-1270-FE41-D83F785E4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0800" y="3681505"/>
            <a:ext cx="4121052" cy="21323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AFFDB2-D0A2-4B25-9BAD-CF9DD3E59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115" y="3681506"/>
            <a:ext cx="3662797" cy="213232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F266BE-60AC-1262-0CCB-3E0080400AB0}"/>
              </a:ext>
            </a:extLst>
          </p:cNvPr>
          <p:cNvSpPr/>
          <p:nvPr/>
        </p:nvSpPr>
        <p:spPr>
          <a:xfrm>
            <a:off x="4933016" y="1335878"/>
            <a:ext cx="2532184" cy="544661"/>
          </a:xfrm>
          <a:prstGeom prst="roundRect">
            <a:avLst/>
          </a:prstGeom>
          <a:solidFill>
            <a:srgbClr val="E5AD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Vehicle (Agent Model)</a:t>
            </a:r>
            <a:endParaRPr lang="en-DE" b="1" dirty="0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C8A151B-C55C-F309-2A27-C3F6EC35E018}"/>
              </a:ext>
            </a:extLst>
          </p:cNvPr>
          <p:cNvSpPr/>
          <p:nvPr/>
        </p:nvSpPr>
        <p:spPr>
          <a:xfrm>
            <a:off x="648000" y="1335879"/>
            <a:ext cx="2532184" cy="544661"/>
          </a:xfrm>
          <a:prstGeom prst="roundRect">
            <a:avLst/>
          </a:prstGeom>
          <a:solidFill>
            <a:srgbClr val="F6DE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VehicleGenerator</a:t>
            </a:r>
            <a:endParaRPr lang="en-DE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281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8B5FB6-F7F9-152A-2029-DAD71E7C829A}"/>
              </a:ext>
            </a:extLst>
          </p:cNvPr>
          <p:cNvSpPr/>
          <p:nvPr/>
        </p:nvSpPr>
        <p:spPr>
          <a:xfrm>
            <a:off x="103554" y="1790700"/>
            <a:ext cx="8306878" cy="441568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>
                <a:solidFill>
                  <a:prstClr val="black"/>
                </a:solidFill>
              </a:rPr>
              <a:t>UPPAAL Model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1C501E7-397F-4856-8DA8-8C0C386A8F99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EF85A-AE7D-16E7-9D93-D76D9E418AC1}"/>
              </a:ext>
            </a:extLst>
          </p:cNvPr>
          <p:cNvSpPr txBox="1"/>
          <p:nvPr/>
        </p:nvSpPr>
        <p:spPr>
          <a:xfrm>
            <a:off x="360000" y="6516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Scheduling </a:t>
            </a:r>
            <a:r>
              <a:rPr lang="de-DE" b="1" dirty="0" err="1"/>
              <a:t>policy</a:t>
            </a:r>
            <a:r>
              <a:rPr lang="de-DE" b="1" dirty="0"/>
              <a:t> </a:t>
            </a:r>
            <a:endParaRPr lang="en-DE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DBC81-1602-B4CE-D26A-64BC7FB9160D}"/>
              </a:ext>
            </a:extLst>
          </p:cNvPr>
          <p:cNvSpPr txBox="1"/>
          <p:nvPr/>
        </p:nvSpPr>
        <p:spPr>
          <a:xfrm>
            <a:off x="359999" y="1026241"/>
            <a:ext cx="8050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Reservation-based , conflict-aware scheduling policy selects vehicles for safe intersection access considering fairness and real-time constraints.</a:t>
            </a:r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6FD962-368E-5999-2628-7B4D6BC919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22"/>
          <a:stretch/>
        </p:blipFill>
        <p:spPr>
          <a:xfrm>
            <a:off x="103554" y="1864633"/>
            <a:ext cx="8230821" cy="4189268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2B3871BA-F528-16D4-1C77-7A16F3B6FC73}"/>
              </a:ext>
            </a:extLst>
          </p:cNvPr>
          <p:cNvGrpSpPr/>
          <p:nvPr/>
        </p:nvGrpSpPr>
        <p:grpSpPr>
          <a:xfrm>
            <a:off x="3399885" y="2691017"/>
            <a:ext cx="4855734" cy="1188389"/>
            <a:chOff x="3399885" y="2691017"/>
            <a:chExt cx="4855734" cy="118838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36D8E07-1B74-5913-CF8A-952FB953D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8708" t="26893" r="1389" b="47597"/>
            <a:stretch/>
          </p:blipFill>
          <p:spPr>
            <a:xfrm>
              <a:off x="3399885" y="2691018"/>
              <a:ext cx="1532115" cy="116614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4398636-94DB-BEF4-3144-BBA8FE46F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0303" t="32763" r="41082" b="47178"/>
            <a:stretch/>
          </p:blipFill>
          <p:spPr>
            <a:xfrm>
              <a:off x="4989321" y="2977693"/>
              <a:ext cx="1597218" cy="90171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1D8451A-BE93-B212-69AA-0ACF2C7F2C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79980" t="10762" r="4282" b="84714"/>
            <a:stretch/>
          </p:blipFill>
          <p:spPr>
            <a:xfrm>
              <a:off x="4543028" y="2691017"/>
              <a:ext cx="1295400" cy="23498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20F1470-268E-EA6B-CF66-0F40A2C0E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196" t="26955" r="20962" b="47554"/>
            <a:stretch/>
          </p:blipFill>
          <p:spPr>
            <a:xfrm>
              <a:off x="6622469" y="2691018"/>
              <a:ext cx="1633150" cy="1166146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039612ED-D4D9-C691-C69C-1A982356A3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980" t="10762" r="4282" b="84714"/>
          <a:stretch/>
        </p:blipFill>
        <p:spPr>
          <a:xfrm>
            <a:off x="6398199" y="2668775"/>
            <a:ext cx="1046541" cy="23498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D8B770-B48F-54B4-2343-5E723AC416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18" t="88844"/>
          <a:stretch/>
        </p:blipFill>
        <p:spPr>
          <a:xfrm>
            <a:off x="3434400" y="5310987"/>
            <a:ext cx="4903391" cy="5104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75198A0-03EB-420F-8750-E82B77A283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610" t="10094" r="2977" b="83377"/>
          <a:stretch/>
        </p:blipFill>
        <p:spPr>
          <a:xfrm>
            <a:off x="3399885" y="5795308"/>
            <a:ext cx="4776375" cy="22449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4F4C143-35AD-DD00-EFCB-72AC3FAB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3610" t="10094" r="2977" b="83377"/>
          <a:stretch/>
        </p:blipFill>
        <p:spPr>
          <a:xfrm rot="5400000" flipV="1">
            <a:off x="8885624" y="5739880"/>
            <a:ext cx="471033" cy="4571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641242C-75BE-86B6-50AF-5D29A6225A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535" t="52138" b="45429"/>
          <a:stretch/>
        </p:blipFill>
        <p:spPr>
          <a:xfrm>
            <a:off x="3350021" y="5782822"/>
            <a:ext cx="4987769" cy="11153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6907E69-0E30-4163-D520-926D14F97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0620" y="5886486"/>
            <a:ext cx="4903391" cy="21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867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>
                <a:solidFill>
                  <a:prstClr val="black"/>
                </a:solidFill>
              </a:rPr>
              <a:t>UPPAAL Model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4EFF52A-E49D-480C-B849-E65DAB595FCB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EF85A-AE7D-16E7-9D93-D76D9E418AC1}"/>
              </a:ext>
            </a:extLst>
          </p:cNvPr>
          <p:cNvSpPr txBox="1"/>
          <p:nvPr/>
        </p:nvSpPr>
        <p:spPr>
          <a:xfrm>
            <a:off x="360000" y="65162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Intersection Controller</a:t>
            </a:r>
            <a:endParaRPr lang="en-DE" b="1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6E6C9C-252E-7685-FFED-587D012176B1}"/>
              </a:ext>
            </a:extLst>
          </p:cNvPr>
          <p:cNvGrpSpPr/>
          <p:nvPr/>
        </p:nvGrpSpPr>
        <p:grpSpPr>
          <a:xfrm>
            <a:off x="171450" y="1024789"/>
            <a:ext cx="8189912" cy="2648679"/>
            <a:chOff x="171450" y="1094646"/>
            <a:chExt cx="8189912" cy="275272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E288DF9-462F-3316-099F-0FF69CF7B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1442" b="28338"/>
            <a:stretch/>
          </p:blipFill>
          <p:spPr>
            <a:xfrm>
              <a:off x="171450" y="1094646"/>
              <a:ext cx="8189912" cy="27527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1B2910-85DF-0FEB-79E0-528F406EF5CB}"/>
                </a:ext>
              </a:extLst>
            </p:cNvPr>
            <p:cNvSpPr/>
            <p:nvPr/>
          </p:nvSpPr>
          <p:spPr>
            <a:xfrm>
              <a:off x="6398400" y="1094646"/>
              <a:ext cx="1962962" cy="991329"/>
            </a:xfrm>
            <a:prstGeom prst="rect">
              <a:avLst/>
            </a:prstGeom>
            <a:solidFill>
              <a:srgbClr val="FEFEFE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dirty="0"/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AC4977B6-51D5-F661-785B-7DA533CED7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78" t="13180" r="7057" b="15322"/>
          <a:stretch/>
        </p:blipFill>
        <p:spPr>
          <a:xfrm>
            <a:off x="171450" y="3817019"/>
            <a:ext cx="8189912" cy="238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83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 err="1">
                <a:solidFill>
                  <a:prstClr val="black"/>
                </a:solidFill>
              </a:rPr>
              <a:t>Verification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D42AFF4-DA52-44F5-9F25-AEA7D07ED2C8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5F790B-7499-A98F-8A11-95704B231B57}"/>
              </a:ext>
            </a:extLst>
          </p:cNvPr>
          <p:cNvSpPr txBox="1"/>
          <p:nvPr/>
        </p:nvSpPr>
        <p:spPr>
          <a:xfrm>
            <a:off x="360000" y="67888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 err="1"/>
              <a:t>Objective</a:t>
            </a:r>
            <a:endParaRPr lang="en-DE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EC9AB2-2A27-5833-FDEC-6438FB1335F8}"/>
              </a:ext>
            </a:extLst>
          </p:cNvPr>
          <p:cNvSpPr txBox="1"/>
          <p:nvPr/>
        </p:nvSpPr>
        <p:spPr>
          <a:xfrm>
            <a:off x="1509251" y="1306414"/>
            <a:ext cx="3967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safety (no collisions).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Liveness (progress guaranteed).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Deadlock-free.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Real-time compliant.</a:t>
            </a:r>
            <a:endParaRPr lang="en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34F103-0E93-55D3-B249-CC949B688911}"/>
              </a:ext>
            </a:extLst>
          </p:cNvPr>
          <p:cNvSpPr txBox="1"/>
          <p:nvPr/>
        </p:nvSpPr>
        <p:spPr>
          <a:xfrm>
            <a:off x="540000" y="10063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the system is:</a:t>
            </a:r>
            <a:endParaRPr lang="en-D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E7DCFC-EEBF-1A9E-1653-2619C98B394F}"/>
              </a:ext>
            </a:extLst>
          </p:cNvPr>
          <p:cNvSpPr txBox="1"/>
          <p:nvPr/>
        </p:nvSpPr>
        <p:spPr>
          <a:xfrm>
            <a:off x="540000" y="252395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Safety</a:t>
            </a:r>
            <a:r>
              <a:rPr lang="de-DE" dirty="0"/>
              <a:t> Properties</a:t>
            </a:r>
            <a:endParaRPr lang="en-DE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5124B9A-5B5F-2E6F-337B-073378213FD2}"/>
              </a:ext>
            </a:extLst>
          </p:cNvPr>
          <p:cNvGrpSpPr/>
          <p:nvPr/>
        </p:nvGrpSpPr>
        <p:grpSpPr>
          <a:xfrm>
            <a:off x="1587499" y="2915741"/>
            <a:ext cx="5092701" cy="3190527"/>
            <a:chOff x="1587499" y="2915741"/>
            <a:chExt cx="5092701" cy="319052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C9AA1A6-38F0-2817-FCFB-4230444265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22" t="22576" r="1494" b="18887"/>
            <a:stretch/>
          </p:blipFill>
          <p:spPr>
            <a:xfrm>
              <a:off x="1587499" y="4161482"/>
              <a:ext cx="5092701" cy="194478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51F0897-4CD4-FF33-B8DD-D376ABFCDD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22" t="80394" r="1494" b="3648"/>
            <a:stretch/>
          </p:blipFill>
          <p:spPr>
            <a:xfrm>
              <a:off x="1587499" y="3618177"/>
              <a:ext cx="5092701" cy="53016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F483D2C-3585-EC70-8B65-E6DF741A4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022" t="1932" r="1494" b="76925"/>
            <a:stretch/>
          </p:blipFill>
          <p:spPr>
            <a:xfrm>
              <a:off x="1587499" y="2915741"/>
              <a:ext cx="5092701" cy="702436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5E26C8F3-394D-17EB-9C0E-4713FA5C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99" y="2915740"/>
            <a:ext cx="5092700" cy="124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012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14AB-651C-C920-D3F1-730CE9FB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3543912" cy="772254"/>
          </a:xfrm>
        </p:spPr>
        <p:txBody>
          <a:bodyPr>
            <a:normAutofit/>
          </a:bodyPr>
          <a:lstStyle/>
          <a:p>
            <a:r>
              <a:rPr lang="de-DE" sz="3600" i="1" dirty="0" err="1">
                <a:solidFill>
                  <a:prstClr val="black"/>
                </a:solidFill>
              </a:rPr>
              <a:t>Verification</a:t>
            </a:r>
            <a:endParaRPr lang="en-DE" sz="3600" i="1" dirty="0">
              <a:solidFill>
                <a:prstClr val="black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9AA14-9F8F-5672-5C66-06A69307C5F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0190B91-062D-4E6A-93FE-9EC31A6F8208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F3F053-9116-B064-F84F-6DE29FBBE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11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9B1453-D803-B787-ADC3-93B28EBFA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62" y="1328905"/>
            <a:ext cx="7378700" cy="4200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76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>
            <a:spLocks noGrp="1"/>
          </p:cNvSpPr>
          <p:nvPr>
            <p:ph type="dt" idx="10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735E9CAB-20F0-4D23-8F5A-3B730A71D2DA}" type="datetime8">
              <a:rPr lang="en-DE" smtClean="0"/>
              <a:t>18/07/2026 21:59</a:t>
            </a:fld>
            <a:endParaRPr dirty="0"/>
          </a:p>
        </p:txBody>
      </p:sp>
      <p:sp>
        <p:nvSpPr>
          <p:cNvPr id="162" name="Google Shape;162;p26"/>
          <p:cNvSpPr txBox="1">
            <a:spLocks noGrp="1"/>
          </p:cNvSpPr>
          <p:nvPr>
            <p:ph type="sldNum" idx="12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pPr/>
              <a:t>12</a:t>
            </a:fld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>
          <a:blip r:embed="rId3">
            <a:alphaModFix/>
          </a:blip>
          <a:srcRect t="7714"/>
          <a:stretch/>
        </p:blipFill>
        <p:spPr>
          <a:xfrm>
            <a:off x="191911" y="958144"/>
            <a:ext cx="8112478" cy="494171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B4E418-5182-1E6B-E6AA-B47A5F8FBCAA}"/>
              </a:ext>
            </a:extLst>
          </p:cNvPr>
          <p:cNvSpPr txBox="1"/>
          <p:nvPr/>
        </p:nvSpPr>
        <p:spPr>
          <a:xfrm>
            <a:off x="360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3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+mj-ea"/>
              </a:rPr>
              <a:t>System Partitioning</a:t>
            </a:r>
            <a:endParaRPr lang="en-DE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1DAF-935A-D998-E5BA-CB0749E69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9AF63-F24C-16E0-DF8D-E5324C73198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698A436-FE68-4A80-AAAB-DC6133C36714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B9406-4AEC-9378-1433-8B76704C61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13</a:t>
            </a:fld>
            <a:endParaRPr lang="de-DE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1D0EF38-85B9-7FDA-3723-205FE82D2B67}"/>
              </a:ext>
            </a:extLst>
          </p:cNvPr>
          <p:cNvSpPr/>
          <p:nvPr/>
        </p:nvSpPr>
        <p:spPr>
          <a:xfrm>
            <a:off x="144220" y="1768330"/>
            <a:ext cx="2286000" cy="713232"/>
          </a:xfrm>
          <a:prstGeom prst="rect">
            <a:avLst/>
          </a:prstGeom>
          <a:solidFill>
            <a:srgbClr val="2E6EA7"/>
          </a:solidFill>
          <a:ln>
            <a:solidFill>
              <a:srgbClr val="2E6EA7"/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ARM Processor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FreeRTOS</a:t>
            </a:r>
            <a:endParaRPr lang="en-US"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3518632-B3EB-08AC-F0E7-71F04913DBCF}"/>
              </a:ext>
            </a:extLst>
          </p:cNvPr>
          <p:cNvSpPr/>
          <p:nvPr/>
        </p:nvSpPr>
        <p:spPr>
          <a:xfrm>
            <a:off x="75640" y="2646644"/>
            <a:ext cx="2423160" cy="1938528"/>
          </a:xfrm>
          <a:prstGeom prst="roundRect">
            <a:avLst>
              <a:gd name="adj" fmla="val 3302"/>
            </a:avLst>
          </a:prstGeom>
          <a:solidFill>
            <a:srgbClr val="E8F2FB"/>
          </a:solidFill>
          <a:ln w="12700">
            <a:solidFill>
              <a:srgbClr val="9CC4E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764657-1A13-44A6-2152-0ECC85C8E65A}"/>
              </a:ext>
            </a:extLst>
          </p:cNvPr>
          <p:cNvSpPr/>
          <p:nvPr/>
        </p:nvSpPr>
        <p:spPr>
          <a:xfrm>
            <a:off x="189940" y="2858892"/>
            <a:ext cx="2514600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02A43"/>
                </a:solidFill>
              </a:rPr>
              <a:t>• Scheduler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02A43"/>
                </a:solidFill>
              </a:rPr>
              <a:t>• Queue Manager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02A43"/>
                </a:solidFill>
              </a:rPr>
              <a:t>• Task Manager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02A43"/>
                </a:solidFill>
              </a:rPr>
              <a:t>• V2X Communication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02A43"/>
                </a:solidFill>
              </a:rPr>
              <a:t>• Emergency Policy</a:t>
            </a:r>
            <a:endParaRPr lang="en-US" sz="1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82420F9-B53B-F6CA-D684-CA19EA52DC8A}"/>
              </a:ext>
            </a:extLst>
          </p:cNvPr>
          <p:cNvSpPr/>
          <p:nvPr/>
        </p:nvSpPr>
        <p:spPr>
          <a:xfrm>
            <a:off x="2382494" y="266517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73653"/>
                </a:solidFill>
              </a:rPr>
              <a:t>AXI / high‑speed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73653"/>
                </a:solidFill>
              </a:rPr>
              <a:t>interconnect bus</a:t>
            </a:r>
            <a:endParaRPr lang="en-US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E79B0FF-9E12-5630-7F45-829D18ADC7E6}"/>
              </a:ext>
            </a:extLst>
          </p:cNvPr>
          <p:cNvSpPr/>
          <p:nvPr/>
        </p:nvSpPr>
        <p:spPr>
          <a:xfrm>
            <a:off x="2713544" y="3253608"/>
            <a:ext cx="1188720" cy="713232"/>
          </a:xfrm>
          <a:prstGeom prst="chevron">
            <a:avLst/>
          </a:prstGeom>
          <a:solidFill>
            <a:srgbClr val="173653"/>
          </a:solidFill>
          <a:ln w="12700">
            <a:solidFill>
              <a:srgbClr val="173653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7E6D5EC-6905-4AAB-C039-A3E7A72F57A2}"/>
              </a:ext>
            </a:extLst>
          </p:cNvPr>
          <p:cNvSpPr/>
          <p:nvPr/>
        </p:nvSpPr>
        <p:spPr>
          <a:xfrm>
            <a:off x="2403348" y="400646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653"/>
                </a:solidFill>
              </a:rPr>
              <a:t>Interrupts +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73653"/>
                </a:solidFill>
              </a:rPr>
              <a:t>register access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E61E9F1-B545-22A2-ED02-B622B7A1A98A}"/>
              </a:ext>
            </a:extLst>
          </p:cNvPr>
          <p:cNvSpPr/>
          <p:nvPr/>
        </p:nvSpPr>
        <p:spPr>
          <a:xfrm>
            <a:off x="4614983" y="1779924"/>
            <a:ext cx="1812938" cy="713232"/>
          </a:xfrm>
          <a:prstGeom prst="rect">
            <a:avLst/>
          </a:prstGeom>
          <a:solidFill>
            <a:srgbClr val="3FA6A3"/>
          </a:solidFill>
          <a:ln>
            <a:solidFill>
              <a:srgbClr val="3FA6A3"/>
            </a:solidFill>
          </a:ln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FPGA Fabric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HW‑centric</a:t>
            </a:r>
            <a:endParaRPr lang="en-US" sz="2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62E398B-2A45-CDE4-5D8A-F9C2DE1FFE9D}"/>
              </a:ext>
            </a:extLst>
          </p:cNvPr>
          <p:cNvSpPr/>
          <p:nvPr/>
        </p:nvSpPr>
        <p:spPr>
          <a:xfrm>
            <a:off x="4291864" y="2634942"/>
            <a:ext cx="2384298" cy="1938528"/>
          </a:xfrm>
          <a:prstGeom prst="roundRect">
            <a:avLst>
              <a:gd name="adj" fmla="val 3302"/>
            </a:avLst>
          </a:prstGeom>
          <a:solidFill>
            <a:srgbClr val="E1F5F4"/>
          </a:solidFill>
          <a:ln w="12700">
            <a:solidFill>
              <a:srgbClr val="8ED8D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10BAF9A-EA15-5E76-463F-5BCB6E464B73}"/>
              </a:ext>
            </a:extLst>
          </p:cNvPr>
          <p:cNvSpPr/>
          <p:nvPr/>
        </p:nvSpPr>
        <p:spPr>
          <a:xfrm>
            <a:off x="4424312" y="2766050"/>
            <a:ext cx="2135544" cy="16670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102A43"/>
                </a:solidFill>
              </a:rPr>
              <a:t>• Quadrant logic Q1–Q4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A43"/>
                </a:solidFill>
              </a:rPr>
              <a:t>• Conflict matrix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A43"/>
                </a:solidFill>
              </a:rPr>
              <a:t>• Reservation arbiter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02A43"/>
                </a:solidFill>
              </a:rPr>
              <a:t>• SLOT_TIME FPGA timer</a:t>
            </a: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DDD8809-2805-4B43-7B75-C4FD7E69609B}"/>
              </a:ext>
            </a:extLst>
          </p:cNvPr>
          <p:cNvSpPr/>
          <p:nvPr/>
        </p:nvSpPr>
        <p:spPr>
          <a:xfrm>
            <a:off x="6873569" y="1871041"/>
            <a:ext cx="1475232" cy="502920"/>
          </a:xfrm>
          <a:prstGeom prst="rect">
            <a:avLst/>
          </a:prstGeom>
          <a:solidFill>
            <a:srgbClr val="F3A43B"/>
          </a:solidFill>
          <a:ln>
            <a:solidFill>
              <a:srgbClr val="F3A43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Hybrid</a:t>
            </a:r>
            <a:endParaRPr lang="en-US" sz="2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17D0C0F-48F7-E7C4-BD6D-D4873EA1F6E0}"/>
              </a:ext>
            </a:extLst>
          </p:cNvPr>
          <p:cNvSpPr/>
          <p:nvPr/>
        </p:nvSpPr>
        <p:spPr>
          <a:xfrm>
            <a:off x="6801970" y="2640591"/>
            <a:ext cx="1618431" cy="802745"/>
          </a:xfrm>
          <a:prstGeom prst="roundRect">
            <a:avLst>
              <a:gd name="adj" fmla="val 6250"/>
            </a:avLst>
          </a:prstGeom>
          <a:solidFill>
            <a:srgbClr val="FFF0D9"/>
          </a:solidFill>
          <a:ln w="12700">
            <a:solidFill>
              <a:srgbClr val="F2C776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D3A2170-A229-50E3-7B76-99C3B145F769}"/>
              </a:ext>
            </a:extLst>
          </p:cNvPr>
          <p:cNvSpPr/>
          <p:nvPr/>
        </p:nvSpPr>
        <p:spPr>
          <a:xfrm>
            <a:off x="6777586" y="276451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EmergencyHandler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ARM + FPGA override</a:t>
            </a:r>
            <a:endParaRPr lang="en-US" sz="16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049DB91-6EAB-6490-48E1-A6BDE8B5CCCE}"/>
              </a:ext>
            </a:extLst>
          </p:cNvPr>
          <p:cNvSpPr/>
          <p:nvPr/>
        </p:nvSpPr>
        <p:spPr>
          <a:xfrm>
            <a:off x="6808610" y="3619236"/>
            <a:ext cx="1618431" cy="909038"/>
          </a:xfrm>
          <a:prstGeom prst="roundRect">
            <a:avLst>
              <a:gd name="adj" fmla="val 6250"/>
            </a:avLst>
          </a:prstGeom>
          <a:solidFill>
            <a:srgbClr val="F7FAFD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188EFB6-D386-8215-17B3-360BF30E9A7F}"/>
              </a:ext>
            </a:extLst>
          </p:cNvPr>
          <p:cNvSpPr/>
          <p:nvPr/>
        </p:nvSpPr>
        <p:spPr>
          <a:xfrm>
            <a:off x="6801970" y="3800697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Sensing / V2X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02A43"/>
                </a:solidFill>
              </a:rPr>
              <a:t>communication interfaces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0461E81-15B1-A71A-423C-0E0E55AC0EE4}"/>
              </a:ext>
            </a:extLst>
          </p:cNvPr>
          <p:cNvSpPr/>
          <p:nvPr/>
        </p:nvSpPr>
        <p:spPr>
          <a:xfrm>
            <a:off x="-33528" y="512417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09309ED-BE3B-AF28-2B3D-EF21C4FAB9AB}"/>
              </a:ext>
            </a:extLst>
          </p:cNvPr>
          <p:cNvSpPr/>
          <p:nvPr/>
        </p:nvSpPr>
        <p:spPr>
          <a:xfrm>
            <a:off x="144220" y="5417063"/>
            <a:ext cx="8276181" cy="566928"/>
          </a:xfrm>
          <a:prstGeom prst="rect">
            <a:avLst/>
          </a:prstGeom>
          <a:solidFill>
            <a:srgbClr val="173653"/>
          </a:solidFill>
          <a:ln>
            <a:solidFill>
              <a:srgbClr val="17365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endParaRPr lang="en-US" sz="17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A385D1A-9CAA-3DCB-DF02-10330B6AB0AC}"/>
              </a:ext>
            </a:extLst>
          </p:cNvPr>
          <p:cNvSpPr/>
          <p:nvPr/>
        </p:nvSpPr>
        <p:spPr>
          <a:xfrm>
            <a:off x="-1039228" y="5581652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Co‑design result: Flexible Scheduling + Deterministic Parallel Conflict Checking.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DAB669-DA82-2972-B95B-31FFEFF89630}"/>
              </a:ext>
            </a:extLst>
          </p:cNvPr>
          <p:cNvSpPr txBox="1"/>
          <p:nvPr/>
        </p:nvSpPr>
        <p:spPr>
          <a:xfrm>
            <a:off x="360000" y="0"/>
            <a:ext cx="54625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>
                <a:schemeClr val="dk1"/>
              </a:buClr>
              <a:buSzPts val="3600"/>
            </a:pPr>
            <a:r>
              <a:rPr lang="de-DE" sz="3600" b="1" i="1" dirty="0">
                <a:solidFill>
                  <a:prstClr val="black"/>
                </a:solidFill>
                <a:latin typeface="Source Sans Pro"/>
                <a:ea typeface="+mj-ea"/>
              </a:rPr>
              <a:t>System Partitioning</a:t>
            </a:r>
            <a:endParaRPr lang="en-DE" sz="3600" b="1" i="1" dirty="0">
              <a:solidFill>
                <a:prstClr val="black"/>
              </a:solidFill>
              <a:latin typeface="Source Sans Pro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18402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359999" y="0"/>
            <a:ext cx="4526917" cy="63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3600" i="1" dirty="0" err="1">
                <a:solidFill>
                  <a:prstClr val="black"/>
                </a:solidFill>
                <a:sym typeface="Arial"/>
              </a:rPr>
              <a:t>FreeRTOS</a:t>
            </a:r>
            <a:r>
              <a:rPr lang="de-DE" sz="3600" i="1" dirty="0">
                <a:solidFill>
                  <a:prstClr val="black"/>
                </a:solidFill>
                <a:sym typeface="Arial"/>
              </a:rPr>
              <a:t> Realization</a:t>
            </a:r>
            <a:endParaRPr sz="3600" i="1" dirty="0">
              <a:solidFill>
                <a:prstClr val="black"/>
              </a:solidFill>
            </a:endParaRPr>
          </a:p>
        </p:txBody>
      </p:sp>
      <p:sp>
        <p:nvSpPr>
          <p:cNvPr id="185" name="Google Shape;185;p29"/>
          <p:cNvSpPr txBox="1">
            <a:spLocks noGrp="1"/>
          </p:cNvSpPr>
          <p:nvPr>
            <p:ph type="dt" idx="10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8CDDA5C-7CAC-44B1-B230-C103CDD20BF2}" type="datetime8">
              <a:rPr lang="en-DE" smtClean="0"/>
              <a:t>18/07/2026 21:59</a:t>
            </a:fld>
            <a:endParaRPr dirty="0"/>
          </a:p>
        </p:txBody>
      </p:sp>
      <p:sp>
        <p:nvSpPr>
          <p:cNvPr id="186" name="Google Shape;186;p29"/>
          <p:cNvSpPr txBox="1">
            <a:spLocks noGrp="1"/>
          </p:cNvSpPr>
          <p:nvPr>
            <p:ph type="sldNum" idx="12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pPr/>
              <a:t>14</a:t>
            </a:fld>
            <a:endParaRPr/>
          </a:p>
        </p:txBody>
      </p:sp>
      <p:grpSp>
        <p:nvGrpSpPr>
          <p:cNvPr id="187" name="Google Shape;187;p29"/>
          <p:cNvGrpSpPr/>
          <p:nvPr/>
        </p:nvGrpSpPr>
        <p:grpSpPr>
          <a:xfrm>
            <a:off x="648000" y="1356279"/>
            <a:ext cx="3002952" cy="458686"/>
            <a:chOff x="0" y="0"/>
            <a:chExt cx="2705100" cy="571500"/>
          </a:xfrm>
        </p:grpSpPr>
        <p:sp>
          <p:nvSpPr>
            <p:cNvPr id="188" name="Google Shape;188;p29"/>
            <p:cNvSpPr/>
            <p:nvPr/>
          </p:nvSpPr>
          <p:spPr>
            <a:xfrm>
              <a:off x="0" y="0"/>
              <a:ext cx="2705100" cy="571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9"/>
            <p:cNvSpPr txBox="1"/>
            <p:nvPr/>
          </p:nvSpPr>
          <p:spPr>
            <a:xfrm>
              <a:off x="142875" y="0"/>
              <a:ext cx="241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1. TASK DECOMPOSITION</a:t>
              </a:r>
              <a:endParaRPr sz="12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"/>
                </a:spcBef>
                <a:spcAft>
                  <a:spcPts val="0"/>
                </a:spcAft>
                <a:buNone/>
              </a:pPr>
              <a:r>
                <a:rPr lang="de-DE" sz="1200" b="0" dirty="0" err="1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Hierarchical</a:t>
              </a:r>
              <a:r>
                <a:rPr lang="de-DE" sz="1200" b="0" dirty="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200" b="0" dirty="0" err="1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execution</a:t>
              </a:r>
              <a:r>
                <a:rPr lang="de-DE" sz="1200" b="0" dirty="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200" b="0" dirty="0" err="1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by</a:t>
              </a:r>
              <a:r>
                <a:rPr lang="de-DE" sz="1200" b="0" dirty="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200" b="0" dirty="0" err="1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priority</a:t>
              </a:r>
              <a:endParaRPr sz="1200" b="0" dirty="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0" name="Google Shape;190;p29"/>
          <p:cNvGrpSpPr/>
          <p:nvPr/>
        </p:nvGrpSpPr>
        <p:grpSpPr>
          <a:xfrm>
            <a:off x="647993" y="1870057"/>
            <a:ext cx="3058331" cy="786868"/>
            <a:chOff x="0" y="0"/>
            <a:chExt cx="2754975" cy="723900"/>
          </a:xfrm>
        </p:grpSpPr>
        <p:sp>
          <p:nvSpPr>
            <p:cNvPr id="191" name="Google Shape;191;p29"/>
            <p:cNvSpPr/>
            <p:nvPr/>
          </p:nvSpPr>
          <p:spPr>
            <a:xfrm>
              <a:off x="0" y="0"/>
              <a:ext cx="2705100" cy="723900"/>
            </a:xfrm>
            <a:prstGeom prst="roundRect">
              <a:avLst>
                <a:gd name="adj" fmla="val 7894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142875" y="40232"/>
              <a:ext cx="957264" cy="227073"/>
            </a:xfrm>
            <a:prstGeom prst="roundRect">
              <a:avLst>
                <a:gd name="adj" fmla="val 20000"/>
              </a:avLst>
            </a:prstGeom>
            <a:solidFill>
              <a:srgbClr val="EF444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9"/>
            <p:cNvSpPr txBox="1"/>
            <p:nvPr/>
          </p:nvSpPr>
          <p:spPr>
            <a:xfrm>
              <a:off x="142875" y="30023"/>
              <a:ext cx="957264" cy="23598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HIGHEST PRIO</a:t>
              </a:r>
              <a:endParaRPr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9"/>
            <p:cNvSpPr txBox="1"/>
            <p:nvPr/>
          </p:nvSpPr>
          <p:spPr>
            <a:xfrm>
              <a:off x="142875" y="304791"/>
              <a:ext cx="2612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EmergencyTask</a:t>
              </a:r>
              <a:r>
                <a:rPr lang="de-DE" sz="1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— System </a:t>
              </a:r>
              <a:r>
                <a:rPr lang="de-DE" sz="1000" b="0" dirty="0" err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override</a:t>
              </a:r>
              <a:endParaRPr sz="1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EmergencyTask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pvParam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95" name="Google Shape;195;p29"/>
          <p:cNvGrpSpPr/>
          <p:nvPr/>
        </p:nvGrpSpPr>
        <p:grpSpPr>
          <a:xfrm>
            <a:off x="647011" y="2713013"/>
            <a:ext cx="3022491" cy="824190"/>
            <a:chOff x="-871" y="-111747"/>
            <a:chExt cx="2705100" cy="723900"/>
          </a:xfrm>
        </p:grpSpPr>
        <p:sp>
          <p:nvSpPr>
            <p:cNvPr id="196" name="Google Shape;196;p29"/>
            <p:cNvSpPr/>
            <p:nvPr/>
          </p:nvSpPr>
          <p:spPr>
            <a:xfrm>
              <a:off x="-871" y="-111747"/>
              <a:ext cx="2705100" cy="723900"/>
            </a:xfrm>
            <a:prstGeom prst="roundRect">
              <a:avLst>
                <a:gd name="adj" fmla="val 7894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9"/>
            <p:cNvSpPr/>
            <p:nvPr/>
          </p:nvSpPr>
          <p:spPr>
            <a:xfrm>
              <a:off x="134804" y="-67861"/>
              <a:ext cx="958569" cy="245865"/>
            </a:xfrm>
            <a:prstGeom prst="roundRect">
              <a:avLst>
                <a:gd name="adj" fmla="val 20000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9"/>
            <p:cNvSpPr txBox="1"/>
            <p:nvPr/>
          </p:nvSpPr>
          <p:spPr>
            <a:xfrm>
              <a:off x="213768" y="-38732"/>
              <a:ext cx="815039" cy="1876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 PRIO</a:t>
              </a:r>
              <a:endParaRPr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9"/>
            <p:cNvSpPr txBox="1"/>
            <p:nvPr/>
          </p:nvSpPr>
          <p:spPr>
            <a:xfrm>
              <a:off x="142004" y="193053"/>
              <a:ext cx="2419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SchedulerTask</a:t>
              </a:r>
              <a:r>
                <a:rPr lang="de-DE" sz="1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— FCFS </a:t>
              </a:r>
              <a:r>
                <a:rPr lang="de-DE" sz="1000" b="0" dirty="0" err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decision</a:t>
              </a:r>
              <a:endParaRPr sz="1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SchedulerTask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pvParam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00" name="Google Shape;200;p29"/>
          <p:cNvGrpSpPr/>
          <p:nvPr/>
        </p:nvGrpSpPr>
        <p:grpSpPr>
          <a:xfrm>
            <a:off x="647010" y="3588859"/>
            <a:ext cx="3022492" cy="765661"/>
            <a:chOff x="-937" y="129994"/>
            <a:chExt cx="2705100" cy="723900"/>
          </a:xfrm>
        </p:grpSpPr>
        <p:sp>
          <p:nvSpPr>
            <p:cNvPr id="201" name="Google Shape;201;p29"/>
            <p:cNvSpPr/>
            <p:nvPr/>
          </p:nvSpPr>
          <p:spPr>
            <a:xfrm>
              <a:off x="-937" y="129994"/>
              <a:ext cx="2705100" cy="723900"/>
            </a:xfrm>
            <a:prstGeom prst="roundRect">
              <a:avLst>
                <a:gd name="adj" fmla="val 7894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9"/>
            <p:cNvSpPr/>
            <p:nvPr/>
          </p:nvSpPr>
          <p:spPr>
            <a:xfrm>
              <a:off x="144756" y="180256"/>
              <a:ext cx="948218" cy="228605"/>
            </a:xfrm>
            <a:prstGeom prst="roundRect">
              <a:avLst>
                <a:gd name="adj" fmla="val 20000"/>
              </a:avLst>
            </a:prstGeom>
            <a:solidFill>
              <a:srgbClr val="F9731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29"/>
            <p:cNvSpPr txBox="1"/>
            <p:nvPr/>
          </p:nvSpPr>
          <p:spPr>
            <a:xfrm>
              <a:off x="259440" y="204932"/>
              <a:ext cx="723565" cy="194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HIGH PRIO</a:t>
              </a:r>
              <a:endParaRPr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9"/>
            <p:cNvSpPr txBox="1"/>
            <p:nvPr/>
          </p:nvSpPr>
          <p:spPr>
            <a:xfrm>
              <a:off x="141942" y="459123"/>
              <a:ext cx="2419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IntersectionManagerTask</a:t>
              </a:r>
              <a:r>
                <a:rPr lang="de-DE" sz="1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— Quadrant </a:t>
              </a:r>
              <a:r>
                <a:rPr lang="de-DE" sz="1000" b="0" dirty="0" err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auth</a:t>
              </a:r>
              <a:endParaRPr sz="1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MonitorTask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pvParam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05" name="Google Shape;205;p29"/>
          <p:cNvGrpSpPr/>
          <p:nvPr/>
        </p:nvGrpSpPr>
        <p:grpSpPr>
          <a:xfrm>
            <a:off x="652161" y="4413087"/>
            <a:ext cx="3022492" cy="848424"/>
            <a:chOff x="3327" y="325901"/>
            <a:chExt cx="2483509" cy="723900"/>
          </a:xfrm>
        </p:grpSpPr>
        <p:sp>
          <p:nvSpPr>
            <p:cNvPr id="206" name="Google Shape;206;p29"/>
            <p:cNvSpPr/>
            <p:nvPr/>
          </p:nvSpPr>
          <p:spPr>
            <a:xfrm>
              <a:off x="3327" y="325901"/>
              <a:ext cx="2483509" cy="723900"/>
            </a:xfrm>
            <a:prstGeom prst="roundRect">
              <a:avLst>
                <a:gd name="adj" fmla="val 7894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29"/>
            <p:cNvSpPr/>
            <p:nvPr/>
          </p:nvSpPr>
          <p:spPr>
            <a:xfrm>
              <a:off x="146912" y="388264"/>
              <a:ext cx="864191" cy="173026"/>
            </a:xfrm>
            <a:prstGeom prst="roundRect">
              <a:avLst>
                <a:gd name="adj" fmla="val 2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9"/>
            <p:cNvSpPr txBox="1"/>
            <p:nvPr/>
          </p:nvSpPr>
          <p:spPr>
            <a:xfrm>
              <a:off x="146164" y="387559"/>
              <a:ext cx="857579" cy="1730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MEDIUM PRIO</a:t>
              </a:r>
              <a:endParaRPr sz="11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9"/>
            <p:cNvSpPr txBox="1"/>
            <p:nvPr/>
          </p:nvSpPr>
          <p:spPr>
            <a:xfrm>
              <a:off x="146202" y="582506"/>
              <a:ext cx="2221305" cy="362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V2XReceiverTask </a:t>
              </a:r>
              <a:r>
                <a:rPr lang="de-DE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— </a:t>
              </a:r>
              <a:r>
                <a:rPr lang="de-DE" sz="1000" b="0" dirty="0" err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Ingest</a:t>
              </a:r>
              <a:r>
                <a:rPr lang="de-DE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requests</a:t>
              </a:r>
              <a:endParaRPr sz="1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V2XReceiverTask(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pvParam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10" name="Google Shape;210;p29"/>
          <p:cNvGrpSpPr/>
          <p:nvPr/>
        </p:nvGrpSpPr>
        <p:grpSpPr>
          <a:xfrm>
            <a:off x="647010" y="5367565"/>
            <a:ext cx="3059314" cy="848424"/>
            <a:chOff x="-25076" y="791035"/>
            <a:chExt cx="2369273" cy="723901"/>
          </a:xfrm>
        </p:grpSpPr>
        <p:sp>
          <p:nvSpPr>
            <p:cNvPr id="211" name="Google Shape;211;p29"/>
            <p:cNvSpPr/>
            <p:nvPr/>
          </p:nvSpPr>
          <p:spPr>
            <a:xfrm>
              <a:off x="-25076" y="791035"/>
              <a:ext cx="2345001" cy="723901"/>
            </a:xfrm>
            <a:prstGeom prst="roundRect">
              <a:avLst>
                <a:gd name="adj" fmla="val 7894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137378" y="844703"/>
              <a:ext cx="797567" cy="159342"/>
            </a:xfrm>
            <a:prstGeom prst="roundRect">
              <a:avLst>
                <a:gd name="adj" fmla="val 20000"/>
              </a:avLst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9"/>
            <p:cNvSpPr txBox="1"/>
            <p:nvPr/>
          </p:nvSpPr>
          <p:spPr>
            <a:xfrm>
              <a:off x="137944" y="851956"/>
              <a:ext cx="788882" cy="1542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algn="ctr"/>
              <a:r>
                <a:rPr lang="de-DE" sz="1100" b="1" dirty="0">
                  <a:solidFill>
                    <a:srgbClr val="FFFFFF"/>
                  </a:solidFill>
                </a:rPr>
                <a:t>MEDIUM PRIO</a:t>
              </a:r>
              <a:endParaRPr sz="1100" b="1" dirty="0">
                <a:solidFill>
                  <a:srgbClr val="FFFFFF"/>
                </a:solidFill>
              </a:endParaRPr>
            </a:p>
          </p:txBody>
        </p:sp>
        <p:sp>
          <p:nvSpPr>
            <p:cNvPr id="214" name="Google Shape;214;p29"/>
            <p:cNvSpPr txBox="1"/>
            <p:nvPr/>
          </p:nvSpPr>
          <p:spPr>
            <a:xfrm>
              <a:off x="137378" y="1074340"/>
              <a:ext cx="2206819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FPGAInterfaceTask</a:t>
              </a:r>
              <a:r>
                <a:rPr lang="de-DE" sz="1000" b="1" dirty="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— Hardware </a:t>
              </a:r>
              <a:r>
                <a:rPr lang="de-DE" sz="1000" b="0" dirty="0" err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sync</a:t>
              </a:r>
              <a:endParaRPr sz="1000" b="1" dirty="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FPGAInterfaceTask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pvParam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15" name="Google Shape;215;p29"/>
          <p:cNvGrpSpPr/>
          <p:nvPr/>
        </p:nvGrpSpPr>
        <p:grpSpPr>
          <a:xfrm>
            <a:off x="4809377" y="1346632"/>
            <a:ext cx="3178046" cy="468333"/>
            <a:chOff x="-5510" y="-491056"/>
            <a:chExt cx="2577300" cy="583520"/>
          </a:xfrm>
        </p:grpSpPr>
        <p:sp>
          <p:nvSpPr>
            <p:cNvPr id="216" name="Google Shape;216;p29"/>
            <p:cNvSpPr/>
            <p:nvPr/>
          </p:nvSpPr>
          <p:spPr>
            <a:xfrm>
              <a:off x="-5510" y="-491056"/>
              <a:ext cx="2577300" cy="571500"/>
            </a:xfrm>
            <a:prstGeom prst="roundRect">
              <a:avLst>
                <a:gd name="adj" fmla="val 10000"/>
              </a:avLst>
            </a:prstGeom>
            <a:solidFill>
              <a:srgbClr val="47556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9"/>
            <p:cNvSpPr txBox="1"/>
            <p:nvPr/>
          </p:nvSpPr>
          <p:spPr>
            <a:xfrm>
              <a:off x="134588" y="-479036"/>
              <a:ext cx="2419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r>
                <a:rPr lang="de-DE" sz="1200" b="1" dirty="0">
                  <a:solidFill>
                    <a:srgbClr val="FFFFFF"/>
                  </a:solidFill>
                </a:rPr>
                <a:t>2. INTER-TASK COMMUNICATION</a:t>
              </a:r>
              <a:endParaRPr sz="1200" b="1" dirty="0">
                <a:solidFill>
                  <a:srgbClr val="FFFFFF"/>
                </a:solidFill>
              </a:endParaRPr>
            </a:p>
            <a:p>
              <a:pPr>
                <a:spcBef>
                  <a:spcPts val="120"/>
                </a:spcBef>
              </a:pPr>
              <a:r>
                <a:rPr lang="de-DE" sz="1200" dirty="0" err="1">
                  <a:solidFill>
                    <a:srgbClr val="E2E8F0"/>
                  </a:solidFill>
                </a:rPr>
                <a:t>Protecting</a:t>
              </a:r>
              <a:r>
                <a:rPr lang="de-DE" sz="1200" dirty="0">
                  <a:solidFill>
                    <a:srgbClr val="E2E8F0"/>
                  </a:solidFill>
                </a:rPr>
                <a:t> </a:t>
              </a:r>
              <a:r>
                <a:rPr lang="de-DE" sz="1200" dirty="0" err="1">
                  <a:solidFill>
                    <a:srgbClr val="E2E8F0"/>
                  </a:solidFill>
                </a:rPr>
                <a:t>shared</a:t>
              </a:r>
              <a:r>
                <a:rPr lang="de-DE" sz="1200" dirty="0">
                  <a:solidFill>
                    <a:srgbClr val="E2E8F0"/>
                  </a:solidFill>
                </a:rPr>
                <a:t> </a:t>
              </a:r>
              <a:r>
                <a:rPr lang="de-DE" sz="1200" dirty="0" err="1">
                  <a:solidFill>
                    <a:srgbClr val="E2E8F0"/>
                  </a:solidFill>
                </a:rPr>
                <a:t>spatial</a:t>
              </a:r>
              <a:r>
                <a:rPr lang="de-DE" sz="1200" dirty="0">
                  <a:solidFill>
                    <a:srgbClr val="E2E8F0"/>
                  </a:solidFill>
                </a:rPr>
                <a:t> </a:t>
              </a:r>
              <a:r>
                <a:rPr lang="de-DE" sz="1200" dirty="0" err="1">
                  <a:solidFill>
                    <a:srgbClr val="E2E8F0"/>
                  </a:solidFill>
                </a:rPr>
                <a:t>resources</a:t>
              </a:r>
              <a:endParaRPr sz="1200" dirty="0">
                <a:solidFill>
                  <a:srgbClr val="E2E8F0"/>
                </a:solidFill>
              </a:endParaRPr>
            </a:p>
          </p:txBody>
        </p:sp>
      </p:grpSp>
      <p:grpSp>
        <p:nvGrpSpPr>
          <p:cNvPr id="218" name="Google Shape;218;p29"/>
          <p:cNvGrpSpPr/>
          <p:nvPr/>
        </p:nvGrpSpPr>
        <p:grpSpPr>
          <a:xfrm>
            <a:off x="4803943" y="1912438"/>
            <a:ext cx="3178045" cy="824037"/>
            <a:chOff x="0" y="0"/>
            <a:chExt cx="2705100" cy="914400"/>
          </a:xfrm>
        </p:grpSpPr>
        <p:sp>
          <p:nvSpPr>
            <p:cNvPr id="219" name="Google Shape;219;p29"/>
            <p:cNvSpPr/>
            <p:nvPr/>
          </p:nvSpPr>
          <p:spPr>
            <a:xfrm>
              <a:off x="0" y="0"/>
              <a:ext cx="27051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9"/>
            <p:cNvSpPr txBox="1"/>
            <p:nvPr/>
          </p:nvSpPr>
          <p:spPr>
            <a:xfrm>
              <a:off x="142875" y="114300"/>
              <a:ext cx="24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Queues (N/S/E/W)</a:t>
              </a:r>
              <a:endParaRPr sz="1000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"/>
                </a:spcBef>
                <a:spcAft>
                  <a:spcPts val="0"/>
                </a:spcAft>
                <a:buNone/>
              </a:pP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Buffer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incoming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FCFS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structures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safely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0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enqueue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(), </a:t>
              </a: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dequeue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21" name="Google Shape;221;p29"/>
          <p:cNvGrpSpPr/>
          <p:nvPr/>
        </p:nvGrpSpPr>
        <p:grpSpPr>
          <a:xfrm>
            <a:off x="4812489" y="2868260"/>
            <a:ext cx="3169500" cy="824037"/>
            <a:chOff x="-5784" y="-458562"/>
            <a:chExt cx="2705100" cy="914400"/>
          </a:xfrm>
        </p:grpSpPr>
        <p:sp>
          <p:nvSpPr>
            <p:cNvPr id="222" name="Google Shape;222;p29"/>
            <p:cNvSpPr/>
            <p:nvPr/>
          </p:nvSpPr>
          <p:spPr>
            <a:xfrm>
              <a:off x="-5784" y="-458562"/>
              <a:ext cx="27051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9"/>
            <p:cNvSpPr txBox="1"/>
            <p:nvPr/>
          </p:nvSpPr>
          <p:spPr>
            <a:xfrm>
              <a:off x="137092" y="-344262"/>
              <a:ext cx="24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Mutexes</a:t>
              </a:r>
              <a:endParaRPr sz="1000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"/>
                </a:spcBef>
                <a:spcAft>
                  <a:spcPts val="0"/>
                </a:spcAft>
                <a:buNone/>
              </a:pP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Ensure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atomic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state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checks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and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spatial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quadrant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reservations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0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xSemaphoreCreateMutex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24" name="Google Shape;224;p29"/>
          <p:cNvGrpSpPr/>
          <p:nvPr/>
        </p:nvGrpSpPr>
        <p:grpSpPr>
          <a:xfrm>
            <a:off x="4803943" y="3771090"/>
            <a:ext cx="3198621" cy="824037"/>
            <a:chOff x="-26150" y="-397754"/>
            <a:chExt cx="2705100" cy="914400"/>
          </a:xfrm>
        </p:grpSpPr>
        <p:sp>
          <p:nvSpPr>
            <p:cNvPr id="225" name="Google Shape;225;p29"/>
            <p:cNvSpPr/>
            <p:nvPr/>
          </p:nvSpPr>
          <p:spPr>
            <a:xfrm>
              <a:off x="-26150" y="-397754"/>
              <a:ext cx="2705100" cy="914400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9"/>
            <p:cNvSpPr txBox="1"/>
            <p:nvPr/>
          </p:nvSpPr>
          <p:spPr>
            <a:xfrm>
              <a:off x="123920" y="-313678"/>
              <a:ext cx="2419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Binary </a:t>
              </a:r>
              <a:r>
                <a:rPr lang="de-DE" sz="1000" b="1" dirty="0" err="1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Semaphores</a:t>
              </a:r>
              <a:endParaRPr sz="1000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"/>
                </a:spcBef>
                <a:spcAft>
                  <a:spcPts val="0"/>
                </a:spcAft>
                <a:buNone/>
              </a:pP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Instantly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wake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scheduler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task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upon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vehicle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arrival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sz="10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xSemaphoreCreateBinary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27" name="Google Shape;227;p29"/>
          <p:cNvGrpSpPr/>
          <p:nvPr/>
        </p:nvGrpSpPr>
        <p:grpSpPr>
          <a:xfrm>
            <a:off x="4812488" y="4673921"/>
            <a:ext cx="3198621" cy="806414"/>
            <a:chOff x="0" y="0"/>
            <a:chExt cx="2705100" cy="838200"/>
          </a:xfrm>
        </p:grpSpPr>
        <p:sp>
          <p:nvSpPr>
            <p:cNvPr id="228" name="Google Shape;228;p29"/>
            <p:cNvSpPr/>
            <p:nvPr/>
          </p:nvSpPr>
          <p:spPr>
            <a:xfrm>
              <a:off x="0" y="0"/>
              <a:ext cx="2705100" cy="8382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765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9"/>
            <p:cNvSpPr txBox="1"/>
            <p:nvPr/>
          </p:nvSpPr>
          <p:spPr>
            <a:xfrm>
              <a:off x="62945" y="31"/>
              <a:ext cx="26232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de-DE" sz="10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Event Groups</a:t>
              </a:r>
              <a:endParaRPr sz="1000" b="1" dirty="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20"/>
                </a:spcBef>
                <a:spcAft>
                  <a:spcPts val="0"/>
                </a:spcAft>
                <a:buNone/>
              </a:pP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Manage global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state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bitmasks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(Normal vs. Emergency </a:t>
              </a:r>
              <a:r>
                <a:rPr lang="de-DE" sz="1000" b="0" dirty="0" err="1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override</a:t>
              </a:r>
              <a:r>
                <a:rPr lang="de-DE" sz="1000" b="0" dirty="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).</a:t>
              </a:r>
              <a:endParaRPr sz="1000" b="0" dirty="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241"/>
                </a:spcBef>
                <a:spcAft>
                  <a:spcPts val="0"/>
                </a:spcAft>
                <a:buNone/>
              </a:pPr>
              <a:r>
                <a:rPr lang="de-DE" sz="1000" b="1" dirty="0" err="1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xEventGroupCreate</a:t>
              </a:r>
              <a:r>
                <a:rPr lang="de-DE" sz="1000" b="1" dirty="0">
                  <a:solidFill>
                    <a:srgbClr val="2563E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endParaRPr sz="1000" b="1" dirty="0">
                <a:solidFill>
                  <a:srgbClr val="2563E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>
            <a:spLocks noGrp="1"/>
          </p:cNvSpPr>
          <p:nvPr>
            <p:ph type="title"/>
          </p:nvPr>
        </p:nvSpPr>
        <p:spPr>
          <a:xfrm>
            <a:off x="359999" y="0"/>
            <a:ext cx="4526917" cy="63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>
              <a:spcAft>
                <a:spcPts val="0"/>
              </a:spcAft>
              <a:buClr>
                <a:schemeClr val="dk1"/>
              </a:buClr>
              <a:buSzPts val="1100"/>
            </a:pPr>
            <a:r>
              <a:rPr lang="de-DE" sz="3600" i="1" dirty="0" err="1">
                <a:solidFill>
                  <a:prstClr val="black"/>
                </a:solidFill>
                <a:sym typeface="Arial"/>
              </a:rPr>
              <a:t>FreeRTOS</a:t>
            </a:r>
            <a:r>
              <a:rPr lang="de-DE" sz="3600" i="1" dirty="0">
                <a:solidFill>
                  <a:prstClr val="black"/>
                </a:solidFill>
                <a:sym typeface="Arial"/>
              </a:rPr>
              <a:t> Realization</a:t>
            </a:r>
            <a:endParaRPr sz="3600" i="1" dirty="0">
              <a:solidFill>
                <a:prstClr val="black"/>
              </a:solidFill>
            </a:endParaRPr>
          </a:p>
        </p:txBody>
      </p:sp>
      <p:sp>
        <p:nvSpPr>
          <p:cNvPr id="185" name="Google Shape;185;p29"/>
          <p:cNvSpPr txBox="1">
            <a:spLocks noGrp="1"/>
          </p:cNvSpPr>
          <p:nvPr>
            <p:ph type="dt" idx="10"/>
          </p:nvPr>
        </p:nvSpPr>
        <p:spPr>
          <a:xfrm>
            <a:off x="648000" y="6492816"/>
            <a:ext cx="2133600" cy="111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C8CDDA5C-7CAC-44B1-B230-C103CDD20BF2}" type="datetime8">
              <a:rPr lang="en-DE" smtClean="0"/>
              <a:t>18/07/2026 21:59</a:t>
            </a:fld>
            <a:endParaRPr dirty="0"/>
          </a:p>
        </p:txBody>
      </p:sp>
      <p:sp>
        <p:nvSpPr>
          <p:cNvPr id="186" name="Google Shape;186;p29"/>
          <p:cNvSpPr txBox="1">
            <a:spLocks noGrp="1"/>
          </p:cNvSpPr>
          <p:nvPr>
            <p:ph type="sldNum" idx="12"/>
          </p:nvPr>
        </p:nvSpPr>
        <p:spPr>
          <a:xfrm>
            <a:off x="6398400" y="6493481"/>
            <a:ext cx="2133600" cy="11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F3C64E-EA90-11D6-D072-B99F9D976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" y="937549"/>
            <a:ext cx="7939049" cy="506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4600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D1727-9B0C-C4BD-E9E7-296C9A0FEE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70F1861-464F-4D20-95B7-5FD5301FD396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13D7D-33E5-A9C6-A049-1AC0A9A98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16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C4DEB-9E43-2B65-C4CB-046D8E789F7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5622058" cy="772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de-DE" sz="3600" i="1" dirty="0"/>
              <a:t>FPGA Core Realization</a:t>
            </a:r>
            <a:endParaRPr lang="en-DE" sz="36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40E31-71E5-F6C1-230C-A9F2E2B0BFF8}"/>
              </a:ext>
            </a:extLst>
          </p:cNvPr>
          <p:cNvSpPr txBox="1"/>
          <p:nvPr/>
        </p:nvSpPr>
        <p:spPr>
          <a:xfrm>
            <a:off x="648000" y="1883418"/>
            <a:ext cx="443165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Movement decoder converts request ID into required intersection quadrants.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Conflict detection checks if requested quadrants are already occupied.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Reservation arbiter grants access only when no conflict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Slot timer automatically releases reserved quadrants after crossing.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Done signal notifies FREETROS that the request is completed.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00A2B-FC63-0E09-32C7-937D38F1B4E1}"/>
              </a:ext>
            </a:extLst>
          </p:cNvPr>
          <p:cNvSpPr txBox="1"/>
          <p:nvPr/>
        </p:nvSpPr>
        <p:spPr>
          <a:xfrm>
            <a:off x="271161" y="12157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Implemented Modules: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A7BEB5-8185-0DCB-6D49-92FE2E4D8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2468475"/>
            <a:ext cx="3282587" cy="241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35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D1727-9B0C-C4BD-E9E7-296C9A0FEE7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8A4225-B5E5-486C-A079-E713F779576A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13D7D-33E5-A9C6-A049-1AC0A9A987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17</a:t>
            </a:fld>
            <a:endParaRPr lang="de-DE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DEC4DEB-9E43-2B65-C4CB-046D8E789F7C}"/>
              </a:ext>
            </a:extLst>
          </p:cNvPr>
          <p:cNvSpPr txBox="1">
            <a:spLocks/>
          </p:cNvSpPr>
          <p:nvPr/>
        </p:nvSpPr>
        <p:spPr>
          <a:xfrm>
            <a:off x="360000" y="0"/>
            <a:ext cx="5622058" cy="77225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Source Sans Pro"/>
                <a:ea typeface="+mj-ea"/>
                <a:cs typeface="Source Sans Pro"/>
              </a:defRPr>
            </a:lvl1pPr>
          </a:lstStyle>
          <a:p>
            <a:r>
              <a:rPr lang="de-DE" sz="3600" i="1" dirty="0"/>
              <a:t>FPGA Core Realization</a:t>
            </a:r>
            <a:endParaRPr lang="en-DE" sz="3600" i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8356F2-0D85-D29C-B4AF-1D9CA1385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50" y="1371600"/>
            <a:ext cx="7854750" cy="408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648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B8CE0-60CA-57D5-6CD9-A0A030B3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0"/>
            <a:ext cx="2442672" cy="607662"/>
          </a:xfrm>
        </p:spPr>
        <p:txBody>
          <a:bodyPr>
            <a:normAutofit fontScale="90000"/>
          </a:bodyPr>
          <a:lstStyle/>
          <a:p>
            <a:r>
              <a:rPr lang="de-DE" sz="3600" i="1" dirty="0" err="1"/>
              <a:t>Conclusion</a:t>
            </a:r>
            <a:endParaRPr lang="en-DE" sz="3600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D1DE7-E8DD-09CD-1199-9440A4F1292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00D28E-9B26-4845-AB11-277490F8F330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74174-ED98-D8A7-A9FE-C932E6666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18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9AE0B-1F43-9926-10FA-D2D8485ACB77}"/>
              </a:ext>
            </a:extLst>
          </p:cNvPr>
          <p:cNvSpPr txBox="1"/>
          <p:nvPr/>
        </p:nvSpPr>
        <p:spPr>
          <a:xfrm>
            <a:off x="360000" y="836712"/>
            <a:ext cx="7656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This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presented</a:t>
            </a:r>
            <a:r>
              <a:rPr lang="de-DE" dirty="0"/>
              <a:t> a real-time </a:t>
            </a:r>
            <a:r>
              <a:rPr lang="de-DE" dirty="0" err="1"/>
              <a:t>autonomous</a:t>
            </a:r>
            <a:r>
              <a:rPr lang="de-DE" dirty="0"/>
              <a:t> </a:t>
            </a:r>
            <a:r>
              <a:rPr lang="de-DE" dirty="0" err="1"/>
              <a:t>intersection</a:t>
            </a:r>
            <a:r>
              <a:rPr lang="de-DE" dirty="0"/>
              <a:t> </a:t>
            </a:r>
            <a:r>
              <a:rPr lang="de-DE" dirty="0" err="1"/>
              <a:t>controller</a:t>
            </a:r>
            <a:r>
              <a:rPr lang="de-DE" dirty="0"/>
              <a:t> </a:t>
            </a:r>
            <a:r>
              <a:rPr lang="de-DE" dirty="0" err="1"/>
              <a:t>based</a:t>
            </a:r>
            <a:r>
              <a:rPr lang="de-DE" dirty="0"/>
              <a:t> on a </a:t>
            </a:r>
            <a:r>
              <a:rPr lang="de-DE" dirty="0" err="1"/>
              <a:t>heterogeneous</a:t>
            </a:r>
            <a:r>
              <a:rPr lang="de-DE" dirty="0"/>
              <a:t> </a:t>
            </a:r>
            <a:r>
              <a:rPr lang="de-DE" dirty="0" err="1"/>
              <a:t>SoC</a:t>
            </a:r>
            <a:r>
              <a:rPr lang="de-DE" dirty="0"/>
              <a:t> </a:t>
            </a:r>
            <a:r>
              <a:rPr lang="de-DE" dirty="0" err="1"/>
              <a:t>architecture</a:t>
            </a:r>
            <a:r>
              <a:rPr lang="de-DE" dirty="0"/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FD29BB-1F29-9C28-4C8A-184E34488848}"/>
              </a:ext>
            </a:extLst>
          </p:cNvPr>
          <p:cNvSpPr txBox="1"/>
          <p:nvPr/>
        </p:nvSpPr>
        <p:spPr>
          <a:xfrm>
            <a:off x="792480" y="4030231"/>
            <a:ext cx="7604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Safe and collision-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intersection</a:t>
            </a:r>
            <a:r>
              <a:rPr lang="de-DE" dirty="0"/>
              <a:t> </a:t>
            </a:r>
            <a:r>
              <a:rPr lang="de-DE" dirty="0" err="1"/>
              <a:t>management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quadrant </a:t>
            </a:r>
            <a:r>
              <a:rPr lang="de-DE" dirty="0" err="1"/>
              <a:t>reservation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Deterministic</a:t>
            </a:r>
            <a:r>
              <a:rPr lang="de-DE" dirty="0"/>
              <a:t> real-time </a:t>
            </a:r>
            <a:r>
              <a:rPr lang="de-DE" dirty="0" err="1"/>
              <a:t>behavior</a:t>
            </a:r>
            <a:r>
              <a:rPr lang="de-DE" dirty="0"/>
              <a:t> </a:t>
            </a:r>
            <a:r>
              <a:rPr lang="de-DE" dirty="0" err="1"/>
              <a:t>ensured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FPGA </a:t>
            </a:r>
            <a:r>
              <a:rPr lang="de-DE" dirty="0" err="1"/>
              <a:t>acceleration</a:t>
            </a:r>
            <a:r>
              <a:rPr lang="en-DE" dirty="0"/>
              <a:t>.</a:t>
            </a:r>
            <a:r>
              <a:rPr lang="de-DE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Scalable</a:t>
            </a:r>
            <a:r>
              <a:rPr lang="de-DE" dirty="0"/>
              <a:t> </a:t>
            </a:r>
            <a:r>
              <a:rPr lang="de-DE" dirty="0" err="1"/>
              <a:t>scheduling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queue-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reservation</a:t>
            </a:r>
            <a:r>
              <a:rPr lang="de-DE" dirty="0"/>
              <a:t> </a:t>
            </a:r>
            <a:r>
              <a:rPr lang="de-DE" dirty="0" err="1"/>
              <a:t>logic</a:t>
            </a:r>
            <a:r>
              <a:rPr lang="de-DE" dirty="0"/>
              <a:t> </a:t>
            </a:r>
            <a:r>
              <a:rPr lang="en-DE" dirty="0"/>
              <a:t>.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7FECB7-C3A3-B437-27D1-367AA17895F6}"/>
              </a:ext>
            </a:extLst>
          </p:cNvPr>
          <p:cNvSpPr txBox="1"/>
          <p:nvPr/>
        </p:nvSpPr>
        <p:spPr>
          <a:xfrm>
            <a:off x="367620" y="364401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dirty="0"/>
              <a:t>Key Outcomes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3920D0-6281-18DC-3612-85F1EFB0CB79}"/>
              </a:ext>
            </a:extLst>
          </p:cNvPr>
          <p:cNvSpPr txBox="1"/>
          <p:nvPr/>
        </p:nvSpPr>
        <p:spPr>
          <a:xfrm>
            <a:off x="367620" y="1515428"/>
            <a:ext cx="78162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The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combines</a:t>
            </a:r>
            <a:r>
              <a:rPr lang="de-DE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 err="1"/>
              <a:t>FreeRTOS</a:t>
            </a:r>
            <a:r>
              <a:rPr lang="de-DE" dirty="0"/>
              <a:t> (ARM): </a:t>
            </a:r>
            <a:r>
              <a:rPr lang="de-DE" dirty="0" err="1"/>
              <a:t>vehicle</a:t>
            </a:r>
            <a:r>
              <a:rPr lang="de-DE" dirty="0"/>
              <a:t> </a:t>
            </a:r>
            <a:r>
              <a:rPr lang="de-DE" dirty="0" err="1"/>
              <a:t>request</a:t>
            </a:r>
            <a:r>
              <a:rPr lang="de-DE" dirty="0"/>
              <a:t> </a:t>
            </a:r>
            <a:r>
              <a:rPr lang="de-DE" dirty="0" err="1"/>
              <a:t>handling</a:t>
            </a:r>
            <a:r>
              <a:rPr lang="de-DE" dirty="0"/>
              <a:t>, FCFS-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queue</a:t>
            </a:r>
            <a:r>
              <a:rPr lang="de-DE" dirty="0"/>
              <a:t> </a:t>
            </a:r>
            <a:r>
              <a:rPr lang="de-DE" dirty="0" err="1"/>
              <a:t>management</a:t>
            </a:r>
            <a:r>
              <a:rPr lang="de-DE" dirty="0"/>
              <a:t>, and </a:t>
            </a:r>
            <a:r>
              <a:rPr lang="de-DE" dirty="0" err="1"/>
              <a:t>emergency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FPGA (VHDL): </a:t>
            </a:r>
            <a:r>
              <a:rPr lang="de-DE" dirty="0" err="1"/>
              <a:t>deterministic</a:t>
            </a:r>
            <a:r>
              <a:rPr lang="de-DE" dirty="0"/>
              <a:t> </a:t>
            </a:r>
            <a:r>
              <a:rPr lang="de-DE" dirty="0" err="1"/>
              <a:t>reservation</a:t>
            </a:r>
            <a:r>
              <a:rPr lang="de-DE" dirty="0"/>
              <a:t>, </a:t>
            </a:r>
            <a:r>
              <a:rPr lang="de-DE" dirty="0" err="1"/>
              <a:t>conflict</a:t>
            </a:r>
            <a:r>
              <a:rPr lang="de-DE" dirty="0"/>
              <a:t> </a:t>
            </a:r>
            <a:r>
              <a:rPr lang="de-DE" dirty="0" err="1"/>
              <a:t>detection</a:t>
            </a:r>
            <a:r>
              <a:rPr lang="de-DE" dirty="0"/>
              <a:t>, and quadrant-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execution</a:t>
            </a:r>
            <a:r>
              <a:rPr lang="de-DE" dirty="0"/>
              <a:t> </a:t>
            </a:r>
            <a:r>
              <a:rPr lang="de-DE" dirty="0" err="1"/>
              <a:t>control</a:t>
            </a:r>
            <a:r>
              <a:rPr lang="de-DE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AXI-Lite Interface: </a:t>
            </a:r>
            <a:r>
              <a:rPr lang="de-DE" dirty="0" err="1"/>
              <a:t>memory-mapped</a:t>
            </a:r>
            <a:r>
              <a:rPr lang="de-DE" dirty="0"/>
              <a:t> </a:t>
            </a:r>
            <a:r>
              <a:rPr lang="de-DE" dirty="0" err="1"/>
              <a:t>communication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software</a:t>
            </a:r>
            <a:r>
              <a:rPr lang="de-DE" dirty="0"/>
              <a:t> and </a:t>
            </a:r>
            <a:r>
              <a:rPr lang="de-DE" dirty="0" err="1"/>
              <a:t>hardware</a:t>
            </a:r>
            <a:endParaRPr lang="de-D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4FD5A8-3B70-DF40-5145-D0ABCCE25A05}"/>
              </a:ext>
            </a:extLst>
          </p:cNvPr>
          <p:cNvSpPr txBox="1"/>
          <p:nvPr/>
        </p:nvSpPr>
        <p:spPr>
          <a:xfrm>
            <a:off x="792480" y="4880907"/>
            <a:ext cx="6217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Clear </a:t>
            </a:r>
            <a:r>
              <a:rPr lang="de-DE" dirty="0" err="1"/>
              <a:t>separation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responsibilities</a:t>
            </a:r>
            <a:r>
              <a:rPr lang="de-DE" dirty="0"/>
              <a:t>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/>
              <a:t>Software = </a:t>
            </a:r>
            <a:r>
              <a:rPr lang="de-DE" dirty="0" err="1"/>
              <a:t>decision</a:t>
            </a:r>
            <a:r>
              <a:rPr lang="de-DE" dirty="0"/>
              <a:t> + </a:t>
            </a:r>
            <a:r>
              <a:rPr lang="de-DE" dirty="0" err="1"/>
              <a:t>scheduling</a:t>
            </a:r>
            <a:r>
              <a:rPr lang="de-DE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de-DE" dirty="0"/>
              <a:t>Hardware = </a:t>
            </a:r>
            <a:r>
              <a:rPr lang="de-DE" dirty="0" err="1"/>
              <a:t>safety</a:t>
            </a:r>
            <a:r>
              <a:rPr lang="de-DE" dirty="0"/>
              <a:t> + </a:t>
            </a:r>
            <a:r>
              <a:rPr lang="de-DE" dirty="0" err="1"/>
              <a:t>execution</a:t>
            </a:r>
            <a:r>
              <a:rPr lang="de-DE" dirty="0"/>
              <a:t> </a:t>
            </a:r>
            <a:r>
              <a:rPr lang="de-DE" dirty="0" err="1"/>
              <a:t>enforcement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4561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37CDA-4CDF-9195-4543-5ECB686DE05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343F9B6-9E06-4BE4-B08F-48DE7198212E}" type="datetime8">
              <a:rPr lang="en-DE" smtClean="0"/>
              <a:t>18/07/2026 21:59</a:t>
            </a:fld>
            <a:endParaRPr lang="de-D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07D9B9-B6BC-AEB2-D58E-E48CF4F42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BE1CCD-89A0-CC45-BF3E-2A331A7F0490}" type="slidenum">
              <a:rPr lang="de-DE" smtClean="0"/>
              <a:pPr/>
              <a:t>19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ADA15-D0FD-812D-170E-963195BF8DA6}"/>
              </a:ext>
            </a:extLst>
          </p:cNvPr>
          <p:cNvSpPr txBox="1"/>
          <p:nvPr/>
        </p:nvSpPr>
        <p:spPr>
          <a:xfrm>
            <a:off x="360000" y="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3600" b="1" i="1" dirty="0" err="1">
                <a:solidFill>
                  <a:prstClr val="black"/>
                </a:solidFill>
                <a:latin typeface="Source Sans Pro"/>
                <a:ea typeface="+mj-ea"/>
              </a:rPr>
              <a:t>Refereneces</a:t>
            </a:r>
            <a:endParaRPr lang="en-DE" sz="3600" b="1" i="1" dirty="0">
              <a:solidFill>
                <a:prstClr val="black"/>
              </a:solidFill>
              <a:latin typeface="Source Sans Pro"/>
              <a:ea typeface="+mj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4609D-1DC9-519E-5845-C8653AC7C13B}"/>
              </a:ext>
            </a:extLst>
          </p:cNvPr>
          <p:cNvSpPr txBox="1"/>
          <p:nvPr/>
        </p:nvSpPr>
        <p:spPr>
          <a:xfrm>
            <a:off x="613094" y="978658"/>
            <a:ext cx="742689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de-DE" sz="1600" dirty="0"/>
              <a:t>[1] Z. Zhong, M. </a:t>
            </a:r>
            <a:r>
              <a:rPr lang="de-DE" sz="1600" dirty="0" err="1"/>
              <a:t>Nejad</a:t>
            </a:r>
            <a:r>
              <a:rPr lang="de-DE" sz="1600" dirty="0"/>
              <a:t>, and E. E. Lee, "Autonomous and </a:t>
            </a:r>
            <a:r>
              <a:rPr lang="de-DE" sz="1600" dirty="0" err="1"/>
              <a:t>Semiautonomous</a:t>
            </a:r>
            <a:r>
              <a:rPr lang="de-DE" sz="1600" dirty="0"/>
              <a:t> Intersection Management: A Survey," IEEE Intelligent Transportation Systems Magazine, vol. 13, </a:t>
            </a:r>
            <a:r>
              <a:rPr lang="de-DE" sz="1600" dirty="0" err="1"/>
              <a:t>no</a:t>
            </a:r>
            <a:r>
              <a:rPr lang="de-DE" sz="1600" dirty="0"/>
              <a:t>. 1, pp. 53–70, 2021. https://doi.org/10.1109/mits.2020.3014074Cited </a:t>
            </a:r>
            <a:r>
              <a:rPr lang="de-DE" sz="1600" dirty="0" err="1"/>
              <a:t>by</a:t>
            </a:r>
            <a:r>
              <a:rPr lang="de-DE" sz="1600" dirty="0"/>
              <a:t>: 109</a:t>
            </a:r>
          </a:p>
          <a:p>
            <a:pPr algn="just"/>
            <a:endParaRPr lang="de-DE" sz="1600" dirty="0"/>
          </a:p>
          <a:p>
            <a:pPr algn="just"/>
            <a:r>
              <a:rPr lang="de-DE" sz="1600" dirty="0"/>
              <a:t>[2] A. Abbas-Turki et al., "Autonomous Intersection Management: Optimal </a:t>
            </a:r>
            <a:r>
              <a:rPr lang="de-DE" sz="1600" dirty="0" err="1"/>
              <a:t>Trajectories</a:t>
            </a:r>
            <a:r>
              <a:rPr lang="de-DE" sz="1600" dirty="0"/>
              <a:t> and </a:t>
            </a:r>
            <a:r>
              <a:rPr lang="de-DE" sz="1600" dirty="0" err="1"/>
              <a:t>Efficient</a:t>
            </a:r>
            <a:r>
              <a:rPr lang="de-DE" sz="1600" dirty="0"/>
              <a:t> Scheduling," Sensors, vol. 23, </a:t>
            </a:r>
            <a:r>
              <a:rPr lang="de-DE" sz="1600" dirty="0" err="1"/>
              <a:t>no</a:t>
            </a:r>
            <a:r>
              <a:rPr lang="de-DE" sz="1600" dirty="0"/>
              <a:t>. 3, p. 1509, 2023. https://doi.org/10.3390/s23031509Cited </a:t>
            </a:r>
            <a:r>
              <a:rPr lang="de-DE" sz="1600" dirty="0" err="1"/>
              <a:t>by</a:t>
            </a:r>
            <a:r>
              <a:rPr lang="de-DE" sz="1600" dirty="0"/>
              <a:t>: 29</a:t>
            </a:r>
          </a:p>
          <a:p>
            <a:pPr algn="just"/>
            <a:endParaRPr lang="de-DE" sz="1600" dirty="0"/>
          </a:p>
          <a:p>
            <a:pPr algn="just"/>
            <a:r>
              <a:rPr lang="de-DE" sz="1600" dirty="0"/>
              <a:t>[3] B. Li, Y. Zhang, N. Jia, and X. Peng, "Autonomous Intersection Management </a:t>
            </a:r>
            <a:r>
              <a:rPr lang="de-DE" sz="1600" dirty="0" err="1"/>
              <a:t>over</a:t>
            </a:r>
            <a:r>
              <a:rPr lang="de-DE" sz="1600" dirty="0"/>
              <a:t> </a:t>
            </a:r>
            <a:r>
              <a:rPr lang="de-DE" sz="1600" dirty="0" err="1"/>
              <a:t>Continuous</a:t>
            </a:r>
            <a:r>
              <a:rPr lang="de-DE" sz="1600" dirty="0"/>
              <a:t> Space: A </a:t>
            </a:r>
            <a:r>
              <a:rPr lang="de-DE" sz="1600" dirty="0" err="1"/>
              <a:t>Microscopic</a:t>
            </a:r>
            <a:r>
              <a:rPr lang="de-DE" sz="1600" dirty="0"/>
              <a:t> and </a:t>
            </a:r>
            <a:r>
              <a:rPr lang="de-DE" sz="1600" dirty="0" err="1"/>
              <a:t>Precise</a:t>
            </a:r>
            <a:r>
              <a:rPr lang="de-DE" sz="1600" dirty="0"/>
              <a:t> Solution via Computational Optimal Control," IFAC-</a:t>
            </a:r>
            <a:r>
              <a:rPr lang="de-DE" sz="1600" dirty="0" err="1"/>
              <a:t>PapersOnLine</a:t>
            </a:r>
            <a:r>
              <a:rPr lang="de-DE" sz="1600" dirty="0"/>
              <a:t>, vol. 53, </a:t>
            </a:r>
            <a:r>
              <a:rPr lang="de-DE" sz="1600" dirty="0" err="1"/>
              <a:t>no</a:t>
            </a:r>
            <a:r>
              <a:rPr lang="de-DE" sz="1600" dirty="0"/>
              <a:t>. 2, pp. 17071–17076, 2020. https://doi.org/10.1016/j.ifacol.2020.12.1611Cited </a:t>
            </a:r>
            <a:r>
              <a:rPr lang="de-DE" sz="1600" dirty="0" err="1"/>
              <a:t>by</a:t>
            </a:r>
            <a:r>
              <a:rPr lang="de-DE" sz="1600" dirty="0"/>
              <a:t>: 28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416684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</Template>
  <TotalTime>0</TotalTime>
  <Words>1506</Words>
  <Application>Microsoft Office PowerPoint</Application>
  <PresentationFormat>On-screen Show (4:3)</PresentationFormat>
  <Paragraphs>258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Courier New</vt:lpstr>
      <vt:lpstr>Google Sans Text</vt:lpstr>
      <vt:lpstr>Open Sans</vt:lpstr>
      <vt:lpstr>Source Sans Pro</vt:lpstr>
      <vt:lpstr>Wingdings</vt:lpstr>
      <vt:lpstr>Office-Design</vt:lpstr>
      <vt:lpstr>Office Theme</vt:lpstr>
      <vt:lpstr>PowerPoint Presentation</vt:lpstr>
      <vt:lpstr>Motivation</vt:lpstr>
      <vt:lpstr>Requirements</vt:lpstr>
      <vt:lpstr>PowerPoint Presentation</vt:lpstr>
      <vt:lpstr>Intersection Trajectory</vt:lpstr>
      <vt:lpstr>System Architecture</vt:lpstr>
      <vt:lpstr>UPPAAL Model</vt:lpstr>
      <vt:lpstr>UPPAAL Model</vt:lpstr>
      <vt:lpstr>UPPAAL Model</vt:lpstr>
      <vt:lpstr>Verification</vt:lpstr>
      <vt:lpstr>Verification</vt:lpstr>
      <vt:lpstr>PowerPoint Presentation</vt:lpstr>
      <vt:lpstr>PowerPoint Presentation</vt:lpstr>
      <vt:lpstr>FreeRTOS Realization</vt:lpstr>
      <vt:lpstr>FreeRTOS Realization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nader yahia</dc:creator>
  <cp:lastModifiedBy>nader yahia</cp:lastModifiedBy>
  <cp:revision>152</cp:revision>
  <dcterms:created xsi:type="dcterms:W3CDTF">2026-06-13T16:58:24Z</dcterms:created>
  <dcterms:modified xsi:type="dcterms:W3CDTF">2026-07-18T20:00:06Z</dcterms:modified>
</cp:coreProperties>
</file>