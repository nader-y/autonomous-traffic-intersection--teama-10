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1"/>
  </p:notesMasterIdLst>
  <p:sldIdLst>
    <p:sldId id="256" r:id="rId3"/>
    <p:sldId id="257" r:id="rId4"/>
    <p:sldId id="272" r:id="rId5"/>
    <p:sldId id="258" r:id="rId6"/>
    <p:sldId id="260" r:id="rId7"/>
    <p:sldId id="259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12192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sz="1350" b="0" u="none" strike="noStrike">
                <a:solidFill>
                  <a:srgbClr val="1E2761"/>
                </a:solidFill>
                <a:uFillTx/>
                <a:latin typeface="Arial"/>
              </a:rPr>
              <a:t>WCET with and without background CPU load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load</c:v>
                </c:pt>
              </c:strCache>
            </c:strRef>
          </c:tx>
          <c:spPr>
            <a:solidFill>
              <a:srgbClr val="8FAEEA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A2E45"/>
                    </a:solidFill>
                    <a:uFillTx/>
                    <a:latin typeface="Arial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Windows</c:v>
                </c:pt>
                <c:pt idx="1">
                  <c:v>Linux 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0.437</c:v>
                </c:pt>
                <c:pt idx="1">
                  <c:v>0.309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B0-4D67-898C-DD8D6D08DE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load</c:v>
                </c:pt>
              </c:strCache>
            </c:strRef>
          </c:tx>
          <c:spPr>
            <a:solidFill>
              <a:schemeClr val="accent2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u="none" strike="noStrike">
                    <a:solidFill>
                      <a:srgbClr val="2A2E45"/>
                    </a:solidFill>
                    <a:uFillTx/>
                    <a:latin typeface="Arial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Windows</c:v>
                </c:pt>
                <c:pt idx="1">
                  <c:v>Linux 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0.81899999999999995</c:v>
                </c:pt>
                <c:pt idx="1">
                  <c:v>0.45800000000000002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B0-4D67-898C-DD8D6D08D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33141748"/>
        <c:axId val="36881116"/>
      </c:barChart>
      <c:catAx>
        <c:axId val="331417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6B7280"/>
                </a:solidFill>
                <a:uFillTx/>
                <a:latin typeface="Arial"/>
              </a:defRPr>
            </a:pPr>
            <a:endParaRPr lang="en-DE"/>
          </a:p>
        </c:txPr>
        <c:crossAx val="36881116"/>
        <c:crosses val="autoZero"/>
        <c:auto val="1"/>
        <c:lblAlgn val="ctr"/>
        <c:lblOffset val="100"/>
        <c:noMultiLvlLbl val="0"/>
      </c:catAx>
      <c:valAx>
        <c:axId val="36881116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lang="de-DE" sz="1100" b="0" u="none" strike="noStrike">
                    <a:solidFill>
                      <a:srgbClr val="6B7280"/>
                    </a:solidFill>
                    <a:uFillTx/>
                    <a:latin typeface="Arial"/>
                  </a:rPr>
                  <a:t>WCET (seconds)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6B7280"/>
                </a:solidFill>
                <a:uFillTx/>
                <a:latin typeface="Arial"/>
              </a:defRPr>
            </a:pPr>
            <a:endParaRPr lang="en-DE"/>
          </a:p>
        </c:txPr>
        <c:crossAx val="3314174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2A2E45"/>
              </a:solidFill>
              <a:uFillTx/>
              <a:latin typeface="Calibri"/>
            </a:defRPr>
          </a:pPr>
          <a:endParaRPr lang="en-DE"/>
        </a:p>
      </c:txPr>
    </c:legend>
    <c:plotVisOnly val="1"/>
    <c:dispBlanksAs val="span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C6093C9-1DC7-4824-B618-3E38286F3BF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9D2488C-9BB0-4605-8CE2-CD003AD0F18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E4F33B1-D35A-4F6C-87FD-B9A2C2DA4BD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2852E-12E3-4047-BC7B-8267F2E6EB9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D4936B-9B38-41AF-BDB0-8DCF043766C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9F4C3BF-6333-440C-AD5B-870510E367B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E951C37-90F6-4996-8E07-895A4BB2528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0F6A6B1-5388-4717-B71A-062C95ED49B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D0EC9AE-7E39-45A2-A633-C3FAB6AC32B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8DDEC2F-03F3-443F-95EE-DC051A4B5B6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BD78653-F82D-4114-BBEA-97A58871F34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6D67A16-6E28-48A3-B9E4-BE3BCF78EDF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87B3300-6E8A-44F0-9877-9E2D3C0B117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AA0F3E-31EB-48DD-B27A-424A85642C7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157C6D9-BBE8-4961-97E0-6140E97D9C1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64C2741-8F81-4F07-A0B6-C3EAA638DC1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10A1BF7-B29F-456C-B22E-C5E19007284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AD4A533-197F-43BF-B77D-326736BE763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50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73064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icon_overhead.png"/>
          <p:cNvPicPr/>
          <p:nvPr/>
        </p:nvPicPr>
        <p:blipFill>
          <a:blip r:embed="rId3">
            <a:alphaModFix amt="18000"/>
          </a:blip>
          <a:stretch/>
        </p:blipFill>
        <p:spPr>
          <a:xfrm>
            <a:off x="9144000" y="352044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1"/>
          <p:cNvSpPr/>
          <p:nvPr/>
        </p:nvSpPr>
        <p:spPr>
          <a:xfrm>
            <a:off x="548640" y="640080"/>
            <a:ext cx="10606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Multi-core: Global Scheduling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548640" y="3520440"/>
            <a:ext cx="2743200" cy="360"/>
          </a:xfrm>
          <a:prstGeom prst="line">
            <a:avLst/>
          </a:prstGeom>
          <a:ln w="19050">
            <a:solidFill>
              <a:srgbClr val="CADCF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4"/>
          <p:cNvSpPr/>
          <p:nvPr/>
        </p:nvSpPr>
        <p:spPr>
          <a:xfrm>
            <a:off x="548640" y="36126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Md Mostafizur Rahman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Electronic Engineering, 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Hochschule Hamm-Lippstadt (HSHL)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/>
          <p:cNvSpPr/>
          <p:nvPr/>
        </p:nvSpPr>
        <p:spPr>
          <a:xfrm>
            <a:off x="548640" y="6217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Seminar:  Real-Time Systems  ·  Prof. Stefan </a:t>
            </a:r>
            <a:r>
              <a:rPr lang="en-US" sz="1100" b="0" u="none" strike="noStrike" dirty="0" err="1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Henkler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FBD38-FE23-F3C7-954C-154C9E69F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319" y="-1"/>
            <a:ext cx="4554682" cy="68279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" name="Image 0" descr="icon_agenda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Agenda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48640" y="132588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77240" y="132588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1600200" y="132588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Problem Statement</a:t>
            </a:r>
            <a:endParaRPr lang="en-US" sz="1400" dirty="0"/>
          </a:p>
        </p:txBody>
      </p:sp>
      <p:sp>
        <p:nvSpPr>
          <p:cNvPr id="21" name="Shape 7"/>
          <p:cNvSpPr/>
          <p:nvPr/>
        </p:nvSpPr>
        <p:spPr>
          <a:xfrm>
            <a:off x="548640" y="216720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8"/>
          <p:cNvSpPr/>
          <p:nvPr/>
        </p:nvSpPr>
        <p:spPr>
          <a:xfrm>
            <a:off x="777240" y="216720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1600200" y="216720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548640" y="300852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777240" y="300852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1600200" y="300852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Overhead and WCET Inflation</a:t>
            </a:r>
            <a:endParaRPr lang="en-US" sz="1400" dirty="0"/>
          </a:p>
        </p:txBody>
      </p:sp>
      <p:sp>
        <p:nvSpPr>
          <p:cNvPr id="27" name="Shape 13"/>
          <p:cNvSpPr/>
          <p:nvPr/>
        </p:nvSpPr>
        <p:spPr>
          <a:xfrm>
            <a:off x="548640" y="384948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777240" y="384948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1600200" y="384948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EPOS vs. LITMUSᴿT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548640" y="469080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777240" y="469080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1600200" y="469080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WCET Inflation Formula</a:t>
            </a:r>
          </a:p>
        </p:txBody>
      </p:sp>
      <p:sp>
        <p:nvSpPr>
          <p:cNvPr id="33" name="Shape 19"/>
          <p:cNvSpPr/>
          <p:nvPr/>
        </p:nvSpPr>
        <p:spPr>
          <a:xfrm>
            <a:off x="6446520" y="132588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6675120" y="132588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7498080" y="132588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Local Experiment: Methodology &amp; Results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6446520" y="216720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6675120" y="216720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7498080" y="216720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Cross-Platform Comparison &amp; Application Example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5"/>
          <p:cNvSpPr/>
          <p:nvPr/>
        </p:nvSpPr>
        <p:spPr>
          <a:xfrm>
            <a:off x="6446520" y="300852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6675120" y="300852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/>
          <p:cNvSpPr/>
          <p:nvPr/>
        </p:nvSpPr>
        <p:spPr>
          <a:xfrm>
            <a:off x="7498080" y="300852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UPPAAL Formal Verification — Windows &amp; Linux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8"/>
          <p:cNvSpPr/>
          <p:nvPr/>
        </p:nvSpPr>
        <p:spPr>
          <a:xfrm>
            <a:off x="6446520" y="384948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29"/>
          <p:cNvSpPr/>
          <p:nvPr/>
        </p:nvSpPr>
        <p:spPr>
          <a:xfrm>
            <a:off x="6675120" y="384948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09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0"/>
          <p:cNvSpPr/>
          <p:nvPr/>
        </p:nvSpPr>
        <p:spPr>
          <a:xfrm>
            <a:off x="7498080" y="384948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Schedulability Analysis: Utilization vs. Deadline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1"/>
          <p:cNvSpPr/>
          <p:nvPr/>
        </p:nvSpPr>
        <p:spPr>
          <a:xfrm>
            <a:off x="6446520" y="4690800"/>
            <a:ext cx="5348880" cy="694440"/>
          </a:xfrm>
          <a:prstGeom prst="roundRect">
            <a:avLst>
              <a:gd name="adj" fmla="val 7895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32"/>
          <p:cNvSpPr/>
          <p:nvPr/>
        </p:nvSpPr>
        <p:spPr>
          <a:xfrm>
            <a:off x="6675120" y="4690800"/>
            <a:ext cx="8226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FB7E8"/>
                </a:solidFill>
                <a:effectLst/>
                <a:uFillTx/>
                <a:latin typeface="Cambria"/>
                <a:ea typeface="Cambria"/>
              </a:rPr>
              <a:t>10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3"/>
          <p:cNvSpPr/>
          <p:nvPr/>
        </p:nvSpPr>
        <p:spPr>
          <a:xfrm>
            <a:off x="7498080" y="4690800"/>
            <a:ext cx="4114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Evaluation &amp; Limitations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008F8C-7F52-0E1A-5666-061165A15B14}"/>
              </a:ext>
            </a:extLst>
          </p:cNvPr>
          <p:cNvSpPr txBox="1"/>
          <p:nvPr/>
        </p:nvSpPr>
        <p:spPr>
          <a:xfrm>
            <a:off x="1599840" y="2364379"/>
            <a:ext cx="609426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G-EDF vs. P-EDF: Background &amp; Comparison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5"/>
          <p:cNvSpPr/>
          <p:nvPr/>
        </p:nvSpPr>
        <p:spPr>
          <a:xfrm>
            <a:off x="739163" y="2399433"/>
            <a:ext cx="1919880" cy="1919880"/>
          </a:xfrm>
          <a:prstGeom prst="ellipse">
            <a:avLst/>
          </a:prstGeom>
          <a:solidFill>
            <a:srgbClr val="FFFFFF"/>
          </a:solidFill>
          <a:ln w="29210">
            <a:solidFill>
              <a:srgbClr val="00A3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6"/>
          <p:cNvSpPr/>
          <p:nvPr/>
        </p:nvSpPr>
        <p:spPr>
          <a:xfrm flipV="1">
            <a:off x="1699283" y="2765193"/>
            <a:ext cx="360" cy="594360"/>
          </a:xfrm>
          <a:prstGeom prst="line">
            <a:avLst/>
          </a:prstGeom>
          <a:ln w="29210">
            <a:solidFill>
              <a:srgbClr val="11223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1699283" y="3359553"/>
            <a:ext cx="502920" cy="347400"/>
          </a:xfrm>
          <a:prstGeom prst="line">
            <a:avLst/>
          </a:prstGeom>
          <a:ln w="29210">
            <a:solidFill>
              <a:srgbClr val="FF8A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8"/>
          <p:cNvSpPr/>
          <p:nvPr/>
        </p:nvSpPr>
        <p:spPr>
          <a:xfrm>
            <a:off x="1094786" y="4511373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7E84"/>
                </a:solidFill>
                <a:effectLst/>
                <a:uLnTx/>
                <a:uFillTx/>
                <a:latin typeface="Arial"/>
                <a:ea typeface="Arial"/>
                <a:cs typeface="+mn-cs"/>
              </a:rPr>
              <a:t>deadline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9"/>
          <p:cNvSpPr/>
          <p:nvPr/>
        </p:nvSpPr>
        <p:spPr>
          <a:xfrm>
            <a:off x="3447720" y="2113863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2238"/>
                </a:solidFill>
                <a:effectLst/>
                <a:uLnTx/>
                <a:uFillTx/>
                <a:latin typeface="Arial"/>
                <a:ea typeface="Arial"/>
                <a:cs typeface="+mn-cs"/>
              </a:rPr>
              <a:t>Why this matters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3397680" y="2810553"/>
            <a:ext cx="100080" cy="100080"/>
          </a:xfrm>
          <a:prstGeom prst="ellipse">
            <a:avLst/>
          </a:prstGeom>
          <a:solidFill>
            <a:srgbClr val="00A3A6"/>
          </a:solidFill>
          <a:ln w="12700">
            <a:solidFill>
              <a:srgbClr val="00A3A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3740205" y="2731320"/>
            <a:ext cx="6930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12238"/>
                </a:solidFill>
                <a:effectLst/>
                <a:uLnTx/>
                <a:uFillTx/>
                <a:latin typeface="Arial"/>
                <a:ea typeface="Arial"/>
                <a:cs typeface="+mn-cs"/>
              </a:rPr>
              <a:t>Multicore chips are common in embedded and automotive systems.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2"/>
          <p:cNvSpPr/>
          <p:nvPr/>
        </p:nvSpPr>
        <p:spPr>
          <a:xfrm>
            <a:off x="3397680" y="3313473"/>
            <a:ext cx="100080" cy="100080"/>
          </a:xfrm>
          <a:prstGeom prst="ellipse">
            <a:avLst/>
          </a:prstGeom>
          <a:solidFill>
            <a:srgbClr val="00A3A6"/>
          </a:solidFill>
          <a:ln w="12700">
            <a:solidFill>
              <a:srgbClr val="00A3A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3740205" y="3194313"/>
            <a:ext cx="6930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12238"/>
                </a:solidFill>
                <a:effectLst/>
                <a:uLnTx/>
                <a:uFillTx/>
                <a:latin typeface="Arial"/>
                <a:ea typeface="Arial"/>
                <a:cs typeface="+mn-cs"/>
              </a:rPr>
              <a:t>ADAS, braking control, sensor fusion, and vision tasks require deterministic timing.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3397680" y="3816393"/>
            <a:ext cx="100080" cy="100080"/>
          </a:xfrm>
          <a:prstGeom prst="ellipse">
            <a:avLst/>
          </a:prstGeom>
          <a:solidFill>
            <a:srgbClr val="00A3A6"/>
          </a:solidFill>
          <a:ln w="12700">
            <a:solidFill>
              <a:srgbClr val="00A3A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3740205" y="3756322"/>
            <a:ext cx="6930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12238"/>
                </a:solidFill>
                <a:effectLst/>
                <a:uLnTx/>
                <a:uFillTx/>
                <a:latin typeface="Arial"/>
                <a:ea typeface="Arial"/>
                <a:cs typeface="+mn-cs"/>
              </a:rPr>
              <a:t>More cores increase computing power, but do not automatically guarantee deadlines.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hape 16"/>
          <p:cNvSpPr/>
          <p:nvPr/>
        </p:nvSpPr>
        <p:spPr>
          <a:xfrm>
            <a:off x="3397680" y="4319313"/>
            <a:ext cx="100080" cy="100080"/>
          </a:xfrm>
          <a:prstGeom prst="ellipse">
            <a:avLst/>
          </a:prstGeom>
          <a:solidFill>
            <a:srgbClr val="00A3A6"/>
          </a:solidFill>
          <a:ln w="12700">
            <a:solidFill>
              <a:srgbClr val="00A3A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3707134" y="4238263"/>
            <a:ext cx="69307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12238"/>
                </a:solidFill>
                <a:effectLst/>
                <a:uLnTx/>
                <a:uFillTx/>
                <a:latin typeface="Arial"/>
                <a:ea typeface="Arial"/>
                <a:cs typeface="+mn-cs"/>
              </a:rPr>
              <a:t>OS overhead and interference inflate effective WCET.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FF9E6FB-14FB-2EE3-9B21-B02D999BEBFC}"/>
              </a:ext>
            </a:extLst>
          </p:cNvPr>
          <p:cNvSpPr/>
          <p:nvPr/>
        </p:nvSpPr>
        <p:spPr>
          <a:xfrm>
            <a:off x="527858" y="318215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icon_motivation.png">
            <a:extLst>
              <a:ext uri="{FF2B5EF4-FFF2-40B4-BE49-F238E27FC236}">
                <a16:creationId xmlns:a16="http://schemas.microsoft.com/office/drawing/2014/main" id="{9B0D12E9-D79B-DCAB-664B-9360DBF93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90" y="459947"/>
            <a:ext cx="283464" cy="28346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778B624-90CA-F18A-581D-7904328A0672}"/>
              </a:ext>
            </a:extLst>
          </p:cNvPr>
          <p:cNvSpPr/>
          <p:nvPr/>
        </p:nvSpPr>
        <p:spPr>
          <a:xfrm>
            <a:off x="1305098" y="245063"/>
            <a:ext cx="10287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Problem Statement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9" name="Image 0" descr="icon_background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Global vs. Partitioned Scheduling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548640" y="4023360"/>
            <a:ext cx="5120280" cy="2308680"/>
          </a:xfrm>
          <a:prstGeom prst="roundRect">
            <a:avLst>
              <a:gd name="adj" fmla="val 1702"/>
            </a:avLst>
          </a:prstGeom>
          <a:solidFill>
            <a:srgbClr val="F3F6FD"/>
          </a:solidFill>
          <a:ln w="0">
            <a:noFill/>
          </a:ln>
          <a:effectLst>
            <a:outerShdw blurRad="76320" dist="25455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6"/>
          <p:cNvSpPr/>
          <p:nvPr/>
        </p:nvSpPr>
        <p:spPr>
          <a:xfrm>
            <a:off x="868680" y="1801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591840" y="4065545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HOW IT WORKS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570600" y="419688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One global ready queue ordered by earliest deadline; the m earliest-deadline jobs run on the m cores.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572760" y="483552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MAIN BENEFIT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591840" y="491508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Good load sharing — flexible use of all cores.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572760" y="544536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MAIN RISK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572760" y="556704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Migrations, IPI latency, cache-affinity loss, pessimistic schedulability tests.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6522840" y="3968640"/>
            <a:ext cx="5348880" cy="2366280"/>
          </a:xfrm>
          <a:prstGeom prst="roundRect">
            <a:avLst>
              <a:gd name="adj" fmla="val 1702"/>
            </a:avLst>
          </a:prstGeom>
          <a:solidFill>
            <a:srgbClr val="F3F6FD"/>
          </a:solidFill>
          <a:ln w="0">
            <a:noFill/>
          </a:ln>
          <a:effectLst>
            <a:outerShdw blurRad="76320" dist="25455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6629400" y="405972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HOW IT 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6629400" y="419076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Tasks are statically assigned to cores via bin-packing; each core runs EDF locally on its own task set.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6629400" y="483552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MAIN BENEFIT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6629400" y="491184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No migration after partitioning; often lower runtime interference.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4"/>
          <p:cNvSpPr/>
          <p:nvPr/>
        </p:nvSpPr>
        <p:spPr>
          <a:xfrm>
            <a:off x="6629400" y="5413320"/>
            <a:ext cx="4708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51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MAIN RISK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5"/>
          <p:cNvSpPr/>
          <p:nvPr/>
        </p:nvSpPr>
        <p:spPr>
          <a:xfrm>
            <a:off x="6629400" y="5449680"/>
            <a:ext cx="4708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NP-hard bin-packing can fail even when total utilization fits.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1115640" y="136908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07E84"/>
                </a:solidFill>
                <a:effectLst/>
                <a:uFillTx/>
                <a:latin typeface="Arial"/>
                <a:ea typeface="Arial"/>
              </a:rPr>
              <a:t>G-EDF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1115640" y="2100600"/>
            <a:ext cx="1508040" cy="1096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00A3A6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1207080" y="2192040"/>
            <a:ext cx="1325160" cy="93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one global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ready queue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 flipV="1">
            <a:off x="2761200" y="1944720"/>
            <a:ext cx="731520" cy="493560"/>
          </a:xfrm>
          <a:prstGeom prst="line">
            <a:avLst/>
          </a:prstGeom>
          <a:ln w="25400">
            <a:solidFill>
              <a:srgbClr val="00A3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2761200" y="2859120"/>
            <a:ext cx="731520" cy="521280"/>
          </a:xfrm>
          <a:prstGeom prst="line">
            <a:avLst/>
          </a:prstGeom>
          <a:ln w="25400">
            <a:solidFill>
              <a:srgbClr val="00A3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3630240" y="1643400"/>
            <a:ext cx="1416600" cy="621000"/>
          </a:xfrm>
          <a:prstGeom prst="roundRect">
            <a:avLst>
              <a:gd name="adj" fmla="val 7353"/>
            </a:avLst>
          </a:prstGeom>
          <a:solidFill>
            <a:srgbClr val="00A3A6"/>
          </a:solidFill>
          <a:ln w="13970">
            <a:solidFill>
              <a:srgbClr val="00A3A6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3721680" y="1734840"/>
            <a:ext cx="12337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Core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3630240" y="3106440"/>
            <a:ext cx="1416600" cy="621000"/>
          </a:xfrm>
          <a:prstGeom prst="roundRect">
            <a:avLst>
              <a:gd name="adj" fmla="val 7353"/>
            </a:avLst>
          </a:prstGeom>
          <a:solidFill>
            <a:srgbClr val="00A3A6"/>
          </a:solidFill>
          <a:ln w="13970">
            <a:solidFill>
              <a:srgbClr val="00A3A6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3721680" y="3197880"/>
            <a:ext cx="12337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Core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6321960" y="12902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D8652B"/>
                </a:solidFill>
                <a:effectLst/>
                <a:uFillTx/>
                <a:latin typeface="Arial"/>
                <a:ea typeface="Arial"/>
              </a:rPr>
              <a:t>P-EDF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7144920" y="1826280"/>
            <a:ext cx="1279440" cy="502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FF8A3D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3"/>
          <p:cNvSpPr/>
          <p:nvPr/>
        </p:nvSpPr>
        <p:spPr>
          <a:xfrm>
            <a:off x="7236360" y="1917720"/>
            <a:ext cx="1096560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Queue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4"/>
          <p:cNvSpPr/>
          <p:nvPr/>
        </p:nvSpPr>
        <p:spPr>
          <a:xfrm>
            <a:off x="9019440" y="1734840"/>
            <a:ext cx="1416600" cy="621000"/>
          </a:xfrm>
          <a:prstGeom prst="roundRect">
            <a:avLst>
              <a:gd name="adj" fmla="val 7353"/>
            </a:avLst>
          </a:prstGeom>
          <a:solidFill>
            <a:srgbClr val="FF8A3D"/>
          </a:solidFill>
          <a:ln w="13970">
            <a:solidFill>
              <a:srgbClr val="FF8A3D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9110880" y="1826280"/>
            <a:ext cx="12337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Core 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8488440" y="2072520"/>
            <a:ext cx="439200" cy="360"/>
          </a:xfrm>
          <a:prstGeom prst="line">
            <a:avLst/>
          </a:prstGeom>
          <a:ln w="25400">
            <a:solidFill>
              <a:srgbClr val="FF8A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7144920" y="3197880"/>
            <a:ext cx="1279440" cy="502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FF8A3D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8"/>
          <p:cNvSpPr/>
          <p:nvPr/>
        </p:nvSpPr>
        <p:spPr>
          <a:xfrm>
            <a:off x="7236360" y="3289320"/>
            <a:ext cx="1096560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Queue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9"/>
          <p:cNvSpPr/>
          <p:nvPr/>
        </p:nvSpPr>
        <p:spPr>
          <a:xfrm>
            <a:off x="9019440" y="3106440"/>
            <a:ext cx="1416600" cy="621000"/>
          </a:xfrm>
          <a:prstGeom prst="roundRect">
            <a:avLst>
              <a:gd name="adj" fmla="val 7353"/>
            </a:avLst>
          </a:prstGeom>
          <a:solidFill>
            <a:srgbClr val="FF8A3D"/>
          </a:solidFill>
          <a:ln w="13970">
            <a:solidFill>
              <a:srgbClr val="FF8A3D">
                <a:alpha val="8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0"/>
          <p:cNvSpPr/>
          <p:nvPr/>
        </p:nvSpPr>
        <p:spPr>
          <a:xfrm>
            <a:off x="9110880" y="3197880"/>
            <a:ext cx="12337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Core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8488440" y="3444120"/>
            <a:ext cx="439200" cy="360"/>
          </a:xfrm>
          <a:prstGeom prst="line">
            <a:avLst/>
          </a:prstGeom>
          <a:ln w="25400">
            <a:solidFill>
              <a:srgbClr val="FF8A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5A48D-BF94-B4DF-B44C-A76EFAAD1B40}"/>
              </a:ext>
            </a:extLst>
          </p:cNvPr>
          <p:cNvSpPr txBox="1"/>
          <p:nvPr/>
        </p:nvSpPr>
        <p:spPr>
          <a:xfrm>
            <a:off x="10115880" y="6350220"/>
            <a:ext cx="1789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Src:Image</a:t>
            </a:r>
            <a:r>
              <a:rPr lang="en-US" sz="800" dirty="0"/>
              <a:t> Generated With </a:t>
            </a:r>
            <a:r>
              <a:rPr lang="en-US" sz="800" dirty="0" err="1"/>
              <a:t>Chatgpt</a:t>
            </a:r>
            <a:r>
              <a:rPr lang="en-US" sz="800" dirty="0"/>
              <a:t> 5.5</a:t>
            </a:r>
            <a:endParaRPr lang="en-DE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7" name="Image 0" descr="icon_algorithm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G-EDF Algorithm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dirty="0">
                <a:solidFill>
                  <a:srgbClr val="6B7280"/>
                </a:solidFill>
                <a:latin typeface="Calibri"/>
                <a:ea typeface="Calibri"/>
              </a:rPr>
              <a:t>5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548640" y="1508760"/>
            <a:ext cx="3520080" cy="1782720"/>
          </a:xfrm>
          <a:prstGeom prst="roundRect">
            <a:avLst>
              <a:gd name="adj" fmla="val 3590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777240" y="173736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77724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1371600" y="17100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Job release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777240" y="228600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Compute absolute_deadline = release_time + relative_deadline.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4069080" y="2199240"/>
            <a:ext cx="2282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9FB7E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0"/>
          <p:cNvSpPr/>
          <p:nvPr/>
        </p:nvSpPr>
        <p:spPr>
          <a:xfrm>
            <a:off x="4297680" y="1508760"/>
            <a:ext cx="3520080" cy="1782720"/>
          </a:xfrm>
          <a:prstGeom prst="roundRect">
            <a:avLst>
              <a:gd name="adj" fmla="val 3590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4526280" y="173736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452628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120640" y="17100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Enqueue globally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4526280" y="228600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Insert the job into one global ready queue ordered by absolute deadline — O(n) insertion.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7818120" y="2199240"/>
            <a:ext cx="2282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9FB7E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>
            <a:off x="8046720" y="1508760"/>
            <a:ext cx="3520080" cy="1782720"/>
          </a:xfrm>
          <a:prstGeom prst="roundRect">
            <a:avLst>
              <a:gd name="adj" fmla="val 3590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Shape 17"/>
          <p:cNvSpPr/>
          <p:nvPr/>
        </p:nvSpPr>
        <p:spPr>
          <a:xfrm>
            <a:off x="8275320" y="173736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827532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9"/>
          <p:cNvSpPr/>
          <p:nvPr/>
        </p:nvSpPr>
        <p:spPr>
          <a:xfrm>
            <a:off x="8869680" y="17100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Select earliest 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0"/>
          <p:cNvSpPr/>
          <p:nvPr/>
        </p:nvSpPr>
        <p:spPr>
          <a:xfrm>
            <a:off x="8275320" y="228600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Select the m jobs with earliest deadlines from the queue.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1"/>
          <p:cNvSpPr/>
          <p:nvPr/>
        </p:nvSpPr>
        <p:spPr>
          <a:xfrm>
            <a:off x="548640" y="3566160"/>
            <a:ext cx="3520080" cy="1782720"/>
          </a:xfrm>
          <a:prstGeom prst="roundRect">
            <a:avLst>
              <a:gd name="adj" fmla="val 3590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Shape 22"/>
          <p:cNvSpPr/>
          <p:nvPr/>
        </p:nvSpPr>
        <p:spPr>
          <a:xfrm>
            <a:off x="777240" y="379476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777240" y="379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4"/>
          <p:cNvSpPr/>
          <p:nvPr/>
        </p:nvSpPr>
        <p:spPr>
          <a:xfrm>
            <a:off x="1371600" y="37674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Dispatch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777240" y="434340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Dispatch the selected jobs to the available cores — O(1).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6"/>
          <p:cNvSpPr/>
          <p:nvPr/>
        </p:nvSpPr>
        <p:spPr>
          <a:xfrm>
            <a:off x="4069080" y="4256640"/>
            <a:ext cx="2282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9FB7E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7"/>
          <p:cNvSpPr/>
          <p:nvPr/>
        </p:nvSpPr>
        <p:spPr>
          <a:xfrm>
            <a:off x="4297680" y="3566160"/>
            <a:ext cx="3520080" cy="1782720"/>
          </a:xfrm>
          <a:prstGeom prst="roundRect">
            <a:avLst>
              <a:gd name="adj" fmla="val 3590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Shape 28"/>
          <p:cNvSpPr/>
          <p:nvPr/>
        </p:nvSpPr>
        <p:spPr>
          <a:xfrm>
            <a:off x="4526280" y="379476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 29"/>
          <p:cNvSpPr/>
          <p:nvPr/>
        </p:nvSpPr>
        <p:spPr>
          <a:xfrm>
            <a:off x="4526280" y="379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0"/>
          <p:cNvSpPr/>
          <p:nvPr/>
        </p:nvSpPr>
        <p:spPr>
          <a:xfrm>
            <a:off x="5120640" y="37674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Preempt if needed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1"/>
          <p:cNvSpPr/>
          <p:nvPr/>
        </p:nvSpPr>
        <p:spPr>
          <a:xfrm>
            <a:off x="4526280" y="434340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A newly released job with an earlier deadline preempts a running lower-priority job; an IPI triggers the remote reschedule.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2"/>
          <p:cNvSpPr/>
          <p:nvPr/>
        </p:nvSpPr>
        <p:spPr>
          <a:xfrm>
            <a:off x="7818120" y="4256640"/>
            <a:ext cx="2282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9FB7E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3"/>
          <p:cNvSpPr/>
          <p:nvPr/>
        </p:nvSpPr>
        <p:spPr>
          <a:xfrm>
            <a:off x="8046720" y="3566160"/>
            <a:ext cx="3520080" cy="1782720"/>
          </a:xfrm>
          <a:prstGeom prst="roundRect">
            <a:avLst>
              <a:gd name="adj" fmla="val 3590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Shape 34"/>
          <p:cNvSpPr/>
          <p:nvPr/>
        </p:nvSpPr>
        <p:spPr>
          <a:xfrm>
            <a:off x="8275320" y="379476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 35"/>
          <p:cNvSpPr/>
          <p:nvPr/>
        </p:nvSpPr>
        <p:spPr>
          <a:xfrm>
            <a:off x="8275320" y="379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6"/>
          <p:cNvSpPr/>
          <p:nvPr/>
        </p:nvSpPr>
        <p:spPr>
          <a:xfrm>
            <a:off x="8869680" y="37674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Re-queue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7"/>
          <p:cNvSpPr/>
          <p:nvPr/>
        </p:nvSpPr>
        <p:spPr>
          <a:xfrm>
            <a:off x="8275320" y="434340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The preempted job returns to the global queue and may resume on another core (migration).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9"/>
          <p:cNvSpPr/>
          <p:nvPr/>
        </p:nvSpPr>
        <p:spPr>
          <a:xfrm>
            <a:off x="822960" y="5696640"/>
            <a:ext cx="10469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Algorithm 1: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Before any schedulability test, Eq. (1) is applied to each eᵢ → e′ᵢ. The dispatch logic itself never errs — a preempted job re-enters the queue and may resume on a different core.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Image 0" descr="icon_compare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G-EDF vs. P-EDF: Algorithm Comparison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9"/>
          <p:cNvPicPr/>
          <p:nvPr/>
        </p:nvPicPr>
        <p:blipFill>
          <a:blip r:embed="rId4"/>
          <a:stretch/>
        </p:blipFill>
        <p:spPr>
          <a:xfrm>
            <a:off x="3373740" y="1194824"/>
            <a:ext cx="4807080" cy="48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EA899F-5A87-D2BA-12BA-C34F62A985D1}"/>
              </a:ext>
            </a:extLst>
          </p:cNvPr>
          <p:cNvSpPr txBox="1"/>
          <p:nvPr/>
        </p:nvSpPr>
        <p:spPr>
          <a:xfrm>
            <a:off x="9170307" y="6258436"/>
            <a:ext cx="1789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Src:Image</a:t>
            </a:r>
            <a:r>
              <a:rPr lang="en-US" sz="800" dirty="0"/>
              <a:t> Generated With </a:t>
            </a:r>
            <a:r>
              <a:rPr lang="en-US" sz="800" dirty="0" err="1"/>
              <a:t>Chatgpt</a:t>
            </a:r>
            <a:r>
              <a:rPr lang="en-US" sz="800" dirty="0"/>
              <a:t> 5.5</a:t>
            </a:r>
            <a:endParaRPr lang="en-DE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Image 0" descr="icon_over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0287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Overhead and WCET Inflation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481328"/>
          <a:ext cx="11155680" cy="30723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to G-EDF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switch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save/restore task context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Occurs when tasks are preempted or switched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select the next job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queue cost grows with task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release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make periodic jobs ready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Occurs when jobs are released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 counting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 interrupt handling overhead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disturb execution periodically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IPI latency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for a cross-core reschedule 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 in global scheduling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delay after preemption / migration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 when jobs migrate between cores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120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inflated WCET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WCET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overhead / interference</a:t>
            </a:r>
            <a:endParaRPr lang="en-US" sz="18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17BCF67-5C5C-5C9F-8D74-CA3600B77930}"/>
              </a:ext>
            </a:extLst>
          </p:cNvPr>
          <p:cNvSpPr/>
          <p:nvPr/>
        </p:nvSpPr>
        <p:spPr>
          <a:xfrm>
            <a:off x="2582496" y="5293286"/>
            <a:ext cx="6611056" cy="501659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8AB513-7EBF-46BD-141E-3259A39D5F73}"/>
              </a:ext>
            </a:extLst>
          </p:cNvPr>
          <p:cNvSpPr/>
          <p:nvPr/>
        </p:nvSpPr>
        <p:spPr>
          <a:xfrm>
            <a:off x="2441016" y="5304781"/>
            <a:ext cx="6611056" cy="501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inflated WCET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WCET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overhead / interference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Image 0" descr="icon_epos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EPOS vs. LITMUSᴿT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2" name="Table 0"/>
          <p:cNvGraphicFramePr/>
          <p:nvPr>
            <p:extLst>
              <p:ext uri="{D42A27DB-BD31-4B8C-83A1-F6EECF244321}">
                <p14:modId xmlns:p14="http://schemas.microsoft.com/office/powerpoint/2010/main" val="935301222"/>
              </p:ext>
            </p:extLst>
          </p:nvPr>
        </p:nvGraphicFramePr>
        <p:xfrm>
          <a:off x="548280" y="1429740"/>
          <a:ext cx="11064240" cy="25228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Overhead Source</a:t>
                      </a:r>
                      <a:endParaRPr lang="en-US" sz="125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EPOS (WC)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LITMUSᴿT (WC)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Factor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Context switch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0.30 µs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≤ 29.56 µs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76×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IPI latency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~0.30 µs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≤ 4.5 µs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15×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Scheduling G-EDF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O(n), stable &lt; 75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Unpredictable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7×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Scheduling P-EDF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O(n/m), stable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Unpredictable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21×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 dirty="0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Tick counting</a:t>
                      </a:r>
                      <a:endParaRPr lang="en-US" sz="12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 dirty="0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0.25 µs (const)</a:t>
                      </a:r>
                      <a:endParaRPr lang="en-US" sz="12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Grows with n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 dirty="0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84×</a:t>
                      </a:r>
                      <a:endParaRPr lang="en-US" sz="125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3" name="Text 5"/>
          <p:cNvSpPr/>
          <p:nvPr/>
        </p:nvSpPr>
        <p:spPr>
          <a:xfrm>
            <a:off x="548640" y="398925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Table 3: worst-case overhead, Intel i7-2600, 100 runs across 5–125 tasks (</a:t>
            </a:r>
            <a:r>
              <a:rPr lang="en-US" sz="1050" b="0" i="1" u="none" strike="noStrike" dirty="0" err="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Gracioli</a:t>
            </a:r>
            <a:r>
              <a:rPr lang="en-US" sz="1050" b="0" i="1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 et al. [1])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278363AF-8358-C1D1-977B-2081DA1623B0}"/>
              </a:ext>
            </a:extLst>
          </p:cNvPr>
          <p:cNvSpPr/>
          <p:nvPr/>
        </p:nvSpPr>
        <p:spPr>
          <a:xfrm>
            <a:off x="540000" y="4576672"/>
            <a:ext cx="11305636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1360" indent="-171360" defTabSz="914400">
              <a:lnSpc>
                <a:spcPct val="118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We see that with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low-overhead EPOS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G-EDF outperforms P-EDF on LITMUSRT in light-utilization, short-period task sets  reversing the theoretical ordering.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9E2B000-7ECB-92E9-D660-66896A92EF7F}"/>
              </a:ext>
            </a:extLst>
          </p:cNvPr>
          <p:cNvSpPr/>
          <p:nvPr/>
        </p:nvSpPr>
        <p:spPr>
          <a:xfrm>
            <a:off x="540000" y="5289472"/>
            <a:ext cx="11305636" cy="59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marL="171360" indent="-171360" defTabSz="914400">
              <a:lnSpc>
                <a:spcPct val="118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OS design quality can determine the practical ordering of G-EDF and P-EDF,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independently of scheduling theory</a:t>
            </a:r>
            <a:r>
              <a:rPr lang="en-US" sz="9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Image 0" descr="icon_math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WCET Inflation Formula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dirty="0">
                <a:solidFill>
                  <a:srgbClr val="6B7280"/>
                </a:solidFill>
                <a:latin typeface="Calibri"/>
                <a:ea typeface="Calibri"/>
              </a:rPr>
              <a:t>9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426600" y="1403640"/>
            <a:ext cx="11063880" cy="13712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868680" y="1508760"/>
            <a:ext cx="10423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spc="51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PREEMPTION-CENTRIC WCET INFLATION  (Brandenburg [3], Eq. 1–2)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0" descr="preencoded.png"/>
          <p:cNvPicPr/>
          <p:nvPr/>
        </p:nvPicPr>
        <p:blipFill>
          <a:blip r:embed="rId4"/>
          <a:stretch/>
        </p:blipFill>
        <p:spPr>
          <a:xfrm>
            <a:off x="426600" y="1948680"/>
            <a:ext cx="4948200" cy="51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Picture 18"/>
          <p:cNvPicPr/>
          <p:nvPr/>
        </p:nvPicPr>
        <p:blipFill>
          <a:blip r:embed="rId5"/>
          <a:stretch/>
        </p:blipFill>
        <p:spPr>
          <a:xfrm>
            <a:off x="5503320" y="1951920"/>
            <a:ext cx="5090040" cy="51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13"/>
          <p:cNvSpPr/>
          <p:nvPr/>
        </p:nvSpPr>
        <p:spPr>
          <a:xfrm>
            <a:off x="586440" y="345924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868680" y="3973681"/>
            <a:ext cx="96735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11223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2(</a:t>
            </a:r>
            <a:r>
              <a:rPr lang="en-US" sz="1400" b="0" u="none" strike="noStrike" dirty="0" err="1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scd+cxs</a:t>
            </a:r>
            <a:r>
              <a:rPr lang="en-US" sz="1400" b="0" u="none" strike="noStrike" dirty="0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): scheduler and context-switch cost around release/completion.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868680" y="4321081"/>
            <a:ext cx="96735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11223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cpd</a:t>
            </a:r>
            <a:r>
              <a:rPr lang="en-US" sz="1400" b="0" u="none" strike="noStrike" dirty="0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: cache-related delay after preemption or migration.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868680" y="4668481"/>
            <a:ext cx="96735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11223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ipi</a:t>
            </a:r>
            <a:r>
              <a:rPr lang="en-US" sz="1400" b="0" u="none" strike="noStrike" dirty="0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: treated as computation because G-EDF tests cannot handle self-suspension.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868680" y="5016241"/>
            <a:ext cx="96735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112238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the OS changes effective WCET, and WCET changes </a:t>
            </a:r>
            <a:r>
              <a:rPr lang="en-US" sz="1400" b="0" u="none" strike="noStrike" dirty="0" err="1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schedulability</a:t>
            </a:r>
            <a:r>
              <a:rPr lang="en-US" sz="1400" b="0" u="none" strike="noStrike" dirty="0">
                <a:solidFill>
                  <a:srgbClr val="11223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524322C2-AB7A-6499-BDAE-AFCEA73550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583" b="19231"/>
          <a:stretch>
            <a:fillRect/>
          </a:stretch>
        </p:blipFill>
        <p:spPr>
          <a:xfrm>
            <a:off x="7910792" y="3459240"/>
            <a:ext cx="3579688" cy="22132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35AD18-3CA7-06E3-4104-4E9EC0DD4351}"/>
              </a:ext>
            </a:extLst>
          </p:cNvPr>
          <p:cNvSpPr txBox="1"/>
          <p:nvPr/>
        </p:nvSpPr>
        <p:spPr>
          <a:xfrm>
            <a:off x="9980798" y="5821054"/>
            <a:ext cx="1789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Src:Image</a:t>
            </a:r>
            <a:r>
              <a:rPr lang="en-US" sz="800" dirty="0"/>
              <a:t> Generated With </a:t>
            </a:r>
            <a:r>
              <a:rPr lang="en-US" sz="800" dirty="0" err="1"/>
              <a:t>Chatgpt</a:t>
            </a:r>
            <a:r>
              <a:rPr lang="en-US" sz="800" dirty="0"/>
              <a:t> 5.5</a:t>
            </a:r>
            <a:endParaRPr lang="en-DE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Image 0" descr="icon_methodology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Experiment: Measuring WCET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453960" y="1325880"/>
            <a:ext cx="5641560" cy="529920"/>
          </a:xfrm>
          <a:prstGeom prst="roundRect">
            <a:avLst>
              <a:gd name="adj" fmla="val 12069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673920" y="1313640"/>
            <a:ext cx="105152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Task under test:  </a:t>
            </a:r>
            <a:r>
              <a:rPr lang="en-US" sz="12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CPU-bound arithmetic loop — x += i² for 5,000,000 iterations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453960" y="1947600"/>
            <a:ext cx="5641560" cy="763200"/>
          </a:xfrm>
          <a:prstGeom prst="roundRect">
            <a:avLst>
              <a:gd name="adj" fmla="val 12069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690480" y="1932120"/>
            <a:ext cx="4869720" cy="76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Platform:  </a:t>
            </a:r>
            <a:r>
              <a:rPr lang="en-US" sz="12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AMD Ryzen 7 7435HS (Lenovo LOQ 15ARP9) — 8 physical / 16 logical cores (SMT), 16 MB shared L3, 15.7 GB RAM. Same hardware, dual-booted: Windows 11 (build 10.0.26200.8655) and Linux Ubuntu.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453960" y="2968920"/>
            <a:ext cx="2505240" cy="2715840"/>
          </a:xfrm>
          <a:prstGeom prst="roundRect">
            <a:avLst>
              <a:gd name="adj" fmla="val 3265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766080" y="30834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Phase 1 — No Load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872640" y="3655080"/>
            <a:ext cx="1795680" cy="20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08000"/>
              </a:lnSpc>
              <a:spcAft>
                <a:spcPts val="1001"/>
              </a:spcAft>
              <a:buClr>
                <a:srgbClr val="FFFFFF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Run the task ten times with no background workers.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1001"/>
              </a:spcAft>
              <a:buClr>
                <a:srgbClr val="FFFFFF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Maximum observed runtime = sampled WCET (no load).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3087360" y="2968920"/>
            <a:ext cx="2605320" cy="2715840"/>
          </a:xfrm>
          <a:prstGeom prst="roundRect">
            <a:avLst>
              <a:gd name="adj" fmla="val 3265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3271680" y="3071160"/>
            <a:ext cx="2421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Phase 2 — Under Load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3186720" y="3666960"/>
            <a:ext cx="2288520" cy="176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7840" indent="-177840" defTabSz="914400">
              <a:lnSpc>
                <a:spcPct val="108000"/>
              </a:lnSpc>
              <a:spcAft>
                <a:spcPts val="1001"/>
              </a:spcAft>
              <a:buClr>
                <a:srgbClr val="FFFFFF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Start cpu_count() − 1 = 15 worker processes across the 16 logical cores.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8000"/>
              </a:lnSpc>
              <a:spcAft>
                <a:spcPts val="1001"/>
              </a:spcAft>
              <a:buClr>
                <a:srgbClr val="FFFFFF"/>
              </a:buClr>
              <a:buFont typeface="Wingdings" charset="2"/>
              <a:buChar char="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Measure the same task ten more times; take the maximum runtime.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548640" y="5838120"/>
            <a:ext cx="5144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Linux perf extension:  </a:t>
            </a:r>
            <a:r>
              <a:rPr lang="en-US" sz="12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context switches, CPU migrations, cache references, cache misses, cycles, and instructions were recorded with perf stat for the full program execution.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Picture 18"/>
          <p:cNvPicPr/>
          <p:nvPr/>
        </p:nvPicPr>
        <p:blipFill>
          <a:blip r:embed="rId4"/>
          <a:srcRect t="2925" b="2925"/>
          <a:stretch/>
        </p:blipFill>
        <p:spPr>
          <a:xfrm>
            <a:off x="7322040" y="0"/>
            <a:ext cx="486972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6" name="Image 0" descr="icon_results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Measurement Results: WCET Inflation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9" name="Chart 0"/>
          <p:cNvGraphicFramePr/>
          <p:nvPr>
            <p:extLst>
              <p:ext uri="{D42A27DB-BD31-4B8C-83A1-F6EECF244321}">
                <p14:modId xmlns:p14="http://schemas.microsoft.com/office/powerpoint/2010/main" val="3035164682"/>
              </p:ext>
            </p:extLst>
          </p:nvPr>
        </p:nvGraphicFramePr>
        <p:xfrm>
          <a:off x="548640" y="1371600"/>
          <a:ext cx="6583320" cy="374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0" name="Shape 4"/>
          <p:cNvSpPr/>
          <p:nvPr/>
        </p:nvSpPr>
        <p:spPr>
          <a:xfrm>
            <a:off x="7346040" y="1787236"/>
            <a:ext cx="4297320" cy="1115280"/>
          </a:xfrm>
          <a:prstGeom prst="roundRect">
            <a:avLst>
              <a:gd name="adj" fmla="val 5738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7620360" y="1878676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+87.3%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9266280" y="1787236"/>
            <a:ext cx="223992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Windows 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Increase under load (+0.382 s)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7346040" y="3280792"/>
            <a:ext cx="4297320" cy="1115280"/>
          </a:xfrm>
          <a:prstGeom prst="roundRect">
            <a:avLst>
              <a:gd name="adj" fmla="val 5738"/>
            </a:avLst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effectLst/>
              <a:uFillTx/>
              <a:latin typeface="Calibri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7620360" y="3372232"/>
            <a:ext cx="16455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>
                <a:effectLst/>
                <a:uFillTx/>
                <a:latin typeface="Cambria"/>
                <a:ea typeface="Cambria"/>
              </a:rPr>
              <a:t>+48.5%</a:t>
            </a:r>
            <a:endParaRPr lang="en-US" sz="24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9266280" y="3280792"/>
            <a:ext cx="223992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300" b="1" u="none" strike="noStrike" dirty="0">
                <a:effectLst/>
                <a:uFillTx/>
                <a:latin typeface="Calibri"/>
                <a:ea typeface="Calibri"/>
              </a:rPr>
              <a:t>Linux 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100" b="0" u="none" strike="noStrike" dirty="0">
                <a:effectLst/>
                <a:uFillTx/>
                <a:latin typeface="Calibri"/>
                <a:ea typeface="Calibri"/>
              </a:rPr>
              <a:t>Increase under load (+0.150 s)</a:t>
            </a:r>
            <a:endParaRPr lang="en-US" sz="11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3C525-FC8B-0DF7-F770-48DC74E1116E}"/>
              </a:ext>
            </a:extLst>
          </p:cNvPr>
          <p:cNvSpPr txBox="1"/>
          <p:nvPr/>
        </p:nvSpPr>
        <p:spPr>
          <a:xfrm>
            <a:off x="873175" y="5605186"/>
            <a:ext cx="9388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OS-induced interference= CPU sharing + context switching + SMT/cache contention.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Image 0" descr="icon_linux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Linux Perf Counters (Loaded Run)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548640" y="1508760"/>
            <a:ext cx="3611520" cy="1782720"/>
          </a:xfrm>
          <a:prstGeom prst="roundRect">
            <a:avLst>
              <a:gd name="adj" fmla="val 4103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822960" y="16732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18,220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822960" y="222192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Context switches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822960" y="251460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Consistent with 15 worker processes competing across 16 logical cores.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4389120" y="1508760"/>
            <a:ext cx="3611520" cy="178272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4663440" y="16732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4663440" y="222192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1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CPU migrations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4663440" y="251460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5FA"/>
                </a:solidFill>
                <a:effectLst/>
                <a:uFillTx/>
                <a:latin typeface="Calibri"/>
                <a:ea typeface="Calibri"/>
              </a:rPr>
              <a:t>CFS keeps processes on their cores; very few migrations.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8229600" y="1508760"/>
            <a:ext cx="3611520" cy="1782720"/>
          </a:xfrm>
          <a:prstGeom prst="roundRect">
            <a:avLst>
              <a:gd name="adj" fmla="val 4103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8503920" y="16732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3.48 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8503920" y="222192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Cache references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8503920" y="251460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Large amount of cache activity across the full run.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6"/>
          <p:cNvSpPr/>
          <p:nvPr/>
        </p:nvSpPr>
        <p:spPr>
          <a:xfrm>
            <a:off x="548640" y="3566160"/>
            <a:ext cx="3611520" cy="1782720"/>
          </a:xfrm>
          <a:prstGeom prst="roundRect">
            <a:avLst>
              <a:gd name="adj" fmla="val 4103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822960" y="37306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7.14 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8"/>
          <p:cNvSpPr/>
          <p:nvPr/>
        </p:nvSpPr>
        <p:spPr>
          <a:xfrm>
            <a:off x="822960" y="427932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Cache misses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822960" y="457200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0.20% miss rate — hardware prefetcher keeps L3 hit rate high.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4389120" y="3566160"/>
            <a:ext cx="3611520" cy="1782720"/>
          </a:xfrm>
          <a:prstGeom prst="roundRect">
            <a:avLst>
              <a:gd name="adj" fmla="val 4103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4663440" y="37306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2.70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2"/>
          <p:cNvSpPr/>
          <p:nvPr/>
        </p:nvSpPr>
        <p:spPr>
          <a:xfrm>
            <a:off x="4663440" y="427932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4663440" y="457200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High IPC — execution is compute-bound, not memory-bound.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4"/>
          <p:cNvSpPr/>
          <p:nvPr/>
        </p:nvSpPr>
        <p:spPr>
          <a:xfrm>
            <a:off x="8229600" y="3566160"/>
            <a:ext cx="3611520" cy="1782720"/>
          </a:xfrm>
          <a:prstGeom prst="roundRect">
            <a:avLst>
              <a:gd name="adj" fmla="val 4103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 25"/>
          <p:cNvSpPr/>
          <p:nvPr/>
        </p:nvSpPr>
        <p:spPr>
          <a:xfrm>
            <a:off x="8503920" y="37306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376 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6"/>
          <p:cNvSpPr/>
          <p:nvPr/>
        </p:nvSpPr>
        <p:spPr>
          <a:xfrm>
            <a:off x="8503920" y="427932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1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CPU cycles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7"/>
          <p:cNvSpPr/>
          <p:nvPr/>
        </p:nvSpPr>
        <p:spPr>
          <a:xfrm>
            <a:off x="8503920" y="4572000"/>
            <a:ext cx="3062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Total cycles counted for the full program run.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9" name="Image 0" descr="icon_example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G-EDF Two-Core Application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548640" y="141732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Two tasks released simultaneously at t = 0 on a two-core system. Both cores are free, so G-EDF dispatches both immediately — no waiting, no preemption. The dispatch is always optimal; only the deadline choice determines the outcome.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3" name="Table 0"/>
          <p:cNvGraphicFramePr/>
          <p:nvPr/>
        </p:nvGraphicFramePr>
        <p:xfrm>
          <a:off x="548640" y="2331720"/>
          <a:ext cx="11064240" cy="296136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Scenario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Task / WCET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Deadline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Outcome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Windows — safe (D₂=1000ms)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T1: 437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 = 700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Meets deadline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Windows — safe (D₂=1000ms)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T2: 819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 = 1000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Meets deadline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Windows — miss (D₂=700ms)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T1: 437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 = 700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Meets deadline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 dirty="0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Windows — miss (D₂=700ms)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T2: 819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 = 700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B23A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Misses deadline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Linux — safe (D₂=600ms)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T1: 309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 = 400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Meets deadline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Linux — safe (D₂=600ms)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T2: 458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 = 600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Meets deadline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Linux — miss (D₂=400ms)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T1: 309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 = 400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Meets deadline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 dirty="0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Linux — miss (D₂=400ms)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T2: 458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 = 400 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 dirty="0">
                          <a:solidFill>
                            <a:srgbClr val="B23A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Misses deadline</a:t>
                      </a:r>
                      <a:endParaRPr lang="en-US" sz="11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1F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411480" y="347400"/>
            <a:ext cx="713196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1F295C"/>
                </a:solidFill>
                <a:effectLst/>
                <a:uFillTx/>
                <a:latin typeface="Arial"/>
              </a:rPr>
              <a:t>UPPAAL Model: Deadline Graph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11155680" y="6510600"/>
            <a:ext cx="456840" cy="213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667085"/>
                </a:solidFill>
                <a:effectLst/>
                <a:uFillTx/>
                <a:latin typeface="Arial"/>
              </a:rPr>
              <a:t>14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6"/>
          <p:cNvSpPr/>
          <p:nvPr/>
        </p:nvSpPr>
        <p:spPr>
          <a:xfrm>
            <a:off x="347400" y="1143000"/>
            <a:ext cx="11155320" cy="2011320"/>
          </a:xfrm>
          <a:prstGeom prst="roundRect">
            <a:avLst>
              <a:gd name="adj" fmla="val 16667"/>
            </a:avLst>
          </a:prstGeom>
          <a:solidFill>
            <a:srgbClr val="F4F6FB"/>
          </a:solidFill>
          <a:ln w="12700">
            <a:solidFill>
              <a:srgbClr val="EE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ounded Rectangle 7"/>
          <p:cNvSpPr/>
          <p:nvPr/>
        </p:nvSpPr>
        <p:spPr>
          <a:xfrm>
            <a:off x="347400" y="3383280"/>
            <a:ext cx="11155320" cy="1919880"/>
          </a:xfrm>
          <a:prstGeom prst="roundRect">
            <a:avLst>
              <a:gd name="adj" fmla="val 16667"/>
            </a:avLst>
          </a:prstGeom>
          <a:solidFill>
            <a:srgbClr val="F4F6FB"/>
          </a:solidFill>
          <a:ln w="12700">
            <a:solidFill>
              <a:srgbClr val="EE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8"/>
          <p:cNvSpPr/>
          <p:nvPr/>
        </p:nvSpPr>
        <p:spPr>
          <a:xfrm>
            <a:off x="502920" y="123444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1F295C"/>
                </a:solidFill>
                <a:effectLst/>
                <a:uFillTx/>
                <a:latin typeface="Arial"/>
              </a:rPr>
              <a:t>Windows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502920" y="3474720"/>
            <a:ext cx="1645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1F295C"/>
                </a:solidFill>
                <a:effectLst/>
                <a:uFillTx/>
                <a:latin typeface="Arial"/>
              </a:rPr>
              <a:t>Linux model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Connector 10"/>
          <p:cNvCxnSpPr>
            <a:cxnSpLocks/>
          </p:cNvCxnSpPr>
          <p:nvPr/>
        </p:nvCxnSpPr>
        <p:spPr>
          <a:xfrm>
            <a:off x="5501880" y="3154320"/>
            <a:ext cx="0" cy="2469600"/>
          </a:xfrm>
          <a:prstGeom prst="straightConnector1">
            <a:avLst/>
          </a:prstGeom>
          <a:ln w="16510">
            <a:solidFill>
              <a:srgbClr val="C92A2A"/>
            </a:solidFill>
            <a:prstDash val="dash"/>
          </a:ln>
        </p:spPr>
      </p:cxnSp>
      <p:sp>
        <p:nvSpPr>
          <p:cNvPr id="236" name="TextBox 11"/>
          <p:cNvSpPr/>
          <p:nvPr/>
        </p:nvSpPr>
        <p:spPr>
          <a:xfrm>
            <a:off x="5354722" y="3143625"/>
            <a:ext cx="1005480" cy="4325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en-US" sz="74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400 </a:t>
            </a:r>
            <a:r>
              <a:rPr lang="en-US" sz="740" b="1" u="none" strike="noStrike" dirty="0" err="1">
                <a:solidFill>
                  <a:srgbClr val="C92A2A"/>
                </a:solidFill>
                <a:effectLst/>
                <a:uFillTx/>
                <a:latin typeface="Arial"/>
              </a:rPr>
              <a:t>ms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74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Linux miss deadline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Connector 12"/>
          <p:cNvCxnSpPr>
            <a:cxnSpLocks/>
          </p:cNvCxnSpPr>
          <p:nvPr/>
        </p:nvCxnSpPr>
        <p:spPr>
          <a:xfrm>
            <a:off x="7177680" y="3154320"/>
            <a:ext cx="720" cy="2469600"/>
          </a:xfrm>
          <a:prstGeom prst="straightConnector1">
            <a:avLst/>
          </a:prstGeom>
          <a:ln w="16510">
            <a:solidFill>
              <a:srgbClr val="2F9E44"/>
            </a:solidFill>
            <a:prstDash val="dash"/>
          </a:ln>
        </p:spPr>
      </p:cxnSp>
      <p:sp>
        <p:nvSpPr>
          <p:cNvPr id="238" name="TextBox 13"/>
          <p:cNvSpPr/>
          <p:nvPr/>
        </p:nvSpPr>
        <p:spPr>
          <a:xfrm>
            <a:off x="7177680" y="3112165"/>
            <a:ext cx="705273" cy="4325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740" b="1" u="none" strike="noStrike" dirty="0">
                <a:solidFill>
                  <a:srgbClr val="2F9E44"/>
                </a:solidFill>
                <a:effectLst/>
                <a:uFillTx/>
                <a:latin typeface="Arial"/>
              </a:rPr>
              <a:t>600 </a:t>
            </a:r>
            <a:r>
              <a:rPr lang="en-US" sz="740" b="1" u="none" strike="noStrike" dirty="0" err="1">
                <a:solidFill>
                  <a:srgbClr val="2F9E44"/>
                </a:solidFill>
                <a:effectLst/>
                <a:uFillTx/>
                <a:latin typeface="Arial"/>
              </a:rPr>
              <a:t>ms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740" b="1" u="none" strike="noStrike" dirty="0">
                <a:solidFill>
                  <a:srgbClr val="2F9E44"/>
                </a:solidFill>
                <a:effectLst/>
                <a:uFillTx/>
                <a:latin typeface="Arial"/>
              </a:rPr>
              <a:t>Linux safe deadline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9" name="Connector 14"/>
          <p:cNvCxnSpPr>
            <a:cxnSpLocks/>
          </p:cNvCxnSpPr>
          <p:nvPr/>
        </p:nvCxnSpPr>
        <p:spPr>
          <a:xfrm>
            <a:off x="8016120" y="1105560"/>
            <a:ext cx="24922" cy="2048760"/>
          </a:xfrm>
          <a:prstGeom prst="straightConnector1">
            <a:avLst/>
          </a:prstGeom>
          <a:ln w="16510">
            <a:solidFill>
              <a:srgbClr val="C92A2A"/>
            </a:solidFill>
            <a:prstDash val="dash"/>
          </a:ln>
        </p:spPr>
      </p:cxnSp>
      <p:sp>
        <p:nvSpPr>
          <p:cNvPr id="240" name="TextBox 15"/>
          <p:cNvSpPr/>
          <p:nvPr/>
        </p:nvSpPr>
        <p:spPr>
          <a:xfrm>
            <a:off x="8126203" y="2927369"/>
            <a:ext cx="641962" cy="4325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74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700 </a:t>
            </a:r>
            <a:r>
              <a:rPr lang="en-US" sz="740" b="1" u="none" strike="noStrike" dirty="0" err="1">
                <a:solidFill>
                  <a:srgbClr val="C92A2A"/>
                </a:solidFill>
                <a:effectLst/>
                <a:uFillTx/>
                <a:latin typeface="Arial"/>
              </a:rPr>
              <a:t>ms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74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Windows</a:t>
            </a:r>
          </a:p>
          <a:p>
            <a:pPr algn="ctr" defTabSz="914400">
              <a:lnSpc>
                <a:spcPct val="100000"/>
              </a:lnSpc>
            </a:pPr>
            <a:r>
              <a:rPr lang="en-US" sz="74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 deadline</a:t>
            </a:r>
            <a:endParaRPr lang="en-US" sz="7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6"/>
          <p:cNvSpPr/>
          <p:nvPr/>
        </p:nvSpPr>
        <p:spPr>
          <a:xfrm>
            <a:off x="502920" y="1673280"/>
            <a:ext cx="1508400" cy="252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/>
            <a:r>
              <a:rPr lang="en-US" sz="1050" b="1" u="none" strike="noStrike" dirty="0">
                <a:solidFill>
                  <a:srgbClr val="1F295C"/>
                </a:solidFill>
                <a:effectLst/>
                <a:uFillTx/>
                <a:latin typeface="Arial"/>
              </a:rPr>
              <a:t>T1 No Load Task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17"/>
          <p:cNvSpPr/>
          <p:nvPr/>
        </p:nvSpPr>
        <p:spPr>
          <a:xfrm>
            <a:off x="2148840" y="1600200"/>
            <a:ext cx="3662640" cy="328680"/>
          </a:xfrm>
          <a:prstGeom prst="roundRect">
            <a:avLst>
              <a:gd name="adj" fmla="val 16667"/>
            </a:avLst>
          </a:prstGeom>
          <a:solidFill>
            <a:srgbClr val="5886CF"/>
          </a:solidFill>
          <a:ln>
            <a:solidFill>
              <a:srgbClr val="588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8"/>
          <p:cNvSpPr/>
          <p:nvPr/>
        </p:nvSpPr>
        <p:spPr>
          <a:xfrm>
            <a:off x="4163400" y="1686960"/>
            <a:ext cx="6854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437 ms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9"/>
          <p:cNvSpPr/>
          <p:nvPr/>
        </p:nvSpPr>
        <p:spPr>
          <a:xfrm>
            <a:off x="502920" y="2313360"/>
            <a:ext cx="1508400" cy="252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1F295C"/>
                </a:solidFill>
                <a:effectLst/>
                <a:uFillTx/>
                <a:latin typeface="Arial"/>
              </a:rPr>
              <a:t>T2 With Load Task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20"/>
          <p:cNvSpPr/>
          <p:nvPr/>
        </p:nvSpPr>
        <p:spPr>
          <a:xfrm>
            <a:off x="2148840" y="2240280"/>
            <a:ext cx="6864480" cy="328680"/>
          </a:xfrm>
          <a:prstGeom prst="roundRect">
            <a:avLst>
              <a:gd name="adj" fmla="val 16667"/>
            </a:avLst>
          </a:prstGeom>
          <a:solidFill>
            <a:srgbClr val="0F1B4C"/>
          </a:solidFill>
          <a:ln>
            <a:solidFill>
              <a:srgbClr val="0F1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21"/>
          <p:cNvSpPr/>
          <p:nvPr/>
        </p:nvSpPr>
        <p:spPr>
          <a:xfrm>
            <a:off x="5924520" y="2327040"/>
            <a:ext cx="6854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819 ms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23"/>
          <p:cNvSpPr/>
          <p:nvPr/>
        </p:nvSpPr>
        <p:spPr>
          <a:xfrm>
            <a:off x="2148840" y="3794760"/>
            <a:ext cx="2589840" cy="328680"/>
          </a:xfrm>
          <a:prstGeom prst="roundRect">
            <a:avLst>
              <a:gd name="adj" fmla="val 16667"/>
            </a:avLst>
          </a:prstGeom>
          <a:solidFill>
            <a:srgbClr val="5886CF"/>
          </a:solidFill>
          <a:ln>
            <a:solidFill>
              <a:srgbClr val="588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24"/>
          <p:cNvSpPr/>
          <p:nvPr/>
        </p:nvSpPr>
        <p:spPr>
          <a:xfrm>
            <a:off x="3573360" y="3881520"/>
            <a:ext cx="6854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309 ms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26"/>
          <p:cNvSpPr/>
          <p:nvPr/>
        </p:nvSpPr>
        <p:spPr>
          <a:xfrm>
            <a:off x="2148840" y="4434840"/>
            <a:ext cx="3838680" cy="328680"/>
          </a:xfrm>
          <a:prstGeom prst="roundRect">
            <a:avLst>
              <a:gd name="adj" fmla="val 16667"/>
            </a:avLst>
          </a:prstGeom>
          <a:solidFill>
            <a:srgbClr val="F36F32"/>
          </a:solidFill>
          <a:ln>
            <a:solidFill>
              <a:srgbClr val="F36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7"/>
          <p:cNvSpPr/>
          <p:nvPr/>
        </p:nvSpPr>
        <p:spPr>
          <a:xfrm>
            <a:off x="4260240" y="4521600"/>
            <a:ext cx="6854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8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458 ms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3" name="Connector 28"/>
          <p:cNvCxnSpPr/>
          <p:nvPr/>
        </p:nvCxnSpPr>
        <p:spPr>
          <a:xfrm>
            <a:off x="2148840" y="5577840"/>
            <a:ext cx="7544160" cy="360"/>
          </a:xfrm>
          <a:prstGeom prst="straightConnector1">
            <a:avLst/>
          </a:prstGeom>
          <a:ln w="15240">
            <a:solidFill>
              <a:srgbClr val="1F295C"/>
            </a:solidFill>
          </a:ln>
        </p:spPr>
      </p:cxnSp>
      <p:cxnSp>
        <p:nvCxnSpPr>
          <p:cNvPr id="254" name="Connector 29"/>
          <p:cNvCxnSpPr/>
          <p:nvPr/>
        </p:nvCxnSpPr>
        <p:spPr>
          <a:xfrm>
            <a:off x="214884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55" name="TextBox 30"/>
          <p:cNvSpPr/>
          <p:nvPr/>
        </p:nvSpPr>
        <p:spPr>
          <a:xfrm>
            <a:off x="192924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6" name="Connector 31"/>
          <p:cNvCxnSpPr/>
          <p:nvPr/>
        </p:nvCxnSpPr>
        <p:spPr>
          <a:xfrm>
            <a:off x="298692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57" name="TextBox 32"/>
          <p:cNvSpPr/>
          <p:nvPr/>
        </p:nvSpPr>
        <p:spPr>
          <a:xfrm>
            <a:off x="276768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100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Connector 33"/>
          <p:cNvCxnSpPr/>
          <p:nvPr/>
        </p:nvCxnSpPr>
        <p:spPr>
          <a:xfrm>
            <a:off x="382500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59" name="TextBox 34"/>
          <p:cNvSpPr/>
          <p:nvPr/>
        </p:nvSpPr>
        <p:spPr>
          <a:xfrm>
            <a:off x="360576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200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0" name="Connector 35"/>
          <p:cNvCxnSpPr/>
          <p:nvPr/>
        </p:nvCxnSpPr>
        <p:spPr>
          <a:xfrm>
            <a:off x="466344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61" name="TextBox 36"/>
          <p:cNvSpPr/>
          <p:nvPr/>
        </p:nvSpPr>
        <p:spPr>
          <a:xfrm>
            <a:off x="444384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300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2" name="Connector 37"/>
          <p:cNvCxnSpPr/>
          <p:nvPr/>
        </p:nvCxnSpPr>
        <p:spPr>
          <a:xfrm>
            <a:off x="550152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63" name="TextBox 38"/>
          <p:cNvSpPr/>
          <p:nvPr/>
        </p:nvSpPr>
        <p:spPr>
          <a:xfrm>
            <a:off x="528228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400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4" name="Connector 39"/>
          <p:cNvCxnSpPr/>
          <p:nvPr/>
        </p:nvCxnSpPr>
        <p:spPr>
          <a:xfrm>
            <a:off x="633960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65" name="TextBox 40"/>
          <p:cNvSpPr/>
          <p:nvPr/>
        </p:nvSpPr>
        <p:spPr>
          <a:xfrm>
            <a:off x="612036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500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6" name="Connector 41"/>
          <p:cNvCxnSpPr/>
          <p:nvPr/>
        </p:nvCxnSpPr>
        <p:spPr>
          <a:xfrm>
            <a:off x="717804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67" name="TextBox 42"/>
          <p:cNvSpPr/>
          <p:nvPr/>
        </p:nvSpPr>
        <p:spPr>
          <a:xfrm>
            <a:off x="695844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600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8" name="Connector 43"/>
          <p:cNvCxnSpPr/>
          <p:nvPr/>
        </p:nvCxnSpPr>
        <p:spPr>
          <a:xfrm>
            <a:off x="801612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69" name="TextBox 44"/>
          <p:cNvSpPr/>
          <p:nvPr/>
        </p:nvSpPr>
        <p:spPr>
          <a:xfrm>
            <a:off x="779688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700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Connector 45"/>
          <p:cNvCxnSpPr/>
          <p:nvPr/>
        </p:nvCxnSpPr>
        <p:spPr>
          <a:xfrm>
            <a:off x="885420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71" name="TextBox 46"/>
          <p:cNvSpPr/>
          <p:nvPr/>
        </p:nvSpPr>
        <p:spPr>
          <a:xfrm>
            <a:off x="863496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800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2" name="Connector 47"/>
          <p:cNvCxnSpPr/>
          <p:nvPr/>
        </p:nvCxnSpPr>
        <p:spPr>
          <a:xfrm>
            <a:off x="9692640" y="5504400"/>
            <a:ext cx="360" cy="146880"/>
          </a:xfrm>
          <a:prstGeom prst="straightConnector1">
            <a:avLst/>
          </a:prstGeom>
          <a:ln w="9525">
            <a:solidFill>
              <a:srgbClr val="1F295C"/>
            </a:solidFill>
          </a:ln>
        </p:spPr>
      </p:cxnSp>
      <p:sp>
        <p:nvSpPr>
          <p:cNvPr id="273" name="TextBox 48"/>
          <p:cNvSpPr/>
          <p:nvPr/>
        </p:nvSpPr>
        <p:spPr>
          <a:xfrm>
            <a:off x="9473040" y="5724000"/>
            <a:ext cx="438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72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900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49"/>
          <p:cNvSpPr/>
          <p:nvPr/>
        </p:nvSpPr>
        <p:spPr>
          <a:xfrm>
            <a:off x="5394960" y="5989320"/>
            <a:ext cx="9140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Time (ms)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ounded Rectangle 50"/>
          <p:cNvSpPr/>
          <p:nvPr/>
        </p:nvSpPr>
        <p:spPr>
          <a:xfrm>
            <a:off x="5989320" y="1536120"/>
            <a:ext cx="959760" cy="42948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950" b="1" u="none" strike="noStrike" dirty="0">
                <a:solidFill>
                  <a:srgbClr val="2F9E44"/>
                </a:solidFill>
                <a:effectLst/>
                <a:uFillTx/>
                <a:latin typeface="Arial"/>
              </a:rPr>
              <a:t>437 &lt; 700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950" b="1" u="none" strike="noStrike" dirty="0">
                <a:solidFill>
                  <a:srgbClr val="2F9E44"/>
                </a:solidFill>
                <a:effectLst/>
                <a:uFillTx/>
                <a:latin typeface="Arial"/>
              </a:rPr>
              <a:t>meets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51"/>
          <p:cNvSpPr/>
          <p:nvPr/>
        </p:nvSpPr>
        <p:spPr>
          <a:xfrm>
            <a:off x="9169504" y="2221920"/>
            <a:ext cx="873656" cy="36540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C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95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819 &gt; 700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95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misses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52"/>
          <p:cNvSpPr/>
          <p:nvPr/>
        </p:nvSpPr>
        <p:spPr>
          <a:xfrm>
            <a:off x="4754880" y="3730680"/>
            <a:ext cx="959760" cy="42948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950" b="1" u="none" strike="noStrike" dirty="0">
                <a:solidFill>
                  <a:srgbClr val="2F9E44"/>
                </a:solidFill>
                <a:effectLst/>
                <a:uFillTx/>
                <a:latin typeface="Arial"/>
              </a:rPr>
              <a:t>309 &lt; 400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950" b="1" u="none" strike="noStrike" dirty="0">
                <a:solidFill>
                  <a:srgbClr val="2F9E44"/>
                </a:solidFill>
                <a:effectLst/>
                <a:uFillTx/>
                <a:latin typeface="Arial"/>
              </a:rPr>
              <a:t>meets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53"/>
          <p:cNvSpPr/>
          <p:nvPr/>
        </p:nvSpPr>
        <p:spPr>
          <a:xfrm>
            <a:off x="6073151" y="4370760"/>
            <a:ext cx="908460" cy="42948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12700">
            <a:solidFill>
              <a:srgbClr val="C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95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458 &gt; 400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50" b="1" u="none" strike="noStrike" dirty="0">
                <a:solidFill>
                  <a:srgbClr val="C92A2A"/>
                </a:solidFill>
                <a:effectLst/>
                <a:uFillTx/>
                <a:latin typeface="Arial"/>
              </a:rPr>
              <a:t>misses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54"/>
          <p:cNvSpPr/>
          <p:nvPr/>
        </p:nvSpPr>
        <p:spPr>
          <a:xfrm>
            <a:off x="7229797" y="4370760"/>
            <a:ext cx="724092" cy="42948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 w="12700">
            <a:solidFill>
              <a:srgbClr val="2F9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880" b="1" u="none" strike="noStrike" dirty="0">
                <a:solidFill>
                  <a:srgbClr val="2F9E44"/>
                </a:solidFill>
                <a:effectLst/>
                <a:uFillTx/>
                <a:latin typeface="Arial"/>
              </a:rPr>
              <a:t>458 &lt; 600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880" b="1" u="none" strike="noStrike" dirty="0">
                <a:solidFill>
                  <a:srgbClr val="2F9E44"/>
                </a:solidFill>
                <a:effectLst/>
                <a:uFillTx/>
                <a:latin typeface="Arial"/>
              </a:rPr>
              <a:t>meets safe case</a:t>
            </a:r>
            <a:endParaRPr lang="en-US" sz="8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55"/>
          <p:cNvSpPr/>
          <p:nvPr/>
        </p:nvSpPr>
        <p:spPr>
          <a:xfrm>
            <a:off x="1135260" y="6254280"/>
            <a:ext cx="8732520" cy="3654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 w="12700">
            <a:solidFill>
              <a:srgbClr val="F36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20" b="0" u="none" strike="noStrike">
                <a:solidFill>
                  <a:srgbClr val="1F295C"/>
                </a:solidFill>
                <a:effectLst/>
                <a:uFillTx/>
                <a:latin typeface="Arial"/>
              </a:rPr>
              <a:t>Note: 600 ms is not measured runtime; it is only the chosen safe deadline. Since T2 = 458 ms is below 600 ms, the safe case meets the deadline.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97472B8B-E9F3-714D-CF0C-AC57CB3DE2E3}"/>
              </a:ext>
            </a:extLst>
          </p:cNvPr>
          <p:cNvSpPr/>
          <p:nvPr/>
        </p:nvSpPr>
        <p:spPr>
          <a:xfrm>
            <a:off x="525960" y="3831644"/>
            <a:ext cx="1508400" cy="252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/>
            <a:r>
              <a:rPr lang="en-US" sz="1050" b="1" u="none" strike="noStrike" dirty="0">
                <a:solidFill>
                  <a:srgbClr val="1F295C"/>
                </a:solidFill>
                <a:effectLst/>
                <a:uFillTx/>
                <a:latin typeface="Arial"/>
              </a:rPr>
              <a:t>T1 No Load Task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2762245C-8F22-49E9-B5E7-343614812701}"/>
              </a:ext>
            </a:extLst>
          </p:cNvPr>
          <p:cNvSpPr/>
          <p:nvPr/>
        </p:nvSpPr>
        <p:spPr>
          <a:xfrm>
            <a:off x="578209" y="4472949"/>
            <a:ext cx="1508400" cy="252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1F295C"/>
                </a:solidFill>
                <a:effectLst/>
                <a:uFillTx/>
                <a:latin typeface="Arial"/>
              </a:rPr>
              <a:t>T2 With Load Task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62EAF4-0EEF-A463-3AB5-B65EE6E0261E}"/>
              </a:ext>
            </a:extLst>
          </p:cNvPr>
          <p:cNvSpPr txBox="1"/>
          <p:nvPr/>
        </p:nvSpPr>
        <p:spPr>
          <a:xfrm>
            <a:off x="9594828" y="6617595"/>
            <a:ext cx="1789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/>
              <a:t>Src:Image</a:t>
            </a:r>
            <a:r>
              <a:rPr lang="en-US" sz="800" dirty="0"/>
              <a:t> Generated With </a:t>
            </a:r>
            <a:r>
              <a:rPr lang="en-US" sz="800" dirty="0" err="1"/>
              <a:t>Chatgpt</a:t>
            </a:r>
            <a:r>
              <a:rPr lang="en-US" sz="800" dirty="0"/>
              <a:t> 5.5</a:t>
            </a:r>
            <a:endParaRPr lang="en-DE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2" name="Image 0" descr="icon_verify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Formal Verification Queries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5" name="Table 0"/>
          <p:cNvGraphicFramePr/>
          <p:nvPr/>
        </p:nvGraphicFramePr>
        <p:xfrm>
          <a:off x="548640" y="1417320"/>
          <a:ext cx="11064240" cy="41148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UPPAAL Query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Verdict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Interpretation</a:t>
                      </a:r>
                      <a:endParaRPr lang="en-US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A[] !deadlock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Self-loops guarantee time always advances in Done/Missed locations.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E&lt;&gt; NoLoad.Done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No-load task can reach Done at x = 437 ms.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A[] !miss_no_load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No-load task never misses: 437 ms &lt; 700 ms in all paths.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E&lt;&gt; WithLoad.Missed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Loaded task reaches Missed at y = 700 ms.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E&lt;&gt; miss_with_load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state with miss_with_load = true is reachable.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A[] !miss_with_load  [Windows]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B23A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false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Counterexample: loaded task (819 ms) always misses the 700 ms deadline.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A[] !safe_deadline_miss  [Linux safe]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2E7D6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Both tasks meet their deadlines (309&lt;400, 458&lt;600).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A[] !miss_deadline_miss  [Linux miss]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B23A4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false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A2E4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Loaded task (458 ms) always misses the 400 ms deadline.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DCE3F0"/>
                      </a:solidFill>
                      <a:prstDash val="solid"/>
                    </a:lnL>
                    <a:lnR w="9360">
                      <a:solidFill>
                        <a:srgbClr val="DCE3F0"/>
                      </a:solidFill>
                      <a:prstDash val="solid"/>
                    </a:lnR>
                    <a:lnT w="9360">
                      <a:solidFill>
                        <a:srgbClr val="DCE3F0"/>
                      </a:solidFill>
                      <a:prstDash val="solid"/>
                    </a:lnT>
                    <a:lnB w="9360">
                      <a:solidFill>
                        <a:srgbClr val="DCE3F0"/>
                      </a:solidFill>
                      <a:prstDash val="solid"/>
                    </a:lnB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7" name="Image 0" descr="icon_schedan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Schedulability Analysis: Utilization vs. Deadline Test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"/>
          <p:cNvSpPr/>
          <p:nvPr/>
        </p:nvSpPr>
        <p:spPr>
          <a:xfrm>
            <a:off x="548640" y="1362944"/>
            <a:ext cx="5348880" cy="2445496"/>
          </a:xfrm>
          <a:prstGeom prst="roundRect">
            <a:avLst>
              <a:gd name="adj" fmla="val 3137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 5"/>
          <p:cNvSpPr/>
          <p:nvPr/>
        </p:nvSpPr>
        <p:spPr>
          <a:xfrm>
            <a:off x="670920" y="1414898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51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DEADLINE CHECK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6"/>
          <p:cNvSpPr/>
          <p:nvPr/>
        </p:nvSpPr>
        <p:spPr>
          <a:xfrm>
            <a:off x="704324" y="1728360"/>
            <a:ext cx="48002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</a:pPr>
            <a:r>
              <a:rPr lang="en-US" sz="1250" b="1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Windows: </a:t>
            </a:r>
          </a:p>
          <a:p>
            <a:pPr marL="285750" indent="-285750"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2A2E45"/>
                </a:solidFill>
                <a:latin typeface="Calibri"/>
                <a:ea typeface="Calibri"/>
              </a:rPr>
              <a:t>Without Loaded, </a:t>
            </a:r>
            <a:r>
              <a:rPr lang="en-US" sz="12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e=437ms &lt; D=700ms → schedulable;  </a:t>
            </a:r>
          </a:p>
          <a:p>
            <a:pPr marL="285750" indent="-28575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  <a:buFont typeface="Courier New" panose="02070309020205020404" pitchFamily="49" charset="0"/>
              <a:buChar char="o"/>
            </a:pPr>
            <a:r>
              <a:rPr lang="en-US" sz="1250" dirty="0">
                <a:solidFill>
                  <a:srgbClr val="2A2E45"/>
                </a:solidFill>
                <a:ea typeface="Calibri"/>
              </a:rPr>
              <a:t>Loaded, </a:t>
            </a:r>
            <a:r>
              <a:rPr lang="en-US" sz="12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e′=819ms &gt; D=700ms → </a:t>
            </a:r>
            <a:r>
              <a:rPr lang="en-US" sz="125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unschedulable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</a:pPr>
            <a:r>
              <a:rPr lang="en-US" sz="1250" b="1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Linux: </a:t>
            </a:r>
          </a:p>
          <a:p>
            <a:pPr marL="285750" indent="-28575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  <a:buFont typeface="Wingdings" panose="05000000000000000000" pitchFamily="2" charset="2"/>
              <a:buChar char="ü"/>
            </a:pPr>
            <a:r>
              <a:rPr lang="en-US" sz="1250" dirty="0">
                <a:solidFill>
                  <a:srgbClr val="2A2E45"/>
                </a:solidFill>
                <a:ea typeface="Calibri"/>
              </a:rPr>
              <a:t>Without Loaded, </a:t>
            </a:r>
            <a:r>
              <a:rPr lang="en-US" sz="12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e=309ms &lt; D=400ms → schedulable;  </a:t>
            </a:r>
          </a:p>
          <a:p>
            <a:pPr marL="285750" indent="-28575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  <a:buFont typeface="Courier New" panose="02070309020205020404" pitchFamily="49" charset="0"/>
              <a:buChar char="o"/>
            </a:pPr>
            <a:r>
              <a:rPr lang="en-US" sz="1250" dirty="0">
                <a:solidFill>
                  <a:srgbClr val="FF0000"/>
                </a:solidFill>
                <a:ea typeface="Calibri"/>
              </a:rPr>
              <a:t>Loaded, </a:t>
            </a:r>
            <a:r>
              <a:rPr lang="en-US" sz="1250" b="0" u="none" strike="noStrike" dirty="0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e′=458ms &gt; D=400ms → </a:t>
            </a:r>
            <a:r>
              <a:rPr lang="en-US" sz="1250" b="0" u="none" strike="noStrike" dirty="0" err="1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unschedulable</a:t>
            </a:r>
            <a:endParaRPr lang="en-US" sz="1250" b="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7"/>
          <p:cNvSpPr/>
          <p:nvPr/>
        </p:nvSpPr>
        <p:spPr>
          <a:xfrm>
            <a:off x="6446520" y="1362944"/>
            <a:ext cx="5348880" cy="2523256"/>
          </a:xfrm>
          <a:prstGeom prst="roundRect">
            <a:avLst>
              <a:gd name="adj" fmla="val 3137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 8"/>
          <p:cNvSpPr/>
          <p:nvPr/>
        </p:nvSpPr>
        <p:spPr>
          <a:xfrm>
            <a:off x="6672736" y="1362944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spc="51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UTILIZATION TEST  ( U ≤ 1)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9"/>
          <p:cNvSpPr/>
          <p:nvPr/>
        </p:nvSpPr>
        <p:spPr>
          <a:xfrm>
            <a:off x="6687436" y="1728360"/>
            <a:ext cx="48002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</a:pPr>
            <a:r>
              <a:rPr lang="en-US" sz="1250" b="1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Windows: </a:t>
            </a:r>
          </a:p>
          <a:p>
            <a:pPr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</a:pPr>
            <a:r>
              <a:rPr lang="en-US" sz="12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U=2×0.437=0.874&lt;1 ✓; </a:t>
            </a:r>
          </a:p>
          <a:p>
            <a:pPr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</a:pPr>
            <a:r>
              <a:rPr lang="en-US" sz="12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 U=2×0.819=1.638&gt;1 ✗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</a:pPr>
            <a:r>
              <a:rPr lang="en-US" sz="1250" b="1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Linux: </a:t>
            </a:r>
          </a:p>
          <a:p>
            <a:pPr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</a:pPr>
            <a:r>
              <a:rPr lang="en-US" sz="12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U=2×0.309=0.618&lt;1 ✓;  </a:t>
            </a:r>
          </a:p>
          <a:p>
            <a:pPr defTabSz="914400">
              <a:lnSpc>
                <a:spcPct val="108000"/>
              </a:lnSpc>
              <a:spcAft>
                <a:spcPts val="1001"/>
              </a:spcAft>
              <a:buClr>
                <a:srgbClr val="2A2E45"/>
              </a:buClr>
            </a:pPr>
            <a:r>
              <a:rPr lang="en-US" sz="1250" b="0" u="none" strike="noStrike" dirty="0">
                <a:solidFill>
                  <a:srgbClr val="00B050"/>
                </a:solidFill>
                <a:effectLst/>
                <a:uFillTx/>
                <a:latin typeface="Calibri"/>
                <a:ea typeface="Calibri"/>
              </a:rPr>
              <a:t>U=2×0.458=0.916&lt;1 ✓</a:t>
            </a:r>
            <a:endParaRPr lang="en-US" sz="1250" b="0" u="none" strike="noStrike" dirty="0">
              <a:solidFill>
                <a:srgbClr val="00B05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0"/>
          <p:cNvSpPr/>
          <p:nvPr/>
        </p:nvSpPr>
        <p:spPr>
          <a:xfrm>
            <a:off x="564060" y="4023360"/>
            <a:ext cx="11063880" cy="1828440"/>
          </a:xfrm>
          <a:prstGeom prst="roundRect">
            <a:avLst>
              <a:gd name="adj" fmla="val 4000"/>
            </a:avLst>
          </a:prstGeom>
          <a:solidFill>
            <a:srgbClr val="FBEE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11"/>
          <p:cNvSpPr/>
          <p:nvPr/>
        </p:nvSpPr>
        <p:spPr>
          <a:xfrm>
            <a:off x="868680" y="4187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51">
                <a:solidFill>
                  <a:srgbClr val="B23A48"/>
                </a:solidFill>
                <a:effectLst/>
                <a:uFillTx/>
                <a:latin typeface="Calibri"/>
                <a:ea typeface="Calibri"/>
              </a:rPr>
              <a:t>⚠  CRITICAL DISTINCTION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2"/>
          <p:cNvSpPr/>
          <p:nvPr/>
        </p:nvSpPr>
        <p:spPr>
          <a:xfrm>
            <a:off x="914580" y="4716081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For Linux under load, the utilization test PASSES (0.916 &lt; 1.0) but the deadline check FAILS (458 </a:t>
            </a:r>
            <a:r>
              <a:rPr lang="en-US" sz="130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ms</a:t>
            </a:r>
            <a:r>
              <a:rPr lang="en-US" sz="130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 &gt; 400 </a:t>
            </a:r>
            <a:r>
              <a:rPr lang="en-US" sz="130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ms</a:t>
            </a:r>
            <a:r>
              <a:rPr lang="en-US" sz="130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).</a:t>
            </a: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dirty="0">
              <a:solidFill>
                <a:srgbClr val="2A2E45"/>
              </a:solidFill>
              <a:latin typeface="Calibri"/>
              <a:ea typeface="Calibri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 </a:t>
            </a:r>
          </a:p>
          <a:p>
            <a:pPr algn="ctr">
              <a:lnSpc>
                <a:spcPct val="118000"/>
              </a:lnSpc>
              <a:tabLst>
                <a:tab pos="0" algn="l"/>
              </a:tabLst>
            </a:pPr>
            <a:r>
              <a:rPr lang="en-DE" sz="1400" dirty="0">
                <a:solidFill>
                  <a:srgbClr val="FF0000"/>
                </a:solidFill>
              </a:rPr>
              <a:t>CPU capacity can look enough, but a task can still miss its deadline</a:t>
            </a:r>
            <a:r>
              <a:rPr lang="en-DE" sz="1400" dirty="0"/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1" name="Image 0" descr="icon_limits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Critical Evaluation &amp; Limitations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dirty="0">
                <a:solidFill>
                  <a:srgbClr val="6B7280"/>
                </a:solidFill>
                <a:latin typeface="Calibri"/>
                <a:ea typeface="Calibri"/>
              </a:rPr>
              <a:t>17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548640" y="1417320"/>
            <a:ext cx="5348880" cy="1965600"/>
          </a:xfrm>
          <a:prstGeom prst="roundRect">
            <a:avLst>
              <a:gd name="adj" fmla="val 3256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777240" y="16459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777240" y="1645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1371600" y="1618560"/>
            <a:ext cx="4343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GPOS, not RTOS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777240" y="219456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Windows and Linux are compared, not EPOS vs. LITMUSᴿT; this is a qualitative transfer experiment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9"/>
          <p:cNvSpPr/>
          <p:nvPr/>
        </p:nvSpPr>
        <p:spPr>
          <a:xfrm>
            <a:off x="6446520" y="1417320"/>
            <a:ext cx="5348880" cy="1965600"/>
          </a:xfrm>
          <a:prstGeom prst="roundRect">
            <a:avLst>
              <a:gd name="adj" fmla="val 3256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6675120" y="16459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 11"/>
          <p:cNvSpPr/>
          <p:nvPr/>
        </p:nvSpPr>
        <p:spPr>
          <a:xfrm>
            <a:off x="6675120" y="1645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2"/>
          <p:cNvSpPr/>
          <p:nvPr/>
        </p:nvSpPr>
        <p:spPr>
          <a:xfrm>
            <a:off x="7269480" y="1618560"/>
            <a:ext cx="4343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Statistical WCET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3"/>
          <p:cNvSpPr/>
          <p:nvPr/>
        </p:nvSpPr>
        <p:spPr>
          <a:xfrm>
            <a:off x="6675120" y="219456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WCET is the max of 10 runs, not an analytically bounded value (IPET, cache, flow analysis). May underestimate the true WCET for rare events.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4"/>
          <p:cNvSpPr/>
          <p:nvPr/>
        </p:nvSpPr>
        <p:spPr>
          <a:xfrm>
            <a:off x="548640" y="3657600"/>
            <a:ext cx="5348880" cy="1965600"/>
          </a:xfrm>
          <a:prstGeom prst="roundRect">
            <a:avLst>
              <a:gd name="adj" fmla="val 3256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Shape 15"/>
          <p:cNvSpPr/>
          <p:nvPr/>
        </p:nvSpPr>
        <p:spPr>
          <a:xfrm>
            <a:off x="777240" y="388620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 16"/>
          <p:cNvSpPr/>
          <p:nvPr/>
        </p:nvSpPr>
        <p:spPr>
          <a:xfrm>
            <a:off x="777240" y="3886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7"/>
          <p:cNvSpPr/>
          <p:nvPr/>
        </p:nvSpPr>
        <p:spPr>
          <a:xfrm>
            <a:off x="1371600" y="3858840"/>
            <a:ext cx="4343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Full-program counters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8"/>
          <p:cNvSpPr/>
          <p:nvPr/>
        </p:nvSpPr>
        <p:spPr>
          <a:xfrm>
            <a:off x="777240" y="443484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Perf counters measure the whole program including background workers, not the isolated task.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9"/>
          <p:cNvSpPr/>
          <p:nvPr/>
        </p:nvSpPr>
        <p:spPr>
          <a:xfrm>
            <a:off x="6446520" y="3657600"/>
            <a:ext cx="5348880" cy="1965600"/>
          </a:xfrm>
          <a:prstGeom prst="roundRect">
            <a:avLst>
              <a:gd name="adj" fmla="val 3256"/>
            </a:avLst>
          </a:prstGeom>
          <a:solidFill>
            <a:srgbClr val="F3F6F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1" name="Shape 20"/>
          <p:cNvSpPr/>
          <p:nvPr/>
        </p:nvSpPr>
        <p:spPr>
          <a:xfrm>
            <a:off x="6675120" y="388620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 21"/>
          <p:cNvSpPr/>
          <p:nvPr/>
        </p:nvSpPr>
        <p:spPr>
          <a:xfrm>
            <a:off x="6675120" y="3886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2"/>
          <p:cNvSpPr/>
          <p:nvPr/>
        </p:nvSpPr>
        <p:spPr>
          <a:xfrm>
            <a:off x="7269480" y="3858840"/>
            <a:ext cx="4343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 UPPAAL templates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3"/>
          <p:cNvSpPr/>
          <p:nvPr/>
        </p:nvSpPr>
        <p:spPr>
          <a:xfrm>
            <a:off x="6675120" y="4434840"/>
            <a:ext cx="489168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UPPAAL verifies chosen timing values, not a full multicore OS scheduler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548640" y="4572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6" name="Image 0" descr="icon_references.png"/>
          <p:cNvPicPr/>
          <p:nvPr/>
        </p:nvPicPr>
        <p:blipFill>
          <a:blip r:embed="rId3"/>
          <a:stretch/>
        </p:blipFill>
        <p:spPr>
          <a:xfrm>
            <a:off x="690480" y="5990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1"/>
          <p:cNvSpPr/>
          <p:nvPr/>
        </p:nvSpPr>
        <p:spPr>
          <a:xfrm>
            <a:off x="1325880" y="384120"/>
            <a:ext cx="10286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References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"/>
          <p:cNvSpPr/>
          <p:nvPr/>
        </p:nvSpPr>
        <p:spPr>
          <a:xfrm>
            <a:off x="1106424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548640" y="1023840"/>
            <a:ext cx="11063880" cy="48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[1] G. </a:t>
            </a:r>
            <a:r>
              <a:rPr lang="en-US" sz="118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Gracioli</a:t>
            </a: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, A. A. Fröhlich, R. </a:t>
            </a:r>
            <a:r>
              <a:rPr lang="en-US" sz="118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Pellizzoni</a:t>
            </a: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, and S. </a:t>
            </a:r>
            <a:r>
              <a:rPr lang="en-US" sz="118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Fischmeister</a:t>
            </a: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, “Implementation and evaluation of global and partitioned scheduling in a real-time OS,” Real-Time Systems, vol. 49, pp. 669–714, 2013.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[2] C. L. Liu and J. W. Layland, “Scheduling algorithms for multiprogramming in a hard-real-time environment,” Journal of the ACM, vol. 20, no. 1, pp. 46–61, 1973.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[3] B. B. Brandenburg, “Scheduling and locking in multiprocessor real-time operating systems,” Ph.D. dissertation, University of North Carolina at Chapel Hill, 2011.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[4] A. Bastoni, B. B. Brandenburg, and J. H. Anderson, “Cache-related preemption and migration delays: empirical approximation and impact on </a:t>
            </a:r>
            <a:r>
              <a:rPr lang="en-US" sz="118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schedulability</a:t>
            </a: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,” in Proc. 6th Workshop on Operating Systems Platforms for Embedded Real-Time Applications, 2010.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[5] M. </a:t>
            </a:r>
            <a:r>
              <a:rPr lang="en-US" sz="118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Bertogna</a:t>
            </a: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 and M. </a:t>
            </a:r>
            <a:r>
              <a:rPr lang="en-US" sz="1180" b="0" u="none" strike="noStrike" dirty="0" err="1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Cirinei</a:t>
            </a: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, “Response-time analysis for globally scheduled symmetric multiprocessor platforms,” in Proc. IEEE Real-Time Systems Symposium (RTSS), 2007, pp. 149–160.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[6] Python experiment: multicore_wcet_test.py on AMD Ryzen 7 7435HS, Windows 11 build 10.0.26200.8655 and Linux Ubuntu. perf stat -e context-switches,cpu-migrations,cache-references,cache-misses,cycles,instructions.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n-US" sz="1180" b="0" u="none" strike="noStrike" dirty="0">
                <a:solidFill>
                  <a:srgbClr val="2A2E45"/>
                </a:solidFill>
                <a:effectLst/>
                <a:uFillTx/>
                <a:latin typeface="Calibri"/>
                <a:ea typeface="Calibri"/>
              </a:rPr>
              <a:t>[7] UPPAAL model: wcet_deadline_uppaal_final_nondeadlock.xml. Verified with UPPAAL 4.x. Models: Windows single-deadline model and Linux two-case model.</a:t>
            </a:r>
            <a:endParaRPr lang="en-US" sz="11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</TotalTime>
  <Words>2117</Words>
  <Application>Microsoft Office PowerPoint</Application>
  <PresentationFormat>Widescreen</PresentationFormat>
  <Paragraphs>365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Arial</vt:lpstr>
      <vt:lpstr>Calibri</vt:lpstr>
      <vt:lpstr>Cambria</vt:lpstr>
      <vt:lpstr>Consolas</vt:lpstr>
      <vt:lpstr>Courier New</vt:lpstr>
      <vt:lpstr>Symbol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 Mostafizur Rahman</dc:creator>
  <cp:lastModifiedBy>M R Sohan</cp:lastModifiedBy>
  <cp:revision>12</cp:revision>
  <dcterms:modified xsi:type="dcterms:W3CDTF">2026-06-22T11:05:41Z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2026-06-21T13:44:34Z</dcterms:created>
  <dc:creator>Md Mostafizur Rahman</dc:creator>
  <dc:description/>
  <dc:language>en-US</dc:language>
  <cp:lastModifiedBy>M R Sohan</cp:lastModifiedBy>
  <dcterms:modified xsi:type="dcterms:W3CDTF">2026-06-21T14:48:39Z</dcterms:modified>
  <cp:revision>4</cp:revision>
  <dc:subject>PptxGenJS Presentation</dc:subject>
  <dc:title>Global &amp; Partitioned EDF Scheduling in Real-Time Operating Systems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17</vt:r8>
  </property>
  <property fmtid="{D5CDD505-2E9C-101B-9397-08002B2CF9AE}" pid="3" name="PresentationFormat">
    <vt:lpwstr>Widescreen</vt:lpwstr>
  </property>
  <property fmtid="{D5CDD505-2E9C-101B-9397-08002B2CF9AE}" pid="4" name="Slides">
    <vt:r8>17</vt:r8>
  </property>
</Properties>
</file>