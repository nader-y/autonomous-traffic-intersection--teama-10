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23"/>
  </p:notesMasterIdLst>
  <p:handoutMasterIdLst>
    <p:handoutMasterId r:id="rId24"/>
  </p:handoutMasterIdLst>
  <p:sldIdLst>
    <p:sldId id="261" r:id="rId3"/>
    <p:sldId id="259" r:id="rId4"/>
    <p:sldId id="262" r:id="rId5"/>
    <p:sldId id="256" r:id="rId6"/>
    <p:sldId id="257" r:id="rId7"/>
    <p:sldId id="263" r:id="rId8"/>
    <p:sldId id="264" r:id="rId9"/>
    <p:sldId id="267" r:id="rId10"/>
    <p:sldId id="265" r:id="rId11"/>
    <p:sldId id="268" r:id="rId12"/>
    <p:sldId id="270" r:id="rId13"/>
    <p:sldId id="266" r:id="rId14"/>
    <p:sldId id="276" r:id="rId15"/>
    <p:sldId id="272" r:id="rId16"/>
    <p:sldId id="275" r:id="rId17"/>
    <p:sldId id="271" r:id="rId18"/>
    <p:sldId id="274" r:id="rId19"/>
    <p:sldId id="273" r:id="rId20"/>
    <p:sldId id="258" r:id="rId21"/>
    <p:sldId id="269" r:id="rId22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B55C36C-4B12-4928-A576-512542895FA0}">
          <p14:sldIdLst>
            <p14:sldId id="261"/>
          </p14:sldIdLst>
        </p14:section>
        <p14:section name="Motivation" id="{EA5DC0D6-BDBD-4C05-A340-F65F04CB21FE}">
          <p14:sldIdLst>
            <p14:sldId id="259"/>
            <p14:sldId id="262"/>
            <p14:sldId id="256"/>
          </p14:sldIdLst>
        </p14:section>
        <p14:section name="Vestal Model" id="{0AF69808-8964-4EBD-BC2E-A72FA7DE43D8}">
          <p14:sldIdLst>
            <p14:sldId id="257"/>
            <p14:sldId id="263"/>
          </p14:sldIdLst>
        </p14:section>
        <p14:section name="Example  EDF-VD" id="{01A71B07-81B8-4BDD-8620-840A6C5DF113}">
          <p14:sldIdLst>
            <p14:sldId id="264"/>
          </p14:sldIdLst>
        </p14:section>
        <p14:section name="Trade Offs" id="{668BD2AF-AE02-4B5F-B059-0AC1D24C6769}">
          <p14:sldIdLst>
            <p14:sldId id="267"/>
            <p14:sldId id="265"/>
            <p14:sldId id="268"/>
            <p14:sldId id="270"/>
          </p14:sldIdLst>
        </p14:section>
        <p14:section name="Limitations" id="{C2F55487-837F-404B-AC1D-5CB400EBDB86}">
          <p14:sldIdLst>
            <p14:sldId id="266"/>
            <p14:sldId id="276"/>
            <p14:sldId id="272"/>
            <p14:sldId id="275"/>
            <p14:sldId id="271"/>
            <p14:sldId id="274"/>
            <p14:sldId id="273"/>
            <p14:sldId id="25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3012"/>
    <a:srgbClr val="E3E3E3"/>
    <a:srgbClr val="D9D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1242" autoAdjust="0"/>
  </p:normalViewPr>
  <p:slideViewPr>
    <p:cSldViewPr snapToGrid="0" snapToObjects="1">
      <p:cViewPr varScale="1">
        <p:scale>
          <a:sx n="101" d="100"/>
          <a:sy n="101" d="100"/>
        </p:scale>
        <p:origin x="353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817F0-84FC-C145-AFC3-FA42D1D21F8E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16E92-7EF2-5A47-8774-75AC8D7375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1988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FA3C8-DE25-7348-A1F7-D749F91943C8}" type="datetimeFigureOut">
              <a:rPr lang="de-DE" smtClean="0"/>
              <a:t>13.07.2026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E6540-DBC8-1449-A578-CCAD6D2991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266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tasks → more </a:t>
            </a:r>
            <a:r>
              <a:rPr lang="en-US" dirty="0" err="1"/>
              <a:t>schedulability</a:t>
            </a:r>
            <a:r>
              <a:rPr lang="en-US" dirty="0"/>
              <a:t> calculations. </a:t>
            </a:r>
            <a:endParaRPr lang="en-DE" dirty="0"/>
          </a:p>
          <a:p>
            <a:r>
              <a:rPr lang="en-US" dirty="0"/>
              <a:t>More criticality levels → more mode-switch scenarios to analyze. </a:t>
            </a:r>
            <a:endParaRPr lang="en-DE" dirty="0"/>
          </a:p>
          <a:p>
            <a:r>
              <a:rPr lang="en-US" dirty="0"/>
              <a:t>More cores → shared cache and memory interference become harder to predict. </a:t>
            </a:r>
            <a:endParaRPr lang="en-DE" dirty="0"/>
          </a:p>
          <a:p>
            <a:r>
              <a:rPr lang="en-US" dirty="0"/>
              <a:t>More complex hardware → WCET analysis becomes increasingly difficult.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11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8001" y="1438812"/>
            <a:ext cx="7520410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8001" y="3176700"/>
            <a:ext cx="7520410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112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26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AFB14-23E0-1F4C-A6C5-95691F2AB521}" type="datetime1">
              <a:rPr lang="de-DE" smtClean="0"/>
              <a:t>13.07.2026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6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EEAD-2E33-CB41-913B-6235DD169CF5}" type="datetime1">
              <a:rPr lang="de-DE" smtClean="0"/>
              <a:t>13.07.2026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96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645A-B693-BB43-8646-3B1C1BAD48BE}" type="datetime1">
              <a:rPr lang="de-DE" smtClean="0"/>
              <a:t>13.07.2026</a:t>
            </a:fld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6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4868-D7B6-2349-81F6-28D3E8C9671D}" type="datetime1">
              <a:rPr lang="de-DE" smtClean="0"/>
              <a:t>13.07.2026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8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CBFB4-2031-A542-A2EF-20BD4D9E5256}" type="datetime1">
              <a:rPr lang="de-DE" smtClean="0"/>
              <a:t>13.07.2026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44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88818-9833-2C4A-8849-8268EC11202B}" type="datetime1">
              <a:rPr lang="de-DE" smtClean="0"/>
              <a:t>13.07.2026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6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04BE1-0C38-F948-9EB8-8FC2670177F0}" type="datetime1">
              <a:rPr lang="de-DE" smtClean="0"/>
              <a:t>13.07.2026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75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E3445-959C-4840-857B-0726FC3AABF6}" type="datetime1">
              <a:rPr lang="de-DE" smtClean="0"/>
              <a:t>13.07.2026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16519-39B1-594B-9118-53EDDEBB1F38}" type="datetime1">
              <a:rPr lang="de-DE" smtClean="0"/>
              <a:t>13.07.2026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69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4C4A-08B8-CA46-0EF6-D7018790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CD060-1EA1-1311-5D33-C80E8D034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1788-833C-90E4-F59D-EAFFF424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D61C-3C80-4EA8-A27E-9CD1D207D77F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5698-1062-D596-6992-BB008620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5934-C7AD-F4A3-9AB0-E03FD9C8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0119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0AEA-5376-0590-10F2-E8929766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1DBE-BFFF-BC1C-5E5E-A7548B646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E7359-446F-80C9-F7AB-90DB5540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E0078-9CCF-4C16-92D6-6E9B93F11347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A9DCC-93E7-3679-1DC8-BB43B4DE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D5285-D699-DCA6-BDC7-1F1B5673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86955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9914-727C-23CE-A41A-AA8C17EC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2AF17-859B-1884-10B8-A5D83435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D882-96F7-2F4F-62B3-CF8865B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1E47-6574-4F86-BA8B-C94091E6F9D2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9AF6-37DB-A302-7418-7DD9144E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8122-48CE-DB49-13E8-654A39E7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3495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BEE-6A1F-95BE-AAF2-25F1CB33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3BDE-F217-4AD6-2404-671CEBC25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3E6EB-06AA-6220-138F-FC9C3C437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816AB-B2CA-3BF7-8B0B-17E9C5F5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F4A53-A4D4-4376-95B1-719F0246BE79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7AD68-AE43-8F58-FB00-55564394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4057-A30C-2AC5-F4FD-94F88106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3659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9EBF-62DC-1EB5-64E9-93117D01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92348-2103-7E67-26A2-62047FEC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896E-AF3A-A885-006F-6BEEA6A42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DFA14-4D11-2BCA-E108-E99225DBA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46532-3570-60AB-3EFB-E10014582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329D2-4869-907C-4C3B-9149F5F8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74820-0881-4401-9A72-0BCBA9BEB800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DD4CE-8D97-F3BE-3571-FE153571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9C99A-A049-0377-31BD-236F4C55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3938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9658-5FE5-B518-CC8D-2E984548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6A41A-4A7F-4A5B-D63E-AA9BD3C8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04821-A5EB-4A54-BE98-35A3DF170623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B191-0CB9-9EA7-A490-0324437C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344D3-8EE9-97FB-429C-37FE4FC4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326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13B90-1915-3F00-DD2A-989B2583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B5D19-845C-4384-B4F0-D0D435BCA582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58BFE-13EA-79B0-3573-B104C185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031-0675-9B57-78A1-09F572A2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8741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2736-8B5D-C696-95D5-CB996DCE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950C-F5D3-FCE8-0498-38257239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6F44A-B5F0-505A-DE7D-B95275F47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81B3F-7D6E-E7B9-0EF9-FEC9D9AF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51FEC-79CE-48E4-88EC-2C13E108C158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CF0BC-3359-1DC1-911C-E59A9C3A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548A-291A-E749-DC47-B969F8A8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096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7961-4CE8-91F3-1040-EE49FC10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BAED-69FB-60AB-10AE-398A88A27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D6F11-BD5B-1C88-0F0D-7D60A31D0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9286-2966-C3D9-6785-7190DB39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528F-0EE2-4849-BB92-A6247EFDDFA4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DBFA-6F84-350C-7020-F54AE3CC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007D-B99A-711F-B898-A1A7F926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6422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243C-BBC7-DDC7-23D1-7F0C9E69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E32E3-41C0-D9B4-A1B7-1EDACDAA5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79B9-B11A-1238-D81A-61A672B1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BBCA4-4CAE-4290-9174-2B78584E53B2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90606-0902-1FAB-9C51-9F995563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B34F-165F-0B27-F90D-2F124BE3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5452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90C93-26A8-1A30-719F-5432D6A1D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9A52-4173-E8E4-E8D1-F3B55373C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7729C-4CC9-81CE-F907-1DCB119B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1EAF5-409D-43ED-A902-770470952D56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57FE-E9B6-0094-BF07-64F63267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0672-574E-020A-B659-D1DFEFE9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638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0" y="648000"/>
            <a:ext cx="8532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48000" y="745650"/>
            <a:ext cx="7675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48000" y="2021180"/>
            <a:ext cx="7675432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Bild 6" descr="HSHL_Logo_horizontal_RGB_Sequenz_Animation.gi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000" y="223200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754D0-7FAE-A45D-4023-B24D3BAC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314D1-BCFC-5234-4EC4-84313D4D7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EFB6-8CFB-9150-70AF-A80F0BCDD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EA34B-BED5-4074-9B60-8930CF6913B9}" type="datetime8">
              <a:rPr lang="en-DE" smtClean="0"/>
              <a:t>13/07/2026 19:28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69B1E-1609-392C-A752-1BB9E6EC7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RISC-V Foundation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0697-C8AD-7E67-0C34-DE0736978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700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1.xml"/><Relationship Id="rId7" Type="http://schemas.openxmlformats.org/officeDocument/2006/relationships/image" Target="../media/image13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0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image" Target="../media/image19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8.png"/><Relationship Id="rId5" Type="http://schemas.openxmlformats.org/officeDocument/2006/relationships/tags" Target="../tags/tag17.xml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tags" Target="../tags/tag16.xml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25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logo with a white cross&#10;&#10;AI-generated content may be incorrect.">
            <a:extLst>
              <a:ext uri="{FF2B5EF4-FFF2-40B4-BE49-F238E27FC236}">
                <a16:creationId xmlns:a16="http://schemas.microsoft.com/office/drawing/2014/main" id="{0BB7B5BA-86D7-C0E5-6A11-4CEBB6B5C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37" y="871824"/>
            <a:ext cx="2635321" cy="2283666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396EB83-6722-CE7C-988C-44614FD75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182851"/>
              </p:ext>
            </p:extLst>
          </p:nvPr>
        </p:nvGraphicFramePr>
        <p:xfrm>
          <a:off x="1455417" y="4317345"/>
          <a:ext cx="6096000" cy="8458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102866">
                  <a:extLst>
                    <a:ext uri="{9D8B030D-6E8A-4147-A177-3AD203B41FA5}">
                      <a16:colId xmlns:a16="http://schemas.microsoft.com/office/drawing/2014/main" val="3189435650"/>
                    </a:ext>
                  </a:extLst>
                </a:gridCol>
                <a:gridCol w="2993134">
                  <a:extLst>
                    <a:ext uri="{9D8B030D-6E8A-4147-A177-3AD203B41FA5}">
                      <a16:colId xmlns:a16="http://schemas.microsoft.com/office/drawing/2014/main" val="198738267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dirty="0">
                          <a:solidFill>
                            <a:schemeClr val="bg1"/>
                          </a:solidFill>
                        </a:rPr>
                        <a:t>Name </a:t>
                      </a:r>
                      <a:endParaRPr lang="de-DE" altLang="zh-CN" sz="1400" b="1" dirty="0">
                        <a:solidFill>
                          <a:schemeClr val="bg1"/>
                        </a:solidFill>
                        <a:latin typeface="Open Sans" panose="020B0606030504020204" charset="0"/>
                        <a:ea typeface="Open Sans" panose="020B0606030504020204" charset="0"/>
                        <a:cs typeface="Open Sans" panose="020B0606030504020204" charset="0"/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zh-CN" sz="1400" b="1" dirty="0">
                          <a:solidFill>
                            <a:schemeClr val="bg1"/>
                          </a:solidFill>
                        </a:rPr>
                        <a:t>Nader Yahia</a:t>
                      </a:r>
                      <a:endParaRPr lang="en-DE" sz="10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3606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de-DE" altLang="zh-CN" sz="1400" b="1" dirty="0">
                          <a:solidFill>
                            <a:schemeClr val="tx1"/>
                          </a:solidFill>
                        </a:rPr>
                        <a:t>Matriculation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B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22</a:t>
                      </a:r>
                      <a:r>
                        <a:rPr kumimoji="0" lang="de-DE" altLang="zh-CN" sz="14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1002</a:t>
                      </a:r>
                      <a:r>
                        <a:rPr kumimoji="0" lang="en-US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6722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kumimoji="0" lang="de-DE" altLang="zh-CN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Supervisor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>
                          <a:solidFill>
                            <a:schemeClr val="tx1"/>
                          </a:solidFill>
                        </a:rPr>
                        <a:t>Prof. Dr.</a:t>
                      </a:r>
                      <a:r>
                        <a:rPr lang="en-DE" sz="1400" b="1" dirty="0" err="1">
                          <a:solidFill>
                            <a:schemeClr val="tx1"/>
                          </a:solidFill>
                        </a:rPr>
                        <a:t>rer.nat</a:t>
                      </a:r>
                      <a:r>
                        <a:rPr lang="de-DE" sz="1400" b="1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DE" sz="1400" b="1" dirty="0">
                          <a:solidFill>
                            <a:schemeClr val="tx1"/>
                          </a:solidFill>
                        </a:rPr>
                        <a:t>Stefan Henkler</a:t>
                      </a:r>
                      <a:endParaRPr lang="en-DE" sz="10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3933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83EE8098-2323-3112-5497-DA1F20BDDB76}"/>
              </a:ext>
            </a:extLst>
          </p:cNvPr>
          <p:cNvSpPr txBox="1"/>
          <p:nvPr/>
        </p:nvSpPr>
        <p:spPr>
          <a:xfrm>
            <a:off x="1024126" y="3224070"/>
            <a:ext cx="70957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>
              <a:defRPr/>
            </a:pPr>
            <a:r>
              <a:rPr lang="en-US" sz="4000" b="1" dirty="0">
                <a:latin typeface="Helvetica World"/>
                <a:ea typeface="Helvetica World"/>
                <a:cs typeface="Helvetica World"/>
                <a:sym typeface="Helvetica World"/>
              </a:rPr>
              <a:t>Mixed Criticality Scheduling</a:t>
            </a:r>
          </a:p>
        </p:txBody>
      </p:sp>
    </p:spTree>
    <p:extLst>
      <p:ext uri="{BB962C8B-B14F-4D97-AF65-F5344CB8AC3E}">
        <p14:creationId xmlns:p14="http://schemas.microsoft.com/office/powerpoint/2010/main" val="3517813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C0D0-AEAB-8C89-F987-E135F611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2241600" cy="612000"/>
          </a:xfrm>
        </p:spPr>
        <p:txBody>
          <a:bodyPr>
            <a:noAutofit/>
          </a:bodyPr>
          <a:lstStyle/>
          <a:p>
            <a:r>
              <a:rPr lang="en-US" sz="3200" i="1" dirty="0"/>
              <a:t>Motivation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3178-3710-8B8F-C0A0-D68F8284BE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83B76-74F4-C488-DCF1-7EFF666AC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7E5AC-536B-D53F-DF16-124A1CA1A42E}"/>
              </a:ext>
            </a:extLst>
          </p:cNvPr>
          <p:cNvSpPr txBox="1"/>
          <p:nvPr/>
        </p:nvSpPr>
        <p:spPr>
          <a:xfrm>
            <a:off x="522216" y="1758714"/>
            <a:ext cx="7885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Modern embedded systems increasingly integrate functions with different levels of safety and importance on the same hardware platform</a:t>
            </a:r>
            <a:r>
              <a:rPr lang="de-DE" dirty="0"/>
              <a:t>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7722B-7497-586F-9F9F-DBEEB2BD9AA1}"/>
              </a:ext>
            </a:extLst>
          </p:cNvPr>
          <p:cNvSpPr txBox="1"/>
          <p:nvPr/>
        </p:nvSpPr>
        <p:spPr>
          <a:xfrm>
            <a:off x="470664" y="4082853"/>
            <a:ext cx="1819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Challenge: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8AC4B-2D39-BF6F-A8D9-465E3839BA9F}"/>
              </a:ext>
            </a:extLst>
          </p:cNvPr>
          <p:cNvSpPr txBox="1"/>
          <p:nvPr/>
        </p:nvSpPr>
        <p:spPr>
          <a:xfrm>
            <a:off x="523224" y="4505829"/>
            <a:ext cx="788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Guarantee deadlines for high-criticality tasks while efficiently utilizing system resources.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0DEE8B-7665-7F5B-B314-BAA195A00733}"/>
              </a:ext>
            </a:extLst>
          </p:cNvPr>
          <p:cNvSpPr txBox="1"/>
          <p:nvPr/>
        </p:nvSpPr>
        <p:spPr>
          <a:xfrm>
            <a:off x="1998216" y="2993772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Automotive: Braking + Infotainment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Avionics: Flight Control + Passenger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Medical: Life-Support + Monitoring</a:t>
            </a:r>
            <a:endParaRPr lang="en-DE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4F9334-4236-E539-99AC-8837DD358068}"/>
              </a:ext>
            </a:extLst>
          </p:cNvPr>
          <p:cNvSpPr txBox="1"/>
          <p:nvPr/>
        </p:nvSpPr>
        <p:spPr>
          <a:xfrm>
            <a:off x="550656" y="254334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Examples:</a:t>
            </a:r>
            <a:endParaRPr lang="en-DE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5C4F-1897-D96C-D175-4C5FB48E711D}"/>
              </a:ext>
            </a:extLst>
          </p:cNvPr>
          <p:cNvSpPr txBox="1"/>
          <p:nvPr/>
        </p:nvSpPr>
        <p:spPr>
          <a:xfrm>
            <a:off x="360000" y="1260000"/>
            <a:ext cx="6781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Source Sans Pro"/>
                <a:ea typeface="+mj-ea"/>
              </a:rPr>
              <a:t>1. Coexistence of Different Criticality Levels</a:t>
            </a:r>
            <a:endParaRPr lang="en-DE" b="1" dirty="0">
              <a:latin typeface="Source Sans Pro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0287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4EBC-27E5-B777-15B3-18A36533D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260000"/>
            <a:ext cx="2611800" cy="408574"/>
          </a:xfrm>
        </p:spPr>
        <p:txBody>
          <a:bodyPr>
            <a:noAutofit/>
          </a:bodyPr>
          <a:lstStyle/>
          <a:p>
            <a:r>
              <a:rPr lang="de-DE" sz="1800" dirty="0">
                <a:cs typeface="+mn-cs"/>
              </a:rPr>
              <a:t>2. Classical RTS Pitfalls</a:t>
            </a:r>
            <a:endParaRPr lang="en-DE" sz="1800" dirty="0"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B5E5-5137-0B85-D1F1-A653A1002A6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893A3-5362-A226-A781-5D51282BE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AF7074-B2E4-3424-22FE-8E660770E39E}"/>
              </a:ext>
            </a:extLst>
          </p:cNvPr>
          <p:cNvSpPr/>
          <p:nvPr/>
        </p:nvSpPr>
        <p:spPr>
          <a:xfrm>
            <a:off x="1057188" y="2570424"/>
            <a:ext cx="2899872" cy="20756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3A268F-6AEA-6900-A84E-4D4CEEEC4F6F}"/>
              </a:ext>
            </a:extLst>
          </p:cNvPr>
          <p:cNvSpPr/>
          <p:nvPr/>
        </p:nvSpPr>
        <p:spPr>
          <a:xfrm>
            <a:off x="4639524" y="2570424"/>
            <a:ext cx="2899872" cy="207568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5BA321-7F65-B492-DF79-2B5CA29D9F8A}"/>
              </a:ext>
            </a:extLst>
          </p:cNvPr>
          <p:cNvSpPr/>
          <p:nvPr/>
        </p:nvSpPr>
        <p:spPr>
          <a:xfrm>
            <a:off x="1419432" y="1849831"/>
            <a:ext cx="2175384" cy="581417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Fixed Priority (FP)</a:t>
            </a:r>
            <a:endParaRPr lang="en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1B1BAB-984B-8BFC-0254-FAF9FF4A9979}"/>
              </a:ext>
            </a:extLst>
          </p:cNvPr>
          <p:cNvSpPr/>
          <p:nvPr/>
        </p:nvSpPr>
        <p:spPr>
          <a:xfrm>
            <a:off x="5001768" y="1849831"/>
            <a:ext cx="2175384" cy="581418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Earliest Deadline First (EDF)</a:t>
            </a:r>
            <a:endParaRPr lang="en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0E3D2-2C7B-E884-0ED7-99A07D0D670B}"/>
              </a:ext>
            </a:extLst>
          </p:cNvPr>
          <p:cNvSpPr txBox="1"/>
          <p:nvPr/>
        </p:nvSpPr>
        <p:spPr>
          <a:xfrm>
            <a:off x="1152498" y="2852441"/>
            <a:ext cx="27092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Static priorities</a:t>
            </a:r>
            <a:r>
              <a:rPr lang="en-DE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assigned offline</a:t>
            </a:r>
            <a:endParaRPr lang="en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Simple and predictable</a:t>
            </a:r>
            <a:endParaRPr lang="en-DE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Limited processor utilization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[1]</a:t>
            </a:r>
            <a:endParaRPr lang="en-DE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2643-0E72-B822-0C0F-0D98CEB13AC8}"/>
              </a:ext>
            </a:extLst>
          </p:cNvPr>
          <p:cNvSpPr txBox="1"/>
          <p:nvPr/>
        </p:nvSpPr>
        <p:spPr>
          <a:xfrm>
            <a:off x="4845876" y="2713942"/>
            <a:ext cx="2693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priorities based on deadlines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Optimal on a uniprocessor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achieve full processor utilization </a:t>
            </a:r>
            <a:r>
              <a:rPr lang="en-US" sz="1600" dirty="0"/>
              <a:t>[2]</a:t>
            </a:r>
            <a:endParaRPr lang="en-DE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D1CC71-034D-80D0-810C-6562577AAA46}"/>
              </a:ext>
            </a:extLst>
          </p:cNvPr>
          <p:cNvSpPr txBox="1"/>
          <p:nvPr/>
        </p:nvSpPr>
        <p:spPr>
          <a:xfrm>
            <a:off x="977220" y="4811132"/>
            <a:ext cx="54291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EDF treats all tasks equally.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EDF cannot distinguish task criticality</a:t>
            </a:r>
            <a:r>
              <a:rPr lang="en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HI-criticality deadlines may be jeopardized</a:t>
            </a:r>
            <a:r>
              <a:rPr lang="en-DE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7E490E-88B2-008D-FAAF-478584A8BF77}"/>
              </a:ext>
            </a:extLst>
          </p:cNvPr>
          <p:cNvSpPr txBox="1"/>
          <p:nvPr/>
        </p:nvSpPr>
        <p:spPr>
          <a:xfrm>
            <a:off x="360000" y="5826309"/>
            <a:ext cx="7719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C</a:t>
            </a:r>
            <a:r>
              <a:rPr lang="en-US" dirty="0"/>
              <a:t>an EDF be adapted to favor HI-criticality tasks before an overrun occurs?</a:t>
            </a:r>
            <a:endParaRPr lang="en-DE" dirty="0"/>
          </a:p>
        </p:txBody>
      </p:sp>
      <p:pic>
        <p:nvPicPr>
          <p:cNvPr id="21" name="Picture 20" descr="Businessman hand on forehead">
            <a:extLst>
              <a:ext uri="{FF2B5EF4-FFF2-40B4-BE49-F238E27FC236}">
                <a16:creationId xmlns:a16="http://schemas.microsoft.com/office/drawing/2014/main" id="{17D90F02-0078-FB75-7211-7311F4CB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853" y="5123170"/>
            <a:ext cx="401766" cy="114529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24E0BD-584E-E26E-0B43-2502752D6415}"/>
              </a:ext>
            </a:extLst>
          </p:cNvPr>
          <p:cNvSpPr txBox="1">
            <a:spLocks/>
          </p:cNvSpPr>
          <p:nvPr/>
        </p:nvSpPr>
        <p:spPr>
          <a:xfrm>
            <a:off x="360000" y="720000"/>
            <a:ext cx="22416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en-US" sz="3200" i="1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70329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60000" y="1260000"/>
            <a:ext cx="3374136" cy="369333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cs typeface="+mn-cs"/>
              </a:rPr>
              <a:t>3. Single WCET Failure in Practice</a:t>
            </a:r>
            <a:endParaRPr lang="de-DE" sz="1800" dirty="0"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200E6C-37C5-F99D-85F8-54245EFC3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283692"/>
              </p:ext>
            </p:extLst>
          </p:nvPr>
        </p:nvGraphicFramePr>
        <p:xfrm>
          <a:off x="780624" y="1689349"/>
          <a:ext cx="6326232" cy="17373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23680">
                  <a:extLst>
                    <a:ext uri="{9D8B030D-6E8A-4147-A177-3AD203B41FA5}">
                      <a16:colId xmlns:a16="http://schemas.microsoft.com/office/drawing/2014/main" val="3199214717"/>
                    </a:ext>
                  </a:extLst>
                </a:gridCol>
                <a:gridCol w="1134319">
                  <a:extLst>
                    <a:ext uri="{9D8B030D-6E8A-4147-A177-3AD203B41FA5}">
                      <a16:colId xmlns:a16="http://schemas.microsoft.com/office/drawing/2014/main" val="177624324"/>
                    </a:ext>
                  </a:extLst>
                </a:gridCol>
                <a:gridCol w="1492582">
                  <a:extLst>
                    <a:ext uri="{9D8B030D-6E8A-4147-A177-3AD203B41FA5}">
                      <a16:colId xmlns:a16="http://schemas.microsoft.com/office/drawing/2014/main" val="455567529"/>
                    </a:ext>
                  </a:extLst>
                </a:gridCol>
                <a:gridCol w="1875651">
                  <a:extLst>
                    <a:ext uri="{9D8B030D-6E8A-4147-A177-3AD203B41FA5}">
                      <a16:colId xmlns:a16="http://schemas.microsoft.com/office/drawing/2014/main" val="1625092077"/>
                    </a:ext>
                  </a:extLst>
                </a:gridCol>
              </a:tblGrid>
              <a:tr h="415861"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Criticality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WCET (measured)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WCET </a:t>
                      </a:r>
                      <a:endParaRPr lang="en-DE" sz="1800" dirty="0"/>
                    </a:p>
                    <a:p>
                      <a:pPr algn="ctr"/>
                      <a:r>
                        <a:rPr lang="de-DE" sz="1800" dirty="0"/>
                        <a:t>(safe bound)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7637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l-GR" sz="1800" dirty="0"/>
                        <a:t>τ₁ (</a:t>
                      </a:r>
                      <a:r>
                        <a:rPr lang="de-DE" sz="1800" dirty="0"/>
                        <a:t>Braking)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3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5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196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l-GR" sz="1800" dirty="0"/>
                        <a:t>τ₂ (</a:t>
                      </a:r>
                      <a:r>
                        <a:rPr lang="de-DE" sz="1800" dirty="0"/>
                        <a:t>Control)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4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6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6553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l-GR" sz="1800"/>
                        <a:t>τ₃ (</a:t>
                      </a:r>
                      <a:r>
                        <a:rPr lang="de-DE" sz="1800"/>
                        <a:t>Infotainment)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2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dirty="0"/>
                        <a:t>10 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472564"/>
                  </a:ext>
                </a:extLst>
              </a:tr>
            </a:tbl>
          </a:graphicData>
        </a:graphic>
      </p:graphicFrame>
      <p:pic>
        <p:nvPicPr>
          <p:cNvPr id="7" name="Picture 6" descr="\documentclass{article}&#10;\usepackage{amsmath}&#10;\pagestyle{empty}&#10;\begin{document}&#10;&#10;\[&#10;U = \frac{5}{20} + \frac{6}{20} + \frac{10}{20} = 1.05&#10;\]&#10;&#10;&#10;\end{document}" title="IguanaTex Bitmap Display">
            <a:extLst>
              <a:ext uri="{FF2B5EF4-FFF2-40B4-BE49-F238E27FC236}">
                <a16:creationId xmlns:a16="http://schemas.microsoft.com/office/drawing/2014/main" id="{2F0413EC-22D2-3514-D58A-8E5DD57EA4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32015" y="3986417"/>
            <a:ext cx="2570057" cy="4690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985D39-2EAB-5402-4AFA-589ED5D667FA}"/>
              </a:ext>
            </a:extLst>
          </p:cNvPr>
          <p:cNvSpPr txBox="1"/>
          <p:nvPr/>
        </p:nvSpPr>
        <p:spPr>
          <a:xfrm>
            <a:off x="720000" y="3548729"/>
            <a:ext cx="4157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Total Utilization (Worst-Case Design):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3EE25A-6939-BA35-DF6A-5E7F15CD4C7C}"/>
              </a:ext>
            </a:extLst>
          </p:cNvPr>
          <p:cNvSpPr txBox="1"/>
          <p:nvPr/>
        </p:nvSpPr>
        <p:spPr>
          <a:xfrm>
            <a:off x="720000" y="4574853"/>
            <a:ext cx="301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Actual Execution Behavior:</a:t>
            </a:r>
            <a:endParaRPr lang="en-DE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077B4FD-4430-8C47-265F-2E69A2F0A63F}"/>
              </a:ext>
            </a:extLst>
          </p:cNvPr>
          <p:cNvSpPr/>
          <p:nvPr/>
        </p:nvSpPr>
        <p:spPr>
          <a:xfrm>
            <a:off x="5367528" y="4139052"/>
            <a:ext cx="640080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4CEDD-30F5-4688-4654-A31959B4D6F6}"/>
              </a:ext>
            </a:extLst>
          </p:cNvPr>
          <p:cNvSpPr txBox="1"/>
          <p:nvPr/>
        </p:nvSpPr>
        <p:spPr>
          <a:xfrm>
            <a:off x="6153772" y="3897764"/>
            <a:ext cx="2084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System becomes unschedulable</a:t>
            </a:r>
            <a:endParaRPr lang="en-DE" dirty="0"/>
          </a:p>
        </p:txBody>
      </p:sp>
      <p:pic>
        <p:nvPicPr>
          <p:cNvPr id="15" name="Picture 14" descr="\documentclass{article}&#10;\usepackage{amsmath}&#10;\pagestyle{empty}&#10;\begin{document}&#10;&#10;\[&#10;U_{avg} = \frac{3}{20} + \frac{4}{20} + \frac{2}{20} = 0.45&#10;\]&#10;&#10;&#10;\end{document}" title="IguanaTex Bitmap Display">
            <a:extLst>
              <a:ext uri="{FF2B5EF4-FFF2-40B4-BE49-F238E27FC236}">
                <a16:creationId xmlns:a16="http://schemas.microsoft.com/office/drawing/2014/main" id="{F36AF8E5-3219-D9B4-3236-DD1BC375910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56358" y="5063592"/>
            <a:ext cx="2845714" cy="470400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8BFA9C51-246C-45A3-AC01-12E8C18333C7}"/>
              </a:ext>
            </a:extLst>
          </p:cNvPr>
          <p:cNvSpPr/>
          <p:nvPr/>
        </p:nvSpPr>
        <p:spPr>
          <a:xfrm>
            <a:off x="5358664" y="5216913"/>
            <a:ext cx="640080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9B647E-284A-288C-3F91-DA5451408B55}"/>
              </a:ext>
            </a:extLst>
          </p:cNvPr>
          <p:cNvSpPr txBox="1"/>
          <p:nvPr/>
        </p:nvSpPr>
        <p:spPr>
          <a:xfrm>
            <a:off x="6070891" y="4988329"/>
            <a:ext cx="2377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System is actually heavily under-utilized</a:t>
            </a:r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35168C-4664-7CCD-2964-756E2529352F}"/>
              </a:ext>
            </a:extLst>
          </p:cNvPr>
          <p:cNvSpPr txBox="1"/>
          <p:nvPr/>
        </p:nvSpPr>
        <p:spPr>
          <a:xfrm>
            <a:off x="720000" y="5693900"/>
            <a:ext cx="7685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Worst-case design ensures safety infrequent </a:t>
            </a:r>
            <a:r>
              <a:rPr lang="en-US" b="1" dirty="0"/>
              <a:t>overloads</a:t>
            </a:r>
            <a:r>
              <a:rPr lang="en-US" dirty="0"/>
              <a:t>, but is often resource-inefficient in </a:t>
            </a:r>
            <a:r>
              <a:rPr lang="en-US" b="1" dirty="0"/>
              <a:t>normal operation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E6C667-27D2-4CAD-ADA5-023C6905E178}"/>
              </a:ext>
            </a:extLst>
          </p:cNvPr>
          <p:cNvSpPr txBox="1">
            <a:spLocks/>
          </p:cNvSpPr>
          <p:nvPr/>
        </p:nvSpPr>
        <p:spPr>
          <a:xfrm>
            <a:off x="360000" y="720000"/>
            <a:ext cx="22416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en-US" sz="3200" i="1" dirty="0"/>
              <a:t>Motivation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DB5187-56F8-D9FA-4828-476337AE4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72835"/>
              </p:ext>
            </p:extLst>
          </p:nvPr>
        </p:nvGraphicFramePr>
        <p:xfrm>
          <a:off x="7141580" y="1689349"/>
          <a:ext cx="895108" cy="174833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95108">
                  <a:extLst>
                    <a:ext uri="{9D8B030D-6E8A-4147-A177-3AD203B41FA5}">
                      <a16:colId xmlns:a16="http://schemas.microsoft.com/office/drawing/2014/main" val="933238146"/>
                    </a:ext>
                  </a:extLst>
                </a:gridCol>
              </a:tblGrid>
              <a:tr h="648737">
                <a:tc>
                  <a:txBody>
                    <a:bodyPr/>
                    <a:lstStyle/>
                    <a:p>
                      <a:pPr algn="ctr"/>
                      <a:r>
                        <a:rPr lang="en-DE" b="0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24024"/>
                  </a:ext>
                </a:extLst>
              </a:tr>
              <a:tr h="347241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20 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603160"/>
                  </a:ext>
                </a:extLst>
              </a:tr>
              <a:tr h="351870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20 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784316"/>
                  </a:ext>
                </a:extLst>
              </a:tr>
              <a:tr h="368075">
                <a:tc>
                  <a:txBody>
                    <a:bodyPr/>
                    <a:lstStyle/>
                    <a:p>
                      <a:pPr algn="ctr"/>
                      <a:r>
                        <a:rPr lang="en-DE" dirty="0"/>
                        <a:t>20 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305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12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000" y="720000"/>
            <a:ext cx="3247344" cy="662526"/>
          </a:xfrm>
        </p:spPr>
        <p:txBody>
          <a:bodyPr/>
          <a:lstStyle/>
          <a:p>
            <a:r>
              <a:rPr lang="de-DE" sz="3200" i="1" dirty="0"/>
              <a:t>The Vestal Model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4459F9-1218-D629-5049-7426A1A33C28}"/>
              </a:ext>
            </a:extLst>
          </p:cNvPr>
          <p:cNvSpPr txBox="1"/>
          <p:nvPr/>
        </p:nvSpPr>
        <p:spPr>
          <a:xfrm>
            <a:off x="648000" y="1332000"/>
            <a:ext cx="7228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a single WCET for all tasks forces the system to be dimensioned using pessimistic execution-time bounds.</a:t>
            </a:r>
            <a:endParaRPr lang="en-DE" dirty="0"/>
          </a:p>
        </p:txBody>
      </p:sp>
      <p:pic>
        <p:nvPicPr>
          <p:cNvPr id="9" name="Picture 8" descr="\documentclass{article}&#10;\usepackage{amsmath}&#10;\pagestyle{empty}&#10;\begin{document}&#10;&#10;$[&#10;U_{naive}=\sum_{\tau_i\in T}\frac{C_i(HI)}{T_i}&#10;]$&#10;&#10;&#10;\end{document}" title="IguanaTex Bitmap Display">
            <a:extLst>
              <a:ext uri="{FF2B5EF4-FFF2-40B4-BE49-F238E27FC236}">
                <a16:creationId xmlns:a16="http://schemas.microsoft.com/office/drawing/2014/main" id="{3B5BF83A-5ECF-5B31-F681-A2FE5C7FBF5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36976" y="2197671"/>
            <a:ext cx="2619428" cy="3687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CE9889-958E-35FD-9D13-E1CDF3A5CAFB}"/>
              </a:ext>
            </a:extLst>
          </p:cNvPr>
          <p:cNvSpPr txBox="1"/>
          <p:nvPr/>
        </p:nvSpPr>
        <p:spPr>
          <a:xfrm>
            <a:off x="360000" y="2691052"/>
            <a:ext cx="1450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Vestal's Idea:</a:t>
            </a:r>
            <a:endParaRPr lang="en-DE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D97DAB-621B-4BD9-E050-FE61D59F8696}"/>
              </a:ext>
            </a:extLst>
          </p:cNvPr>
          <p:cNvSpPr txBox="1"/>
          <p:nvPr/>
        </p:nvSpPr>
        <p:spPr>
          <a:xfrm>
            <a:off x="648000" y="3037353"/>
            <a:ext cx="74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execution assumptions are maintained </a:t>
            </a:r>
            <a:r>
              <a:rPr lang="en-US" b="1" dirty="0"/>
              <a:t>LO-mode</a:t>
            </a:r>
            <a:r>
              <a:rPr lang="en-US" dirty="0"/>
              <a:t> and </a:t>
            </a:r>
            <a:r>
              <a:rPr lang="en-US" b="1" dirty="0"/>
              <a:t>HI-mode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3B599B7-19CC-B20C-37BC-02354A38B2AC}"/>
              </a:ext>
            </a:extLst>
          </p:cNvPr>
          <p:cNvGrpSpPr/>
          <p:nvPr/>
        </p:nvGrpSpPr>
        <p:grpSpPr>
          <a:xfrm>
            <a:off x="1446576" y="3496763"/>
            <a:ext cx="2670048" cy="1185400"/>
            <a:chOff x="1179576" y="4730174"/>
            <a:chExt cx="2670048" cy="11854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DA3A43D-0CBB-2C31-0007-8F01EA4DC81B}"/>
                </a:ext>
              </a:extLst>
            </p:cNvPr>
            <p:cNvSpPr/>
            <p:nvPr/>
          </p:nvSpPr>
          <p:spPr>
            <a:xfrm>
              <a:off x="1179576" y="4730174"/>
              <a:ext cx="2670048" cy="1185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DE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D60FD81-48D8-129E-05B5-EC20622DF89E}"/>
                </a:ext>
              </a:extLst>
            </p:cNvPr>
            <p:cNvSpPr txBox="1"/>
            <p:nvPr/>
          </p:nvSpPr>
          <p:spPr>
            <a:xfrm>
              <a:off x="1261854" y="4800399"/>
              <a:ext cx="24505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/>
                <a:t>LO-mode</a:t>
              </a:r>
              <a:r>
                <a:rPr lang="de-DE" dirty="0"/>
                <a:t>  </a:t>
              </a:r>
              <a:endParaRPr lang="en-DE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EB398B-71AC-2CCE-DBA2-435262410BB1}"/>
                </a:ext>
              </a:extLst>
            </p:cNvPr>
            <p:cNvSpPr txBox="1"/>
            <p:nvPr/>
          </p:nvSpPr>
          <p:spPr>
            <a:xfrm>
              <a:off x="1234404" y="5272881"/>
              <a:ext cx="2505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All tasks meet deadlines.</a:t>
              </a:r>
              <a:endParaRPr lang="en-DE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18B31BC-EFE1-4D08-5102-A98149ADBA82}"/>
              </a:ext>
            </a:extLst>
          </p:cNvPr>
          <p:cNvGrpSpPr/>
          <p:nvPr/>
        </p:nvGrpSpPr>
        <p:grpSpPr>
          <a:xfrm>
            <a:off x="4795152" y="3485057"/>
            <a:ext cx="2670048" cy="1185400"/>
            <a:chOff x="4546690" y="4730174"/>
            <a:chExt cx="2670048" cy="118540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011ACDC4-C0BB-8227-BE98-7C4EE2338789}"/>
                </a:ext>
              </a:extLst>
            </p:cNvPr>
            <p:cNvSpPr/>
            <p:nvPr/>
          </p:nvSpPr>
          <p:spPr>
            <a:xfrm>
              <a:off x="4546690" y="4730174"/>
              <a:ext cx="2670048" cy="11854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E3E3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DE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E1AAA74-8AD5-87AD-56DE-BDE745BF5871}"/>
                </a:ext>
              </a:extLst>
            </p:cNvPr>
            <p:cNvSpPr txBox="1"/>
            <p:nvPr/>
          </p:nvSpPr>
          <p:spPr>
            <a:xfrm>
              <a:off x="4656418" y="4742971"/>
              <a:ext cx="24505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b="1" dirty="0"/>
                <a:t>HI-mode</a:t>
              </a:r>
              <a:r>
                <a:rPr lang="de-DE" dirty="0"/>
                <a:t>  </a:t>
              </a:r>
              <a:endParaRPr lang="en-DE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D6523FD-D044-AD06-9E64-F40FABD630FF}"/>
                </a:ext>
              </a:extLst>
            </p:cNvPr>
            <p:cNvSpPr txBox="1"/>
            <p:nvPr/>
          </p:nvSpPr>
          <p:spPr>
            <a:xfrm>
              <a:off x="4572000" y="5072326"/>
              <a:ext cx="26447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DE" dirty="0"/>
                <a:t>All HI</a:t>
              </a:r>
              <a:r>
                <a:rPr lang="en-US" dirty="0"/>
                <a:t> </a:t>
              </a:r>
              <a:r>
                <a:rPr lang="de-DE" dirty="0"/>
                <a:t>meet deadlines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LO tasks suspended</a:t>
              </a:r>
              <a:endParaRPr lang="en-DE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DAD62AE-912E-77C6-A2CB-6060B00505B5}"/>
              </a:ext>
            </a:extLst>
          </p:cNvPr>
          <p:cNvSpPr txBox="1"/>
          <p:nvPr/>
        </p:nvSpPr>
        <p:spPr>
          <a:xfrm>
            <a:off x="657144" y="4890031"/>
            <a:ext cx="753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HI tasks have two WCET bounds: 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7C0D6-0E2B-D4BD-5195-28058C0B876F}"/>
              </a:ext>
            </a:extLst>
          </p:cNvPr>
          <p:cNvSpPr txBox="1"/>
          <p:nvPr/>
        </p:nvSpPr>
        <p:spPr>
          <a:xfrm>
            <a:off x="6016752" y="2197671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dirty="0"/>
              <a:t>[3]</a:t>
            </a:r>
            <a:endParaRPr lang="en-DE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36DF09-C1A7-DF9F-35F0-8404E5A37BA1}"/>
              </a:ext>
            </a:extLst>
          </p:cNvPr>
          <p:cNvSpPr txBox="1"/>
          <p:nvPr/>
        </p:nvSpPr>
        <p:spPr>
          <a:xfrm>
            <a:off x="2288760" y="529919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C_i(LO)</a:t>
            </a:r>
            <a:r>
              <a:rPr lang="en-DE" dirty="0"/>
              <a:t> </a:t>
            </a:r>
            <a:r>
              <a:rPr lang="de-DE" dirty="0"/>
              <a:t>for normal operation</a:t>
            </a:r>
            <a:r>
              <a:rPr lang="en-DE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C_i(HI) for worst-case execution.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11613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F0AE-8164-30A0-0344-BDEC59ED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4673808" cy="555489"/>
          </a:xfrm>
        </p:spPr>
        <p:txBody>
          <a:bodyPr>
            <a:normAutofit fontScale="90000"/>
          </a:bodyPr>
          <a:lstStyle/>
          <a:p>
            <a:r>
              <a:rPr lang="de-DE" sz="3200" i="1" dirty="0"/>
              <a:t>Mode Switching Concept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53097-3DB4-D5D6-F893-45AAD6429B3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F36A8-27CD-4A65-099F-4206A07A9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6</a:t>
            </a:fld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B0BC5-7C47-56D7-5E31-CA1601414B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60"/>
          <a:stretch/>
        </p:blipFill>
        <p:spPr>
          <a:xfrm>
            <a:off x="5604975" y="2315636"/>
            <a:ext cx="2791217" cy="22267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6B454E-F941-6332-CB61-1636DD0581AD}"/>
              </a:ext>
            </a:extLst>
          </p:cNvPr>
          <p:cNvSpPr txBox="1"/>
          <p:nvPr/>
        </p:nvSpPr>
        <p:spPr>
          <a:xfrm>
            <a:off x="648000" y="1332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Normal Operation (LO-Mode):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9F8E0C-A27F-CC16-4233-9FD19BD0A1A0}"/>
              </a:ext>
            </a:extLst>
          </p:cNvPr>
          <p:cNvSpPr txBox="1"/>
          <p:nvPr/>
        </p:nvSpPr>
        <p:spPr>
          <a:xfrm>
            <a:off x="903558" y="1797243"/>
            <a:ext cx="4866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All tasks execute using (</a:t>
            </a:r>
            <a:r>
              <a:rPr lang="en-US" dirty="0" err="1"/>
              <a:t>C_i</a:t>
            </a:r>
            <a:r>
              <a:rPr lang="en-US" dirty="0"/>
              <a:t>(LO)).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LO- and HI-criticality tasks are scheduled.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System assumes nominal execution behavior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E5117A-0E87-9D85-EA64-55E9E69594C8}"/>
              </a:ext>
            </a:extLst>
          </p:cNvPr>
          <p:cNvSpPr txBox="1"/>
          <p:nvPr/>
        </p:nvSpPr>
        <p:spPr>
          <a:xfrm>
            <a:off x="602082" y="2926591"/>
            <a:ext cx="2590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Mode Switch Trigger: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84A647-71D3-9C7E-670A-EB78403ECDF4}"/>
              </a:ext>
            </a:extLst>
          </p:cNvPr>
          <p:cNvSpPr txBox="1"/>
          <p:nvPr/>
        </p:nvSpPr>
        <p:spPr>
          <a:xfrm>
            <a:off x="893640" y="3295923"/>
            <a:ext cx="47823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A HI-criticality task exceeds its LO-mode budget</a:t>
            </a:r>
            <a:endParaRPr lang="en-DE" dirty="0"/>
          </a:p>
        </p:txBody>
      </p:sp>
      <p:pic>
        <p:nvPicPr>
          <p:cNvPr id="18" name="Picture 17" descr="\documentclass{article}&#10;\usepackage{amsmath}&#10;\pagestyle{empty}&#10;\begin{document}&#10;&#10;&#10;$[&#10;e_k(\tau_i) &gt; C_i(LO)&#10;]$&#10;&#10;\end{document}" title="IguanaTex Bitmap Display">
            <a:extLst>
              <a:ext uri="{FF2B5EF4-FFF2-40B4-BE49-F238E27FC236}">
                <a16:creationId xmlns:a16="http://schemas.microsoft.com/office/drawing/2014/main" id="{54D1E380-AD0C-268A-7A91-86F77451D07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86160" y="3914219"/>
            <a:ext cx="1888000" cy="25447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51B8BB-5147-3818-DE63-9E95885A95F8}"/>
              </a:ext>
            </a:extLst>
          </p:cNvPr>
          <p:cNvSpPr txBox="1"/>
          <p:nvPr/>
        </p:nvSpPr>
        <p:spPr>
          <a:xfrm>
            <a:off x="602082" y="4333198"/>
            <a:ext cx="2500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HI-Mode Operation:</a:t>
            </a:r>
            <a:endParaRPr lang="en-DE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C187A4-DA94-9F07-44F1-F1CB2F72CC5C}"/>
              </a:ext>
            </a:extLst>
          </p:cNvPr>
          <p:cNvSpPr txBox="1"/>
          <p:nvPr/>
        </p:nvSpPr>
        <p:spPr>
          <a:xfrm>
            <a:off x="888120" y="4771398"/>
            <a:ext cx="6112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System transitions to HI-mode.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HI-criticality tasks receive execution up to (</a:t>
            </a:r>
            <a:r>
              <a:rPr lang="en-US" dirty="0" err="1"/>
              <a:t>C_i</a:t>
            </a:r>
            <a:r>
              <a:rPr lang="en-US" dirty="0"/>
              <a:t>(HI)).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LO-criticality tasks may be suspended.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Scheduler prioritizes maintaining HI-criticality guarantees.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4005D2-655D-65D4-6753-80FA1B1BF44E}"/>
              </a:ext>
            </a:extLst>
          </p:cNvPr>
          <p:cNvSpPr txBox="1"/>
          <p:nvPr/>
        </p:nvSpPr>
        <p:spPr>
          <a:xfrm>
            <a:off x="4532546" y="3841845"/>
            <a:ext cx="46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[3]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97310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69A9-FD59-0246-3DB3-648EF8BC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6447744" cy="662526"/>
          </a:xfrm>
        </p:spPr>
        <p:txBody>
          <a:bodyPr>
            <a:normAutofit/>
          </a:bodyPr>
          <a:lstStyle/>
          <a:p>
            <a:r>
              <a:rPr lang="en-US" sz="3200" i="1" dirty="0"/>
              <a:t>EDF with Virtual Deadlines (EDF-VD)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ED18E-063F-5872-534A-A43673830F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DCC21-1D14-9A38-6BE2-D85665763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FF02B-C149-97B0-D590-55CC0AFA853E}"/>
              </a:ext>
            </a:extLst>
          </p:cNvPr>
          <p:cNvSpPr txBox="1"/>
          <p:nvPr/>
        </p:nvSpPr>
        <p:spPr>
          <a:xfrm>
            <a:off x="648000" y="1332000"/>
            <a:ext cx="1171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Main Idea</a:t>
            </a:r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D270C-E3AB-94C3-11A5-E46FDC0F7AE3}"/>
              </a:ext>
            </a:extLst>
          </p:cNvPr>
          <p:cNvSpPr txBox="1"/>
          <p:nvPr/>
        </p:nvSpPr>
        <p:spPr>
          <a:xfrm>
            <a:off x="931464" y="1757560"/>
            <a:ext cx="539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 HI-criticality tasks earlier scheduling deadlines:</a:t>
            </a:r>
            <a:endParaRPr lang="en-DE" dirty="0"/>
          </a:p>
        </p:txBody>
      </p:sp>
      <p:pic>
        <p:nvPicPr>
          <p:cNvPr id="11" name="Picture 10" descr="\documentclass{article}&#10;\usepackage{amsmath}&#10;\pagestyle{empty}&#10;&#10;\begin{document}&#10;&#10;\[&#10;\hat{D}_i =&#10;\begin{cases}&#10;xD_i, &amp; L_i = HI \\&#10;D_i, &amp; L_i = LO&#10;\end{cases}&#10;\qquad x \in (0,1]&#10;\]&#10;&#10;\end{document}" title="IguanaTex Bitmap Display">
            <a:extLst>
              <a:ext uri="{FF2B5EF4-FFF2-40B4-BE49-F238E27FC236}">
                <a16:creationId xmlns:a16="http://schemas.microsoft.com/office/drawing/2014/main" id="{35B5D245-0923-4F8B-7342-B8B403E17D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836720" y="2296354"/>
            <a:ext cx="4089905" cy="758857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1A1F102-31E8-062E-8805-13C557B23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193902"/>
              </p:ext>
            </p:extLst>
          </p:nvPr>
        </p:nvGraphicFramePr>
        <p:xfrm>
          <a:off x="203520" y="3321433"/>
          <a:ext cx="3268680" cy="1478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68680">
                  <a:extLst>
                    <a:ext uri="{9D8B030D-6E8A-4147-A177-3AD203B41FA5}">
                      <a16:colId xmlns:a16="http://schemas.microsoft.com/office/drawing/2014/main" val="871109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/>
                        <a:t>LO-Mode</a:t>
                      </a:r>
                      <a:endParaRPr lang="en-DE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07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All HI and LO tasks execute.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944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HI tasks use compressed (VD).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79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Execution times Ci_(LO) used.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538751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D5BD7EED-B5DB-DE39-695E-F1E793E9728D}"/>
              </a:ext>
            </a:extLst>
          </p:cNvPr>
          <p:cNvSpPr/>
          <p:nvPr/>
        </p:nvSpPr>
        <p:spPr>
          <a:xfrm>
            <a:off x="3619721" y="3953006"/>
            <a:ext cx="1146355" cy="484632"/>
          </a:xfrm>
          <a:prstGeom prst="rightArrow">
            <a:avLst/>
          </a:prstGeom>
          <a:gradFill flip="none" rotWithShape="1">
            <a:gsLst>
              <a:gs pos="3000">
                <a:srgbClr val="FF0000"/>
              </a:gs>
              <a:gs pos="0">
                <a:schemeClr val="accent1">
                  <a:tint val="100000"/>
                  <a:shade val="100000"/>
                  <a:satMod val="130000"/>
                </a:schemeClr>
              </a:gs>
              <a:gs pos="73000">
                <a:srgbClr val="92D050"/>
              </a:gs>
            </a:gsLst>
            <a:lin ang="13200000" scaled="0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C5ACD80-61F6-768F-D724-FE0DBA1C5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284578"/>
              </p:ext>
            </p:extLst>
          </p:nvPr>
        </p:nvGraphicFramePr>
        <p:xfrm>
          <a:off x="4901101" y="3303510"/>
          <a:ext cx="3394642" cy="14782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94642">
                  <a:extLst>
                    <a:ext uri="{9D8B030D-6E8A-4147-A177-3AD203B41FA5}">
                      <a16:colId xmlns:a16="http://schemas.microsoft.com/office/drawing/2014/main" val="8711095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b="1" dirty="0"/>
                        <a:t>HI-Mode</a:t>
                      </a:r>
                      <a:endParaRPr lang="en-DE" b="1" dirty="0"/>
                    </a:p>
                  </a:txBody>
                  <a:tcPr>
                    <a:solidFill>
                      <a:srgbClr val="E63012">
                        <a:alpha val="7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075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when a HI task exceeds Ci_(LO)</a:t>
                      </a:r>
                      <a:endParaRPr lang="en-US" dirty="0"/>
                    </a:p>
                  </a:txBody>
                  <a:tcPr>
                    <a:solidFill>
                      <a:srgbClr val="E63012">
                        <a:alpha val="7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44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 tasks (suspended), HI continue.</a:t>
                      </a:r>
                    </a:p>
                  </a:txBody>
                  <a:tcPr>
                    <a:solidFill>
                      <a:srgbClr val="E63012">
                        <a:alpha val="7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79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true deadlines Di​ and uses Ci_(HI)</a:t>
                      </a:r>
                      <a:endParaRPr lang="en-DE" dirty="0"/>
                    </a:p>
                  </a:txBody>
                  <a:tcPr>
                    <a:solidFill>
                      <a:srgbClr val="E63012">
                        <a:alpha val="7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538751"/>
                  </a:ext>
                </a:extLst>
              </a:tr>
            </a:tbl>
          </a:graphicData>
        </a:graphic>
      </p:graphicFrame>
      <p:pic>
        <p:nvPicPr>
          <p:cNvPr id="20" name="Picture 19" descr="\documentclass{article}&#10;\usepackage{amsmath}&#10;\pagestyle{empty}&#10;\begin{document}&#10;&#10;&#10;$[&#10;e_k(\tau_i) &gt; C_i(LO)&#10;]$&#10;&#10;\end{document}" title="IguanaTex Bitmap Display">
            <a:extLst>
              <a:ext uri="{FF2B5EF4-FFF2-40B4-BE49-F238E27FC236}">
                <a16:creationId xmlns:a16="http://schemas.microsoft.com/office/drawing/2014/main" id="{F9868C5D-6851-AC4F-3EBF-70030BD7D3B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619721" y="4104911"/>
            <a:ext cx="1034341" cy="1808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7D13170-F79F-206D-031A-01F1733ADE50}"/>
              </a:ext>
            </a:extLst>
          </p:cNvPr>
          <p:cNvSpPr txBox="1"/>
          <p:nvPr/>
        </p:nvSpPr>
        <p:spPr>
          <a:xfrm>
            <a:off x="838499" y="5304136"/>
            <a:ext cx="76935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EDF-VD preserves HI-criticality guarantees while improving utilization compared to naive EDF.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9106B-4B96-17D3-23B7-9C44BCEE5695}"/>
              </a:ext>
            </a:extLst>
          </p:cNvPr>
          <p:cNvSpPr txBox="1"/>
          <p:nvPr/>
        </p:nvSpPr>
        <p:spPr>
          <a:xfrm>
            <a:off x="6053328" y="2491116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[5]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2267461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18569-0DDD-12EE-A57E-489AE67B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1952325" cy="740250"/>
          </a:xfrm>
        </p:spPr>
        <p:txBody>
          <a:bodyPr/>
          <a:lstStyle/>
          <a:p>
            <a:r>
              <a:rPr lang="de-DE" sz="3200" i="1" dirty="0"/>
              <a:t>Tradeoffs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6A800-A1A8-11BC-6029-DA1FEFE2560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E6306-D39C-14D3-625F-07208F672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AA2BF-A9D2-2C52-F2CA-ABF5C06AD6E2}"/>
              </a:ext>
            </a:extLst>
          </p:cNvPr>
          <p:cNvSpPr txBox="1"/>
          <p:nvPr/>
        </p:nvSpPr>
        <p:spPr>
          <a:xfrm>
            <a:off x="360000" y="1260000"/>
            <a:ext cx="2845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1. Safety vs Efficiency</a:t>
            </a:r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FB67C-B8FB-5F8E-DC39-C6B4D161FE7F}"/>
              </a:ext>
            </a:extLst>
          </p:cNvPr>
          <p:cNvSpPr txBox="1"/>
          <p:nvPr/>
        </p:nvSpPr>
        <p:spPr>
          <a:xfrm>
            <a:off x="969750" y="1711946"/>
            <a:ext cx="6495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Increasing HI protection reduces available LO execution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Decreasing protection risks HI-task deadline misses.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E71970D6-6EF5-22D9-E285-2B2DE1B1B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035462"/>
              </p:ext>
            </p:extLst>
          </p:nvPr>
        </p:nvGraphicFramePr>
        <p:xfrm>
          <a:off x="1353311" y="2488616"/>
          <a:ext cx="6163057" cy="152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80945">
                  <a:extLst>
                    <a:ext uri="{9D8B030D-6E8A-4147-A177-3AD203B41FA5}">
                      <a16:colId xmlns:a16="http://schemas.microsoft.com/office/drawing/2014/main" val="3887891340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882309306"/>
                    </a:ext>
                  </a:extLst>
                </a:gridCol>
              </a:tblGrid>
              <a:tr h="275303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Safety-First</a:t>
                      </a:r>
                      <a:endParaRPr lang="en-DE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Efficiency-First</a:t>
                      </a:r>
                      <a:endParaRPr lang="en-DE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426456"/>
                  </a:ext>
                </a:extLst>
              </a:tr>
              <a:tr h="27530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HI task: C(LO)=4</a:t>
                      </a:r>
                      <a:r>
                        <a:rPr lang="en-DE" sz="1400" dirty="0"/>
                        <a:t> ms</a:t>
                      </a:r>
                      <a:r>
                        <a:rPr lang="it-IT" sz="1400" dirty="0"/>
                        <a:t> , C(HI)=10 ms.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/>
                        <a:t>HI task: C(LO)=4 , C(HI)=10 ms.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45777"/>
                  </a:ext>
                </a:extLst>
              </a:tr>
              <a:tr h="275303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Scheduler reserves full 10 ms. </a:t>
                      </a:r>
                      <a:r>
                        <a:rPr lang="en-US" sz="1400" strike="sngStrike" dirty="0">
                          <a:solidFill>
                            <a:srgbClr val="FF0000"/>
                          </a:solidFill>
                        </a:rPr>
                        <a:t>(6ms)</a:t>
                      </a:r>
                      <a:endParaRPr lang="en-DE" sz="1400" strike="sngStrike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Scheduler allocates only 4 ms.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93754"/>
                  </a:ext>
                </a:extLst>
              </a:tr>
              <a:tr h="275303">
                <a:tc>
                  <a:txBody>
                    <a:bodyPr/>
                    <a:lstStyle/>
                    <a:p>
                      <a:pPr algn="l"/>
                      <a:r>
                        <a:rPr lang="de-DE" sz="1400" dirty="0"/>
                        <a:t>HI-task deadlines guaranteed.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More processor time available for LO.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331302"/>
                  </a:ext>
                </a:extLst>
              </a:tr>
              <a:tr h="158031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High safety, lower resource utilization.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High utilization, lower safety margin.</a:t>
                      </a:r>
                      <a:endParaRPr lang="en-DE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810358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38BCE695-8D5B-894F-FD9E-09828A5B894E}"/>
              </a:ext>
            </a:extLst>
          </p:cNvPr>
          <p:cNvSpPr txBox="1"/>
          <p:nvPr/>
        </p:nvSpPr>
        <p:spPr>
          <a:xfrm>
            <a:off x="765231" y="4098454"/>
            <a:ext cx="3361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Role of the Compression Factor x</a:t>
            </a:r>
            <a:endParaRPr lang="en-DE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6BA053-57DC-C18A-FFC1-6E0056F4C027}"/>
              </a:ext>
            </a:extLst>
          </p:cNvPr>
          <p:cNvSpPr txBox="1"/>
          <p:nvPr/>
        </p:nvSpPr>
        <p:spPr>
          <a:xfrm>
            <a:off x="969750" y="4468261"/>
            <a:ext cx="5516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Small x:</a:t>
            </a:r>
            <a:r>
              <a:rPr lang="en-US" dirty="0"/>
              <a:t> higher HI safety, lower LO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Large x:</a:t>
            </a:r>
            <a:r>
              <a:rPr lang="en-US" dirty="0"/>
              <a:t> higher LO efficiency, lower HI safety margin.</a:t>
            </a:r>
            <a:endParaRPr lang="en-DE" dirty="0"/>
          </a:p>
        </p:txBody>
      </p:sp>
      <p:pic>
        <p:nvPicPr>
          <p:cNvPr id="47" name="Picture 46" descr="\documentclass{article}&#10;\usepackage{amsmath}&#10;\pagestyle{empty}&#10;\begin{document}&#10;&#10;&#10;\[&#10;B_{LO} = 1 - \frac{U_{HI}^{LO}}{x}&#10;\]&#10;&#10;\end{document}" title="IguanaTex Bitmap Display">
            <a:extLst>
              <a:ext uri="{FF2B5EF4-FFF2-40B4-BE49-F238E27FC236}">
                <a16:creationId xmlns:a16="http://schemas.microsoft.com/office/drawing/2014/main" id="{DD6BE41D-B36B-A22A-EE0D-73877658C1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561581" y="4386876"/>
            <a:ext cx="1807238" cy="563809"/>
          </a:xfrm>
          <a:prstGeom prst="rect">
            <a:avLst/>
          </a:prstGeom>
        </p:spPr>
      </p:pic>
      <p:sp>
        <p:nvSpPr>
          <p:cNvPr id="48" name="Right Brace 47">
            <a:extLst>
              <a:ext uri="{FF2B5EF4-FFF2-40B4-BE49-F238E27FC236}">
                <a16:creationId xmlns:a16="http://schemas.microsoft.com/office/drawing/2014/main" id="{AA908B4E-C413-60A9-A336-CAFD62BCDA44}"/>
              </a:ext>
            </a:extLst>
          </p:cNvPr>
          <p:cNvSpPr/>
          <p:nvPr/>
        </p:nvSpPr>
        <p:spPr>
          <a:xfrm>
            <a:off x="6169961" y="4154310"/>
            <a:ext cx="237762" cy="1112650"/>
          </a:xfrm>
          <a:prstGeom prst="rightBrac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248B7A-7C2F-858B-8DC8-1CC6CA7E5AFB}"/>
              </a:ext>
            </a:extLst>
          </p:cNvPr>
          <p:cNvGrpSpPr/>
          <p:nvPr/>
        </p:nvGrpSpPr>
        <p:grpSpPr>
          <a:xfrm>
            <a:off x="1653866" y="5628045"/>
            <a:ext cx="5811334" cy="537091"/>
            <a:chOff x="1653866" y="5675828"/>
            <a:chExt cx="5811334" cy="537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D881FB4-DFCE-E5BA-23E7-E9D8240900B5}"/>
                </a:ext>
              </a:extLst>
            </p:cNvPr>
            <p:cNvSpPr/>
            <p:nvPr/>
          </p:nvSpPr>
          <p:spPr>
            <a:xfrm>
              <a:off x="2172830" y="5939045"/>
              <a:ext cx="4557984" cy="273874"/>
            </a:xfrm>
            <a:prstGeom prst="roundRect">
              <a:avLst/>
            </a:prstGeom>
            <a:gradFill flip="none" rotWithShape="1">
              <a:gsLst>
                <a:gs pos="50000">
                  <a:srgbClr val="FFFF00"/>
                </a:gs>
                <a:gs pos="0">
                  <a:srgbClr val="FF0000"/>
                </a:gs>
                <a:gs pos="100000">
                  <a:srgbClr val="92D05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3050ED4D-3554-7F1D-07EA-CC12A5692D3A}"/>
                </a:ext>
              </a:extLst>
            </p:cNvPr>
            <p:cNvSpPr/>
            <p:nvPr/>
          </p:nvSpPr>
          <p:spPr>
            <a:xfrm rot="10800000">
              <a:off x="4331983" y="5682358"/>
              <a:ext cx="237762" cy="236732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4EB54B-498B-9B62-2ABC-D1356CBB129E}"/>
                </a:ext>
              </a:extLst>
            </p:cNvPr>
            <p:cNvSpPr txBox="1"/>
            <p:nvPr/>
          </p:nvSpPr>
          <p:spPr>
            <a:xfrm>
              <a:off x="1653866" y="5682358"/>
              <a:ext cx="5657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Safety</a:t>
              </a:r>
              <a:endParaRPr lang="en-DE" sz="1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266F78-C4EF-22BA-45A5-5DBD951453B4}"/>
                </a:ext>
              </a:extLst>
            </p:cNvPr>
            <p:cNvSpPr txBox="1"/>
            <p:nvPr/>
          </p:nvSpPr>
          <p:spPr>
            <a:xfrm>
              <a:off x="6659120" y="5675828"/>
              <a:ext cx="8060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Efficiency</a:t>
              </a:r>
              <a:endParaRPr lang="en-DE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0750B7D-8559-33B4-FC12-3845700BC34E}"/>
              </a:ext>
            </a:extLst>
          </p:cNvPr>
          <p:cNvSpPr txBox="1"/>
          <p:nvPr/>
        </p:nvSpPr>
        <p:spPr>
          <a:xfrm>
            <a:off x="4201767" y="5391542"/>
            <a:ext cx="5531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X=0.5</a:t>
            </a:r>
            <a:endParaRPr lang="en-DE" sz="12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EFFC1-4BD7-656E-8FC1-8CFD6D98E5E7}"/>
              </a:ext>
            </a:extLst>
          </p:cNvPr>
          <p:cNvSpPr txBox="1"/>
          <p:nvPr/>
        </p:nvSpPr>
        <p:spPr>
          <a:xfrm>
            <a:off x="7287768" y="5022210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[5]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249196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D22A-D335-0433-EBC1-53B658BDEC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23BBD-57E7-CA61-B902-666B08B89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D09156F-7E5C-0DF5-8B5D-3125B691C9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000" y="1260000"/>
            <a:ext cx="3373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latin typeface="+mn-lt"/>
                <a:ea typeface="+mn-ea"/>
                <a:cs typeface="+mn-cs"/>
              </a:rPr>
              <a:t>2. WCET Pessimism vs Utilization</a:t>
            </a:r>
            <a:endParaRPr lang="en-DE" sz="1800" dirty="0"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75227-C0E5-72A4-C59A-63440F455033}"/>
              </a:ext>
            </a:extLst>
          </p:cNvPr>
          <p:cNvSpPr txBox="1"/>
          <p:nvPr/>
        </p:nvSpPr>
        <p:spPr>
          <a:xfrm>
            <a:off x="360000" y="720000"/>
            <a:ext cx="1899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sz="3200" b="1" i="1" dirty="0">
                <a:latin typeface="Source Sans Pro"/>
                <a:ea typeface="+mj-ea"/>
              </a:rPr>
              <a:t>Tradeoffs</a:t>
            </a:r>
            <a:endParaRPr lang="en-DE" sz="3200" b="1" i="1" dirty="0">
              <a:latin typeface="Source Sans Pro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B80649-CEA3-E53C-BFED-F49B831D8538}"/>
              </a:ext>
            </a:extLst>
          </p:cNvPr>
          <p:cNvSpPr txBox="1"/>
          <p:nvPr/>
        </p:nvSpPr>
        <p:spPr>
          <a:xfrm>
            <a:off x="1330509" y="1707667"/>
            <a:ext cx="54292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 WCETs are conservative by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Actual execution is typically much smaller.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Leads to unused reserved capacity (“pessimism tax”).</a:t>
            </a:r>
            <a:endParaRPr lang="en-D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19BB018-CFF6-8871-8DAE-5B0F9DF55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217317"/>
              </p:ext>
            </p:extLst>
          </p:nvPr>
        </p:nvGraphicFramePr>
        <p:xfrm>
          <a:off x="1782059" y="4458262"/>
          <a:ext cx="5641296" cy="170825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335025">
                  <a:extLst>
                    <a:ext uri="{9D8B030D-6E8A-4147-A177-3AD203B41FA5}">
                      <a16:colId xmlns:a16="http://schemas.microsoft.com/office/drawing/2014/main" val="1300446803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3119514510"/>
                    </a:ext>
                  </a:extLst>
                </a:gridCol>
                <a:gridCol w="3227279">
                  <a:extLst>
                    <a:ext uri="{9D8B030D-6E8A-4147-A177-3AD203B41FA5}">
                      <a16:colId xmlns:a16="http://schemas.microsoft.com/office/drawing/2014/main" val="1330891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l-GR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ρ</a:t>
                      </a:r>
                      <a:r>
                        <a:rPr lang="de-DE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i​ (Aug.Factor)</a:t>
                      </a:r>
                      <a:endParaRPr lang="de-DE" sz="1400" b="1" i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de-DE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Utilization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de-DE" sz="14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 bandwidth loss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133776"/>
                  </a:ext>
                </a:extLst>
              </a:tr>
              <a:tr h="316320"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33% of HI-reserved bandwidth wasted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737128"/>
                  </a:ext>
                </a:extLst>
              </a:tr>
              <a:tr h="260156"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67% of HI-reserved bandwidth wasted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272726"/>
                  </a:ext>
                </a:extLst>
              </a:tr>
              <a:tr h="316320"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80% of HI-reserved bandwidth wasted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136700"/>
                  </a:ext>
                </a:extLst>
              </a:tr>
              <a:tr h="297511"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DE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10×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t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90% of HI-reserved bandwidth wasted</a:t>
                      </a:r>
                    </a:p>
                  </a:txBody>
                  <a:tcPr marL="85527" marR="85527" marT="64145" marB="6414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759440"/>
                  </a:ext>
                </a:extLst>
              </a:tr>
            </a:tbl>
          </a:graphicData>
        </a:graphic>
      </p:graphicFrame>
      <p:pic>
        <p:nvPicPr>
          <p:cNvPr id="17" name="Picture 16" descr="\documentclass{article}&#10;\usepackage{amsmath}&#10;\pagestyle{empty}&#10;\begin{document}&#10;&#10;\[ \rho = \frac{C(HI)}{C(LO)}\]&#10;&#10;&#10;\end{document}" title="IguanaTex Bitmap Display">
            <a:extLst>
              <a:ext uri="{FF2B5EF4-FFF2-40B4-BE49-F238E27FC236}">
                <a16:creationId xmlns:a16="http://schemas.microsoft.com/office/drawing/2014/main" id="{1AD950F6-B29E-49B2-C71B-28FB4C99E52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555324" y="3071438"/>
            <a:ext cx="1261163" cy="6003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D60BC34-019D-4EE9-1486-A1595FFC33AF}"/>
              </a:ext>
            </a:extLst>
          </p:cNvPr>
          <p:cNvSpPr txBox="1"/>
          <p:nvPr/>
        </p:nvSpPr>
        <p:spPr>
          <a:xfrm>
            <a:off x="648000" y="2704047"/>
            <a:ext cx="3197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de-DE" b="1" dirty="0"/>
              <a:t>Criticality Augmentation Factor</a:t>
            </a:r>
            <a:endParaRPr lang="en-DE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891A5-27DE-C237-C1A8-D0135CA9B45F}"/>
              </a:ext>
            </a:extLst>
          </p:cNvPr>
          <p:cNvSpPr txBox="1"/>
          <p:nvPr/>
        </p:nvSpPr>
        <p:spPr>
          <a:xfrm>
            <a:off x="1330509" y="3740260"/>
            <a:ext cx="67349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Measures how larger the certified WCET is than the nominal WCET.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Industrial benchmarks range from 1.5× to 10×.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2669B-3C6A-CB38-7AF1-8275E60776D8}"/>
              </a:ext>
            </a:extLst>
          </p:cNvPr>
          <p:cNvSpPr txBox="1"/>
          <p:nvPr/>
        </p:nvSpPr>
        <p:spPr>
          <a:xfrm>
            <a:off x="5632704" y="3164072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/>
              <a:t>[5]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1182354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2464-49EC-E9A5-33F9-8E8CCECDA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2133600" cy="646331"/>
          </a:xfrm>
        </p:spPr>
        <p:txBody>
          <a:bodyPr/>
          <a:lstStyle/>
          <a:p>
            <a:r>
              <a:rPr lang="de-DE" sz="3200" i="1" dirty="0"/>
              <a:t>Tradeoffs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266C2-2891-ABD3-E2EF-F17CBFD1F62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DDDAF-6F80-3A80-E0F8-B89E1B096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F2F8A-36E9-E9A2-08FB-8FF0EFB73490}"/>
              </a:ext>
            </a:extLst>
          </p:cNvPr>
          <p:cNvSpPr txBox="1"/>
          <p:nvPr/>
        </p:nvSpPr>
        <p:spPr>
          <a:xfrm>
            <a:off x="648000" y="1673147"/>
            <a:ext cx="518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EDF-VD balances this via compression factor x.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F49979-DD16-7268-D1CE-224CCCD7F3EF}"/>
              </a:ext>
            </a:extLst>
          </p:cNvPr>
          <p:cNvSpPr txBox="1"/>
          <p:nvPr/>
        </p:nvSpPr>
        <p:spPr>
          <a:xfrm>
            <a:off x="1718172" y="2411937"/>
            <a:ext cx="19760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Period = 10 ms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C(LO)=2 ms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dirty="0"/>
              <a:t>C(HI)=6 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9C60D0-387E-6286-A006-CFD63C6EFFCC}"/>
              </a:ext>
            </a:extLst>
          </p:cNvPr>
          <p:cNvSpPr txBox="1"/>
          <p:nvPr/>
        </p:nvSpPr>
        <p:spPr>
          <a:xfrm>
            <a:off x="1239960" y="20701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We have one HI-criticality task:</a:t>
            </a:r>
          </a:p>
        </p:txBody>
      </p:sp>
      <p:pic>
        <p:nvPicPr>
          <p:cNvPr id="15" name="Picture 14" descr="\documentclass{article}&#10;\usepackage{amsmath}&#10;\pagestyle{empty}&#10;\begin{document}&#10;&#10;\[&#10;\rho&#10;=&#10;\frac{C(HI)}{C(LO)}&#10;=&#10;\frac{6}{2}&#10;=&#10;3&#10;\]&#10;&#10;&#10;\end{document}" title="IguanaTex Bitmap Display">
            <a:extLst>
              <a:ext uri="{FF2B5EF4-FFF2-40B4-BE49-F238E27FC236}">
                <a16:creationId xmlns:a16="http://schemas.microsoft.com/office/drawing/2014/main" id="{ABF6B4E9-A492-8350-C7D4-3AF4618E49B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220000" y="2568899"/>
            <a:ext cx="2267428" cy="598857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A8C1C1F9-2E93-E11F-26FF-0987515A4342}"/>
              </a:ext>
            </a:extLst>
          </p:cNvPr>
          <p:cNvSpPr/>
          <p:nvPr/>
        </p:nvSpPr>
        <p:spPr>
          <a:xfrm>
            <a:off x="3893700" y="2709926"/>
            <a:ext cx="842148" cy="319858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F2A0A-8AF1-F5C0-89A0-4C1A226A7C4B}"/>
              </a:ext>
            </a:extLst>
          </p:cNvPr>
          <p:cNvSpPr txBox="1"/>
          <p:nvPr/>
        </p:nvSpPr>
        <p:spPr>
          <a:xfrm>
            <a:off x="1227192" y="34646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HI-task utilization under LO assumptions</a:t>
            </a:r>
            <a:endParaRPr lang="en-DE" dirty="0"/>
          </a:p>
        </p:txBody>
      </p:sp>
      <p:pic>
        <p:nvPicPr>
          <p:cNvPr id="10" name="Picture 9" descr="\documentclass{article}&#10;\usepackage{amsmath}&#10;\pagestyle{empty}&#10;\begin{document}&#10;&#10;&#10;\[&#10;U_{HI}^{LO}&#10;=&#10;\frac{2}{10}&#10;=&#10;0.2&#10;\]&#10;&#10;\end{document}" title="IguanaTex Bitmap Display">
            <a:extLst>
              <a:ext uri="{FF2B5EF4-FFF2-40B4-BE49-F238E27FC236}">
                <a16:creationId xmlns:a16="http://schemas.microsoft.com/office/drawing/2014/main" id="{AB6BC8AB-1AC4-62A8-1475-DB5B31F228A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443165" y="3833993"/>
            <a:ext cx="1794603" cy="52254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79F3889-DA34-9A9B-45BB-6CCB0FB35ACE}"/>
              </a:ext>
            </a:extLst>
          </p:cNvPr>
          <p:cNvSpPr txBox="1"/>
          <p:nvPr/>
        </p:nvSpPr>
        <p:spPr>
          <a:xfrm>
            <a:off x="1227192" y="4280652"/>
            <a:ext cx="2563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 utilization reserved </a:t>
            </a:r>
            <a:endParaRPr lang="en-DE" dirty="0"/>
          </a:p>
        </p:txBody>
      </p:sp>
      <p:pic>
        <p:nvPicPr>
          <p:cNvPr id="21" name="Picture 20" descr="\documentclass{article}&#10;\usepackage{amsmath}&#10;\pagestyle{empty}&#10;\begin{document}&#10;&#10;\[&#10;U_{HI}^{HI}&#10;=&#10;\frac{6}{10}&#10;=&#10;0.6&#10;\]&#10;&#10;&#10;\end{document}" title="IguanaTex Bitmap Display">
            <a:extLst>
              <a:ext uri="{FF2B5EF4-FFF2-40B4-BE49-F238E27FC236}">
                <a16:creationId xmlns:a16="http://schemas.microsoft.com/office/drawing/2014/main" id="{7BD4377B-BD48-4F7D-D691-8B9F8B677A9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412185" y="4580248"/>
            <a:ext cx="1779642" cy="5240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3603315-7860-D1C6-6E8A-E2E8D9DF374B}"/>
              </a:ext>
            </a:extLst>
          </p:cNvPr>
          <p:cNvSpPr txBox="1"/>
          <p:nvPr/>
        </p:nvSpPr>
        <p:spPr>
          <a:xfrm>
            <a:off x="1227192" y="509986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Unused Reserved Fraction</a:t>
            </a:r>
            <a:endParaRPr lang="en-DE" dirty="0"/>
          </a:p>
        </p:txBody>
      </p:sp>
      <p:pic>
        <p:nvPicPr>
          <p:cNvPr id="32" name="Picture 31" descr="\documentclass{article}&#10;\usepackage{amsmath}&#10;\pagestyle{empty}&#10;\begin{document}&#10;&#10;\[&#10;1-\frac{U_{HI}^{LO}}{U_{HI}^{HI}}&#10;=&#10;1-\frac{0.2}{0.6}&#10;=&#10;0.667&#10;\approx&#10;66.7\%&#10;\]&#10;&#10;\end{document}" title="IguanaTex Bitmap Display">
            <a:extLst>
              <a:ext uri="{FF2B5EF4-FFF2-40B4-BE49-F238E27FC236}">
                <a16:creationId xmlns:a16="http://schemas.microsoft.com/office/drawing/2014/main" id="{3BAC4B59-5BFB-4749-BC52-2ACBA599C68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539023" y="5493396"/>
            <a:ext cx="4040418" cy="642971"/>
          </a:xfrm>
          <a:prstGeom prst="rect">
            <a:avLst/>
          </a:prstGeom>
        </p:spPr>
      </p:pic>
      <p:sp>
        <p:nvSpPr>
          <p:cNvPr id="3" name="Title 11">
            <a:extLst>
              <a:ext uri="{FF2B5EF4-FFF2-40B4-BE49-F238E27FC236}">
                <a16:creationId xmlns:a16="http://schemas.microsoft.com/office/drawing/2014/main" id="{510E0FDE-D0AD-442E-8B03-8016261EA060}"/>
              </a:ext>
            </a:extLst>
          </p:cNvPr>
          <p:cNvSpPr txBox="1">
            <a:spLocks/>
          </p:cNvSpPr>
          <p:nvPr/>
        </p:nvSpPr>
        <p:spPr>
          <a:xfrm>
            <a:off x="360000" y="1260000"/>
            <a:ext cx="3373632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de-DE" sz="1800">
                <a:latin typeface="+mn-lt"/>
                <a:ea typeface="+mn-ea"/>
                <a:cs typeface="+mn-cs"/>
              </a:rPr>
              <a:t>2. WCET Pessimism vs Utilization</a:t>
            </a:r>
            <a:endParaRPr lang="en-DE" sz="18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131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C4DE0-A42D-D76D-C638-416A608505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08472F-E7BB-028E-0947-551507AF0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779E932-544C-0392-9B0E-F8805DAD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2133600" cy="620559"/>
          </a:xfrm>
        </p:spPr>
        <p:txBody>
          <a:bodyPr/>
          <a:lstStyle/>
          <a:p>
            <a:r>
              <a:rPr lang="de-DE" sz="3200" i="1" dirty="0"/>
              <a:t>Tradeoffs</a:t>
            </a:r>
            <a:endParaRPr lang="en-DE" sz="3200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B54EF-AD8B-D2AE-8AC3-F9D68B50CC20}"/>
              </a:ext>
            </a:extLst>
          </p:cNvPr>
          <p:cNvSpPr txBox="1"/>
          <p:nvPr/>
        </p:nvSpPr>
        <p:spPr>
          <a:xfrm>
            <a:off x="360000" y="1260000"/>
            <a:ext cx="2480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3. LO-Task Degradation</a:t>
            </a:r>
            <a:endParaRPr lang="en-D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674D8-F7BA-4519-1CBD-69CC230467B8}"/>
              </a:ext>
            </a:extLst>
          </p:cNvPr>
          <p:cNvSpPr txBox="1"/>
          <p:nvPr/>
        </p:nvSpPr>
        <p:spPr>
          <a:xfrm>
            <a:off x="1243780" y="1695766"/>
            <a:ext cx="6317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HI-criticality task exceeds its LO budget: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C77017-2961-C7AF-BAE5-227878C3F599}"/>
              </a:ext>
            </a:extLst>
          </p:cNvPr>
          <p:cNvSpPr txBox="1"/>
          <p:nvPr/>
        </p:nvSpPr>
        <p:spPr>
          <a:xfrm>
            <a:off x="1932038" y="2120925"/>
            <a:ext cx="5628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System enters HI-mode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LO-criticality tasks are suspended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Processor capacity is reserved for HI-criticality tasks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HI-task deadlines remain protected</a:t>
            </a:r>
            <a:endParaRPr lang="en-DE" dirty="0"/>
          </a:p>
        </p:txBody>
      </p:sp>
      <p:pic>
        <p:nvPicPr>
          <p:cNvPr id="40" name="Picture 39" descr="\documentclass{article}&#10;\usepackage{amsmath}&#10;\pagestyle{empty}&#10;\begin{document}&#10;&#10;\[&#10;H = 1000\ \mathrm{ms}&#10;\]&#10;&#10;\end{document}" title="IguanaTex Bitmap Display">
            <a:extLst>
              <a:ext uri="{FF2B5EF4-FFF2-40B4-BE49-F238E27FC236}">
                <a16:creationId xmlns:a16="http://schemas.microsoft.com/office/drawing/2014/main" id="{307FFB0C-85F9-CD53-B9D5-2E910A9D6E5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840125" y="3522438"/>
            <a:ext cx="1451572" cy="178620"/>
          </a:xfrm>
          <a:prstGeom prst="rect">
            <a:avLst/>
          </a:prstGeom>
        </p:spPr>
      </p:pic>
      <p:pic>
        <p:nvPicPr>
          <p:cNvPr id="17" name="Picture 16" descr="\documentclass{article}&#10;\usepackage{amsmath}&#10;\pagestyle{empty}&#10;\begin{document}&#10;&#10;\[&#10;t_s = 200\ \mathrm{ms}&#10;\]&#10;&#10;\end{document}" title="IguanaTex Bitmap Display">
            <a:extLst>
              <a:ext uri="{FF2B5EF4-FFF2-40B4-BE49-F238E27FC236}">
                <a16:creationId xmlns:a16="http://schemas.microsoft.com/office/drawing/2014/main" id="{0B6B60AE-4947-DFA5-5312-22439817DC9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479036" y="3553892"/>
            <a:ext cx="1298286" cy="207238"/>
          </a:xfrm>
          <a:prstGeom prst="rect">
            <a:avLst/>
          </a:prstGeom>
        </p:spPr>
      </p:pic>
      <p:pic>
        <p:nvPicPr>
          <p:cNvPr id="19" name="Picture 18" descr="\documentclass{article}&#10;\usepackage{amsmath}&#10;\pagestyle{empty}&#10;\begin{document}&#10;&#10;\[&#10;\text{LO Starvation}&#10;=&#10;H - (t_s \bmod H)&#10;\]&#10;&#10;\end{document}" title="IguanaTex Bitmap Display">
            <a:extLst>
              <a:ext uri="{FF2B5EF4-FFF2-40B4-BE49-F238E27FC236}">
                <a16:creationId xmlns:a16="http://schemas.microsoft.com/office/drawing/2014/main" id="{B54CF8AD-0AD6-F055-F5F4-7A242C1875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07963" y="4002224"/>
            <a:ext cx="3681524" cy="254476"/>
          </a:xfrm>
          <a:prstGeom prst="rect">
            <a:avLst/>
          </a:prstGeom>
        </p:spPr>
      </p:pic>
      <p:pic>
        <p:nvPicPr>
          <p:cNvPr id="25" name="Picture 24" descr="\documentclass{article}&#10;\usepackage{amsmath}&#10;\pagestyle{empty}&#10;\begin{document}&#10;&#10;\[&#10;1000 - 200 = 800\ \mathrm{ms}&#10;\]&#10;&#10;\end{document}C:\Users\nader\Downloads\IguanaTex" title="IguanaTex Bitmap Display">
            <a:extLst>
              <a:ext uri="{FF2B5EF4-FFF2-40B4-BE49-F238E27FC236}">
                <a16:creationId xmlns:a16="http://schemas.microsoft.com/office/drawing/2014/main" id="{48AFF2F7-715C-932B-E61C-72A460FD7F6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688623" y="4037120"/>
            <a:ext cx="2280828" cy="175741"/>
          </a:xfrm>
          <a:prstGeom prst="rect">
            <a:avLst/>
          </a:prstGeom>
        </p:spPr>
      </p:pic>
      <p:pic>
        <p:nvPicPr>
          <p:cNvPr id="27" name="Picture 26" descr="\documentclass{article}&#10;\usepackage{amsmath}&#10;\pagestyle{empty}&#10;\begin{document}&#10;&#10;\[&#10;\alpha_{LO} \approx 1&#10;\]&#10;&#10;\end{document}" title="IguanaTex Bitmap Display">
            <a:extLst>
              <a:ext uri="{FF2B5EF4-FFF2-40B4-BE49-F238E27FC236}">
                <a16:creationId xmlns:a16="http://schemas.microsoft.com/office/drawing/2014/main" id="{E7BB338C-4461-FB50-85F2-A41679D756B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408290" y="5025043"/>
            <a:ext cx="908190" cy="208762"/>
          </a:xfrm>
          <a:prstGeom prst="rect">
            <a:avLst/>
          </a:prstGeom>
        </p:spPr>
      </p:pic>
      <p:pic>
        <p:nvPicPr>
          <p:cNvPr id="29" name="Picture 28" descr="\documentclass{article}&#10;\usepackage{amsmath}&#10;\pagestyle{empty}&#10;\begin{document}&#10;&#10;\[&#10;\alpha_{LO} \rightarrow 0&#10;\]&#10;&#10;\end{document}" title="IguanaTex Bitmap Display">
            <a:extLst>
              <a:ext uri="{FF2B5EF4-FFF2-40B4-BE49-F238E27FC236}">
                <a16:creationId xmlns:a16="http://schemas.microsoft.com/office/drawing/2014/main" id="{72B370DB-C417-9D67-2B5A-A06AAF50E7D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375528" y="5778153"/>
            <a:ext cx="973714" cy="208762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11C361D6-FE3B-BB28-398F-E09D7AE8D31C}"/>
              </a:ext>
            </a:extLst>
          </p:cNvPr>
          <p:cNvSpPr/>
          <p:nvPr/>
        </p:nvSpPr>
        <p:spPr>
          <a:xfrm>
            <a:off x="4916826" y="4047289"/>
            <a:ext cx="422656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DE1264-60B4-9608-BA83-966E018C03AE}"/>
              </a:ext>
            </a:extLst>
          </p:cNvPr>
          <p:cNvSpPr txBox="1"/>
          <p:nvPr/>
        </p:nvSpPr>
        <p:spPr>
          <a:xfrm>
            <a:off x="598839" y="3267150"/>
            <a:ext cx="1102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Example</a:t>
            </a:r>
            <a:endParaRPr lang="en-DE" b="1" dirty="0"/>
          </a:p>
        </p:txBody>
      </p:sp>
      <p:pic>
        <p:nvPicPr>
          <p:cNvPr id="52" name="Picture 51" descr="\documentclass{article}&#10;\usepackage{amsmath}&#10;\pagestyle{empty}&#10;\begin{document}&#10;&#10;\[&#10;\alpha_{LO}&#10;=&#10;\frac{\text{Time spent in LO-mode}}{H}&#10;=&#10;\frac{200\,\mathrm{ms}}{1000\,\mathrm{ms}}&#10;=&#10;0.2&#10;\]&#10;\end{document}" title="IguanaTex Bitmap Display">
            <a:extLst>
              <a:ext uri="{FF2B5EF4-FFF2-40B4-BE49-F238E27FC236}">
                <a16:creationId xmlns:a16="http://schemas.microsoft.com/office/drawing/2014/main" id="{5428D0A0-4CEB-2EA3-12BE-9BC2C1C698F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243780" y="5385971"/>
            <a:ext cx="4572000" cy="44506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118B6AE-7E59-803F-1C78-7BB1BB7835EB}"/>
              </a:ext>
            </a:extLst>
          </p:cNvPr>
          <p:cNvSpPr txBox="1"/>
          <p:nvPr/>
        </p:nvSpPr>
        <p:spPr>
          <a:xfrm>
            <a:off x="679746" y="4342894"/>
            <a:ext cx="7223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Therefore, LO tasks receive </a:t>
            </a:r>
            <a:r>
              <a:rPr lang="en-US" b="1" dirty="0"/>
              <a:t>no service for 800 ms</a:t>
            </a:r>
            <a:r>
              <a:rPr lang="en-US" dirty="0"/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BA8AA9-2AE2-3B64-3346-D5EA4B9B4710}"/>
              </a:ext>
            </a:extLst>
          </p:cNvPr>
          <p:cNvSpPr txBox="1"/>
          <p:nvPr/>
        </p:nvSpPr>
        <p:spPr>
          <a:xfrm>
            <a:off x="601929" y="4744761"/>
            <a:ext cx="1647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LO Availability</a:t>
            </a:r>
            <a:endParaRPr lang="en-DE" b="1" dirty="0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5C547F2F-C3E1-A203-A471-D3CA2D9BFDFE}"/>
              </a:ext>
            </a:extLst>
          </p:cNvPr>
          <p:cNvSpPr/>
          <p:nvPr/>
        </p:nvSpPr>
        <p:spPr>
          <a:xfrm>
            <a:off x="6138524" y="4996210"/>
            <a:ext cx="156097" cy="1084249"/>
          </a:xfrm>
          <a:prstGeom prst="rightBrace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78A539-AC79-3354-68E7-59EF2EE6044A}"/>
              </a:ext>
            </a:extLst>
          </p:cNvPr>
          <p:cNvSpPr txBox="1"/>
          <p:nvPr/>
        </p:nvSpPr>
        <p:spPr>
          <a:xfrm>
            <a:off x="7458860" y="5550853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i="1" dirty="0"/>
              <a:t>Frequent Overruns</a:t>
            </a:r>
            <a:endParaRPr lang="en-DE" sz="1600" b="1" i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3EF136-B5D9-0AB8-9493-712DB72E10B6}"/>
              </a:ext>
            </a:extLst>
          </p:cNvPr>
          <p:cNvSpPr txBox="1"/>
          <p:nvPr/>
        </p:nvSpPr>
        <p:spPr>
          <a:xfrm>
            <a:off x="7349242" y="4799421"/>
            <a:ext cx="12860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b="1" i="1" dirty="0"/>
              <a:t>Normal Operation</a:t>
            </a:r>
            <a:endParaRPr lang="en-DE" sz="1600" b="1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C50CD6-3456-8A91-4511-8924D0C7E091}"/>
              </a:ext>
            </a:extLst>
          </p:cNvPr>
          <p:cNvSpPr txBox="1"/>
          <p:nvPr/>
        </p:nvSpPr>
        <p:spPr>
          <a:xfrm>
            <a:off x="4231669" y="3467567"/>
            <a:ext cx="30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,</a:t>
            </a:r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A06E0-F8EB-CC2C-74FF-A10A7D974AD6}"/>
              </a:ext>
            </a:extLst>
          </p:cNvPr>
          <p:cNvSpPr txBox="1"/>
          <p:nvPr/>
        </p:nvSpPr>
        <p:spPr>
          <a:xfrm>
            <a:off x="8139679" y="5993469"/>
            <a:ext cx="4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[7]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7118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B11A-A6B8-0C61-4CE5-956ABFE54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2419050" cy="654525"/>
          </a:xfrm>
        </p:spPr>
        <p:txBody>
          <a:bodyPr/>
          <a:lstStyle/>
          <a:p>
            <a:r>
              <a:rPr lang="de-DE" sz="3200" i="1" dirty="0"/>
              <a:t>Limitations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8C746-3252-9FB6-950C-1812D25E130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D15F4A-51EE-C174-495A-2F0FF19F0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E8744-0F57-70DE-903D-542B9C8665D7}"/>
              </a:ext>
            </a:extLst>
          </p:cNvPr>
          <p:cNvSpPr txBox="1"/>
          <p:nvPr/>
        </p:nvSpPr>
        <p:spPr>
          <a:xfrm>
            <a:off x="1717650" y="1875504"/>
            <a:ext cx="5785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Hard to guarantee in modern architectures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Cache</a:t>
            </a:r>
            <a:r>
              <a:rPr lang="en-DE" dirty="0"/>
              <a:t> hit or miss &amp;</a:t>
            </a:r>
            <a:r>
              <a:rPr lang="en-US" dirty="0"/>
              <a:t> speculation</a:t>
            </a:r>
            <a:r>
              <a:rPr lang="en-DE" dirty="0"/>
              <a:t> </a:t>
            </a:r>
            <a:r>
              <a:rPr lang="en-US" dirty="0"/>
              <a:t>affect validity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86AB8-4FDC-A5CB-8D1F-273C63A3143E}"/>
              </a:ext>
            </a:extLst>
          </p:cNvPr>
          <p:cNvSpPr txBox="1"/>
          <p:nvPr/>
        </p:nvSpPr>
        <p:spPr>
          <a:xfrm>
            <a:off x="869561" y="1475328"/>
            <a:ext cx="609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Requires correct WCET bounds (non-trivial in practice)[6].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18966-88B8-1E3D-E97B-5C9DA45D79AD}"/>
              </a:ext>
            </a:extLst>
          </p:cNvPr>
          <p:cNvSpPr txBox="1"/>
          <p:nvPr/>
        </p:nvSpPr>
        <p:spPr>
          <a:xfrm>
            <a:off x="869561" y="2618627"/>
            <a:ext cx="5248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 tasks may be suspended for long durations [3].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461386-213E-BAC9-83EB-21873A503F01}"/>
              </a:ext>
            </a:extLst>
          </p:cNvPr>
          <p:cNvSpPr txBox="1"/>
          <p:nvPr/>
        </p:nvSpPr>
        <p:spPr>
          <a:xfrm>
            <a:off x="863021" y="3015000"/>
            <a:ext cx="5128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No formal LO-service guarantees in HI-mode [3].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ECDCFD-86C0-6F0E-5AAC-936B53EFF184}"/>
              </a:ext>
            </a:extLst>
          </p:cNvPr>
          <p:cNvSpPr txBox="1"/>
          <p:nvPr/>
        </p:nvSpPr>
        <p:spPr>
          <a:xfrm>
            <a:off x="1717650" y="3877497"/>
            <a:ext cx="5248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Multicore introduces shared resource interference.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WCET and schedulability guarantees may break.</a:t>
            </a:r>
            <a:endParaRPr lang="en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556F0-F338-C840-03A5-B1B0EF3AD382}"/>
              </a:ext>
            </a:extLst>
          </p:cNvPr>
          <p:cNvSpPr txBox="1"/>
          <p:nvPr/>
        </p:nvSpPr>
        <p:spPr>
          <a:xfrm>
            <a:off x="863021" y="3481124"/>
            <a:ext cx="46519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Theory assumes a single-core processor [4].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BB44D-F124-9FD4-ACDD-DF877CB7781B}"/>
              </a:ext>
            </a:extLst>
          </p:cNvPr>
          <p:cNvSpPr txBox="1"/>
          <p:nvPr/>
        </p:nvSpPr>
        <p:spPr>
          <a:xfrm>
            <a:off x="855821" y="4628434"/>
            <a:ext cx="3846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Practical </a:t>
            </a:r>
            <a:r>
              <a:rPr lang="de-DE" dirty="0" err="1"/>
              <a:t>scalability</a:t>
            </a:r>
            <a:r>
              <a:rPr lang="de-DE" dirty="0"/>
              <a:t> </a:t>
            </a:r>
            <a:r>
              <a:rPr lang="de-DE" dirty="0" err="1"/>
              <a:t>limits</a:t>
            </a:r>
            <a:r>
              <a:rPr lang="de-DE" dirty="0"/>
              <a:t> [4]</a:t>
            </a:r>
            <a:endParaRPr lang="en-DE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B81532-CA83-5A9F-64FF-A7B8CC1152BF}"/>
              </a:ext>
            </a:extLst>
          </p:cNvPr>
          <p:cNvSpPr txBox="1"/>
          <p:nvPr/>
        </p:nvSpPr>
        <p:spPr>
          <a:xfrm>
            <a:off x="1717650" y="5016993"/>
            <a:ext cx="5538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Multiple criticality levels increase complexity.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Formal analysis becomes computationally expensive.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84061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17B5DB-8E89-7B0B-3752-D663C92AA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5" y="933450"/>
            <a:ext cx="1962150" cy="504825"/>
          </a:xfrm>
        </p:spPr>
        <p:txBody>
          <a:bodyPr>
            <a:normAutofit fontScale="90000"/>
          </a:bodyPr>
          <a:lstStyle/>
          <a:p>
            <a:r>
              <a:rPr lang="de-DE" sz="3200" i="1" dirty="0" err="1"/>
              <a:t>Conclusion</a:t>
            </a:r>
            <a:endParaRPr lang="en-DE" sz="32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DB9A1-D4FE-7FEE-2C97-4522D9325B2B}"/>
              </a:ext>
            </a:extLst>
          </p:cNvPr>
          <p:cNvSpPr txBox="1"/>
          <p:nvPr/>
        </p:nvSpPr>
        <p:spPr>
          <a:xfrm>
            <a:off x="571500" y="1765370"/>
            <a:ext cx="782955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/>
              <a:t>Mixed-</a:t>
            </a:r>
            <a:r>
              <a:rPr lang="de-DE" dirty="0" err="1"/>
              <a:t>Criticality</a:t>
            </a:r>
            <a:r>
              <a:rPr lang="de-DE" dirty="0"/>
              <a:t> Scheduling </a:t>
            </a:r>
            <a:r>
              <a:rPr lang="de-DE" dirty="0" err="1"/>
              <a:t>provides</a:t>
            </a:r>
            <a:r>
              <a:rPr lang="de-DE" dirty="0"/>
              <a:t> a formal </a:t>
            </a:r>
            <a:r>
              <a:rPr lang="de-DE" dirty="0" err="1"/>
              <a:t>framework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handle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heterogeneous</a:t>
            </a:r>
            <a:r>
              <a:rPr lang="de-DE" dirty="0"/>
              <a:t> </a:t>
            </a:r>
            <a:r>
              <a:rPr lang="de-DE" dirty="0" err="1"/>
              <a:t>safety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computational</a:t>
            </a:r>
            <a:r>
              <a:rPr lang="de-DE" dirty="0"/>
              <a:t> </a:t>
            </a:r>
            <a:r>
              <a:rPr lang="de-DE" dirty="0" err="1"/>
              <a:t>resources</a:t>
            </a:r>
            <a:r>
              <a:rPr lang="de-DE" dirty="0"/>
              <a:t>.</a:t>
            </a:r>
          </a:p>
          <a:p>
            <a:pPr algn="just"/>
            <a:endParaRPr lang="de-DE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/>
              <a:t>Core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governed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a fundamental </a:t>
            </a:r>
            <a:r>
              <a:rPr lang="de-DE" dirty="0" err="1"/>
              <a:t>tension</a:t>
            </a:r>
            <a:r>
              <a:rPr lang="de-DE" dirty="0"/>
              <a:t> </a:t>
            </a:r>
            <a:r>
              <a:rPr lang="de-DE" dirty="0" err="1"/>
              <a:t>between:Safety</a:t>
            </a:r>
            <a:r>
              <a:rPr lang="de-DE" dirty="0"/>
              <a:t> </a:t>
            </a:r>
            <a:r>
              <a:rPr lang="de-DE" dirty="0" err="1"/>
              <a:t>guarantees</a:t>
            </a:r>
            <a:r>
              <a:rPr lang="de-DE" dirty="0"/>
              <a:t> vs. </a:t>
            </a:r>
            <a:r>
              <a:rPr lang="de-DE" dirty="0" err="1"/>
              <a:t>resource</a:t>
            </a:r>
            <a:r>
              <a:rPr lang="de-DE" dirty="0"/>
              <a:t> </a:t>
            </a:r>
            <a:r>
              <a:rPr lang="de-DE" dirty="0" err="1"/>
              <a:t>efficiencyWCET</a:t>
            </a:r>
            <a:r>
              <a:rPr lang="de-DE" dirty="0"/>
              <a:t> </a:t>
            </a:r>
            <a:r>
              <a:rPr lang="de-DE" dirty="0" err="1"/>
              <a:t>pessimism</a:t>
            </a:r>
            <a:r>
              <a:rPr lang="de-DE" dirty="0"/>
              <a:t> vs. </a:t>
            </a:r>
            <a:r>
              <a:rPr lang="de-DE" dirty="0" err="1"/>
              <a:t>practical</a:t>
            </a:r>
            <a:r>
              <a:rPr lang="de-DE" dirty="0"/>
              <a:t> </a:t>
            </a:r>
            <a:r>
              <a:rPr lang="de-DE" dirty="0" err="1"/>
              <a:t>utilizationHI</a:t>
            </a:r>
            <a:r>
              <a:rPr lang="de-DE" dirty="0"/>
              <a:t>-task </a:t>
            </a:r>
            <a:r>
              <a:rPr lang="de-DE" dirty="0" err="1"/>
              <a:t>correctness</a:t>
            </a:r>
            <a:r>
              <a:rPr lang="de-DE" dirty="0"/>
              <a:t> vs. LO-task </a:t>
            </a:r>
            <a:r>
              <a:rPr lang="de-DE" dirty="0" err="1"/>
              <a:t>service</a:t>
            </a:r>
            <a:r>
              <a:rPr lang="de-DE" dirty="0"/>
              <a:t> </a:t>
            </a:r>
            <a:r>
              <a:rPr lang="de-DE" dirty="0" err="1"/>
              <a:t>degradation</a:t>
            </a:r>
            <a:endParaRPr lang="de-DE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analysis</a:t>
            </a:r>
            <a:r>
              <a:rPr lang="de-DE" dirty="0"/>
              <a:t>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correctness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achieved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mode</a:t>
            </a:r>
            <a:r>
              <a:rPr lang="de-DE" dirty="0"/>
              <a:t> </a:t>
            </a:r>
            <a:r>
              <a:rPr lang="de-DE" dirty="0" err="1"/>
              <a:t>separation</a:t>
            </a:r>
            <a:r>
              <a:rPr lang="de-DE" dirty="0"/>
              <a:t> and </a:t>
            </a:r>
            <a:r>
              <a:rPr lang="de-DE" dirty="0" err="1"/>
              <a:t>controlled</a:t>
            </a:r>
            <a:r>
              <a:rPr lang="de-DE" dirty="0"/>
              <a:t> LO-task </a:t>
            </a:r>
            <a:r>
              <a:rPr lang="de-DE" dirty="0" err="1"/>
              <a:t>suspension</a:t>
            </a:r>
            <a:r>
              <a:rPr lang="de-DE" dirty="0"/>
              <a:t>,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uniform </a:t>
            </a:r>
            <a:r>
              <a:rPr lang="de-DE" dirty="0" err="1"/>
              <a:t>guarantees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all </a:t>
            </a:r>
            <a:r>
              <a:rPr lang="de-DE" dirty="0" err="1"/>
              <a:t>tasks</a:t>
            </a:r>
            <a:r>
              <a:rPr lang="de-DE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 err="1"/>
              <a:t>However</a:t>
            </a:r>
            <a:r>
              <a:rPr lang="de-DE" dirty="0"/>
              <a:t>,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limitations</a:t>
            </a:r>
            <a:r>
              <a:rPr lang="de-DE" dirty="0"/>
              <a:t> </a:t>
            </a:r>
            <a:r>
              <a:rPr lang="de-DE" dirty="0" err="1"/>
              <a:t>remain</a:t>
            </a:r>
            <a:r>
              <a:rPr lang="de-DE" dirty="0"/>
              <a:t> </a:t>
            </a:r>
            <a:r>
              <a:rPr lang="de-DE" dirty="0" err="1"/>
              <a:t>in:WCET</a:t>
            </a:r>
            <a:r>
              <a:rPr lang="de-DE" dirty="0"/>
              <a:t> </a:t>
            </a:r>
            <a:r>
              <a:rPr lang="de-DE" dirty="0" err="1"/>
              <a:t>uncertainty</a:t>
            </a:r>
            <a:r>
              <a:rPr lang="de-DE" dirty="0"/>
              <a:t> and </a:t>
            </a:r>
            <a:r>
              <a:rPr lang="de-DE" dirty="0" err="1"/>
              <a:t>hardware</a:t>
            </a:r>
            <a:r>
              <a:rPr lang="de-DE" dirty="0"/>
              <a:t> </a:t>
            </a:r>
            <a:r>
              <a:rPr lang="de-DE" dirty="0" err="1"/>
              <a:t>dependenceLO</a:t>
            </a:r>
            <a:r>
              <a:rPr lang="de-DE" dirty="0"/>
              <a:t>-task </a:t>
            </a:r>
            <a:r>
              <a:rPr lang="de-DE" dirty="0" err="1"/>
              <a:t>starvation</a:t>
            </a:r>
            <a:r>
              <a:rPr lang="de-DE" dirty="0"/>
              <a:t> </a:t>
            </a:r>
            <a:r>
              <a:rPr lang="de-DE" dirty="0" err="1"/>
              <a:t>under</a:t>
            </a:r>
            <a:r>
              <a:rPr lang="de-DE" dirty="0"/>
              <a:t> </a:t>
            </a:r>
            <a:r>
              <a:rPr lang="de-DE" dirty="0" err="1"/>
              <a:t>sustained</a:t>
            </a:r>
            <a:r>
              <a:rPr lang="de-DE" dirty="0"/>
              <a:t> </a:t>
            </a:r>
            <a:r>
              <a:rPr lang="de-DE" dirty="0" err="1"/>
              <a:t>overloadExtension</a:t>
            </a:r>
            <a:r>
              <a:rPr lang="de-DE" dirty="0"/>
              <a:t> </a:t>
            </a:r>
            <a:r>
              <a:rPr lang="de-DE" dirty="0" err="1"/>
              <a:t>challenges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multicore</a:t>
            </a:r>
            <a:r>
              <a:rPr lang="de-DE" dirty="0"/>
              <a:t> </a:t>
            </a:r>
            <a:r>
              <a:rPr lang="de-DE" dirty="0" err="1"/>
              <a:t>systems</a:t>
            </a:r>
            <a:endParaRPr lang="en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96330D-6EE6-64FE-BCA1-00648A2ACBAC}"/>
              </a:ext>
            </a:extLst>
          </p:cNvPr>
          <p:cNvSpPr txBox="1"/>
          <p:nvPr/>
        </p:nvSpPr>
        <p:spPr>
          <a:xfrm>
            <a:off x="8139679" y="5993469"/>
            <a:ext cx="49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/>
              <a:t>[7] 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22196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6C42-4251-95B5-0EA3-048BCEF2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745650"/>
            <a:ext cx="2241504" cy="827118"/>
          </a:xfrm>
        </p:spPr>
        <p:txBody>
          <a:bodyPr/>
          <a:lstStyle/>
          <a:p>
            <a:r>
              <a:rPr lang="de-DE" sz="3200" i="1" dirty="0"/>
              <a:t>References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CB7AF-A6B3-A319-C5ED-14ECFDBFC4B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508B7-48A2-7169-9418-25F7EDAF0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245924-BF74-7EB3-3398-DB7966496283}"/>
              </a:ext>
            </a:extLst>
          </p:cNvPr>
          <p:cNvSpPr txBox="1"/>
          <p:nvPr/>
        </p:nvSpPr>
        <p:spPr>
          <a:xfrm>
            <a:off x="652572" y="1417320"/>
            <a:ext cx="78388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b="1" dirty="0"/>
              <a:t>[1] </a:t>
            </a:r>
            <a:r>
              <a:rPr lang="de-DE" dirty="0"/>
              <a:t>C. L. Liu and J. W. Layland, “Scheduling algorithms for multiprogramming in a </a:t>
            </a:r>
            <a:r>
              <a:rPr lang="de-DE" dirty="0" err="1"/>
              <a:t>hard</a:t>
            </a:r>
            <a:r>
              <a:rPr lang="de-DE" dirty="0"/>
              <a:t>-real-time environment,” </a:t>
            </a:r>
            <a:r>
              <a:rPr lang="de-DE" i="1" dirty="0"/>
              <a:t>J. ACM</a:t>
            </a:r>
            <a:r>
              <a:rPr lang="de-DE" dirty="0"/>
              <a:t>, vol. 20, no. 1, pp. 46–61, Jan. 1973, </a:t>
            </a:r>
            <a:r>
              <a:rPr lang="de-DE" dirty="0" err="1"/>
              <a:t>doi</a:t>
            </a:r>
            <a:r>
              <a:rPr lang="de-DE" dirty="0"/>
              <a:t>: 10.1145/321738.321743.</a:t>
            </a:r>
          </a:p>
          <a:p>
            <a:pPr algn="just"/>
            <a:r>
              <a:rPr lang="de-DE" b="1" dirty="0"/>
              <a:t>[2] </a:t>
            </a:r>
            <a:r>
              <a:rPr lang="de-DE" dirty="0"/>
              <a:t>G. C. Buttazzo, </a:t>
            </a:r>
            <a:r>
              <a:rPr lang="de-DE" i="1" dirty="0"/>
              <a:t>Hard Real-Time Computing Systems: Predictable Scheduling Algorithms and Applications</a:t>
            </a:r>
            <a:r>
              <a:rPr lang="de-DE" dirty="0"/>
              <a:t>, 4th ed. Cham, Switzerland: Springer, 2020.</a:t>
            </a:r>
          </a:p>
          <a:p>
            <a:pPr algn="just"/>
            <a:r>
              <a:rPr lang="de-DE" b="1" dirty="0"/>
              <a:t>[3] </a:t>
            </a:r>
            <a:r>
              <a:rPr lang="de-DE" dirty="0"/>
              <a:t>S. Vestal, “Preemptive scheduling of multi-</a:t>
            </a:r>
            <a:r>
              <a:rPr lang="de-DE" dirty="0" err="1"/>
              <a:t>criticality</a:t>
            </a:r>
            <a:r>
              <a:rPr lang="de-DE" dirty="0"/>
              <a:t> systems with varying degrees of execution time assurance,” in </a:t>
            </a:r>
            <a:r>
              <a:rPr lang="de-DE" i="1" dirty="0"/>
              <a:t>Proc. IEEE Real-Time Systems Symposium (RTSS)</a:t>
            </a:r>
            <a:r>
              <a:rPr lang="de-DE" dirty="0"/>
              <a:t>, 2007, pp. 239–243.</a:t>
            </a:r>
          </a:p>
          <a:p>
            <a:pPr algn="just"/>
            <a:r>
              <a:rPr lang="de-DE" b="1" dirty="0"/>
              <a:t>[4] </a:t>
            </a:r>
            <a:r>
              <a:rPr lang="de-DE" dirty="0"/>
              <a:t>S. Baruah, A. Burns, and R. I. Davis, “Response-time analysis for mixed-criticality systems,” in </a:t>
            </a:r>
            <a:r>
              <a:rPr lang="de-DE" i="1" dirty="0"/>
              <a:t>Proc. IEEE Real-Time Systems Symposium (RTSS)</a:t>
            </a:r>
            <a:r>
              <a:rPr lang="de-DE" dirty="0"/>
              <a:t>, 2011.</a:t>
            </a:r>
          </a:p>
          <a:p>
            <a:pPr algn="just"/>
            <a:r>
              <a:rPr lang="de-DE" b="1" dirty="0"/>
              <a:t>[5] </a:t>
            </a:r>
            <a:r>
              <a:rPr lang="de-DE" dirty="0"/>
              <a:t>S. Baruah, V. Bonifaci, G. Buttazzo, and A. Marchetti-</a:t>
            </a:r>
            <a:r>
              <a:rPr lang="de-DE" dirty="0" err="1"/>
              <a:t>Spaccamela</a:t>
            </a:r>
            <a:r>
              <a:rPr lang="de-DE" dirty="0"/>
              <a:t>, “Mixed-criticality scheduling of sporadic task systems,” in </a:t>
            </a:r>
            <a:r>
              <a:rPr lang="de-DE" i="1" dirty="0"/>
              <a:t>Proc. Euromicro Conf. Real-Time Systems (ECRTS)</a:t>
            </a:r>
            <a:r>
              <a:rPr lang="de-DE" dirty="0"/>
              <a:t>, 2011, pp. 1–12.</a:t>
            </a:r>
          </a:p>
          <a:p>
            <a:pPr algn="just"/>
            <a:r>
              <a:rPr lang="en-US" b="1" dirty="0"/>
              <a:t>[6] </a:t>
            </a:r>
            <a:r>
              <a:rPr lang="en-US" dirty="0"/>
              <a:t>R. Wilhelm </a:t>
            </a:r>
            <a:r>
              <a:rPr lang="en-US" i="1" dirty="0"/>
              <a:t>et al</a:t>
            </a:r>
            <a:r>
              <a:rPr lang="en-US" dirty="0"/>
              <a:t>., “The worst-case execution-time problem—overview of methods and survey of tools,” </a:t>
            </a:r>
            <a:r>
              <a:rPr lang="en-US" i="1" dirty="0"/>
              <a:t>ACM Transactions on Embedded Computing Systems</a:t>
            </a:r>
            <a:r>
              <a:rPr lang="en-US" dirty="0"/>
              <a:t>, vol. 7, no. 3, pp. 1–53, 2008, </a:t>
            </a:r>
            <a:r>
              <a:rPr lang="en-US" dirty="0" err="1"/>
              <a:t>doi</a:t>
            </a:r>
            <a:r>
              <a:rPr lang="en-US" dirty="0"/>
              <a:t>: 10.1145/1347375.1347389.</a:t>
            </a:r>
            <a:endParaRPr lang="en-DE" dirty="0"/>
          </a:p>
          <a:p>
            <a:pPr algn="just"/>
            <a:endParaRPr lang="de-DE" dirty="0"/>
          </a:p>
          <a:p>
            <a:pPr algn="just"/>
            <a:endParaRPr lang="de-DE" dirty="0"/>
          </a:p>
          <a:p>
            <a:pPr algn="just"/>
            <a:endParaRPr lang="de-DE" dirty="0"/>
          </a:p>
          <a:p>
            <a:pPr algn="just"/>
            <a:endParaRPr lang="de-DE" dirty="0"/>
          </a:p>
          <a:p>
            <a:pPr algn="just"/>
            <a:endParaRPr lang="de-DE" dirty="0"/>
          </a:p>
          <a:p>
            <a:pPr algn="just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434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565D3-84A8-89A8-C3A1-6162BBFCD7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E5A765-8DA8-6A55-21D5-347AEC41A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C5BF8A-01AB-E81A-480E-BF8FD63B5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46125"/>
            <a:ext cx="7675563" cy="1143000"/>
          </a:xfrm>
        </p:spPr>
        <p:txBody>
          <a:bodyPr/>
          <a:lstStyle/>
          <a:p>
            <a:r>
              <a:rPr lang="de-DE" sz="3200" i="1" dirty="0"/>
              <a:t>References</a:t>
            </a:r>
            <a:endParaRPr lang="en-DE" sz="32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3DEE1-0B69-E895-F65A-5D4F5F7A0FDC}"/>
              </a:ext>
            </a:extLst>
          </p:cNvPr>
          <p:cNvSpPr txBox="1"/>
          <p:nvPr/>
        </p:nvSpPr>
        <p:spPr>
          <a:xfrm>
            <a:off x="609600" y="1671161"/>
            <a:ext cx="7886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[7] 2210026, “AI </a:t>
            </a:r>
            <a:r>
              <a:rPr lang="de-DE" dirty="0" err="1"/>
              <a:t>Usage</a:t>
            </a:r>
            <a:r>
              <a:rPr lang="de-DE" dirty="0"/>
              <a:t> Protocol </a:t>
            </a:r>
            <a:r>
              <a:rPr lang="de-DE" dirty="0" err="1"/>
              <a:t>for</a:t>
            </a:r>
            <a:r>
              <a:rPr lang="de-DE" dirty="0"/>
              <a:t> All Milestones: Mixed </a:t>
            </a:r>
            <a:r>
              <a:rPr lang="de-DE" dirty="0" err="1"/>
              <a:t>Criticality</a:t>
            </a:r>
            <a:r>
              <a:rPr lang="de-DE" dirty="0"/>
              <a:t> Scheduling,” 2026. [Online]. </a:t>
            </a:r>
            <a:r>
              <a:rPr lang="de-DE" dirty="0" err="1"/>
              <a:t>Available</a:t>
            </a:r>
            <a:r>
              <a:rPr lang="de-DE" dirty="0"/>
              <a:t>: ai_usage_protocol_2210026_All_Milestones.json. </a:t>
            </a:r>
            <a:r>
              <a:rPr lang="de-DE" dirty="0" err="1"/>
              <a:t>Accessed</a:t>
            </a:r>
            <a:r>
              <a:rPr lang="de-DE" dirty="0"/>
              <a:t>: 2026.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49173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ACA37-32B3-F8DC-C407-B770EAA17F2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CE3ED2-7472-DE4C-975C-3FC79575B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1C536-9D42-3D7C-6251-2D6238BDC84F}"/>
              </a:ext>
            </a:extLst>
          </p:cNvPr>
          <p:cNvSpPr/>
          <p:nvPr/>
        </p:nvSpPr>
        <p:spPr>
          <a:xfrm>
            <a:off x="2318013" y="2657167"/>
            <a:ext cx="4080387" cy="1543665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b="1" dirty="0"/>
              <a:t>Q &amp; A</a:t>
            </a:r>
            <a:endParaRPr lang="en-DE" sz="4400" b="1" dirty="0"/>
          </a:p>
        </p:txBody>
      </p:sp>
    </p:spTree>
    <p:extLst>
      <p:ext uri="{BB962C8B-B14F-4D97-AF65-F5344CB8AC3E}">
        <p14:creationId xmlns:p14="http://schemas.microsoft.com/office/powerpoint/2010/main" val="1833517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863DB-2674-8F9D-471C-04435B15CC6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57B9B-4FE0-7003-CDC2-E7C1459D3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17</a:t>
            </a:fld>
            <a:endParaRPr lang="de-DE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FAEACD8-8B99-C28D-246F-C57A61FA6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500985"/>
              </p:ext>
            </p:extLst>
          </p:nvPr>
        </p:nvGraphicFramePr>
        <p:xfrm>
          <a:off x="522964" y="1496730"/>
          <a:ext cx="7686316" cy="444538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71877">
                  <a:extLst>
                    <a:ext uri="{9D8B030D-6E8A-4147-A177-3AD203B41FA5}">
                      <a16:colId xmlns:a16="http://schemas.microsoft.com/office/drawing/2014/main" val="163709971"/>
                    </a:ext>
                  </a:extLst>
                </a:gridCol>
                <a:gridCol w="2590940">
                  <a:extLst>
                    <a:ext uri="{9D8B030D-6E8A-4147-A177-3AD203B41FA5}">
                      <a16:colId xmlns:a16="http://schemas.microsoft.com/office/drawing/2014/main" val="2249496253"/>
                    </a:ext>
                  </a:extLst>
                </a:gridCol>
                <a:gridCol w="3823499">
                  <a:extLst>
                    <a:ext uri="{9D8B030D-6E8A-4147-A177-3AD203B41FA5}">
                      <a16:colId xmlns:a16="http://schemas.microsoft.com/office/drawing/2014/main" val="4061289392"/>
                    </a:ext>
                  </a:extLst>
                </a:gridCol>
              </a:tblGrid>
              <a:tr h="278825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Assumption</a:t>
                      </a:r>
                    </a:p>
                  </a:txBody>
                  <a:tcPr marL="67300" marR="67300" marT="33650" marB="3365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Name</a:t>
                      </a:r>
                    </a:p>
                  </a:txBody>
                  <a:tcPr marL="67300" marR="67300" marT="33650" marB="3365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600" dirty="0"/>
                        <a:t>Description</a:t>
                      </a:r>
                    </a:p>
                  </a:txBody>
                  <a:tcPr marL="67300" marR="67300" marT="33650" marB="336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869039"/>
                  </a:ext>
                </a:extLst>
              </a:tr>
              <a:tr h="497339"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A1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Single-Core Processor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All tasks execute on a single processor.</a:t>
                      </a:r>
                    </a:p>
                  </a:txBody>
                  <a:tcPr marL="67300" marR="67300" marT="33650" marB="33650" anchor="ctr"/>
                </a:tc>
                <a:extLst>
                  <a:ext uri="{0D108BD9-81ED-4DB2-BD59-A6C34878D82A}">
                    <a16:rowId xmlns:a16="http://schemas.microsoft.com/office/drawing/2014/main" val="3690087180"/>
                  </a:ext>
                </a:extLst>
              </a:tr>
              <a:tr h="497339"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A2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Preemptive Scheduling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Tasks can be interrupted at any time.</a:t>
                      </a:r>
                    </a:p>
                  </a:txBody>
                  <a:tcPr marL="67300" marR="67300" marT="33650" marB="33650" anchor="ctr"/>
                </a:tc>
                <a:extLst>
                  <a:ext uri="{0D108BD9-81ED-4DB2-BD59-A6C34878D82A}">
                    <a16:rowId xmlns:a16="http://schemas.microsoft.com/office/drawing/2014/main" val="2485137357"/>
                  </a:ext>
                </a:extLst>
              </a:tr>
              <a:tr h="715853"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A3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Deterministic WCET Bounds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(</a:t>
                      </a:r>
                      <a:r>
                        <a:rPr lang="en-US" sz="1600" dirty="0" err="1"/>
                        <a:t>C_i</a:t>
                      </a:r>
                      <a:r>
                        <a:rPr lang="en-US" sz="1600" dirty="0"/>
                        <a:t>(LO)) and (</a:t>
                      </a:r>
                      <a:r>
                        <a:rPr lang="en-US" sz="1600" dirty="0" err="1"/>
                        <a:t>C_i</a:t>
                      </a:r>
                      <a:r>
                        <a:rPr lang="en-US" sz="1600" dirty="0"/>
                        <a:t>(HI)) are assumed to be safe upper bounds.</a:t>
                      </a:r>
                    </a:p>
                  </a:txBody>
                  <a:tcPr marL="67300" marR="67300" marT="33650" marB="33650" anchor="ctr"/>
                </a:tc>
                <a:extLst>
                  <a:ext uri="{0D108BD9-81ED-4DB2-BD59-A6C34878D82A}">
                    <a16:rowId xmlns:a16="http://schemas.microsoft.com/office/drawing/2014/main" val="3410816315"/>
                  </a:ext>
                </a:extLst>
              </a:tr>
              <a:tr h="934368"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A4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r>
                        <a:rPr lang="de-DE" sz="1600" dirty="0"/>
                        <a:t>Periodic/Sporadic Tasks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Tasks are released periodically or with a minimum inter-arrival time (</a:t>
                      </a:r>
                      <a:r>
                        <a:rPr lang="en-US" sz="1600" dirty="0" err="1"/>
                        <a:t>T_i</a:t>
                      </a:r>
                      <a:r>
                        <a:rPr lang="en-US" sz="1600" dirty="0"/>
                        <a:t>).</a:t>
                      </a:r>
                    </a:p>
                  </a:txBody>
                  <a:tcPr marL="67300" marR="67300" marT="33650" marB="33650" anchor="ctr"/>
                </a:tc>
                <a:extLst>
                  <a:ext uri="{0D108BD9-81ED-4DB2-BD59-A6C34878D82A}">
                    <a16:rowId xmlns:a16="http://schemas.microsoft.com/office/drawing/2014/main" val="909386056"/>
                  </a:ext>
                </a:extLst>
              </a:tr>
              <a:tr h="497339">
                <a:tc>
                  <a:txBody>
                    <a:bodyPr/>
                    <a:lstStyle/>
                    <a:p>
                      <a:pPr algn="ctr"/>
                      <a:r>
                        <a:rPr lang="de-DE" sz="1600"/>
                        <a:t>A5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Two-Level Criticality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/>
                        <a:t>Tasks are classified only as LO or HI criticality.</a:t>
                      </a:r>
                    </a:p>
                  </a:txBody>
                  <a:tcPr marL="67300" marR="67300" marT="33650" marB="33650" anchor="ctr"/>
                </a:tc>
                <a:extLst>
                  <a:ext uri="{0D108BD9-81ED-4DB2-BD59-A6C34878D82A}">
                    <a16:rowId xmlns:a16="http://schemas.microsoft.com/office/drawing/2014/main" val="260416531"/>
                  </a:ext>
                </a:extLst>
              </a:tr>
              <a:tr h="934368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A6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Negligible Overhead</a:t>
                      </a:r>
                    </a:p>
                  </a:txBody>
                  <a:tcPr marL="67300" marR="67300" marT="33650" marB="336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Scheduling and mode-switch overhead are assumed small compared to execution times.</a:t>
                      </a:r>
                    </a:p>
                  </a:txBody>
                  <a:tcPr marL="67300" marR="67300" marT="33650" marB="33650" anchor="ctr"/>
                </a:tc>
                <a:extLst>
                  <a:ext uri="{0D108BD9-81ED-4DB2-BD59-A6C34878D82A}">
                    <a16:rowId xmlns:a16="http://schemas.microsoft.com/office/drawing/2014/main" val="179065231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E9B8F3D-1C19-540B-D269-654EF3E17CFA}"/>
              </a:ext>
            </a:extLst>
          </p:cNvPr>
          <p:cNvSpPr txBox="1"/>
          <p:nvPr/>
        </p:nvSpPr>
        <p:spPr>
          <a:xfrm>
            <a:off x="522964" y="852049"/>
            <a:ext cx="29314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DE" sz="3200" b="1" i="1" dirty="0">
                <a:latin typeface="Source Sans Pro"/>
                <a:ea typeface="+mj-ea"/>
              </a:rPr>
              <a:t>Assumptions</a:t>
            </a:r>
          </a:p>
        </p:txBody>
      </p:sp>
    </p:spTree>
    <p:extLst>
      <p:ext uri="{BB962C8B-B14F-4D97-AF65-F5344CB8AC3E}">
        <p14:creationId xmlns:p14="http://schemas.microsoft.com/office/powerpoint/2010/main" val="4167742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41FE-F383-7335-0B36-EE8BB775DC0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916D949-773C-3845-BFBA-C7D9987445EE}" type="datetime1">
              <a:rPr lang="de-DE" smtClean="0"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D77B9-FF46-56DE-CC30-14BC2D8AA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18</a:t>
            </a:fld>
            <a:endParaRPr lang="de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7BBAA5-7879-4FE2-EAB1-331D7823D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82968"/>
              </p:ext>
            </p:extLst>
          </p:nvPr>
        </p:nvGraphicFramePr>
        <p:xfrm>
          <a:off x="1219273" y="1360858"/>
          <a:ext cx="6267377" cy="45890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7884">
                  <a:extLst>
                    <a:ext uri="{9D8B030D-6E8A-4147-A177-3AD203B41FA5}">
                      <a16:colId xmlns:a16="http://schemas.microsoft.com/office/drawing/2014/main" val="1830311554"/>
                    </a:ext>
                  </a:extLst>
                </a:gridCol>
                <a:gridCol w="1891014">
                  <a:extLst>
                    <a:ext uri="{9D8B030D-6E8A-4147-A177-3AD203B41FA5}">
                      <a16:colId xmlns:a16="http://schemas.microsoft.com/office/drawing/2014/main" val="3587051028"/>
                    </a:ext>
                  </a:extLst>
                </a:gridCol>
                <a:gridCol w="3348479">
                  <a:extLst>
                    <a:ext uri="{9D8B030D-6E8A-4147-A177-3AD203B41FA5}">
                      <a16:colId xmlns:a16="http://schemas.microsoft.com/office/drawing/2014/main" val="4270863625"/>
                    </a:ext>
                  </a:extLst>
                </a:gridCol>
              </a:tblGrid>
              <a:tr h="219317"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/>
                        <a:t>Assumption</a:t>
                      </a:r>
                    </a:p>
                  </a:txBody>
                  <a:tcPr marL="41053" marR="41053" marT="20526" marB="2052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/>
                        <a:t>Name</a:t>
                      </a:r>
                    </a:p>
                  </a:txBody>
                  <a:tcPr marL="41053" marR="41053" marT="20526" marB="20526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/>
                        <a:t>Description</a:t>
                      </a:r>
                    </a:p>
                  </a:txBody>
                  <a:tcPr marL="41053" marR="41053" marT="20526" marB="20526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310894"/>
                  </a:ext>
                </a:extLst>
              </a:tr>
              <a:tr h="285523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A1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Single-Core Processor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All tasks execute on a single processor.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3477715349"/>
                  </a:ext>
                </a:extLst>
              </a:tr>
              <a:tr h="285523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A2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Preemptive Scheduling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Jobs may be preempted at any instant.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1665248160"/>
                  </a:ext>
                </a:extLst>
              </a:tr>
              <a:tr h="407890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A3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Task Independence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Tasks are independent and do not share synchronization objects.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540770201"/>
                  </a:ext>
                </a:extLst>
              </a:tr>
              <a:tr h="407890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A4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Deterministic WCET Bounds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The values (</a:t>
                      </a:r>
                      <a:r>
                        <a:rPr lang="en-US" sz="1400" dirty="0" err="1"/>
                        <a:t>C_i</a:t>
                      </a:r>
                      <a:r>
                        <a:rPr lang="en-US" sz="1400" dirty="0"/>
                        <a:t>(LO)) and (</a:t>
                      </a:r>
                      <a:r>
                        <a:rPr lang="en-US" sz="1400" dirty="0" err="1"/>
                        <a:t>C_i</a:t>
                      </a:r>
                      <a:r>
                        <a:rPr lang="en-US" sz="1400" dirty="0"/>
                        <a:t>(HI)) are assumed to be safe upper bounds.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2435841845"/>
                  </a:ext>
                </a:extLst>
              </a:tr>
              <a:tr h="652625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A5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Periodic/Sporadic </a:t>
                      </a:r>
                      <a:r>
                        <a:rPr lang="de-DE" sz="1400" dirty="0" err="1"/>
                        <a:t>Activation</a:t>
                      </a:r>
                      <a:endParaRPr lang="de-DE" sz="1400" dirty="0"/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Tasks are released periodically or sporadically with minimum inter-arrival time (T_i).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3626928478"/>
                  </a:ext>
                </a:extLst>
              </a:tr>
              <a:tr h="530258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A6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No </a:t>
                      </a:r>
                      <a:r>
                        <a:rPr lang="de-DE" sz="1400" dirty="0" err="1"/>
                        <a:t>Resource</a:t>
                      </a:r>
                      <a:r>
                        <a:rPr lang="de-DE" sz="1400" dirty="0"/>
                        <a:t> Sharing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semaphores, mutexes, or shared I/O resources are considered.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3594458917"/>
                  </a:ext>
                </a:extLst>
              </a:tr>
              <a:tr h="407890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A7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Instant Mode Switch </a:t>
                      </a:r>
                      <a:r>
                        <a:rPr lang="de-DE" sz="1400" dirty="0" err="1"/>
                        <a:t>Detection</a:t>
                      </a:r>
                      <a:endParaRPr lang="de-DE" sz="1400" dirty="0"/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Mode switch from LO to HI is assumed to be detected without delay.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1618196563"/>
                  </a:ext>
                </a:extLst>
              </a:tr>
              <a:tr h="530258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A8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Negligible</a:t>
                      </a:r>
                      <a:r>
                        <a:rPr lang="de-DE" sz="1400" dirty="0"/>
                        <a:t> </a:t>
                      </a:r>
                      <a:r>
                        <a:rPr lang="de-DE" sz="1400" dirty="0" err="1"/>
                        <a:t>Runtime</a:t>
                      </a:r>
                      <a:r>
                        <a:rPr lang="de-DE" sz="1400" dirty="0"/>
                        <a:t> Overhead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Scheduling, monitoring, and context-switch overheads are assumed small compared to WCET.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2397356010"/>
                  </a:ext>
                </a:extLst>
              </a:tr>
              <a:tr h="40789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A9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de-DE" sz="1400" dirty="0"/>
                        <a:t>Two-Level </a:t>
                      </a:r>
                      <a:r>
                        <a:rPr lang="de-DE" sz="1400" dirty="0" err="1"/>
                        <a:t>Criticality</a:t>
                      </a:r>
                      <a:r>
                        <a:rPr lang="de-DE" sz="1400" dirty="0"/>
                        <a:t> Model</a:t>
                      </a:r>
                    </a:p>
                  </a:txBody>
                  <a:tcPr marL="41053" marR="41053" marT="20526" marB="20526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Tasks are classified only into LO and HI criticality levels.</a:t>
                      </a:r>
                    </a:p>
                  </a:txBody>
                  <a:tcPr marL="41053" marR="41053" marT="20526" marB="20526" anchor="ctr"/>
                </a:tc>
                <a:extLst>
                  <a:ext uri="{0D108BD9-81ED-4DB2-BD59-A6C34878D82A}">
                    <a16:rowId xmlns:a16="http://schemas.microsoft.com/office/drawing/2014/main" val="133682267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D19F971-10FA-65F6-48F9-E65203A2E59E}"/>
              </a:ext>
            </a:extLst>
          </p:cNvPr>
          <p:cNvSpPr txBox="1"/>
          <p:nvPr/>
        </p:nvSpPr>
        <p:spPr>
          <a:xfrm>
            <a:off x="395588" y="712893"/>
            <a:ext cx="24714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DE" sz="3200" b="1" i="1" dirty="0">
                <a:latin typeface="Source Sans Pro"/>
                <a:ea typeface="+mj-ea"/>
              </a:rPr>
              <a:t>A</a:t>
            </a:r>
            <a:r>
              <a:rPr lang="de-DE" sz="3200" b="1" i="1" dirty="0">
                <a:latin typeface="Source Sans Pro"/>
                <a:ea typeface="+mj-ea"/>
              </a:rPr>
              <a:t>ssumption</a:t>
            </a:r>
            <a:r>
              <a:rPr lang="en-DE" sz="3200" b="1" i="1" dirty="0">
                <a:latin typeface="Source Sans Pro"/>
                <a:ea typeface="+mj-ea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233056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B6727F-A29C-678A-47E0-0D7FE46D1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20000"/>
            <a:ext cx="2895264" cy="660824"/>
          </a:xfrm>
        </p:spPr>
        <p:txBody>
          <a:bodyPr>
            <a:noAutofit/>
          </a:bodyPr>
          <a:lstStyle/>
          <a:p>
            <a:r>
              <a:rPr lang="de-DE" sz="3200" i="1" dirty="0"/>
              <a:t>System Model</a:t>
            </a:r>
            <a:endParaRPr lang="en-DE" sz="32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D0E17-961A-C295-699A-004C23232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</p:spPr>
        <p:txBody>
          <a:bodyPr/>
          <a:lstStyle/>
          <a:p>
            <a:fld id="{C916D949-773C-3845-BFBA-C7D9987445EE}" type="datetime1">
              <a:rPr lang="de-DE" smtClean="0"/>
              <a:pPr/>
              <a:t>13.07.2026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5034-C8F6-54ED-9490-7006CA9DE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</p:spPr>
        <p:txBody>
          <a:bodyPr/>
          <a:lstStyle/>
          <a:p>
            <a:fld id="{E7BE1CCD-89A0-CC45-BF3E-2A331A7F0490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35849-AC90-98AB-3FAB-DFB305CE8133}"/>
              </a:ext>
            </a:extLst>
          </p:cNvPr>
          <p:cNvSpPr txBox="1"/>
          <p:nvPr/>
        </p:nvSpPr>
        <p:spPr>
          <a:xfrm>
            <a:off x="648000" y="1496533"/>
            <a:ext cx="598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consists of a set of sporadic/periodic tasks:</a:t>
            </a:r>
            <a:endParaRPr lang="en-DE" dirty="0"/>
          </a:p>
        </p:txBody>
      </p:sp>
      <p:pic>
        <p:nvPicPr>
          <p:cNvPr id="7" name="Picture 6" descr="\documentclass{article}&#10;\usepackage{amsmath}&#10;\pagestyle{empty}&#10;\begin{document}&#10;&#10;&#10;\[&#10;T = \{\tau_1, \tau_2, \ldots, \tau_n\}&#10;\]&#10;&#10;\end{document}" title="IguanaTex Bitmap Display">
            <a:extLst>
              <a:ext uri="{FF2B5EF4-FFF2-40B4-BE49-F238E27FC236}">
                <a16:creationId xmlns:a16="http://schemas.microsoft.com/office/drawing/2014/main" id="{1B17D2B7-F437-A4A9-88E2-70E4F0FEE7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326384" y="1968191"/>
            <a:ext cx="2121143" cy="254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43B83C-91EA-D92C-BFE4-A5FFA6B34D0D}"/>
              </a:ext>
            </a:extLst>
          </p:cNvPr>
          <p:cNvSpPr txBox="1"/>
          <p:nvPr/>
        </p:nvSpPr>
        <p:spPr>
          <a:xfrm>
            <a:off x="648000" y="23509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τᵢ is defined as:</a:t>
            </a:r>
            <a:endParaRPr lang="en-DE" dirty="0"/>
          </a:p>
        </p:txBody>
      </p:sp>
      <p:pic>
        <p:nvPicPr>
          <p:cNvPr id="11" name="Picture 10" descr="\documentclass{article}&#10;\usepackage{amsmath}&#10;\pagestyle{empty}&#10;\begin{document}&#10;&#10;&#10;\[&#10;\tau_i = \left(T_i, D_i, C_i(LO), C_i(HI), L_i\right)&#10;\]&#10;&#10;\end{document}" title="IguanaTex Bitmap Display">
            <a:extLst>
              <a:ext uri="{FF2B5EF4-FFF2-40B4-BE49-F238E27FC236}">
                <a16:creationId xmlns:a16="http://schemas.microsoft.com/office/drawing/2014/main" id="{9D7209F6-FDE8-BE62-081E-F4801A0E2D2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619792" y="2854255"/>
            <a:ext cx="3585524" cy="254476"/>
          </a:xfrm>
          <a:prstGeom prst="rect">
            <a:avLst/>
          </a:prstGeom>
        </p:spPr>
      </p:pic>
      <p:pic>
        <p:nvPicPr>
          <p:cNvPr id="37" name="Picture 36" descr="\documentclass{article}&#10;\usepackage{amsmath}&#10;\pagestyle{empty}&#10;&#10;\begin{document}&#10;&#10;\vspace{0.5em}&#10;&#10;\begin{tabular}{|c|}&#10;\hline&#10;$T_i$   \\&#10;\hline&#10;$D_i$   \\&#10;\hline&#10;$C_i(LO)$   \\&#10;\hline&#10;$C_i(HI)$   \\&#10;\hline&#10;$L_i \in \{LO, HI\}$   \\&#10;\hline&#10;\end{tabular}&#10;&#10;\end{document}" title="IguanaTex Bitmap Display">
            <a:extLst>
              <a:ext uri="{FF2B5EF4-FFF2-40B4-BE49-F238E27FC236}">
                <a16:creationId xmlns:a16="http://schemas.microsoft.com/office/drawing/2014/main" id="{7135526C-6A15-FC2F-05F2-1521DDA0AE2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18092" y="3376243"/>
            <a:ext cx="1161085" cy="100510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A9E0163-D1E9-964B-FAB4-8E85E85E0C3A}"/>
              </a:ext>
            </a:extLst>
          </p:cNvPr>
          <p:cNvSpPr txBox="1"/>
          <p:nvPr/>
        </p:nvSpPr>
        <p:spPr>
          <a:xfrm>
            <a:off x="2729567" y="3261233"/>
            <a:ext cx="4478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period (minimum inter-arrival time between task releases).</a:t>
            </a:r>
            <a:endParaRPr lang="en-DE" sz="1400" i="1" dirty="0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10591F03-4BDB-D14F-8E4F-B6A6D1CA4F0E}"/>
              </a:ext>
            </a:extLst>
          </p:cNvPr>
          <p:cNvSpPr/>
          <p:nvPr/>
        </p:nvSpPr>
        <p:spPr>
          <a:xfrm>
            <a:off x="2193044" y="3369267"/>
            <a:ext cx="422656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DAEA9974-BBC6-180F-DDF4-2ADB44C9DA7E}"/>
              </a:ext>
            </a:extLst>
          </p:cNvPr>
          <p:cNvSpPr/>
          <p:nvPr/>
        </p:nvSpPr>
        <p:spPr>
          <a:xfrm>
            <a:off x="2193044" y="3563417"/>
            <a:ext cx="422656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5873301C-D93D-F9B2-7A08-A85C5C732997}"/>
              </a:ext>
            </a:extLst>
          </p:cNvPr>
          <p:cNvSpPr/>
          <p:nvPr/>
        </p:nvSpPr>
        <p:spPr>
          <a:xfrm>
            <a:off x="2193044" y="3766740"/>
            <a:ext cx="422656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73DB426A-5ABA-4EEA-3196-AF22B7ECF2E8}"/>
              </a:ext>
            </a:extLst>
          </p:cNvPr>
          <p:cNvSpPr/>
          <p:nvPr/>
        </p:nvSpPr>
        <p:spPr>
          <a:xfrm>
            <a:off x="2193044" y="3984680"/>
            <a:ext cx="422656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EB527B5A-049A-DA90-4BE5-633D327B2089}"/>
              </a:ext>
            </a:extLst>
          </p:cNvPr>
          <p:cNvSpPr/>
          <p:nvPr/>
        </p:nvSpPr>
        <p:spPr>
          <a:xfrm>
            <a:off x="2193044" y="4217591"/>
            <a:ext cx="422656" cy="163757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AD4697-6FBB-8572-9D4F-3908EAAAD662}"/>
              </a:ext>
            </a:extLst>
          </p:cNvPr>
          <p:cNvSpPr txBox="1"/>
          <p:nvPr/>
        </p:nvSpPr>
        <p:spPr>
          <a:xfrm>
            <a:off x="2729567" y="3481712"/>
            <a:ext cx="23986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relative deadline, with Dᵢ ≤ Tᵢ .</a:t>
            </a:r>
            <a:endParaRPr lang="en-DE" sz="1400" i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75AFD6-4D51-7EEB-2F54-03FECCE4D611}"/>
              </a:ext>
            </a:extLst>
          </p:cNvPr>
          <p:cNvSpPr txBox="1"/>
          <p:nvPr/>
        </p:nvSpPr>
        <p:spPr>
          <a:xfrm>
            <a:off x="2729567" y="3700394"/>
            <a:ext cx="3564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execution time under low-assurance analysis.</a:t>
            </a:r>
            <a:endParaRPr lang="en-DE" sz="1400" i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A9FD1-9A85-2B52-BED7-6A09390DB377}"/>
              </a:ext>
            </a:extLst>
          </p:cNvPr>
          <p:cNvSpPr txBox="1"/>
          <p:nvPr/>
        </p:nvSpPr>
        <p:spPr>
          <a:xfrm>
            <a:off x="2714327" y="39098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execution time under high-assurance analysis.</a:t>
            </a:r>
            <a:endParaRPr lang="en-DE" sz="1400" i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7ED353-5124-B316-CF51-F7F2DCD8502D}"/>
              </a:ext>
            </a:extLst>
          </p:cNvPr>
          <p:cNvSpPr txBox="1"/>
          <p:nvPr/>
        </p:nvSpPr>
        <p:spPr>
          <a:xfrm>
            <a:off x="2698314" y="41395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/>
              <a:t>task criticality level.</a:t>
            </a:r>
            <a:endParaRPr lang="en-DE" sz="1400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CECAAC5-5AB2-E424-EFE4-45858343AA11}"/>
              </a:ext>
            </a:extLst>
          </p:cNvPr>
          <p:cNvSpPr txBox="1"/>
          <p:nvPr/>
        </p:nvSpPr>
        <p:spPr>
          <a:xfrm>
            <a:off x="648000" y="4534573"/>
            <a:ext cx="6560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high-criticality task is modeled with two execution budgets: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E54B17-F48E-2C2D-DE7A-4189E293EBD0}"/>
              </a:ext>
            </a:extLst>
          </p:cNvPr>
          <p:cNvSpPr txBox="1"/>
          <p:nvPr/>
        </p:nvSpPr>
        <p:spPr>
          <a:xfrm>
            <a:off x="1498634" y="4904085"/>
            <a:ext cx="5300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optimistic (LO) estimate. 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conservative (HI) certification-bound estimate.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C737DC-8EE7-A728-01F7-9E17E5C43D2D}"/>
              </a:ext>
            </a:extLst>
          </p:cNvPr>
          <p:cNvSpPr txBox="1"/>
          <p:nvPr/>
        </p:nvSpPr>
        <p:spPr>
          <a:xfrm>
            <a:off x="4175344" y="4126865"/>
            <a:ext cx="474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[4]</a:t>
            </a:r>
            <a:endParaRPr lang="en-DE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82D95-D1AE-C350-552D-F00AD93CE0F2}"/>
              </a:ext>
            </a:extLst>
          </p:cNvPr>
          <p:cNvSpPr txBox="1"/>
          <p:nvPr/>
        </p:nvSpPr>
        <p:spPr>
          <a:xfrm>
            <a:off x="576792" y="5603828"/>
            <a:ext cx="7955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 how mixed-criticality scheduling maintains safety under execution overruns while improving processor utilization.</a:t>
            </a:r>
          </a:p>
        </p:txBody>
      </p:sp>
    </p:spTree>
    <p:extLst>
      <p:ext uri="{BB962C8B-B14F-4D97-AF65-F5344CB8AC3E}">
        <p14:creationId xmlns:p14="http://schemas.microsoft.com/office/powerpoint/2010/main" val="769480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EEE1-D725-4B0C-051C-EF226CC40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49" y="638517"/>
            <a:ext cx="1333199" cy="800296"/>
          </a:xfrm>
        </p:spPr>
        <p:txBody>
          <a:bodyPr/>
          <a:lstStyle/>
          <a:p>
            <a:r>
              <a:rPr lang="de-DE" dirty="0"/>
              <a:t>Note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18EDCF-65FB-6C34-01BC-97770A7ACFE7}"/>
              </a:ext>
            </a:extLst>
          </p:cNvPr>
          <p:cNvSpPr txBox="1"/>
          <p:nvPr/>
        </p:nvSpPr>
        <p:spPr>
          <a:xfrm>
            <a:off x="436549" y="1398216"/>
            <a:ext cx="79433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Same phenomenon appears at different abstraction levels in real-time systems: scheduling policy, execution-time analysis, numerical utilization, and runtime behavior. Each slide isolates one of these perspectives to avoid mixing concepts in a single view.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 algn="just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The first slide focuses on the </a:t>
            </a:r>
            <a:r>
              <a:rPr lang="en-US" b="1" dirty="0"/>
              <a:t>design-level</a:t>
            </a:r>
            <a:r>
              <a:rPr lang="en-US" dirty="0"/>
              <a:t> tradeoff between safety and efficiency using the compression factor x.</a:t>
            </a:r>
          </a:p>
          <a:p>
            <a:pPr marL="742950" lvl="1" indent="-285750" algn="just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The second slide explains the </a:t>
            </a:r>
            <a:r>
              <a:rPr lang="en-US" b="1" dirty="0"/>
              <a:t>analytical cause, namely WCET pessimism </a:t>
            </a:r>
            <a:r>
              <a:rPr lang="en-US" dirty="0"/>
              <a:t>and why reserved capacity is not fully used.</a:t>
            </a:r>
          </a:p>
          <a:p>
            <a:pPr marL="742950" lvl="1" indent="-285750" algn="just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The third slide translates this into a quantitative utilization loss, showing how much capacity is wasted in practice.</a:t>
            </a:r>
          </a:p>
          <a:p>
            <a:pPr marL="742950" lvl="1" indent="-285750" algn="just">
              <a:buClr>
                <a:srgbClr val="92D050"/>
              </a:buClr>
              <a:buFont typeface="Wingdings" panose="05000000000000000000" pitchFamily="2" charset="2"/>
              <a:buChar char="§"/>
            </a:pPr>
            <a:r>
              <a:rPr lang="en-US" dirty="0"/>
              <a:t>The fourth </a:t>
            </a:r>
            <a:r>
              <a:rPr lang="en-DE" dirty="0"/>
              <a:t>we </a:t>
            </a:r>
            <a:r>
              <a:rPr lang="en-US" dirty="0"/>
              <a:t>move</a:t>
            </a:r>
            <a:r>
              <a:rPr lang="en-DE" dirty="0"/>
              <a:t>d</a:t>
            </a:r>
            <a:r>
              <a:rPr lang="en-US" dirty="0"/>
              <a:t> to the </a:t>
            </a:r>
            <a:r>
              <a:rPr lang="en-US" b="1" dirty="0"/>
              <a:t>runtime perspective</a:t>
            </a:r>
            <a:r>
              <a:rPr lang="en-US" dirty="0"/>
              <a:t>, where mode switching leads to LO degradation and guarantees remain only for HI-criticality tasks.”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907144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6,468"/>
  <p:tag name="ORIGINALWIDTH" val="1405,324"/>
  <p:tag name="LATEXADDIN" val="\documentclass{article}&#10;\usepackage{amsmath}&#10;\pagestyle{empty}&#10;\begin{document}&#10;&#10;\[&#10;U = \frac{5}{20} + \frac{6}{20} + \frac{10}{20} = 1.05&#10;\]&#10;&#10;&#10;\end{document}"/>
  <p:tag name="IGUANATEXSIZE" val="18"/>
  <p:tag name="IGUANATEXCURSOR" val="141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7,2179"/>
  <p:tag name="ORIGINALWIDTH" val="1556,055"/>
  <p:tag name="LATEXADDIN" val="\documentclass{article}&#10;\usepackage{amsmath}&#10;\pagestyle{empty}&#10;\begin{document}&#10;&#10;\[&#10;U_{avg} = \frac{3}{20} + \frac{4}{20} + \frac{2}{20} = 0.45&#10;\]&#10;&#10;&#10;\end{document}"/>
  <p:tag name="IGUANATEXSIZE" val="18"/>
  <p:tag name="IGUANATEXCURSOR" val="146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1,4773"/>
  <p:tag name="ORIGINALWIDTH" val="1289,089"/>
  <p:tag name="LATEXADDIN" val="\documentclass{article}&#10;\usepackage{amsmath}&#10;\pagestyle{empty}&#10;\begin{document}&#10;&#10;$[&#10;U_{naive}=\sum_{\tau_i\in T}\frac{C_i(HI)}{T_i}&#10;]$&#10;&#10;&#10;\end{document}"/>
  <p:tag name="IGUANATEXSIZE" val="20"/>
  <p:tag name="IGUANATEXCURSOR" val="134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929,1339"/>
  <p:tag name="LATEXADDIN" val="\documentclass{article}&#10;\usepackage{amsmath}&#10;\pagestyle{empty}&#10;\begin{document}&#10;&#10;&#10;$[&#10;e_k(\tau_i) &gt; C_i(LO)&#10;]$&#10;&#10;\end{document}"/>
  <p:tag name="IGUANATEXSIZE" val="20"/>
  <p:tag name="IGUANATEXCURSOR" val="109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,4533"/>
  <p:tag name="ORIGINALWIDTH" val="2012,748"/>
  <p:tag name="LATEXADDIN" val="\documentclass{article}&#10;\usepackage{amsmath}&#10;\pagestyle{empty}&#10;&#10;\begin{document}&#10;&#10;\[&#10;\hat{D}_i =&#10;\begin{cases}&#10;xD_i, &amp; L_i = HI \\&#10;D_i, &amp; L_i = LO&#10;\end{cases}&#10;\qquad x \in (0,1]&#10;\]&#10;&#10;\end{document}"/>
  <p:tag name="IGUANATEXSIZE" val="20"/>
  <p:tag name="IGUANATEXCURSOR" val="196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929,1339"/>
  <p:tag name="LATEXADDIN" val="\documentclass{article}&#10;\usepackage{amsmath}&#10;\pagestyle{empty}&#10;\begin{document}&#10;&#10;&#10;$[&#10;e_k(\tau_i) &gt; C_i(LO)&#10;]$&#10;&#10;\end{document}"/>
  <p:tag name="IGUANATEXSIZE" val="20"/>
  <p:tag name="IGUANATEXCURSOR" val="109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7,4653"/>
  <p:tag name="ORIGINALWIDTH" val="889,3888"/>
  <p:tag name="LATEXADDIN" val="\documentclass{article}&#10;\usepackage{amsmath}&#10;\pagestyle{empty}&#10;\begin{document}&#10;&#10;&#10;\[&#10;B_{LO} = 1 - \frac{U_{HI}^{LO}}{x}&#10;\]&#10;&#10;\end{document}"/>
  <p:tag name="IGUANATEXSIZE" val="20"/>
  <p:tag name="IGUANATEXCURSOR" val="122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,7131"/>
  <p:tag name="ORIGINALWIDTH" val="620,1724"/>
  <p:tag name="LATEXADDIN" val="\documentclass{article}&#10;\usepackage{amsmath}&#10;\pagestyle{empty}&#10;\begin{document}&#10;&#10;\[ \rho = \frac{C(HI)}{C(LO)}\]&#10;&#10;&#10;\end{document}"/>
  <p:tag name="IGUANATEXSIZE" val="20"/>
  <p:tag name="IGUANATEXCURSOR" val="84"/>
  <p:tag name="TRANSPARENCY" val="True"/>
  <p:tag name="LATEXENGINEID" val="0"/>
  <p:tag name="TEMPFOLDER" val="C:\Users\nader\Downloads\IguanaTex\"/>
  <p:tag name="LATEXFORMHEIGHT" val="397,2"/>
  <p:tag name="LATEXFORMWIDTH" val="475,2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,7131"/>
  <p:tag name="ORIGINALWIDTH" val="1115,86"/>
  <p:tag name="LATEXADDIN" val="\documentclass{article}&#10;\usepackage{amsmath}&#10;\pagestyle{empty}&#10;\begin{document}&#10;&#10;\[&#10;\rho&#10;=&#10;\frac{C(HI)}{C(LO)}&#10;=&#10;\frac{6}{2}&#10;=&#10;3&#10;\]&#10;&#10;&#10;\end{document}"/>
  <p:tag name="IGUANATEXSIZE" val="20"/>
  <p:tag name="IGUANATEXCURSOR" val="131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,718"/>
  <p:tag name="ORIGINALWIDTH" val="882,6397"/>
  <p:tag name="LATEXADDIN" val="\documentclass{article}&#10;\usepackage{amsmath}&#10;\pagestyle{empty}&#10;\begin{document}&#10;&#10;&#10;\[&#10;U_{HI}^{LO}&#10;=&#10;\frac{2}{10}&#10;=&#10;0.2&#10;\]&#10;&#10;\end{document}"/>
  <p:tag name="IGUANATEXSIZE" val="20"/>
  <p:tag name="IGUANATEXCURSOR" val="117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5,718"/>
  <p:tag name="ORIGINALWIDTH" val="875,1406"/>
  <p:tag name="LATEXADDIN" val="\documentclass{article}&#10;\usepackage{amsmath}&#10;\pagestyle{empty}&#10;\begin{document}&#10;&#10;\[&#10;U_{HI}^{HI}&#10;=&#10;\frac{6}{10}&#10;=&#10;0.6&#10;\]&#10;&#10;&#10;\end{document}"/>
  <p:tag name="IGUANATEXSIZE" val="20"/>
  <p:tag name="IGUANATEXCURSOR" val="116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5,7105"/>
  <p:tag name="ORIGINALWIDTH" val="1988,002"/>
  <p:tag name="LATEXADDIN" val="\documentclass{article}&#10;\usepackage{amsmath}&#10;\pagestyle{empty}&#10;\begin{document}&#10;&#10;\[&#10;1-\frac{U_{HI}^{LO}}{U_{HI}^{HI}}&#10;=&#10;1-\frac{0.2}{0.6}&#10;=&#10;0.667&#10;\approx&#10;66.7\%&#10;\]&#10;&#10;\end{document}"/>
  <p:tag name="IGUANATEXSIZE" val="20"/>
  <p:tag name="IGUANATEXCURSOR" val="163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713,9108"/>
  <p:tag name="LATEXADDIN" val="\documentclass{article}&#10;\usepackage{amsmath}&#10;\pagestyle{empty}&#10;\begin{document}&#10;&#10;\[&#10;H = 1000\ \mathrm{ms}&#10;\]&#10;&#10;\end{document}"/>
  <p:tag name="IGUANATEXSIZE" val="20"/>
  <p:tag name="IGUANATEXCURSOR" val="108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1,9872"/>
  <p:tag name="ORIGINALWIDTH" val="638,9202"/>
  <p:tag name="LATEXADDIN" val="\documentclass{article}&#10;\usepackage{amsmath}&#10;\pagestyle{empty}&#10;\begin{document}&#10;&#10;\[&#10;t_s = 200\ \mathrm{ms}&#10;\]&#10;&#10;\end{document}"/>
  <p:tag name="IGUANATEXSIZE" val="20"/>
  <p:tag name="IGUANATEXCURSOR" val="125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811,774"/>
  <p:tag name="LATEXADDIN" val="\documentclass{article}&#10;\usepackage{amsmath}&#10;\pagestyle{empty}&#10;\begin{document}&#10;&#10;\[&#10;\text{LO Starvation}&#10;=&#10;H - (t_s \bmod H)&#10;\]&#10;&#10;\end{document}"/>
  <p:tag name="IGUANATEXSIZE" val="20"/>
  <p:tag name="IGUANATEXCURSOR" val="143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,48929"/>
  <p:tag name="ORIGINALWIDTH" val="1120,36"/>
  <p:tag name="LATEXADDIN" val="\documentclass{article}&#10;\usepackage{amsmath}&#10;\pagestyle{empty}&#10;\begin{document}&#10;&#10;\[&#10;1000 - 200 = 800\ \mathrm{ms}&#10;\]&#10;&#10;\end{document}C:\Users\nader\Downloads\IguanaTex"/>
  <p:tag name="IGUANATEXSIZE" val="20"/>
  <p:tag name="IGUANATEXCURSOR" val="166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,7372"/>
  <p:tag name="ORIGINALWIDTH" val="446,9441"/>
  <p:tag name="LATEXADDIN" val="\documentclass{article}&#10;\usepackage{amsmath}&#10;\pagestyle{empty}&#10;\begin{document}&#10;&#10;\[&#10;\alpha_{LO} \approx 1&#10;\]&#10;&#10;\end{document}"/>
  <p:tag name="IGUANATEXSIZE" val="20"/>
  <p:tag name="IGUANATEXCURSOR" val="124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,7372"/>
  <p:tag name="ORIGINALWIDTH" val="479,1901"/>
  <p:tag name="LATEXADDIN" val="\documentclass{article}&#10;\usepackage{amsmath}&#10;\pagestyle{empty}&#10;\begin{document}&#10;&#10;\[&#10;\alpha_{LO} \rightarrow 0&#10;\]&#10;&#10;\end{document}"/>
  <p:tag name="IGUANATEXSIZE" val="20"/>
  <p:tag name="IGUANATEXCURSOR" val="128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,2175"/>
  <p:tag name="ORIGINALWIDTH" val="2674,166"/>
  <p:tag name="LATEXADDIN" val="\documentclass{article}&#10;\usepackage{amsmath}&#10;\pagestyle{empty}&#10;\begin{document}&#10;&#10;\[&#10;\alpha_{LO}&#10;=&#10;\frac{\text{Time spent in LO-mode}}{H}&#10;=&#10;\frac{200\,\mathrm{ms}}{1000\,\mathrm{ms}}&#10;=&#10;0.2&#10;\]&#10;\end{document}"/>
  <p:tag name="IGUANATEXSIZE" val="20"/>
  <p:tag name="IGUANATEXCURSOR" val="205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043,87"/>
  <p:tag name="LATEXADDIN" val="\documentclass{article}&#10;\usepackage{amsmath}&#10;\pagestyle{empty}&#10;\begin{document}&#10;&#10;&#10;\[&#10;T = \{\tau_1, \tau_2, \ldots, \tau_n\}&#10;\]&#10;&#10;\end{document}"/>
  <p:tag name="IGUANATEXSIZE" val="20"/>
  <p:tag name="IGUANATEXCURSOR" val="126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,2343"/>
  <p:tag name="ORIGINALWIDTH" val="1764,529"/>
  <p:tag name="LATEXADDIN" val="\documentclass{article}&#10;\usepackage{amsmath}&#10;\pagestyle{empty}&#10;\begin{document}&#10;&#10;&#10;\[&#10;\tau_i = \left(T_i, D_i, C_i(LO), C_i(HI), L_i\right)&#10;\]&#10;&#10;\end{document}"/>
  <p:tag name="IGUANATEXSIZE" val="20"/>
  <p:tag name="IGUANATEXCURSOR" val="141"/>
  <p:tag name="TRANSPARENCY" val="True"/>
  <p:tag name="LATEXENGINEID" val="0"/>
  <p:tag name="TEMPFOLDER" val="C:\Users\nader\Downloads\Iguana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77,6528"/>
  <p:tag name="ORIGINALWIDTH" val="974,1282"/>
  <p:tag name="LATEXADDIN" val="\documentclass{article}&#10;\usepackage{amsmath}&#10;\pagestyle{empty}&#10;&#10;\begin{document}&#10;&#10;\vspace{0.5em}&#10;&#10;\begin{tabular}{|c|}&#10;\hline&#10;$T_i$   \\&#10;\hline&#10;$D_i$   \\&#10;\hline&#10;$C_i(LO)$   \\&#10;\hline&#10;$C_i(HI)$   \\&#10;\hline&#10;$L_i \in \{LO, HI\}$   \\&#10;\hline&#10;\end{tabular}&#10;&#10;\end{document}"/>
  <p:tag name="IGUANATEXSIZE" val="20"/>
  <p:tag name="IGUANATEXCURSOR" val="227"/>
  <p:tag name="TRANSPARENCY" val="True"/>
  <p:tag name="LATEXENGINEID" val="0"/>
  <p:tag name="TEMPFOLDER" val="C:\Users\nader\Downloads\IguanaTex\"/>
  <p:tag name="LATEXFORMHEIGHT" val="438"/>
  <p:tag name="LATEXFORMWIDTH" val="542,4"/>
  <p:tag name="LATEXFORMWRAP" val="True"/>
  <p:tag name="BITMAPVECTOR" val="0"/>
</p:tagLst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0</TotalTime>
  <Words>1855</Words>
  <Application>Microsoft Office PowerPoint</Application>
  <PresentationFormat>On-screen Show (4:3)</PresentationFormat>
  <Paragraphs>311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Helvetica World</vt:lpstr>
      <vt:lpstr>Open Sans</vt:lpstr>
      <vt:lpstr>Source Sans Pro</vt:lpstr>
      <vt:lpstr>Wingdings</vt:lpstr>
      <vt:lpstr>Office-Design</vt:lpstr>
      <vt:lpstr>Office Theme</vt:lpstr>
      <vt:lpstr>PowerPoint Presentation</vt:lpstr>
      <vt:lpstr>Motivation</vt:lpstr>
      <vt:lpstr>2. Classical RTS Pitfalls</vt:lpstr>
      <vt:lpstr>3. Single WCET Failure in Practice</vt:lpstr>
      <vt:lpstr>The Vestal Model</vt:lpstr>
      <vt:lpstr>Mode Switching Concept</vt:lpstr>
      <vt:lpstr>EDF with Virtual Deadlines (EDF-VD)</vt:lpstr>
      <vt:lpstr>Tradeoffs</vt:lpstr>
      <vt:lpstr>2. WCET Pessimism vs Utilization</vt:lpstr>
      <vt:lpstr>Tradeoffs</vt:lpstr>
      <vt:lpstr>Tradeoffs</vt:lpstr>
      <vt:lpstr>Limitations</vt:lpstr>
      <vt:lpstr>Conclusion</vt:lpstr>
      <vt:lpstr>References</vt:lpstr>
      <vt:lpstr>References</vt:lpstr>
      <vt:lpstr>PowerPoint Presentation</vt:lpstr>
      <vt:lpstr>PowerPoint Presentation</vt:lpstr>
      <vt:lpstr>PowerPoint Presentation</vt:lpstr>
      <vt:lpstr>System Model</vt:lpstr>
      <vt:lpstr>Note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nader yahia</dc:creator>
  <cp:lastModifiedBy>nader yahia</cp:lastModifiedBy>
  <cp:revision>137</cp:revision>
  <dcterms:created xsi:type="dcterms:W3CDTF">2026-06-13T16:58:24Z</dcterms:created>
  <dcterms:modified xsi:type="dcterms:W3CDTF">2026-07-13T17:30:32Z</dcterms:modified>
</cp:coreProperties>
</file>