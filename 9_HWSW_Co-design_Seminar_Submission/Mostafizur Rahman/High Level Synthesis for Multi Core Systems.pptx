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2.xml" ContentType="application/vnd.openxmlformats-officedocument.presentationml.notesSlide+xml"/>
  <Override PartName="/ppt/charts/chart3.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18"/>
  </p:notesMasterIdLst>
  <p:sldIdLst>
    <p:sldId id="270" r:id="rId3"/>
    <p:sldId id="271" r:id="rId4"/>
    <p:sldId id="258" r:id="rId5"/>
    <p:sldId id="272" r:id="rId6"/>
    <p:sldId id="273" r:id="rId7"/>
    <p:sldId id="260" r:id="rId8"/>
    <p:sldId id="261" r:id="rId9"/>
    <p:sldId id="262" r:id="rId10"/>
    <p:sldId id="263" r:id="rId11"/>
    <p:sldId id="269" r:id="rId12"/>
    <p:sldId id="264" r:id="rId13"/>
    <p:sldId id="265" r:id="rId14"/>
    <p:sldId id="266" r:id="rId15"/>
    <p:sldId id="267" r:id="rId16"/>
    <p:sldId id="268"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81" autoAdjust="0"/>
    <p:restoredTop sz="94610"/>
  </p:normalViewPr>
  <p:slideViewPr>
    <p:cSldViewPr snapToGrid="0" snapToObjects="1">
      <p:cViewPr varScale="1">
        <p:scale>
          <a:sx n="78" d="100"/>
          <a:sy n="78" d="100"/>
        </p:scale>
        <p:origin x="65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Execution time (s)</c:v>
                </c:pt>
              </c:strCache>
            </c:strRef>
          </c:tx>
          <c:spPr>
            <a:solidFill>
              <a:srgbClr val="2563EB"/>
            </a:solidFill>
            <a:effectLst/>
          </c:spPr>
          <c:invertIfNegative val="0"/>
          <c:cat>
            <c:strRef>
              <c:f>Sheet1!$A$2:$A$4</c:f>
              <c:strCache>
                <c:ptCount val="3"/>
                <c:pt idx="0">
                  <c:v>K=1</c:v>
                </c:pt>
                <c:pt idx="1">
                  <c:v>K=2</c:v>
                </c:pt>
                <c:pt idx="2">
                  <c:v>K=4</c:v>
                </c:pt>
              </c:strCache>
            </c:strRef>
          </c:cat>
          <c:val>
            <c:numRef>
              <c:f>Sheet1!$B$2:$B$4</c:f>
              <c:numCache>
                <c:formatCode>General</c:formatCode>
                <c:ptCount val="3"/>
                <c:pt idx="0">
                  <c:v>2.2859999999999998E-3</c:v>
                </c:pt>
                <c:pt idx="1">
                  <c:v>1.346E-3</c:v>
                </c:pt>
                <c:pt idx="2">
                  <c:v>9.9200000000000004E-4</c:v>
                </c:pt>
              </c:numCache>
            </c:numRef>
          </c:val>
          <c:extLst>
            <c:ext xmlns:c16="http://schemas.microsoft.com/office/drawing/2014/chart" uri="{C3380CC4-5D6E-409C-BE32-E72D297353CC}">
              <c16:uniqueId val="{00000000-8A91-4159-8406-9D042950E3CA}"/>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ptos"/>
              </a:defRPr>
            </a:pPr>
            <a:endParaRPr lang="en-US"/>
          </a:p>
        </c:txPr>
        <c:crossAx val="2094734552"/>
        <c:crosses val="autoZero"/>
        <c:auto val="1"/>
        <c:lblAlgn val="ctr"/>
        <c:lblOffset val="100"/>
        <c:noMultiLvlLbl val="1"/>
      </c:catAx>
      <c:valAx>
        <c:axId val="2094734552"/>
        <c:scaling>
          <c:orientation val="minMax"/>
          <c:max val="2.5000000000000001E-3"/>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Measured</c:v>
                </c:pt>
              </c:strCache>
            </c:strRef>
          </c:tx>
          <c:spPr>
            <a:solidFill>
              <a:srgbClr val="10B981"/>
            </a:solidFill>
            <a:effectLst/>
          </c:spPr>
          <c:invertIfNegative val="0"/>
          <c:cat>
            <c:strRef>
              <c:f>Sheet1!$A$2:$A$4</c:f>
              <c:strCache>
                <c:ptCount val="3"/>
                <c:pt idx="0">
                  <c:v>K=1</c:v>
                </c:pt>
                <c:pt idx="1">
                  <c:v>K=2</c:v>
                </c:pt>
                <c:pt idx="2">
                  <c:v>K=4</c:v>
                </c:pt>
              </c:strCache>
            </c:strRef>
          </c:cat>
          <c:val>
            <c:numRef>
              <c:f>Sheet1!$B$2:$B$4</c:f>
              <c:numCache>
                <c:formatCode>General</c:formatCode>
                <c:ptCount val="3"/>
                <c:pt idx="0">
                  <c:v>1</c:v>
                </c:pt>
                <c:pt idx="1">
                  <c:v>1.7</c:v>
                </c:pt>
                <c:pt idx="2">
                  <c:v>2.31</c:v>
                </c:pt>
              </c:numCache>
            </c:numRef>
          </c:val>
          <c:extLst>
            <c:ext xmlns:c16="http://schemas.microsoft.com/office/drawing/2014/chart" uri="{C3380CC4-5D6E-409C-BE32-E72D297353CC}">
              <c16:uniqueId val="{00000000-477F-4001-9385-CDB3D87F2D44}"/>
            </c:ext>
          </c:extLst>
        </c:ser>
        <c:ser>
          <c:idx val="1"/>
          <c:order val="1"/>
          <c:tx>
            <c:strRef>
              <c:f>Sheet1!$C$1</c:f>
              <c:strCache>
                <c:ptCount val="1"/>
                <c:pt idx="0">
                  <c:v>Ideal</c:v>
                </c:pt>
              </c:strCache>
            </c:strRef>
          </c:tx>
          <c:spPr>
            <a:solidFill>
              <a:srgbClr val="D6DEE9"/>
            </a:solidFill>
            <a:effectLst/>
          </c:spPr>
          <c:invertIfNegative val="0"/>
          <c:cat>
            <c:strRef>
              <c:f>Sheet1!$A$2:$A$4</c:f>
              <c:strCache>
                <c:ptCount val="3"/>
                <c:pt idx="0">
                  <c:v>K=1</c:v>
                </c:pt>
                <c:pt idx="1">
                  <c:v>K=2</c:v>
                </c:pt>
                <c:pt idx="2">
                  <c:v>K=4</c:v>
                </c:pt>
              </c:strCache>
            </c:strRef>
          </c:cat>
          <c:val>
            <c:numRef>
              <c:f>Sheet1!$C$2:$C$4</c:f>
              <c:numCache>
                <c:formatCode>General</c:formatCode>
                <c:ptCount val="3"/>
                <c:pt idx="0">
                  <c:v>1</c:v>
                </c:pt>
                <c:pt idx="1">
                  <c:v>2</c:v>
                </c:pt>
                <c:pt idx="2">
                  <c:v>4</c:v>
                </c:pt>
              </c:numCache>
            </c:numRef>
          </c:val>
          <c:extLst>
            <c:ext xmlns:c16="http://schemas.microsoft.com/office/drawing/2014/chart" uri="{C3380CC4-5D6E-409C-BE32-E72D297353CC}">
              <c16:uniqueId val="{00000001-477F-4001-9385-CDB3D87F2D44}"/>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ptos"/>
              </a:defRPr>
            </a:pPr>
            <a:endParaRPr lang="en-US"/>
          </a:p>
        </c:txPr>
        <c:crossAx val="2094734552"/>
        <c:crosses val="autoZero"/>
        <c:auto val="1"/>
        <c:lblAlgn val="ctr"/>
        <c:lblOffset val="100"/>
        <c:noMultiLvlLbl val="1"/>
      </c:catAx>
      <c:valAx>
        <c:axId val="2094734552"/>
        <c:scaling>
          <c:orientation val="minMax"/>
          <c:max val="4.2"/>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LUTs used</c:v>
                </c:pt>
              </c:strCache>
            </c:strRef>
          </c:tx>
          <c:spPr>
            <a:solidFill>
              <a:srgbClr val="F59E0B"/>
            </a:solidFill>
            <a:effectLst/>
          </c:spPr>
          <c:invertIfNegative val="0"/>
          <c:cat>
            <c:strRef>
              <c:f>Sheet1!$A$2:$A$3</c:f>
              <c:strCache>
                <c:ptCount val="2"/>
                <c:pt idx="0">
                  <c:v>Separate</c:v>
                </c:pt>
                <c:pt idx="1">
                  <c:v>Shared</c:v>
                </c:pt>
              </c:strCache>
            </c:strRef>
          </c:cat>
          <c:val>
            <c:numRef>
              <c:f>Sheet1!$B$2:$B$3</c:f>
              <c:numCache>
                <c:formatCode>General</c:formatCode>
                <c:ptCount val="2"/>
                <c:pt idx="0">
                  <c:v>262</c:v>
                </c:pt>
                <c:pt idx="1">
                  <c:v>212</c:v>
                </c:pt>
              </c:numCache>
            </c:numRef>
          </c:val>
          <c:extLst>
            <c:ext xmlns:c16="http://schemas.microsoft.com/office/drawing/2014/chart" uri="{C3380CC4-5D6E-409C-BE32-E72D297353CC}">
              <c16:uniqueId val="{00000000-5C01-4560-9AB4-797E52DC9980}"/>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30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7925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topic. The talk connects HLS theory with three practical experiments: C++ scheduling, POSIX speedup, and Vivado LUT reduction.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HLS abstracts away RTL coding. The 6 stages proceed in sequence; multi-core adds PE partitioning and communication scheduling between stages 3 and 4.</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HLS as a hardware compiler. The important update in multi-core HLS is not just generating RTL; the tool must partition work, schedule communication, and decide what hardware is shared.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DFG is the core data structure in HLS. ASAP/ALAP bracket when an operation can run. Low mobility = critical path. Speedup formula from Amdahl's law family.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multi-core HLS problem is NP-hard in general. The four decision variables interact: a bad partition forces expensive communication, degrading the schedule.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simply: the scheduler picks ready operations, orders them by priority, and assigns them to free hardware. The binding cost shows why the tool must think about hardware paths and communication, not only operation type.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roadmap for the evidence. Emphasize that the work is not only literature: it includes scheduler logic, Linux pthread runtime, and FPGA synthesis results.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code only briefly. The main idea is that the scheduler checks if predecessors are done, then assigns the operation to a free PE. The result demonstrates a weakness: greedy scheduling ignores where operands are stored.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fixes the earlier greedy issue. By giving row 0 to PE1 and row 1 to PE2, the additions consume products from the same PE. There is no communication delay, so two cores achieve ideal speedup in this small hardware schedule.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pthread models one PE. Row partitioning directly maps to DFG partitioning. usleep() models HW operator latency; pthread_join models inter-PE synchronization overhead.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difference between theory and practice. More workers reduce runtime, but the speedup is sublinear. This supports the paper’s point that communication and synchronization overhead must be modeled.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hardware evidence. The shared design keeps the same inputs and outputs but reuses hardware internally. It saves 50 LUTs, or about 19.1 percent. Connect this directly to allocation and binding.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RTL output simply: HLS creates real hardware components and an FSM to activate them each clock cycle. Then mention practical limitations: exact optimization is hard, communication networks are complex, platforms are heterogeneous, and memory bandwidth can limit scaling.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final content slide. Restate the main result: HLS is not only automatic translation from C to RTL. Multi-core HLS must balance speed, communication, and area.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politely and invite questions. If asked about the main contribution, answer: the presentation connects multi-core HLS theory with original scheduler, POSIX, and Vivado synthesis experiments.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7031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6182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621900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8687549"/>
      </p:ext>
    </p:extLst>
  </p:cSld>
  <p:clrMap bg1="lt1" tx1="dk1" bg2="lt2" tx2="dk2" accent1="accent1" accent2="accent2" accent3="accent3" accent4="accent4" accent5="accent5" accent6="accent6" hlink="hlink" folHlink="folHlink"/>
  <p:sldLayoutIdLst>
    <p:sldLayoutId id="2147483651" r:id="rId1"/>
    <p:sldLayoutId id="2147483652"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618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61826"/>
          </a:solidFill>
          <a:ln w="12700">
            <a:solidFill>
              <a:srgbClr val="06182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DE" sz="1800" b="0" i="0" u="none" strike="noStrike" kern="1200" cap="none" spc="0" normalizeH="0" baseline="0" noProof="0">
              <a:ln>
                <a:noFill/>
              </a:ln>
              <a:solidFill>
                <a:prstClr val="black"/>
              </a:solidFill>
              <a:effectLst/>
              <a:uLnTx/>
              <a:uFillTx/>
              <a:latin typeface="Aptos"/>
              <a:ea typeface="+mn-ea"/>
              <a:cs typeface="+mn-cs"/>
            </a:endParaRPr>
          </a:p>
        </p:txBody>
      </p:sp>
      <p:sp>
        <p:nvSpPr>
          <p:cNvPr id="3" name="Shape 1"/>
          <p:cNvSpPr/>
          <p:nvPr/>
        </p:nvSpPr>
        <p:spPr>
          <a:xfrm>
            <a:off x="-28955" y="-109727"/>
            <a:ext cx="12191695" cy="6858000"/>
          </a:xfrm>
          <a:prstGeom prst="rect">
            <a:avLst/>
          </a:prstGeom>
          <a:solidFill>
            <a:srgbClr val="000000">
              <a:alpha val="0"/>
            </a:srgbClr>
          </a:solidFill>
          <a:ln w="12700">
            <a:solidFill>
              <a:srgbClr val="06182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DE"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Shape 2"/>
          <p:cNvSpPr/>
          <p:nvPr/>
        </p:nvSpPr>
        <p:spPr>
          <a:xfrm>
            <a:off x="0" y="6775704"/>
            <a:ext cx="12191695" cy="82296"/>
          </a:xfrm>
          <a:prstGeom prst="rect">
            <a:avLst/>
          </a:prstGeom>
          <a:solidFill>
            <a:srgbClr val="20D4F2">
              <a:alpha val="90000"/>
            </a:srgbClr>
          </a:solidFill>
          <a:ln w="12700">
            <a:solidFill>
              <a:srgbClr val="20D4F2">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DE" sz="1800" b="0" i="0" u="none" strike="noStrike" kern="1200" cap="none" spc="0" normalizeH="0" baseline="0" noProof="0">
              <a:ln>
                <a:noFill/>
              </a:ln>
              <a:solidFill>
                <a:prstClr val="black"/>
              </a:solidFill>
              <a:effectLst/>
              <a:uLnTx/>
              <a:uFillTx/>
              <a:latin typeface="Aptos"/>
              <a:ea typeface="+mn-ea"/>
              <a:cs typeface="+mn-cs"/>
            </a:endParaRPr>
          </a:p>
        </p:txBody>
      </p:sp>
      <p:pic>
        <p:nvPicPr>
          <p:cNvPr id="5" name="Image 0" descr="/mnt/data/a_high_tech_abstract_illustration_concept_art_of.png"/>
          <p:cNvPicPr>
            <a:picLocks noChangeAspect="1"/>
          </p:cNvPicPr>
          <p:nvPr/>
        </p:nvPicPr>
        <p:blipFill>
          <a:blip r:embed="rId3"/>
          <a:stretch>
            <a:fillRect/>
          </a:stretch>
        </p:blipFill>
        <p:spPr>
          <a:xfrm>
            <a:off x="4945710" y="0"/>
            <a:ext cx="7259296" cy="6771276"/>
          </a:xfrm>
          <a:prstGeom prst="rect">
            <a:avLst/>
          </a:prstGeom>
        </p:spPr>
      </p:pic>
      <p:sp>
        <p:nvSpPr>
          <p:cNvPr id="9" name="Text 6"/>
          <p:cNvSpPr/>
          <p:nvPr/>
        </p:nvSpPr>
        <p:spPr>
          <a:xfrm>
            <a:off x="291085" y="308465"/>
            <a:ext cx="5029200" cy="123444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F2F7FA"/>
                </a:solidFill>
                <a:effectLst/>
                <a:uLnTx/>
                <a:uFillTx/>
                <a:latin typeface="Aptos"/>
                <a:ea typeface="+mn-ea"/>
                <a:cs typeface="+mn-cs"/>
              </a:rPr>
              <a:t>High-Level Synthesis</a:t>
            </a:r>
            <a:endParaRPr kumimoji="0" lang="en-US" sz="27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F2F7FA"/>
                </a:solidFill>
                <a:effectLst/>
                <a:uLnTx/>
                <a:uFillTx/>
                <a:latin typeface="Aptos"/>
                <a:ea typeface="+mn-ea"/>
                <a:cs typeface="+mn-cs"/>
              </a:rPr>
              <a:t>for Multi-Core Systems</a:t>
            </a:r>
            <a:endParaRPr kumimoji="0" lang="en-US" sz="2700" b="0" i="0" u="none" strike="noStrike" kern="1200" cap="none" spc="0" normalizeH="0" baseline="0" noProof="0" dirty="0">
              <a:ln>
                <a:noFill/>
              </a:ln>
              <a:solidFill>
                <a:prstClr val="black"/>
              </a:solidFill>
              <a:effectLst/>
              <a:uLnTx/>
              <a:uFillTx/>
              <a:latin typeface="Aptos"/>
              <a:ea typeface="+mn-ea"/>
              <a:cs typeface="+mn-cs"/>
            </a:endParaRPr>
          </a:p>
        </p:txBody>
      </p:sp>
      <p:sp>
        <p:nvSpPr>
          <p:cNvPr id="11" name="Text 8"/>
          <p:cNvSpPr/>
          <p:nvPr/>
        </p:nvSpPr>
        <p:spPr>
          <a:xfrm>
            <a:off x="440944" y="3622208"/>
            <a:ext cx="4389120"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A8B5C2"/>
                </a:solidFill>
                <a:effectLst/>
                <a:uLnTx/>
                <a:uFillTx/>
                <a:latin typeface="Aptos"/>
                <a:ea typeface="+mn-ea"/>
                <a:cs typeface="+mn-cs"/>
              </a:rPr>
              <a:t>Md Mostafizur Rahman</a:t>
            </a: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A8B5C2"/>
                </a:solidFill>
                <a:effectLst/>
                <a:uLnTx/>
                <a:uFillTx/>
                <a:latin typeface="Aptos"/>
                <a:ea typeface="+mn-ea"/>
                <a:cs typeface="+mn-cs"/>
              </a:rPr>
              <a:t>Electronic Engineering • Hochschule Hamm-Lippstadt</a:t>
            </a:r>
            <a:endParaRPr kumimoji="0" lang="en-US" sz="1400" b="0" i="0" u="none" strike="noStrike" kern="1200" cap="none" spc="0" normalizeH="0" baseline="0" noProof="0" dirty="0">
              <a:ln>
                <a:noFill/>
              </a:ln>
              <a:solidFill>
                <a:prstClr val="black"/>
              </a:solidFill>
              <a:effectLst/>
              <a:uLnTx/>
              <a:uFillTx/>
              <a:latin typeface="Aptos"/>
              <a:ea typeface="+mn-ea"/>
              <a:cs typeface="+mn-cs"/>
            </a:endParaRPr>
          </a:p>
        </p:txBody>
      </p:sp>
      <p:sp>
        <p:nvSpPr>
          <p:cNvPr id="12" name="Shape 9"/>
          <p:cNvSpPr/>
          <p:nvPr/>
        </p:nvSpPr>
        <p:spPr>
          <a:xfrm>
            <a:off x="304332" y="1625200"/>
            <a:ext cx="1005840" cy="54864"/>
          </a:xfrm>
          <a:prstGeom prst="rect">
            <a:avLst/>
          </a:prstGeom>
          <a:solidFill>
            <a:srgbClr val="20D4F2"/>
          </a:solidFill>
          <a:ln w="12700">
            <a:solidFill>
              <a:srgbClr val="20D4F2">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DE" sz="1800" b="0" i="0" u="none" strike="noStrike" kern="1200" cap="none" spc="0" normalizeH="0" baseline="0" noProof="0">
              <a:ln>
                <a:noFill/>
              </a:ln>
              <a:solidFill>
                <a:prstClr val="black"/>
              </a:solidFill>
              <a:effectLst/>
              <a:uLnTx/>
              <a:uFillTx/>
              <a:latin typeface="Aptos"/>
              <a:ea typeface="+mn-ea"/>
              <a:cs typeface="+mn-cs"/>
            </a:endParaRPr>
          </a:p>
        </p:txBody>
      </p:sp>
      <p:sp>
        <p:nvSpPr>
          <p:cNvPr id="14" name="Text 11"/>
          <p:cNvSpPr/>
          <p:nvPr/>
        </p:nvSpPr>
        <p:spPr>
          <a:xfrm>
            <a:off x="320040" y="6565392"/>
            <a:ext cx="4389120" cy="1463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50" b="0" i="0" u="none" strike="noStrike" kern="1200" cap="none" spc="0" normalizeH="0" baseline="0" noProof="0" dirty="0">
                <a:ln>
                  <a:noFill/>
                </a:ln>
                <a:solidFill>
                  <a:srgbClr val="6F8798"/>
                </a:solidFill>
                <a:effectLst/>
                <a:uLnTx/>
                <a:uFillTx/>
                <a:latin typeface="Aptos"/>
                <a:ea typeface="+mn-ea"/>
                <a:cs typeface="+mn-cs"/>
              </a:rPr>
              <a:t>High-Level Synthesis for Multi-Core Systems</a:t>
            </a:r>
            <a:endParaRPr kumimoji="0" lang="en-US" sz="550" b="0" i="0" u="none" strike="noStrike" kern="1200" cap="none" spc="0" normalizeH="0" baseline="0" noProof="0" dirty="0">
              <a:ln>
                <a:noFill/>
              </a:ln>
              <a:solidFill>
                <a:prstClr val="black"/>
              </a:solidFill>
              <a:effectLst/>
              <a:uLnTx/>
              <a:uFillTx/>
              <a:latin typeface="Aptos"/>
              <a:ea typeface="+mn-ea"/>
              <a:cs typeface="+mn-cs"/>
            </a:endParaRPr>
          </a:p>
        </p:txBody>
      </p:sp>
      <p:sp>
        <p:nvSpPr>
          <p:cNvPr id="15" name="Text 12"/>
          <p:cNvSpPr/>
          <p:nvPr/>
        </p:nvSpPr>
        <p:spPr>
          <a:xfrm>
            <a:off x="11484864" y="6446520"/>
            <a:ext cx="347472"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srgbClr val="6F8798"/>
                </a:solidFill>
                <a:effectLst/>
                <a:uLnTx/>
                <a:uFillTx/>
                <a:latin typeface="Aptos"/>
                <a:ea typeface="+mn-ea"/>
                <a:cs typeface="+mn-cs"/>
              </a:rPr>
              <a:t>01</a:t>
            </a:r>
            <a:endParaRPr kumimoji="0" lang="en-US" sz="650"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Text 6">
            <a:extLst>
              <a:ext uri="{FF2B5EF4-FFF2-40B4-BE49-F238E27FC236}">
                <a16:creationId xmlns:a16="http://schemas.microsoft.com/office/drawing/2014/main" id="{45F87F5A-7D38-7E7E-94F1-AC7E21890436}"/>
              </a:ext>
            </a:extLst>
          </p:cNvPr>
          <p:cNvSpPr/>
          <p:nvPr/>
        </p:nvSpPr>
        <p:spPr>
          <a:xfrm>
            <a:off x="333752" y="1990960"/>
            <a:ext cx="1114756" cy="237745"/>
          </a:xfrm>
          <a:prstGeom prst="rect">
            <a:avLst/>
          </a:prstGeom>
          <a:noFill/>
          <a:ln/>
        </p:spPr>
        <p:txBody>
          <a:bodyPr wrap="square" lIns="635" tIns="635" rIns="635" bIns="635" rtlCol="0" anchor="ctr">
            <a:normAutofit fontScale="92500"/>
          </a:bodyPr>
          <a:lstStyle/>
          <a:p>
            <a:pPr marL="0" indent="0" algn="ctr">
              <a:buNone/>
            </a:pPr>
            <a:r>
              <a:rPr lang="en-US" sz="1300" b="1" dirty="0">
                <a:solidFill>
                  <a:schemeClr val="bg1"/>
                </a:solidFill>
                <a:latin typeface="Aptos" pitchFamily="34" charset="0"/>
                <a:ea typeface="Aptos" pitchFamily="34" charset="-122"/>
                <a:cs typeface="Aptos" pitchFamily="34" charset="-120"/>
              </a:rPr>
              <a:t>Behavioral </a:t>
            </a:r>
            <a:r>
              <a:rPr lang="en-US" sz="1100" b="1" dirty="0">
                <a:solidFill>
                  <a:schemeClr val="bg1"/>
                </a:solidFill>
                <a:latin typeface="Aptos" pitchFamily="34" charset="0"/>
                <a:ea typeface="Aptos" pitchFamily="34" charset="-122"/>
                <a:cs typeface="Aptos" pitchFamily="34" charset="-120"/>
              </a:rPr>
              <a:t>code</a:t>
            </a:r>
            <a:endParaRPr lang="en-US" sz="1100" dirty="0">
              <a:solidFill>
                <a:schemeClr val="bg1"/>
              </a:solidFill>
            </a:endParaRPr>
          </a:p>
        </p:txBody>
      </p:sp>
      <p:sp>
        <p:nvSpPr>
          <p:cNvPr id="8" name="Shape 7">
            <a:extLst>
              <a:ext uri="{FF2B5EF4-FFF2-40B4-BE49-F238E27FC236}">
                <a16:creationId xmlns:a16="http://schemas.microsoft.com/office/drawing/2014/main" id="{6290F60A-CBC8-7412-95B2-3E6873DE5185}"/>
              </a:ext>
            </a:extLst>
          </p:cNvPr>
          <p:cNvSpPr/>
          <p:nvPr/>
        </p:nvSpPr>
        <p:spPr>
          <a:xfrm>
            <a:off x="291085" y="2246995"/>
            <a:ext cx="1219748" cy="395620"/>
          </a:xfrm>
          <a:prstGeom prst="roundRect">
            <a:avLst>
              <a:gd name="adj" fmla="val 11765"/>
            </a:avLst>
          </a:prstGeom>
          <a:solidFill>
            <a:srgbClr val="DBEAFE"/>
          </a:solidFill>
          <a:ln w="12700">
            <a:solidFill>
              <a:srgbClr val="2563EB"/>
            </a:solidFill>
            <a:prstDash val="solid"/>
          </a:ln>
        </p:spPr>
        <p:txBody>
          <a:bodyPr/>
          <a:lstStyle/>
          <a:p>
            <a:endParaRPr lang="en-DE"/>
          </a:p>
        </p:txBody>
      </p:sp>
      <p:sp>
        <p:nvSpPr>
          <p:cNvPr id="16" name="Text 8">
            <a:extLst>
              <a:ext uri="{FF2B5EF4-FFF2-40B4-BE49-F238E27FC236}">
                <a16:creationId xmlns:a16="http://schemas.microsoft.com/office/drawing/2014/main" id="{781FC32F-8DE7-0C1C-D4AE-520B425D81E3}"/>
              </a:ext>
            </a:extLst>
          </p:cNvPr>
          <p:cNvSpPr/>
          <p:nvPr/>
        </p:nvSpPr>
        <p:spPr>
          <a:xfrm>
            <a:off x="277774" y="2356722"/>
            <a:ext cx="1206196" cy="229816"/>
          </a:xfrm>
          <a:prstGeom prst="rect">
            <a:avLst/>
          </a:prstGeom>
          <a:noFill/>
          <a:ln/>
        </p:spPr>
        <p:txBody>
          <a:bodyPr wrap="square" lIns="635" tIns="635" rIns="635" bIns="635" rtlCol="0" anchor="ctr">
            <a:normAutofit fontScale="77500" lnSpcReduction="20000"/>
          </a:bodyPr>
          <a:lstStyle/>
          <a:p>
            <a:pPr marL="0" indent="0" algn="ctr">
              <a:buNone/>
            </a:pPr>
            <a:r>
              <a:rPr lang="en-US" sz="1200" b="1" dirty="0">
                <a:solidFill>
                  <a:srgbClr val="1F2937"/>
                </a:solidFill>
                <a:latin typeface="Aptos" pitchFamily="34" charset="0"/>
                <a:ea typeface="Aptos" pitchFamily="34" charset="-122"/>
                <a:cs typeface="Aptos" pitchFamily="34" charset="-120"/>
              </a:rPr>
              <a:t>C/C++</a:t>
            </a:r>
            <a:endParaRPr lang="en-US" sz="1200" dirty="0"/>
          </a:p>
          <a:p>
            <a:pPr marL="0" indent="0" algn="ctr">
              <a:buNone/>
            </a:pPr>
            <a:r>
              <a:rPr lang="en-US" sz="1200" b="1" dirty="0">
                <a:solidFill>
                  <a:srgbClr val="1F2937"/>
                </a:solidFill>
                <a:latin typeface="Aptos" pitchFamily="34" charset="0"/>
                <a:ea typeface="Aptos" pitchFamily="34" charset="-122"/>
                <a:cs typeface="Aptos" pitchFamily="34" charset="-120"/>
              </a:rPr>
              <a:t>SystemC</a:t>
            </a:r>
            <a:endParaRPr lang="en-US" sz="1200" dirty="0"/>
          </a:p>
        </p:txBody>
      </p:sp>
      <p:sp>
        <p:nvSpPr>
          <p:cNvPr id="17" name="Shape 9">
            <a:extLst>
              <a:ext uri="{FF2B5EF4-FFF2-40B4-BE49-F238E27FC236}">
                <a16:creationId xmlns:a16="http://schemas.microsoft.com/office/drawing/2014/main" id="{1381AD5E-FAB8-03F3-4048-627178096F05}"/>
              </a:ext>
            </a:extLst>
          </p:cNvPr>
          <p:cNvSpPr/>
          <p:nvPr/>
        </p:nvSpPr>
        <p:spPr>
          <a:xfrm>
            <a:off x="1510834" y="2466449"/>
            <a:ext cx="352208" cy="0"/>
          </a:xfrm>
          <a:prstGeom prst="line">
            <a:avLst/>
          </a:prstGeom>
          <a:noFill/>
          <a:ln w="25400">
            <a:solidFill>
              <a:srgbClr val="2563EB"/>
            </a:solidFill>
            <a:prstDash val="solid"/>
            <a:headEnd type="none"/>
            <a:tailEnd type="triangle"/>
          </a:ln>
        </p:spPr>
        <p:txBody>
          <a:bodyPr/>
          <a:lstStyle/>
          <a:p>
            <a:endParaRPr lang="en-DE"/>
          </a:p>
        </p:txBody>
      </p:sp>
      <p:sp>
        <p:nvSpPr>
          <p:cNvPr id="18" name="Text 10">
            <a:extLst>
              <a:ext uri="{FF2B5EF4-FFF2-40B4-BE49-F238E27FC236}">
                <a16:creationId xmlns:a16="http://schemas.microsoft.com/office/drawing/2014/main" id="{122F3EBA-5B92-FCEE-CE27-5CC46825EEB6}"/>
              </a:ext>
            </a:extLst>
          </p:cNvPr>
          <p:cNvSpPr/>
          <p:nvPr/>
        </p:nvSpPr>
        <p:spPr>
          <a:xfrm>
            <a:off x="1773034" y="2038797"/>
            <a:ext cx="1253630" cy="189260"/>
          </a:xfrm>
          <a:prstGeom prst="rect">
            <a:avLst/>
          </a:prstGeom>
          <a:noFill/>
          <a:ln/>
        </p:spPr>
        <p:txBody>
          <a:bodyPr wrap="square" lIns="635" tIns="635" rIns="635" bIns="635" rtlCol="0" anchor="ctr">
            <a:normAutofit/>
          </a:bodyPr>
          <a:lstStyle/>
          <a:p>
            <a:pPr marL="0" indent="0" algn="ctr">
              <a:buNone/>
            </a:pPr>
            <a:r>
              <a:rPr lang="en-US" sz="1200" b="1" dirty="0">
                <a:solidFill>
                  <a:schemeClr val="bg1"/>
                </a:solidFill>
                <a:latin typeface="Aptos" pitchFamily="34" charset="0"/>
                <a:ea typeface="Aptos" pitchFamily="34" charset="-122"/>
                <a:cs typeface="Aptos" pitchFamily="34" charset="-120"/>
              </a:rPr>
              <a:t>HLS compiler</a:t>
            </a:r>
            <a:endParaRPr lang="en-US" sz="1200" b="1" dirty="0">
              <a:solidFill>
                <a:schemeClr val="bg1"/>
              </a:solidFill>
            </a:endParaRPr>
          </a:p>
        </p:txBody>
      </p:sp>
      <p:sp>
        <p:nvSpPr>
          <p:cNvPr id="19" name="Shape 11">
            <a:extLst>
              <a:ext uri="{FF2B5EF4-FFF2-40B4-BE49-F238E27FC236}">
                <a16:creationId xmlns:a16="http://schemas.microsoft.com/office/drawing/2014/main" id="{6688E651-41DE-D8D8-10C5-B8E13B85B3C2}"/>
              </a:ext>
            </a:extLst>
          </p:cNvPr>
          <p:cNvSpPr/>
          <p:nvPr/>
        </p:nvSpPr>
        <p:spPr>
          <a:xfrm>
            <a:off x="1889904" y="2256265"/>
            <a:ext cx="1068585" cy="395620"/>
          </a:xfrm>
          <a:prstGeom prst="roundRect">
            <a:avLst>
              <a:gd name="adj" fmla="val 11765"/>
            </a:avLst>
          </a:prstGeom>
          <a:solidFill>
            <a:srgbClr val="D1FAE5"/>
          </a:solidFill>
          <a:ln w="12700">
            <a:solidFill>
              <a:srgbClr val="10B981"/>
            </a:solidFill>
            <a:prstDash val="solid"/>
          </a:ln>
        </p:spPr>
        <p:txBody>
          <a:bodyPr/>
          <a:lstStyle/>
          <a:p>
            <a:endParaRPr lang="en-DE"/>
          </a:p>
        </p:txBody>
      </p:sp>
      <p:sp>
        <p:nvSpPr>
          <p:cNvPr id="20" name="Text 12">
            <a:extLst>
              <a:ext uri="{FF2B5EF4-FFF2-40B4-BE49-F238E27FC236}">
                <a16:creationId xmlns:a16="http://schemas.microsoft.com/office/drawing/2014/main" id="{E696A054-FAD6-36A0-6275-63D1A4520D1A}"/>
              </a:ext>
            </a:extLst>
          </p:cNvPr>
          <p:cNvSpPr/>
          <p:nvPr/>
        </p:nvSpPr>
        <p:spPr>
          <a:xfrm>
            <a:off x="1932908" y="2339167"/>
            <a:ext cx="982575" cy="229816"/>
          </a:xfrm>
          <a:prstGeom prst="rect">
            <a:avLst/>
          </a:prstGeom>
          <a:noFill/>
          <a:ln/>
        </p:spPr>
        <p:txBody>
          <a:bodyPr wrap="square" lIns="635" tIns="635" rIns="635" bIns="635" rtlCol="0" anchor="ctr">
            <a:normAutofit fontScale="77500" lnSpcReduction="20000"/>
          </a:bodyPr>
          <a:lstStyle/>
          <a:p>
            <a:pPr marL="0" indent="0" algn="ctr">
              <a:buNone/>
            </a:pPr>
            <a:r>
              <a:rPr lang="en-US" sz="1200" b="1" dirty="0">
                <a:solidFill>
                  <a:srgbClr val="1F2937"/>
                </a:solidFill>
                <a:latin typeface="Aptos" pitchFamily="34" charset="0"/>
                <a:ea typeface="Aptos" pitchFamily="34" charset="-122"/>
                <a:cs typeface="Aptos" pitchFamily="34" charset="-120"/>
              </a:rPr>
              <a:t>Schedule</a:t>
            </a:r>
            <a:endParaRPr lang="en-US" sz="1200" dirty="0"/>
          </a:p>
          <a:p>
            <a:pPr marL="0" indent="0" algn="ctr">
              <a:buNone/>
            </a:pPr>
            <a:r>
              <a:rPr lang="en-US" sz="1200" b="1" dirty="0">
                <a:solidFill>
                  <a:srgbClr val="1F2937"/>
                </a:solidFill>
                <a:latin typeface="Aptos" pitchFamily="34" charset="0"/>
                <a:ea typeface="Aptos" pitchFamily="34" charset="-122"/>
                <a:cs typeface="Aptos" pitchFamily="34" charset="-120"/>
              </a:rPr>
              <a:t>Bind</a:t>
            </a:r>
            <a:endParaRPr lang="en-US" sz="1200" dirty="0"/>
          </a:p>
        </p:txBody>
      </p:sp>
      <p:sp>
        <p:nvSpPr>
          <p:cNvPr id="21" name="Shape 13">
            <a:extLst>
              <a:ext uri="{FF2B5EF4-FFF2-40B4-BE49-F238E27FC236}">
                <a16:creationId xmlns:a16="http://schemas.microsoft.com/office/drawing/2014/main" id="{D1B1FFEC-C443-F32A-0A22-AAA2C90D26DD}"/>
              </a:ext>
            </a:extLst>
          </p:cNvPr>
          <p:cNvSpPr/>
          <p:nvPr/>
        </p:nvSpPr>
        <p:spPr>
          <a:xfrm>
            <a:off x="2958489" y="2454075"/>
            <a:ext cx="415385" cy="12374"/>
          </a:xfrm>
          <a:prstGeom prst="line">
            <a:avLst/>
          </a:prstGeom>
          <a:noFill/>
          <a:ln w="25400">
            <a:solidFill>
              <a:srgbClr val="2563EB"/>
            </a:solidFill>
            <a:prstDash val="solid"/>
            <a:headEnd type="none"/>
            <a:tailEnd type="triangle"/>
          </a:ln>
        </p:spPr>
        <p:txBody>
          <a:bodyPr/>
          <a:lstStyle/>
          <a:p>
            <a:endParaRPr lang="en-DE"/>
          </a:p>
        </p:txBody>
      </p:sp>
      <p:sp>
        <p:nvSpPr>
          <p:cNvPr id="22" name="Text 14">
            <a:extLst>
              <a:ext uri="{FF2B5EF4-FFF2-40B4-BE49-F238E27FC236}">
                <a16:creationId xmlns:a16="http://schemas.microsoft.com/office/drawing/2014/main" id="{F1DA1DF4-AEE4-193C-37A7-6AFF08C9A50E}"/>
              </a:ext>
            </a:extLst>
          </p:cNvPr>
          <p:cNvSpPr/>
          <p:nvPr/>
        </p:nvSpPr>
        <p:spPr>
          <a:xfrm>
            <a:off x="3373874" y="1990961"/>
            <a:ext cx="1050339" cy="189260"/>
          </a:xfrm>
          <a:prstGeom prst="rect">
            <a:avLst/>
          </a:prstGeom>
          <a:noFill/>
          <a:ln/>
        </p:spPr>
        <p:txBody>
          <a:bodyPr wrap="square" lIns="635" tIns="635" rIns="635" bIns="635" rtlCol="0" anchor="ctr">
            <a:normAutofit/>
          </a:bodyPr>
          <a:lstStyle/>
          <a:p>
            <a:pPr marL="0" indent="0" algn="ctr">
              <a:buNone/>
            </a:pPr>
            <a:r>
              <a:rPr lang="en-US" sz="1200" b="1" dirty="0">
                <a:solidFill>
                  <a:schemeClr val="bg1"/>
                </a:solidFill>
                <a:latin typeface="Aptos" pitchFamily="34" charset="0"/>
                <a:ea typeface="Aptos" pitchFamily="34" charset="-122"/>
                <a:cs typeface="Aptos" pitchFamily="34" charset="-120"/>
              </a:rPr>
              <a:t>RTL hardware</a:t>
            </a:r>
            <a:endParaRPr lang="en-US" sz="1200" dirty="0">
              <a:solidFill>
                <a:schemeClr val="bg1"/>
              </a:solidFill>
            </a:endParaRPr>
          </a:p>
        </p:txBody>
      </p:sp>
      <p:sp>
        <p:nvSpPr>
          <p:cNvPr id="23" name="Shape 15">
            <a:extLst>
              <a:ext uri="{FF2B5EF4-FFF2-40B4-BE49-F238E27FC236}">
                <a16:creationId xmlns:a16="http://schemas.microsoft.com/office/drawing/2014/main" id="{4098C056-65F0-8C73-00A6-E70687EF081A}"/>
              </a:ext>
            </a:extLst>
          </p:cNvPr>
          <p:cNvSpPr/>
          <p:nvPr/>
        </p:nvSpPr>
        <p:spPr>
          <a:xfrm>
            <a:off x="3370648" y="2182985"/>
            <a:ext cx="982575" cy="459631"/>
          </a:xfrm>
          <a:prstGeom prst="roundRect">
            <a:avLst>
              <a:gd name="adj" fmla="val 11765"/>
            </a:avLst>
          </a:prstGeom>
          <a:solidFill>
            <a:srgbClr val="FEF3C7"/>
          </a:solidFill>
          <a:ln w="12700">
            <a:solidFill>
              <a:srgbClr val="F59E0B"/>
            </a:solidFill>
            <a:prstDash val="solid"/>
          </a:ln>
        </p:spPr>
        <p:txBody>
          <a:bodyPr/>
          <a:lstStyle/>
          <a:p>
            <a:endParaRPr lang="en-DE"/>
          </a:p>
        </p:txBody>
      </p:sp>
      <p:sp>
        <p:nvSpPr>
          <p:cNvPr id="24" name="Text 16">
            <a:extLst>
              <a:ext uri="{FF2B5EF4-FFF2-40B4-BE49-F238E27FC236}">
                <a16:creationId xmlns:a16="http://schemas.microsoft.com/office/drawing/2014/main" id="{6022A205-7DAC-B1F6-2108-FECE0505EFBE}"/>
              </a:ext>
            </a:extLst>
          </p:cNvPr>
          <p:cNvSpPr/>
          <p:nvPr/>
        </p:nvSpPr>
        <p:spPr>
          <a:xfrm>
            <a:off x="3489520" y="2292713"/>
            <a:ext cx="792836" cy="229816"/>
          </a:xfrm>
          <a:prstGeom prst="rect">
            <a:avLst/>
          </a:prstGeom>
          <a:noFill/>
          <a:ln/>
        </p:spPr>
        <p:txBody>
          <a:bodyPr wrap="square" lIns="635" tIns="635" rIns="635" bIns="635" rtlCol="0" anchor="ctr">
            <a:normAutofit fontScale="77500" lnSpcReduction="20000"/>
          </a:bodyPr>
          <a:lstStyle/>
          <a:p>
            <a:pPr marL="0" indent="0" algn="ctr">
              <a:buNone/>
            </a:pPr>
            <a:r>
              <a:rPr lang="en-US" sz="1200" b="1" dirty="0">
                <a:solidFill>
                  <a:srgbClr val="1F2937"/>
                </a:solidFill>
                <a:latin typeface="Aptos" pitchFamily="34" charset="0"/>
                <a:ea typeface="Aptos" pitchFamily="34" charset="-122"/>
                <a:cs typeface="Aptos" pitchFamily="34" charset="-120"/>
              </a:rPr>
              <a:t>VHDL</a:t>
            </a:r>
            <a:endParaRPr lang="en-US" sz="1200" dirty="0"/>
          </a:p>
          <a:p>
            <a:pPr marL="0" indent="0" algn="ctr">
              <a:buNone/>
            </a:pPr>
            <a:r>
              <a:rPr lang="en-US" sz="1200" b="1" dirty="0">
                <a:solidFill>
                  <a:srgbClr val="1F2937"/>
                </a:solidFill>
                <a:latin typeface="Aptos" pitchFamily="34" charset="0"/>
                <a:ea typeface="Aptos" pitchFamily="34" charset="-122"/>
                <a:cs typeface="Aptos" pitchFamily="34" charset="-120"/>
              </a:rPr>
              <a:t>Verilog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280160"/>
          </a:xfrm>
          <a:prstGeom prst="rect">
            <a:avLst/>
          </a:prstGeom>
          <a:solidFill>
            <a:srgbClr val="0F2044"/>
          </a:solidFill>
          <a:ln w="12700">
            <a:solidFill>
              <a:srgbClr val="0F2044"/>
            </a:solidFill>
            <a:prstDash val="solid"/>
          </a:ln>
        </p:spPr>
        <p:txBody>
          <a:bodyPr/>
          <a:lstStyle/>
          <a:p>
            <a:endParaRPr lang="en-DE" sz="2400"/>
          </a:p>
        </p:txBody>
      </p:sp>
      <p:sp>
        <p:nvSpPr>
          <p:cNvPr id="3" name="Text 1"/>
          <p:cNvSpPr/>
          <p:nvPr/>
        </p:nvSpPr>
        <p:spPr>
          <a:xfrm>
            <a:off x="609600" y="243840"/>
            <a:ext cx="9753600" cy="792480"/>
          </a:xfrm>
          <a:prstGeom prst="rect">
            <a:avLst/>
          </a:prstGeom>
          <a:noFill/>
          <a:ln/>
        </p:spPr>
        <p:txBody>
          <a:bodyPr wrap="square" rtlCol="0" anchor="ctr"/>
          <a:lstStyle/>
          <a:p>
            <a:r>
              <a:rPr lang="en-US" sz="3200" b="1" dirty="0">
                <a:solidFill>
                  <a:srgbClr val="FFFFFF"/>
                </a:solidFill>
                <a:latin typeface="+mj-lt"/>
                <a:ea typeface="Cambria" pitchFamily="34" charset="-122"/>
              </a:rPr>
              <a:t>Introduction</a:t>
            </a:r>
            <a:endParaRPr lang="en-US" sz="3200" dirty="0">
              <a:latin typeface="+mj-lt"/>
            </a:endParaRPr>
          </a:p>
        </p:txBody>
      </p:sp>
      <p:pic>
        <p:nvPicPr>
          <p:cNvPr id="4" name="Image 0" descr="preencoded.png"/>
          <p:cNvPicPr>
            <a:picLocks noChangeAspect="1"/>
          </p:cNvPicPr>
          <p:nvPr/>
        </p:nvPicPr>
        <p:blipFill>
          <a:blip r:embed="rId3"/>
          <a:stretch>
            <a:fillRect/>
          </a:stretch>
        </p:blipFill>
        <p:spPr>
          <a:xfrm>
            <a:off x="10850880" y="243840"/>
            <a:ext cx="670560" cy="670560"/>
          </a:xfrm>
          <a:prstGeom prst="rect">
            <a:avLst/>
          </a:prstGeom>
        </p:spPr>
      </p:pic>
      <p:sp>
        <p:nvSpPr>
          <p:cNvPr id="5" name="Shape 2"/>
          <p:cNvSpPr/>
          <p:nvPr/>
        </p:nvSpPr>
        <p:spPr>
          <a:xfrm>
            <a:off x="487680" y="1524000"/>
            <a:ext cx="5364480" cy="4937760"/>
          </a:xfrm>
          <a:prstGeom prst="roundRect">
            <a:avLst>
              <a:gd name="adj" fmla="val 2469"/>
            </a:avLst>
          </a:prstGeom>
          <a:solidFill>
            <a:srgbClr val="FFFFFF"/>
          </a:solidFill>
          <a:ln w="10160">
            <a:solidFill>
              <a:srgbClr val="E2E8F0"/>
            </a:solidFill>
            <a:prstDash val="solid"/>
          </a:ln>
          <a:effectLst>
            <a:outerShdw blurRad="101600" dist="38100" dir="2700000" algn="bl" rotWithShape="0">
              <a:srgbClr val="000000">
                <a:alpha val="10000"/>
              </a:srgbClr>
            </a:outerShdw>
          </a:effectLst>
        </p:spPr>
        <p:txBody>
          <a:bodyPr/>
          <a:lstStyle/>
          <a:p>
            <a:endParaRPr lang="en-DE" sz="2400"/>
          </a:p>
        </p:txBody>
      </p:sp>
      <p:sp>
        <p:nvSpPr>
          <p:cNvPr id="6" name="Text 3"/>
          <p:cNvSpPr/>
          <p:nvPr/>
        </p:nvSpPr>
        <p:spPr>
          <a:xfrm>
            <a:off x="731520" y="1706880"/>
            <a:ext cx="4754880" cy="548640"/>
          </a:xfrm>
          <a:prstGeom prst="rect">
            <a:avLst/>
          </a:prstGeom>
          <a:noFill/>
          <a:ln/>
        </p:spPr>
        <p:txBody>
          <a:bodyPr wrap="square" rtlCol="0" anchor="ctr"/>
          <a:lstStyle/>
          <a:p>
            <a:r>
              <a:rPr lang="en-US" sz="2133" b="1" dirty="0">
                <a:solidFill>
                  <a:srgbClr val="0F2044"/>
                </a:solidFill>
                <a:latin typeface="Cambria" pitchFamily="34" charset="0"/>
                <a:ea typeface="Cambria" pitchFamily="34" charset="-122"/>
                <a:cs typeface="Cambria" pitchFamily="34" charset="-120"/>
              </a:rPr>
              <a:t>What is HLS?</a:t>
            </a:r>
            <a:endParaRPr lang="en-US" sz="2133" dirty="0"/>
          </a:p>
        </p:txBody>
      </p:sp>
      <p:pic>
        <p:nvPicPr>
          <p:cNvPr id="7" name="Image 1" descr="preencoded.png"/>
          <p:cNvPicPr>
            <a:picLocks noChangeAspect="1"/>
          </p:cNvPicPr>
          <p:nvPr/>
        </p:nvPicPr>
        <p:blipFill>
          <a:blip r:embed="rId4"/>
          <a:stretch>
            <a:fillRect/>
          </a:stretch>
        </p:blipFill>
        <p:spPr>
          <a:xfrm>
            <a:off x="670560" y="2377440"/>
            <a:ext cx="268224" cy="268224"/>
          </a:xfrm>
          <a:prstGeom prst="rect">
            <a:avLst/>
          </a:prstGeom>
        </p:spPr>
      </p:pic>
      <p:sp>
        <p:nvSpPr>
          <p:cNvPr id="8" name="Text 4"/>
          <p:cNvSpPr/>
          <p:nvPr/>
        </p:nvSpPr>
        <p:spPr>
          <a:xfrm>
            <a:off x="1036320" y="2316480"/>
            <a:ext cx="4632960" cy="792480"/>
          </a:xfrm>
          <a:prstGeom prst="rect">
            <a:avLst/>
          </a:prstGeom>
          <a:noFill/>
          <a:ln/>
        </p:spPr>
        <p:txBody>
          <a:bodyPr wrap="square" rtlCol="0" anchor="t"/>
          <a:lstStyle/>
          <a:p>
            <a:r>
              <a:rPr lang="en-US" sz="1467" dirty="0">
                <a:solidFill>
                  <a:srgbClr val="334155"/>
                </a:solidFill>
                <a:latin typeface="Calibri" pitchFamily="34" charset="0"/>
                <a:ea typeface="Calibri" pitchFamily="34" charset="-122"/>
                <a:cs typeface="Calibri" pitchFamily="34" charset="-120"/>
              </a:rPr>
              <a:t>HLS automates RTL generation from high-level descriptions (C/C++, SystemC, MATLAB)</a:t>
            </a:r>
            <a:endParaRPr lang="en-US" sz="1467" dirty="0"/>
          </a:p>
        </p:txBody>
      </p:sp>
      <p:pic>
        <p:nvPicPr>
          <p:cNvPr id="9" name="Image 2" descr="preencoded.png"/>
          <p:cNvPicPr>
            <a:picLocks noChangeAspect="1"/>
          </p:cNvPicPr>
          <p:nvPr/>
        </p:nvPicPr>
        <p:blipFill>
          <a:blip r:embed="rId4"/>
          <a:stretch>
            <a:fillRect/>
          </a:stretch>
        </p:blipFill>
        <p:spPr>
          <a:xfrm>
            <a:off x="670560" y="3267456"/>
            <a:ext cx="268224" cy="268224"/>
          </a:xfrm>
          <a:prstGeom prst="rect">
            <a:avLst/>
          </a:prstGeom>
        </p:spPr>
      </p:pic>
      <p:sp>
        <p:nvSpPr>
          <p:cNvPr id="10" name="Text 5"/>
          <p:cNvSpPr/>
          <p:nvPr/>
        </p:nvSpPr>
        <p:spPr>
          <a:xfrm>
            <a:off x="1036320" y="3206496"/>
            <a:ext cx="4632960" cy="792480"/>
          </a:xfrm>
          <a:prstGeom prst="rect">
            <a:avLst/>
          </a:prstGeom>
          <a:noFill/>
          <a:ln/>
        </p:spPr>
        <p:txBody>
          <a:bodyPr wrap="square" rtlCol="0" anchor="t"/>
          <a:lstStyle/>
          <a:p>
            <a:r>
              <a:rPr lang="en-US" sz="1467" dirty="0">
                <a:solidFill>
                  <a:srgbClr val="334155"/>
                </a:solidFill>
                <a:latin typeface="Calibri" pitchFamily="34" charset="0"/>
                <a:ea typeface="Calibri" pitchFamily="34" charset="-122"/>
                <a:cs typeface="Calibri" pitchFamily="34" charset="-120"/>
              </a:rPr>
              <a:t>Analogous to software compilation — but for hardware</a:t>
            </a:r>
            <a:endParaRPr lang="en-US" sz="1467" dirty="0"/>
          </a:p>
        </p:txBody>
      </p:sp>
      <p:pic>
        <p:nvPicPr>
          <p:cNvPr id="11" name="Image 3" descr="preencoded.png"/>
          <p:cNvPicPr>
            <a:picLocks noChangeAspect="1"/>
          </p:cNvPicPr>
          <p:nvPr/>
        </p:nvPicPr>
        <p:blipFill>
          <a:blip r:embed="rId4"/>
          <a:stretch>
            <a:fillRect/>
          </a:stretch>
        </p:blipFill>
        <p:spPr>
          <a:xfrm>
            <a:off x="670560" y="4157472"/>
            <a:ext cx="268224" cy="268224"/>
          </a:xfrm>
          <a:prstGeom prst="rect">
            <a:avLst/>
          </a:prstGeom>
        </p:spPr>
      </p:pic>
      <p:sp>
        <p:nvSpPr>
          <p:cNvPr id="12" name="Text 6"/>
          <p:cNvSpPr/>
          <p:nvPr/>
        </p:nvSpPr>
        <p:spPr>
          <a:xfrm>
            <a:off x="1036320" y="4096512"/>
            <a:ext cx="4632960" cy="792480"/>
          </a:xfrm>
          <a:prstGeom prst="rect">
            <a:avLst/>
          </a:prstGeom>
          <a:noFill/>
          <a:ln/>
        </p:spPr>
        <p:txBody>
          <a:bodyPr wrap="square" rtlCol="0" anchor="t"/>
          <a:lstStyle/>
          <a:p>
            <a:r>
              <a:rPr lang="en-US" sz="1467" dirty="0">
                <a:solidFill>
                  <a:srgbClr val="334155"/>
                </a:solidFill>
                <a:latin typeface="Calibri" pitchFamily="34" charset="0"/>
                <a:ea typeface="Calibri" pitchFamily="34" charset="-122"/>
                <a:cs typeface="Calibri" pitchFamily="34" charset="-120"/>
              </a:rPr>
              <a:t>Tools: AMD Xilinx Vitis HLS, ScaleHLS, BAMBU</a:t>
            </a:r>
            <a:endParaRPr lang="en-US" sz="1467" dirty="0"/>
          </a:p>
        </p:txBody>
      </p:sp>
      <p:pic>
        <p:nvPicPr>
          <p:cNvPr id="13" name="Image 4" descr="preencoded.png"/>
          <p:cNvPicPr>
            <a:picLocks noChangeAspect="1"/>
          </p:cNvPicPr>
          <p:nvPr/>
        </p:nvPicPr>
        <p:blipFill>
          <a:blip r:embed="rId4"/>
          <a:stretch>
            <a:fillRect/>
          </a:stretch>
        </p:blipFill>
        <p:spPr>
          <a:xfrm>
            <a:off x="670560" y="5047488"/>
            <a:ext cx="268224" cy="268224"/>
          </a:xfrm>
          <a:prstGeom prst="rect">
            <a:avLst/>
          </a:prstGeom>
        </p:spPr>
      </p:pic>
      <p:sp>
        <p:nvSpPr>
          <p:cNvPr id="14" name="Text 7"/>
          <p:cNvSpPr/>
          <p:nvPr/>
        </p:nvSpPr>
        <p:spPr>
          <a:xfrm>
            <a:off x="1036320" y="4986528"/>
            <a:ext cx="4632960" cy="792480"/>
          </a:xfrm>
          <a:prstGeom prst="rect">
            <a:avLst/>
          </a:prstGeom>
          <a:noFill/>
          <a:ln/>
        </p:spPr>
        <p:txBody>
          <a:bodyPr wrap="square" rtlCol="0" anchor="t"/>
          <a:lstStyle/>
          <a:p>
            <a:r>
              <a:rPr lang="en-US" sz="1467" dirty="0">
                <a:solidFill>
                  <a:srgbClr val="334155"/>
                </a:solidFill>
                <a:latin typeface="Calibri" pitchFamily="34" charset="0"/>
                <a:ea typeface="Calibri" pitchFamily="34" charset="-122"/>
                <a:cs typeface="Calibri" pitchFamily="34" charset="-120"/>
              </a:rPr>
              <a:t>Multi-core HLS adds:</a:t>
            </a:r>
            <a:endParaRPr lang="en-US" sz="1467" dirty="0"/>
          </a:p>
          <a:p>
            <a:r>
              <a:rPr lang="en-US" sz="1467" dirty="0">
                <a:solidFill>
                  <a:srgbClr val="334155"/>
                </a:solidFill>
                <a:latin typeface="Calibri" pitchFamily="34" charset="0"/>
                <a:ea typeface="Calibri" pitchFamily="34" charset="-122"/>
                <a:cs typeface="Calibri" pitchFamily="34" charset="-120"/>
              </a:rPr>
              <a:t>  • PE partitioning</a:t>
            </a:r>
            <a:endParaRPr lang="en-US" sz="1467" dirty="0"/>
          </a:p>
          <a:p>
            <a:r>
              <a:rPr lang="en-US" sz="1467" dirty="0">
                <a:solidFill>
                  <a:srgbClr val="334155"/>
                </a:solidFill>
                <a:latin typeface="Calibri" pitchFamily="34" charset="0"/>
                <a:ea typeface="Calibri" pitchFamily="34" charset="-122"/>
                <a:cs typeface="Calibri" pitchFamily="34" charset="-120"/>
              </a:rPr>
              <a:t>  • Communication scheduling</a:t>
            </a:r>
            <a:endParaRPr lang="en-US" sz="1467" dirty="0"/>
          </a:p>
          <a:p>
            <a:r>
              <a:rPr lang="en-US" sz="1467" dirty="0">
                <a:solidFill>
                  <a:srgbClr val="334155"/>
                </a:solidFill>
                <a:latin typeface="Calibri" pitchFamily="34" charset="0"/>
                <a:ea typeface="Calibri" pitchFamily="34" charset="-122"/>
                <a:cs typeface="Calibri" pitchFamily="34" charset="-120"/>
              </a:rPr>
              <a:t>  • Inter-PE resource sharing</a:t>
            </a:r>
            <a:endParaRPr lang="en-US" sz="1467" dirty="0"/>
          </a:p>
        </p:txBody>
      </p:sp>
      <p:sp>
        <p:nvSpPr>
          <p:cNvPr id="15" name="Shape 8"/>
          <p:cNvSpPr/>
          <p:nvPr/>
        </p:nvSpPr>
        <p:spPr>
          <a:xfrm>
            <a:off x="6096000" y="1524000"/>
            <a:ext cx="5608320" cy="4937760"/>
          </a:xfrm>
          <a:prstGeom prst="roundRect">
            <a:avLst>
              <a:gd name="adj" fmla="val 2469"/>
            </a:avLst>
          </a:prstGeom>
          <a:solidFill>
            <a:srgbClr val="FFFFFF"/>
          </a:solidFill>
          <a:ln w="10160">
            <a:solidFill>
              <a:srgbClr val="E2E8F0"/>
            </a:solidFill>
            <a:prstDash val="solid"/>
          </a:ln>
          <a:effectLst>
            <a:outerShdw blurRad="101600" dist="38100" dir="2700000" algn="bl" rotWithShape="0">
              <a:srgbClr val="000000">
                <a:alpha val="10000"/>
              </a:srgbClr>
            </a:outerShdw>
          </a:effectLst>
        </p:spPr>
        <p:txBody>
          <a:bodyPr/>
          <a:lstStyle/>
          <a:p>
            <a:endParaRPr lang="en-DE" sz="2400"/>
          </a:p>
        </p:txBody>
      </p:sp>
      <p:sp>
        <p:nvSpPr>
          <p:cNvPr id="16" name="Text 9"/>
          <p:cNvSpPr/>
          <p:nvPr/>
        </p:nvSpPr>
        <p:spPr>
          <a:xfrm>
            <a:off x="6339840" y="1706880"/>
            <a:ext cx="5120640" cy="548640"/>
          </a:xfrm>
          <a:prstGeom prst="rect">
            <a:avLst/>
          </a:prstGeom>
          <a:noFill/>
          <a:ln/>
        </p:spPr>
        <p:txBody>
          <a:bodyPr wrap="square" rtlCol="0" anchor="ctr"/>
          <a:lstStyle/>
          <a:p>
            <a:r>
              <a:rPr lang="en-US" sz="2133" b="1" dirty="0">
                <a:solidFill>
                  <a:srgbClr val="0F2044"/>
                </a:solidFill>
                <a:latin typeface="Cambria" pitchFamily="34" charset="0"/>
                <a:ea typeface="Cambria" pitchFamily="34" charset="-122"/>
                <a:cs typeface="Cambria" pitchFamily="34" charset="-120"/>
              </a:rPr>
              <a:t>6-Stage HLS Flow</a:t>
            </a:r>
            <a:endParaRPr lang="en-US" sz="2133" dirty="0"/>
          </a:p>
        </p:txBody>
      </p:sp>
      <p:sp>
        <p:nvSpPr>
          <p:cNvPr id="17" name="Shape 10"/>
          <p:cNvSpPr/>
          <p:nvPr/>
        </p:nvSpPr>
        <p:spPr>
          <a:xfrm>
            <a:off x="6278880" y="2340864"/>
            <a:ext cx="5242560" cy="524256"/>
          </a:xfrm>
          <a:prstGeom prst="roundRect">
            <a:avLst>
              <a:gd name="adj" fmla="val 11628"/>
            </a:avLst>
          </a:prstGeom>
          <a:solidFill>
            <a:srgbClr val="0F2044"/>
          </a:solidFill>
          <a:ln w="12700">
            <a:solidFill>
              <a:srgbClr val="0F2044"/>
            </a:solidFill>
            <a:prstDash val="solid"/>
          </a:ln>
        </p:spPr>
        <p:txBody>
          <a:bodyPr/>
          <a:lstStyle/>
          <a:p>
            <a:endParaRPr lang="en-DE" sz="2400"/>
          </a:p>
        </p:txBody>
      </p:sp>
      <p:sp>
        <p:nvSpPr>
          <p:cNvPr id="18" name="Text 11"/>
          <p:cNvSpPr/>
          <p:nvPr/>
        </p:nvSpPr>
        <p:spPr>
          <a:xfrm>
            <a:off x="6400800" y="2340864"/>
            <a:ext cx="4998720" cy="524256"/>
          </a:xfrm>
          <a:prstGeom prst="rect">
            <a:avLst/>
          </a:prstGeom>
          <a:noFill/>
          <a:ln/>
        </p:spPr>
        <p:txBody>
          <a:bodyPr wrap="square" rtlCol="0" anchor="ctr"/>
          <a:lstStyle/>
          <a:p>
            <a:r>
              <a:rPr lang="en-US" sz="1533" b="1" dirty="0">
                <a:solidFill>
                  <a:srgbClr val="FFFFFF"/>
                </a:solidFill>
                <a:latin typeface="Calibri" pitchFamily="34" charset="0"/>
                <a:ea typeface="Calibri" pitchFamily="34" charset="-122"/>
                <a:cs typeface="Calibri" pitchFamily="34" charset="-120"/>
              </a:rPr>
              <a:t>①  Behavioral Compilation</a:t>
            </a:r>
            <a:endParaRPr lang="en-US" sz="1533" dirty="0"/>
          </a:p>
        </p:txBody>
      </p:sp>
      <p:sp>
        <p:nvSpPr>
          <p:cNvPr id="19" name="Shape 12"/>
          <p:cNvSpPr/>
          <p:nvPr/>
        </p:nvSpPr>
        <p:spPr>
          <a:xfrm>
            <a:off x="6278880" y="2962656"/>
            <a:ext cx="5242560" cy="524256"/>
          </a:xfrm>
          <a:prstGeom prst="roundRect">
            <a:avLst>
              <a:gd name="adj" fmla="val 11628"/>
            </a:avLst>
          </a:prstGeom>
          <a:solidFill>
            <a:srgbClr val="1A3A6B"/>
          </a:solidFill>
          <a:ln w="12700">
            <a:solidFill>
              <a:srgbClr val="1A3A6B"/>
            </a:solidFill>
            <a:prstDash val="solid"/>
          </a:ln>
        </p:spPr>
        <p:txBody>
          <a:bodyPr/>
          <a:lstStyle/>
          <a:p>
            <a:endParaRPr lang="en-DE" sz="2400"/>
          </a:p>
        </p:txBody>
      </p:sp>
      <p:sp>
        <p:nvSpPr>
          <p:cNvPr id="20" name="Text 13"/>
          <p:cNvSpPr/>
          <p:nvPr/>
        </p:nvSpPr>
        <p:spPr>
          <a:xfrm>
            <a:off x="6400800" y="2962656"/>
            <a:ext cx="4998720" cy="524256"/>
          </a:xfrm>
          <a:prstGeom prst="rect">
            <a:avLst/>
          </a:prstGeom>
          <a:noFill/>
          <a:ln/>
        </p:spPr>
        <p:txBody>
          <a:bodyPr wrap="square" rtlCol="0" anchor="ctr"/>
          <a:lstStyle/>
          <a:p>
            <a:r>
              <a:rPr lang="en-US" sz="1533" b="1" dirty="0">
                <a:solidFill>
                  <a:srgbClr val="FFFFFF"/>
                </a:solidFill>
                <a:latin typeface="Calibri" pitchFamily="34" charset="0"/>
                <a:ea typeface="Calibri" pitchFamily="34" charset="-122"/>
                <a:cs typeface="Calibri" pitchFamily="34" charset="-120"/>
              </a:rPr>
              <a:t>②  Data-Width Analysis</a:t>
            </a:r>
            <a:endParaRPr lang="en-US" sz="1533" dirty="0"/>
          </a:p>
        </p:txBody>
      </p:sp>
      <p:sp>
        <p:nvSpPr>
          <p:cNvPr id="21" name="Shape 14"/>
          <p:cNvSpPr/>
          <p:nvPr/>
        </p:nvSpPr>
        <p:spPr>
          <a:xfrm>
            <a:off x="6278880" y="3584448"/>
            <a:ext cx="5242560" cy="524256"/>
          </a:xfrm>
          <a:prstGeom prst="roundRect">
            <a:avLst>
              <a:gd name="adj" fmla="val 11628"/>
            </a:avLst>
          </a:prstGeom>
          <a:solidFill>
            <a:srgbClr val="1E5799"/>
          </a:solidFill>
          <a:ln w="12700">
            <a:solidFill>
              <a:srgbClr val="1E5799"/>
            </a:solidFill>
            <a:prstDash val="solid"/>
          </a:ln>
        </p:spPr>
        <p:txBody>
          <a:bodyPr/>
          <a:lstStyle/>
          <a:p>
            <a:endParaRPr lang="en-DE" sz="2400"/>
          </a:p>
        </p:txBody>
      </p:sp>
      <p:sp>
        <p:nvSpPr>
          <p:cNvPr id="22" name="Text 15"/>
          <p:cNvSpPr/>
          <p:nvPr/>
        </p:nvSpPr>
        <p:spPr>
          <a:xfrm>
            <a:off x="6400800" y="3584448"/>
            <a:ext cx="4998720" cy="524256"/>
          </a:xfrm>
          <a:prstGeom prst="rect">
            <a:avLst/>
          </a:prstGeom>
          <a:noFill/>
          <a:ln/>
        </p:spPr>
        <p:txBody>
          <a:bodyPr wrap="square" rtlCol="0" anchor="ctr"/>
          <a:lstStyle/>
          <a:p>
            <a:r>
              <a:rPr lang="en-US" sz="1533" b="1" dirty="0">
                <a:solidFill>
                  <a:srgbClr val="FFFFFF"/>
                </a:solidFill>
                <a:latin typeface="Calibri" pitchFamily="34" charset="0"/>
                <a:ea typeface="Calibri" pitchFamily="34" charset="-122"/>
                <a:cs typeface="Calibri" pitchFamily="34" charset="-120"/>
              </a:rPr>
              <a:t>③  Resource Allocation</a:t>
            </a:r>
            <a:endParaRPr lang="en-US" sz="1533" dirty="0"/>
          </a:p>
        </p:txBody>
      </p:sp>
      <p:sp>
        <p:nvSpPr>
          <p:cNvPr id="23" name="Shape 16"/>
          <p:cNvSpPr/>
          <p:nvPr/>
        </p:nvSpPr>
        <p:spPr>
          <a:xfrm>
            <a:off x="6278880" y="4206240"/>
            <a:ext cx="5242560" cy="524256"/>
          </a:xfrm>
          <a:prstGeom prst="roundRect">
            <a:avLst>
              <a:gd name="adj" fmla="val 11628"/>
            </a:avLst>
          </a:prstGeom>
          <a:solidFill>
            <a:srgbClr val="0D7377"/>
          </a:solidFill>
          <a:ln w="12700">
            <a:solidFill>
              <a:srgbClr val="0D7377"/>
            </a:solidFill>
            <a:prstDash val="solid"/>
          </a:ln>
        </p:spPr>
        <p:txBody>
          <a:bodyPr/>
          <a:lstStyle/>
          <a:p>
            <a:endParaRPr lang="en-DE" sz="2400"/>
          </a:p>
        </p:txBody>
      </p:sp>
      <p:sp>
        <p:nvSpPr>
          <p:cNvPr id="24" name="Text 17"/>
          <p:cNvSpPr/>
          <p:nvPr/>
        </p:nvSpPr>
        <p:spPr>
          <a:xfrm>
            <a:off x="6400800" y="4206240"/>
            <a:ext cx="4998720" cy="524256"/>
          </a:xfrm>
          <a:prstGeom prst="rect">
            <a:avLst/>
          </a:prstGeom>
          <a:noFill/>
          <a:ln/>
        </p:spPr>
        <p:txBody>
          <a:bodyPr wrap="square" rtlCol="0" anchor="ctr"/>
          <a:lstStyle/>
          <a:p>
            <a:r>
              <a:rPr lang="en-US" sz="1533" b="1" dirty="0">
                <a:solidFill>
                  <a:srgbClr val="FFFFFF"/>
                </a:solidFill>
                <a:latin typeface="Calibri" pitchFamily="34" charset="0"/>
                <a:ea typeface="Calibri" pitchFamily="34" charset="-122"/>
                <a:cs typeface="Calibri" pitchFamily="34" charset="-120"/>
              </a:rPr>
              <a:t>④  Operation Scheduling</a:t>
            </a:r>
            <a:endParaRPr lang="en-US" sz="1533" dirty="0"/>
          </a:p>
        </p:txBody>
      </p:sp>
      <p:sp>
        <p:nvSpPr>
          <p:cNvPr id="25" name="Shape 18"/>
          <p:cNvSpPr/>
          <p:nvPr/>
        </p:nvSpPr>
        <p:spPr>
          <a:xfrm>
            <a:off x="6278880" y="4828032"/>
            <a:ext cx="5242560" cy="524256"/>
          </a:xfrm>
          <a:prstGeom prst="roundRect">
            <a:avLst>
              <a:gd name="adj" fmla="val 11628"/>
            </a:avLst>
          </a:prstGeom>
          <a:solidFill>
            <a:srgbClr val="0A9B8C"/>
          </a:solidFill>
          <a:ln w="12700">
            <a:solidFill>
              <a:srgbClr val="0A9B8C"/>
            </a:solidFill>
            <a:prstDash val="solid"/>
          </a:ln>
        </p:spPr>
        <p:txBody>
          <a:bodyPr/>
          <a:lstStyle/>
          <a:p>
            <a:endParaRPr lang="en-DE" sz="2400"/>
          </a:p>
        </p:txBody>
      </p:sp>
      <p:sp>
        <p:nvSpPr>
          <p:cNvPr id="26" name="Text 19"/>
          <p:cNvSpPr/>
          <p:nvPr/>
        </p:nvSpPr>
        <p:spPr>
          <a:xfrm>
            <a:off x="6400800" y="4828032"/>
            <a:ext cx="4998720" cy="524256"/>
          </a:xfrm>
          <a:prstGeom prst="rect">
            <a:avLst/>
          </a:prstGeom>
          <a:noFill/>
          <a:ln/>
        </p:spPr>
        <p:txBody>
          <a:bodyPr wrap="square" rtlCol="0" anchor="ctr"/>
          <a:lstStyle/>
          <a:p>
            <a:r>
              <a:rPr lang="en-US" sz="1533" b="1" dirty="0">
                <a:solidFill>
                  <a:srgbClr val="FFFFFF"/>
                </a:solidFill>
                <a:latin typeface="Calibri" pitchFamily="34" charset="0"/>
                <a:ea typeface="Calibri" pitchFamily="34" charset="-122"/>
                <a:cs typeface="Calibri" pitchFamily="34" charset="-120"/>
              </a:rPr>
              <a:t>⑤  Resource Binding</a:t>
            </a:r>
            <a:endParaRPr lang="en-US" sz="1533" dirty="0"/>
          </a:p>
        </p:txBody>
      </p:sp>
      <p:sp>
        <p:nvSpPr>
          <p:cNvPr id="27" name="Shape 20"/>
          <p:cNvSpPr/>
          <p:nvPr/>
        </p:nvSpPr>
        <p:spPr>
          <a:xfrm>
            <a:off x="6278880" y="5449824"/>
            <a:ext cx="5242560" cy="524256"/>
          </a:xfrm>
          <a:prstGeom prst="roundRect">
            <a:avLst>
              <a:gd name="adj" fmla="val 11628"/>
            </a:avLst>
          </a:prstGeom>
          <a:solidFill>
            <a:srgbClr val="00897B"/>
          </a:solidFill>
          <a:ln w="12700">
            <a:solidFill>
              <a:srgbClr val="00897B"/>
            </a:solidFill>
            <a:prstDash val="solid"/>
          </a:ln>
        </p:spPr>
        <p:txBody>
          <a:bodyPr/>
          <a:lstStyle/>
          <a:p>
            <a:endParaRPr lang="en-DE" sz="2400"/>
          </a:p>
        </p:txBody>
      </p:sp>
      <p:sp>
        <p:nvSpPr>
          <p:cNvPr id="28" name="Text 21"/>
          <p:cNvSpPr/>
          <p:nvPr/>
        </p:nvSpPr>
        <p:spPr>
          <a:xfrm>
            <a:off x="6400800" y="5449824"/>
            <a:ext cx="4998720" cy="524256"/>
          </a:xfrm>
          <a:prstGeom prst="rect">
            <a:avLst/>
          </a:prstGeom>
          <a:noFill/>
          <a:ln/>
        </p:spPr>
        <p:txBody>
          <a:bodyPr wrap="square" rtlCol="0" anchor="ctr"/>
          <a:lstStyle/>
          <a:p>
            <a:r>
              <a:rPr lang="en-US" sz="1533" b="1" dirty="0">
                <a:solidFill>
                  <a:srgbClr val="FFFFFF"/>
                </a:solidFill>
                <a:latin typeface="Calibri" pitchFamily="34" charset="0"/>
                <a:ea typeface="Calibri" pitchFamily="34" charset="-122"/>
                <a:cs typeface="Calibri" pitchFamily="34" charset="-120"/>
              </a:rPr>
              <a:t>⑥  RTL Code Generation</a:t>
            </a:r>
            <a:endParaRPr lang="en-US" sz="1533" dirty="0"/>
          </a:p>
        </p:txBody>
      </p:sp>
      <p:sp>
        <p:nvSpPr>
          <p:cNvPr id="31" name="Text 24"/>
          <p:cNvSpPr/>
          <p:nvPr/>
        </p:nvSpPr>
        <p:spPr>
          <a:xfrm>
            <a:off x="487680" y="6339840"/>
            <a:ext cx="10485120" cy="365760"/>
          </a:xfrm>
          <a:prstGeom prst="rect">
            <a:avLst/>
          </a:prstGeom>
          <a:noFill/>
          <a:ln/>
        </p:spPr>
        <p:txBody>
          <a:bodyPr wrap="square" rtlCol="0" anchor="ctr"/>
          <a:lstStyle/>
          <a:p>
            <a:r>
              <a:rPr lang="en-US" sz="1067" dirty="0">
                <a:solidFill>
                  <a:srgbClr val="64748B"/>
                </a:solidFill>
              </a:rPr>
              <a:t>High-Level Synthesis for Multi-Core Systems</a:t>
            </a:r>
            <a:endParaRPr lang="en-US" sz="1067" dirty="0"/>
          </a:p>
        </p:txBody>
      </p:sp>
      <p:sp>
        <p:nvSpPr>
          <p:cNvPr id="32" name="Text 25"/>
          <p:cNvSpPr/>
          <p:nvPr/>
        </p:nvSpPr>
        <p:spPr>
          <a:xfrm>
            <a:off x="11338560" y="6339840"/>
            <a:ext cx="609600" cy="365760"/>
          </a:xfrm>
          <a:prstGeom prst="rect">
            <a:avLst/>
          </a:prstGeom>
          <a:noFill/>
          <a:ln/>
        </p:spPr>
        <p:txBody>
          <a:bodyPr wrap="square" rtlCol="0" anchor="ctr"/>
          <a:lstStyle/>
          <a:p>
            <a:pPr algn="r"/>
            <a:r>
              <a:rPr lang="en-US" sz="1100" b="1" dirty="0">
                <a:solidFill>
                  <a:schemeClr val="accent1"/>
                </a:solidFill>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C"/>
          </a:solidFill>
          <a:ln w="12700">
            <a:solidFill>
              <a:srgbClr val="F7FAFC">
                <a:alpha val="0"/>
              </a:srgbClr>
            </a:solidFill>
            <a:prstDash val="solid"/>
          </a:ln>
        </p:spPr>
        <p:txBody>
          <a:bodyPr/>
          <a:lstStyle/>
          <a:p>
            <a:endParaRPr lang="en-DE"/>
          </a:p>
        </p:txBody>
      </p:sp>
      <p:sp>
        <p:nvSpPr>
          <p:cNvPr id="3" name="Text 1"/>
          <p:cNvSpPr/>
          <p:nvPr/>
        </p:nvSpPr>
        <p:spPr>
          <a:xfrm>
            <a:off x="502920" y="310896"/>
            <a:ext cx="7863840" cy="438912"/>
          </a:xfrm>
          <a:prstGeom prst="rect">
            <a:avLst/>
          </a:prstGeom>
          <a:noFill/>
          <a:ln/>
        </p:spPr>
        <p:txBody>
          <a:bodyPr wrap="square" lIns="0" tIns="0" rIns="0" bIns="0" rtlCol="0" anchor="ctr"/>
          <a:lstStyle/>
          <a:p>
            <a:pPr marL="0" indent="0">
              <a:buNone/>
            </a:pPr>
            <a:r>
              <a:rPr lang="en-US" sz="2500" b="1" dirty="0">
                <a:solidFill>
                  <a:srgbClr val="14213D"/>
                </a:solidFill>
                <a:latin typeface="Aptos Display" pitchFamily="34" charset="0"/>
                <a:ea typeface="Aptos Display" pitchFamily="34" charset="-122"/>
                <a:cs typeface="Aptos Display" pitchFamily="34" charset="-120"/>
              </a:rPr>
              <a:t>From Code to RTL</a:t>
            </a:r>
            <a:endParaRPr lang="en-US" sz="2500" dirty="0"/>
          </a:p>
        </p:txBody>
      </p:sp>
      <p:sp>
        <p:nvSpPr>
          <p:cNvPr id="5" name="Text 3"/>
          <p:cNvSpPr/>
          <p:nvPr/>
        </p:nvSpPr>
        <p:spPr>
          <a:xfrm>
            <a:off x="512064" y="6537960"/>
            <a:ext cx="4846320" cy="164592"/>
          </a:xfrm>
          <a:prstGeom prst="rect">
            <a:avLst/>
          </a:prstGeom>
          <a:noFill/>
          <a:ln/>
        </p:spPr>
        <p:txBody>
          <a:bodyPr wrap="square" lIns="0" tIns="0" rIns="0" bIns="0" rtlCol="0" anchor="ctr"/>
          <a:lstStyle/>
          <a:p>
            <a:pPr marL="0" indent="0">
              <a:buNone/>
            </a:pPr>
            <a:r>
              <a:rPr lang="en-US" sz="850" dirty="0">
                <a:solidFill>
                  <a:srgbClr val="6B7280"/>
                </a:solidFill>
              </a:rPr>
              <a:t>High-Level Synthesis for Multi-Core Systems</a:t>
            </a:r>
            <a:endParaRPr lang="en-US" sz="850" dirty="0"/>
          </a:p>
        </p:txBody>
      </p:sp>
      <p:sp>
        <p:nvSpPr>
          <p:cNvPr id="6" name="Text 4"/>
          <p:cNvSpPr/>
          <p:nvPr/>
        </p:nvSpPr>
        <p:spPr>
          <a:xfrm>
            <a:off x="11183112" y="6473952"/>
            <a:ext cx="502920" cy="256032"/>
          </a:xfrm>
          <a:prstGeom prst="rect">
            <a:avLst/>
          </a:prstGeom>
          <a:noFill/>
          <a:ln/>
        </p:spPr>
        <p:txBody>
          <a:bodyPr wrap="square" lIns="0" tIns="0" rIns="0" bIns="0" rtlCol="0" anchor="ctr"/>
          <a:lstStyle/>
          <a:p>
            <a:pPr marL="0" indent="0" algn="r">
              <a:buNone/>
            </a:pPr>
            <a:r>
              <a:rPr lang="en-US" sz="1100" b="1" dirty="0">
                <a:solidFill>
                  <a:srgbClr val="2563EB"/>
                </a:solidFill>
              </a:rPr>
              <a:t>03</a:t>
            </a:r>
            <a:endParaRPr lang="en-US" sz="1100" dirty="0"/>
          </a:p>
        </p:txBody>
      </p:sp>
      <p:sp>
        <p:nvSpPr>
          <p:cNvPr id="7" name="Shape 5"/>
          <p:cNvSpPr/>
          <p:nvPr/>
        </p:nvSpPr>
        <p:spPr>
          <a:xfrm>
            <a:off x="694944" y="1572768"/>
            <a:ext cx="1481328" cy="1170432"/>
          </a:xfrm>
          <a:prstGeom prst="roundRect">
            <a:avLst>
              <a:gd name="adj" fmla="val 6250"/>
            </a:avLst>
          </a:prstGeom>
          <a:solidFill>
            <a:srgbClr val="DBEAFE"/>
          </a:solidFill>
          <a:ln w="12700">
            <a:solidFill>
              <a:srgbClr val="2563EB"/>
            </a:solidFill>
            <a:prstDash val="solid"/>
          </a:ln>
        </p:spPr>
        <p:txBody>
          <a:bodyPr/>
          <a:lstStyle/>
          <a:p>
            <a:endParaRPr lang="en-DE"/>
          </a:p>
        </p:txBody>
      </p:sp>
      <p:sp>
        <p:nvSpPr>
          <p:cNvPr id="8" name="Text 6"/>
          <p:cNvSpPr/>
          <p:nvPr/>
        </p:nvSpPr>
        <p:spPr>
          <a:xfrm>
            <a:off x="832104" y="1737360"/>
            <a:ext cx="256032" cy="219456"/>
          </a:xfrm>
          <a:prstGeom prst="rect">
            <a:avLst/>
          </a:prstGeom>
          <a:noFill/>
          <a:ln/>
        </p:spPr>
        <p:txBody>
          <a:bodyPr wrap="square" lIns="635" tIns="635" rIns="635" bIns="635" rtlCol="0" anchor="ctr">
            <a:normAutofit/>
          </a:bodyPr>
          <a:lstStyle/>
          <a:p>
            <a:pPr marL="0" indent="0" algn="ctr">
              <a:buNone/>
            </a:pPr>
            <a:r>
              <a:rPr lang="en-US" sz="1400" b="1" dirty="0">
                <a:solidFill>
                  <a:srgbClr val="2563EB"/>
                </a:solidFill>
                <a:latin typeface="Aptos" pitchFamily="34" charset="0"/>
                <a:ea typeface="Aptos" pitchFamily="34" charset="-122"/>
                <a:cs typeface="Aptos" pitchFamily="34" charset="-120"/>
              </a:rPr>
              <a:t>1</a:t>
            </a:r>
            <a:endParaRPr lang="en-US" sz="1400" dirty="0"/>
          </a:p>
        </p:txBody>
      </p:sp>
      <p:sp>
        <p:nvSpPr>
          <p:cNvPr id="9" name="Text 7"/>
          <p:cNvSpPr/>
          <p:nvPr/>
        </p:nvSpPr>
        <p:spPr>
          <a:xfrm>
            <a:off x="832104" y="1984248"/>
            <a:ext cx="1207008" cy="274320"/>
          </a:xfrm>
          <a:prstGeom prst="rect">
            <a:avLst/>
          </a:prstGeom>
          <a:noFill/>
          <a:ln/>
        </p:spPr>
        <p:txBody>
          <a:bodyPr wrap="square" lIns="635" tIns="635" rIns="635" bIns="635" rtlCol="0" anchor="ctr">
            <a:normAutofit/>
          </a:bodyPr>
          <a:lstStyle/>
          <a:p>
            <a:pPr marL="0" indent="0" algn="ctr">
              <a:buNone/>
            </a:pPr>
            <a:r>
              <a:rPr lang="en-US" sz="1220" b="1" dirty="0">
                <a:solidFill>
                  <a:srgbClr val="14213D"/>
                </a:solidFill>
                <a:latin typeface="Aptos" pitchFamily="34" charset="0"/>
                <a:ea typeface="Aptos" pitchFamily="34" charset="-122"/>
                <a:cs typeface="Aptos" pitchFamily="34" charset="-120"/>
              </a:rPr>
              <a:t>Behavioral code</a:t>
            </a:r>
            <a:endParaRPr lang="en-US" sz="1220" dirty="0"/>
          </a:p>
        </p:txBody>
      </p:sp>
      <p:sp>
        <p:nvSpPr>
          <p:cNvPr id="10" name="Text 8"/>
          <p:cNvSpPr/>
          <p:nvPr/>
        </p:nvSpPr>
        <p:spPr>
          <a:xfrm>
            <a:off x="813816" y="2340864"/>
            <a:ext cx="1243584" cy="219456"/>
          </a:xfrm>
          <a:prstGeom prst="rect">
            <a:avLst/>
          </a:prstGeom>
          <a:noFill/>
          <a:ln/>
        </p:spPr>
        <p:txBody>
          <a:bodyPr wrap="square" lIns="635" tIns="635" rIns="635" bIns="635" rtlCol="0" anchor="ctr">
            <a:normAutofit fontScale="92500"/>
          </a:bodyPr>
          <a:lstStyle/>
          <a:p>
            <a:pPr marL="0" indent="0" algn="ctr">
              <a:buNone/>
            </a:pPr>
            <a:r>
              <a:rPr lang="en-US" sz="870" dirty="0">
                <a:solidFill>
                  <a:srgbClr val="6B7280"/>
                </a:solidFill>
                <a:latin typeface="Aptos" pitchFamily="34" charset="0"/>
                <a:ea typeface="Aptos" pitchFamily="34" charset="-122"/>
                <a:cs typeface="Aptos" pitchFamily="34" charset="-120"/>
              </a:rPr>
              <a:t>C/C++ / SystemC / MATLAB</a:t>
            </a:r>
            <a:endParaRPr lang="en-US" sz="870" dirty="0"/>
          </a:p>
        </p:txBody>
      </p:sp>
      <p:sp>
        <p:nvSpPr>
          <p:cNvPr id="11" name="Shape 9"/>
          <p:cNvSpPr/>
          <p:nvPr/>
        </p:nvSpPr>
        <p:spPr>
          <a:xfrm>
            <a:off x="2276856" y="2176272"/>
            <a:ext cx="274320" cy="0"/>
          </a:xfrm>
          <a:prstGeom prst="line">
            <a:avLst/>
          </a:prstGeom>
          <a:noFill/>
          <a:ln w="15240">
            <a:solidFill>
              <a:srgbClr val="D6DEE9"/>
            </a:solidFill>
            <a:prstDash val="solid"/>
            <a:headEnd type="none"/>
            <a:tailEnd type="triangle"/>
          </a:ln>
        </p:spPr>
        <p:txBody>
          <a:bodyPr/>
          <a:lstStyle/>
          <a:p>
            <a:endParaRPr lang="en-DE"/>
          </a:p>
        </p:txBody>
      </p:sp>
      <p:sp>
        <p:nvSpPr>
          <p:cNvPr id="12" name="Shape 10"/>
          <p:cNvSpPr/>
          <p:nvPr/>
        </p:nvSpPr>
        <p:spPr>
          <a:xfrm>
            <a:off x="2596896" y="1572768"/>
            <a:ext cx="1481328" cy="1170432"/>
          </a:xfrm>
          <a:prstGeom prst="roundRect">
            <a:avLst>
              <a:gd name="adj" fmla="val 6250"/>
            </a:avLst>
          </a:prstGeom>
          <a:solidFill>
            <a:srgbClr val="FFFFFF"/>
          </a:solidFill>
          <a:ln w="12700">
            <a:solidFill>
              <a:srgbClr val="D6DEE9"/>
            </a:solidFill>
            <a:prstDash val="solid"/>
          </a:ln>
        </p:spPr>
        <p:txBody>
          <a:bodyPr/>
          <a:lstStyle/>
          <a:p>
            <a:endParaRPr lang="en-DE"/>
          </a:p>
        </p:txBody>
      </p:sp>
      <p:sp>
        <p:nvSpPr>
          <p:cNvPr id="13" name="Text 11"/>
          <p:cNvSpPr/>
          <p:nvPr/>
        </p:nvSpPr>
        <p:spPr>
          <a:xfrm>
            <a:off x="2734056" y="1737360"/>
            <a:ext cx="256032" cy="219456"/>
          </a:xfrm>
          <a:prstGeom prst="rect">
            <a:avLst/>
          </a:prstGeom>
          <a:noFill/>
          <a:ln/>
        </p:spPr>
        <p:txBody>
          <a:bodyPr wrap="square" lIns="635" tIns="635" rIns="635" bIns="635" rtlCol="0" anchor="ctr">
            <a:normAutofit/>
          </a:bodyPr>
          <a:lstStyle/>
          <a:p>
            <a:pPr marL="0" indent="0" algn="ctr">
              <a:buNone/>
            </a:pPr>
            <a:r>
              <a:rPr lang="en-US" sz="1400" b="1" dirty="0">
                <a:solidFill>
                  <a:srgbClr val="14213D"/>
                </a:solidFill>
                <a:latin typeface="Aptos" pitchFamily="34" charset="0"/>
                <a:ea typeface="Aptos" pitchFamily="34" charset="-122"/>
                <a:cs typeface="Aptos" pitchFamily="34" charset="-120"/>
              </a:rPr>
              <a:t>2</a:t>
            </a:r>
            <a:endParaRPr lang="en-US" sz="1400" dirty="0"/>
          </a:p>
        </p:txBody>
      </p:sp>
      <p:sp>
        <p:nvSpPr>
          <p:cNvPr id="14" name="Text 12"/>
          <p:cNvSpPr/>
          <p:nvPr/>
        </p:nvSpPr>
        <p:spPr>
          <a:xfrm>
            <a:off x="2734056" y="1984248"/>
            <a:ext cx="1207008" cy="274320"/>
          </a:xfrm>
          <a:prstGeom prst="rect">
            <a:avLst/>
          </a:prstGeom>
          <a:noFill/>
          <a:ln/>
        </p:spPr>
        <p:txBody>
          <a:bodyPr wrap="square" lIns="635" tIns="635" rIns="635" bIns="635" rtlCol="0" anchor="ctr">
            <a:normAutofit fontScale="92500"/>
          </a:bodyPr>
          <a:lstStyle/>
          <a:p>
            <a:pPr marL="0" indent="0" algn="ctr">
              <a:buNone/>
            </a:pPr>
            <a:r>
              <a:rPr lang="en-US" sz="1220" b="1" dirty="0">
                <a:solidFill>
                  <a:srgbClr val="14213D"/>
                </a:solidFill>
                <a:latin typeface="Aptos" pitchFamily="34" charset="0"/>
                <a:ea typeface="Aptos" pitchFamily="34" charset="-122"/>
                <a:cs typeface="Aptos" pitchFamily="34" charset="-120"/>
              </a:rPr>
              <a:t>DFG construction</a:t>
            </a:r>
            <a:endParaRPr lang="en-US" sz="1220" dirty="0"/>
          </a:p>
        </p:txBody>
      </p:sp>
      <p:sp>
        <p:nvSpPr>
          <p:cNvPr id="15" name="Text 13"/>
          <p:cNvSpPr/>
          <p:nvPr/>
        </p:nvSpPr>
        <p:spPr>
          <a:xfrm>
            <a:off x="2715768" y="2340864"/>
            <a:ext cx="1243584" cy="219456"/>
          </a:xfrm>
          <a:prstGeom prst="rect">
            <a:avLst/>
          </a:prstGeom>
          <a:noFill/>
          <a:ln/>
        </p:spPr>
        <p:txBody>
          <a:bodyPr wrap="square" lIns="635" tIns="635" rIns="635" bIns="635" rtlCol="0" anchor="ctr">
            <a:normAutofit fontScale="92500"/>
          </a:bodyPr>
          <a:lstStyle/>
          <a:p>
            <a:pPr marL="0" indent="0" algn="ctr">
              <a:buNone/>
            </a:pPr>
            <a:r>
              <a:rPr lang="en-US" sz="870" dirty="0">
                <a:solidFill>
                  <a:srgbClr val="6B7280"/>
                </a:solidFill>
                <a:latin typeface="Aptos" pitchFamily="34" charset="0"/>
                <a:ea typeface="Aptos" pitchFamily="34" charset="-122"/>
                <a:cs typeface="Aptos" pitchFamily="34" charset="-120"/>
              </a:rPr>
              <a:t>operations + dependencies</a:t>
            </a:r>
            <a:endParaRPr lang="en-US" sz="870" dirty="0"/>
          </a:p>
        </p:txBody>
      </p:sp>
      <p:sp>
        <p:nvSpPr>
          <p:cNvPr id="16" name="Shape 14"/>
          <p:cNvSpPr/>
          <p:nvPr/>
        </p:nvSpPr>
        <p:spPr>
          <a:xfrm>
            <a:off x="4178808" y="2176272"/>
            <a:ext cx="274320" cy="0"/>
          </a:xfrm>
          <a:prstGeom prst="line">
            <a:avLst/>
          </a:prstGeom>
          <a:noFill/>
          <a:ln w="15240">
            <a:solidFill>
              <a:srgbClr val="D6DEE9"/>
            </a:solidFill>
            <a:prstDash val="solid"/>
            <a:headEnd type="none"/>
            <a:tailEnd type="triangle"/>
          </a:ln>
        </p:spPr>
        <p:txBody>
          <a:bodyPr/>
          <a:lstStyle/>
          <a:p>
            <a:endParaRPr lang="en-DE"/>
          </a:p>
        </p:txBody>
      </p:sp>
      <p:sp>
        <p:nvSpPr>
          <p:cNvPr id="17" name="Shape 15"/>
          <p:cNvSpPr/>
          <p:nvPr/>
        </p:nvSpPr>
        <p:spPr>
          <a:xfrm>
            <a:off x="4498848" y="1572768"/>
            <a:ext cx="1481328" cy="1170432"/>
          </a:xfrm>
          <a:prstGeom prst="roundRect">
            <a:avLst>
              <a:gd name="adj" fmla="val 6250"/>
            </a:avLst>
          </a:prstGeom>
          <a:solidFill>
            <a:srgbClr val="FFFFFF"/>
          </a:solidFill>
          <a:ln w="12700">
            <a:solidFill>
              <a:srgbClr val="D6DEE9"/>
            </a:solidFill>
            <a:prstDash val="solid"/>
          </a:ln>
        </p:spPr>
        <p:txBody>
          <a:bodyPr/>
          <a:lstStyle/>
          <a:p>
            <a:endParaRPr lang="en-DE"/>
          </a:p>
        </p:txBody>
      </p:sp>
      <p:sp>
        <p:nvSpPr>
          <p:cNvPr id="18" name="Text 16"/>
          <p:cNvSpPr/>
          <p:nvPr/>
        </p:nvSpPr>
        <p:spPr>
          <a:xfrm>
            <a:off x="4636008" y="1737360"/>
            <a:ext cx="256032" cy="219456"/>
          </a:xfrm>
          <a:prstGeom prst="rect">
            <a:avLst/>
          </a:prstGeom>
          <a:noFill/>
          <a:ln/>
        </p:spPr>
        <p:txBody>
          <a:bodyPr wrap="square" lIns="635" tIns="635" rIns="635" bIns="635" rtlCol="0" anchor="ctr">
            <a:normAutofit/>
          </a:bodyPr>
          <a:lstStyle/>
          <a:p>
            <a:pPr marL="0" indent="0" algn="ctr">
              <a:buNone/>
            </a:pPr>
            <a:r>
              <a:rPr lang="en-US" sz="1400" b="1" dirty="0">
                <a:solidFill>
                  <a:srgbClr val="14213D"/>
                </a:solidFill>
                <a:latin typeface="Aptos" pitchFamily="34" charset="0"/>
                <a:ea typeface="Aptos" pitchFamily="34" charset="-122"/>
                <a:cs typeface="Aptos" pitchFamily="34" charset="-120"/>
              </a:rPr>
              <a:t>3</a:t>
            </a:r>
            <a:endParaRPr lang="en-US" sz="1400" dirty="0"/>
          </a:p>
        </p:txBody>
      </p:sp>
      <p:sp>
        <p:nvSpPr>
          <p:cNvPr id="19" name="Text 17"/>
          <p:cNvSpPr/>
          <p:nvPr/>
        </p:nvSpPr>
        <p:spPr>
          <a:xfrm>
            <a:off x="4636008" y="1984248"/>
            <a:ext cx="1207008" cy="274320"/>
          </a:xfrm>
          <a:prstGeom prst="rect">
            <a:avLst/>
          </a:prstGeom>
          <a:noFill/>
          <a:ln/>
        </p:spPr>
        <p:txBody>
          <a:bodyPr wrap="square" lIns="635" tIns="635" rIns="635" bIns="635" rtlCol="0" anchor="ctr">
            <a:normAutofit fontScale="85000" lnSpcReduction="10000"/>
          </a:bodyPr>
          <a:lstStyle/>
          <a:p>
            <a:pPr marL="0" indent="0" algn="ctr">
              <a:buNone/>
            </a:pPr>
            <a:r>
              <a:rPr lang="en-US" sz="1220" b="1" dirty="0">
                <a:solidFill>
                  <a:srgbClr val="14213D"/>
                </a:solidFill>
                <a:latin typeface="Aptos" pitchFamily="34" charset="0"/>
                <a:ea typeface="Aptos" pitchFamily="34" charset="-122"/>
                <a:cs typeface="Aptos" pitchFamily="34" charset="-120"/>
              </a:rPr>
              <a:t>Resource allocation</a:t>
            </a:r>
            <a:endParaRPr lang="en-US" sz="1220" dirty="0"/>
          </a:p>
        </p:txBody>
      </p:sp>
      <p:sp>
        <p:nvSpPr>
          <p:cNvPr id="20" name="Text 18"/>
          <p:cNvSpPr/>
          <p:nvPr/>
        </p:nvSpPr>
        <p:spPr>
          <a:xfrm>
            <a:off x="4617720" y="2340864"/>
            <a:ext cx="1243584" cy="219456"/>
          </a:xfrm>
          <a:prstGeom prst="rect">
            <a:avLst/>
          </a:prstGeom>
          <a:noFill/>
          <a:ln/>
        </p:spPr>
        <p:txBody>
          <a:bodyPr wrap="square" lIns="635" tIns="635" rIns="635" bIns="635" rtlCol="0" anchor="ctr">
            <a:normAutofit fontScale="92500"/>
          </a:bodyPr>
          <a:lstStyle/>
          <a:p>
            <a:pPr marL="0" indent="0" algn="ctr">
              <a:buNone/>
            </a:pPr>
            <a:r>
              <a:rPr lang="en-US" sz="870" dirty="0">
                <a:solidFill>
                  <a:srgbClr val="6B7280"/>
                </a:solidFill>
                <a:latin typeface="Aptos" pitchFamily="34" charset="0"/>
                <a:ea typeface="Aptos" pitchFamily="34" charset="-122"/>
                <a:cs typeface="Aptos" pitchFamily="34" charset="-120"/>
              </a:rPr>
              <a:t>choose available operators</a:t>
            </a:r>
            <a:endParaRPr lang="en-US" sz="870" dirty="0"/>
          </a:p>
        </p:txBody>
      </p:sp>
      <p:sp>
        <p:nvSpPr>
          <p:cNvPr id="21" name="Shape 19"/>
          <p:cNvSpPr/>
          <p:nvPr/>
        </p:nvSpPr>
        <p:spPr>
          <a:xfrm>
            <a:off x="6080760" y="2176272"/>
            <a:ext cx="274320" cy="0"/>
          </a:xfrm>
          <a:prstGeom prst="line">
            <a:avLst/>
          </a:prstGeom>
          <a:noFill/>
          <a:ln w="15240">
            <a:solidFill>
              <a:srgbClr val="D6DEE9"/>
            </a:solidFill>
            <a:prstDash val="solid"/>
            <a:headEnd type="none"/>
            <a:tailEnd type="triangle"/>
          </a:ln>
        </p:spPr>
        <p:txBody>
          <a:bodyPr/>
          <a:lstStyle/>
          <a:p>
            <a:endParaRPr lang="en-DE"/>
          </a:p>
        </p:txBody>
      </p:sp>
      <p:sp>
        <p:nvSpPr>
          <p:cNvPr id="22" name="Shape 20"/>
          <p:cNvSpPr/>
          <p:nvPr/>
        </p:nvSpPr>
        <p:spPr>
          <a:xfrm>
            <a:off x="6400800" y="1572768"/>
            <a:ext cx="1481328" cy="1170432"/>
          </a:xfrm>
          <a:prstGeom prst="roundRect">
            <a:avLst>
              <a:gd name="adj" fmla="val 6250"/>
            </a:avLst>
          </a:prstGeom>
          <a:solidFill>
            <a:srgbClr val="D1FAE5"/>
          </a:solidFill>
          <a:ln w="12700">
            <a:solidFill>
              <a:srgbClr val="10B981"/>
            </a:solidFill>
            <a:prstDash val="solid"/>
          </a:ln>
        </p:spPr>
        <p:txBody>
          <a:bodyPr/>
          <a:lstStyle/>
          <a:p>
            <a:endParaRPr lang="en-DE"/>
          </a:p>
        </p:txBody>
      </p:sp>
      <p:sp>
        <p:nvSpPr>
          <p:cNvPr id="23" name="Text 21"/>
          <p:cNvSpPr/>
          <p:nvPr/>
        </p:nvSpPr>
        <p:spPr>
          <a:xfrm>
            <a:off x="6537960" y="1737360"/>
            <a:ext cx="256032" cy="219456"/>
          </a:xfrm>
          <a:prstGeom prst="rect">
            <a:avLst/>
          </a:prstGeom>
          <a:noFill/>
          <a:ln/>
        </p:spPr>
        <p:txBody>
          <a:bodyPr wrap="square" lIns="635" tIns="635" rIns="635" bIns="635" rtlCol="0" anchor="ctr">
            <a:normAutofit/>
          </a:bodyPr>
          <a:lstStyle/>
          <a:p>
            <a:pPr marL="0" indent="0" algn="ctr">
              <a:buNone/>
            </a:pPr>
            <a:r>
              <a:rPr lang="en-US" sz="1400" b="1" dirty="0">
                <a:solidFill>
                  <a:srgbClr val="10B981"/>
                </a:solidFill>
                <a:latin typeface="Aptos" pitchFamily="34" charset="0"/>
                <a:ea typeface="Aptos" pitchFamily="34" charset="-122"/>
                <a:cs typeface="Aptos" pitchFamily="34" charset="-120"/>
              </a:rPr>
              <a:t>4</a:t>
            </a:r>
            <a:endParaRPr lang="en-US" sz="1400" dirty="0"/>
          </a:p>
        </p:txBody>
      </p:sp>
      <p:sp>
        <p:nvSpPr>
          <p:cNvPr id="24" name="Text 22"/>
          <p:cNvSpPr/>
          <p:nvPr/>
        </p:nvSpPr>
        <p:spPr>
          <a:xfrm>
            <a:off x="6537960" y="1984248"/>
            <a:ext cx="1207008" cy="274320"/>
          </a:xfrm>
          <a:prstGeom prst="rect">
            <a:avLst/>
          </a:prstGeom>
          <a:noFill/>
          <a:ln/>
        </p:spPr>
        <p:txBody>
          <a:bodyPr wrap="square" lIns="635" tIns="635" rIns="635" bIns="635" rtlCol="0" anchor="ctr">
            <a:normAutofit/>
          </a:bodyPr>
          <a:lstStyle/>
          <a:p>
            <a:pPr marL="0" indent="0" algn="ctr">
              <a:buNone/>
            </a:pPr>
            <a:r>
              <a:rPr lang="en-US" sz="1220" b="1" dirty="0">
                <a:solidFill>
                  <a:srgbClr val="14213D"/>
                </a:solidFill>
                <a:latin typeface="Aptos" pitchFamily="34" charset="0"/>
                <a:ea typeface="Aptos" pitchFamily="34" charset="-122"/>
                <a:cs typeface="Aptos" pitchFamily="34" charset="-120"/>
              </a:rPr>
              <a:t>Scheduling</a:t>
            </a:r>
            <a:endParaRPr lang="en-US" sz="1220" dirty="0"/>
          </a:p>
        </p:txBody>
      </p:sp>
      <p:sp>
        <p:nvSpPr>
          <p:cNvPr id="25" name="Text 23"/>
          <p:cNvSpPr/>
          <p:nvPr/>
        </p:nvSpPr>
        <p:spPr>
          <a:xfrm>
            <a:off x="6519672" y="2340864"/>
            <a:ext cx="1243584" cy="219456"/>
          </a:xfrm>
          <a:prstGeom prst="rect">
            <a:avLst/>
          </a:prstGeom>
          <a:noFill/>
          <a:ln/>
        </p:spPr>
        <p:txBody>
          <a:bodyPr wrap="square" lIns="635" tIns="635" rIns="635" bIns="635" rtlCol="0" anchor="ctr">
            <a:normAutofit/>
          </a:bodyPr>
          <a:lstStyle/>
          <a:p>
            <a:pPr marL="0" indent="0" algn="ctr">
              <a:buNone/>
            </a:pPr>
            <a:r>
              <a:rPr lang="en-US" sz="870" dirty="0">
                <a:solidFill>
                  <a:srgbClr val="6B7280"/>
                </a:solidFill>
                <a:latin typeface="Aptos" pitchFamily="34" charset="0"/>
                <a:ea typeface="Aptos" pitchFamily="34" charset="-122"/>
                <a:cs typeface="Aptos" pitchFamily="34" charset="-120"/>
              </a:rPr>
              <a:t>choose control steps</a:t>
            </a:r>
            <a:endParaRPr lang="en-US" sz="870" dirty="0"/>
          </a:p>
        </p:txBody>
      </p:sp>
      <p:sp>
        <p:nvSpPr>
          <p:cNvPr id="26" name="Shape 24"/>
          <p:cNvSpPr/>
          <p:nvPr/>
        </p:nvSpPr>
        <p:spPr>
          <a:xfrm>
            <a:off x="7982712" y="2176272"/>
            <a:ext cx="274320" cy="0"/>
          </a:xfrm>
          <a:prstGeom prst="line">
            <a:avLst/>
          </a:prstGeom>
          <a:noFill/>
          <a:ln w="15240">
            <a:solidFill>
              <a:srgbClr val="D6DEE9"/>
            </a:solidFill>
            <a:prstDash val="solid"/>
            <a:headEnd type="none"/>
            <a:tailEnd type="triangle"/>
          </a:ln>
        </p:spPr>
        <p:txBody>
          <a:bodyPr/>
          <a:lstStyle/>
          <a:p>
            <a:endParaRPr lang="en-DE"/>
          </a:p>
        </p:txBody>
      </p:sp>
      <p:sp>
        <p:nvSpPr>
          <p:cNvPr id="27" name="Shape 25"/>
          <p:cNvSpPr/>
          <p:nvPr/>
        </p:nvSpPr>
        <p:spPr>
          <a:xfrm>
            <a:off x="8302752" y="1572768"/>
            <a:ext cx="1481328" cy="1170432"/>
          </a:xfrm>
          <a:prstGeom prst="roundRect">
            <a:avLst>
              <a:gd name="adj" fmla="val 6250"/>
            </a:avLst>
          </a:prstGeom>
          <a:solidFill>
            <a:srgbClr val="FEF3C7"/>
          </a:solidFill>
          <a:ln w="12700">
            <a:solidFill>
              <a:srgbClr val="F59E0B"/>
            </a:solidFill>
            <a:prstDash val="solid"/>
          </a:ln>
        </p:spPr>
        <p:txBody>
          <a:bodyPr/>
          <a:lstStyle/>
          <a:p>
            <a:endParaRPr lang="en-DE"/>
          </a:p>
        </p:txBody>
      </p:sp>
      <p:sp>
        <p:nvSpPr>
          <p:cNvPr id="28" name="Text 26"/>
          <p:cNvSpPr/>
          <p:nvPr/>
        </p:nvSpPr>
        <p:spPr>
          <a:xfrm>
            <a:off x="8439912" y="1737360"/>
            <a:ext cx="256032" cy="219456"/>
          </a:xfrm>
          <a:prstGeom prst="rect">
            <a:avLst/>
          </a:prstGeom>
          <a:noFill/>
          <a:ln/>
        </p:spPr>
        <p:txBody>
          <a:bodyPr wrap="square" lIns="635" tIns="635" rIns="635" bIns="635" rtlCol="0" anchor="ctr">
            <a:normAutofit/>
          </a:bodyPr>
          <a:lstStyle/>
          <a:p>
            <a:pPr marL="0" indent="0" algn="ctr">
              <a:buNone/>
            </a:pPr>
            <a:r>
              <a:rPr lang="en-US" sz="1400" b="1" dirty="0">
                <a:solidFill>
                  <a:srgbClr val="F59E0B"/>
                </a:solidFill>
                <a:latin typeface="Aptos" pitchFamily="34" charset="0"/>
                <a:ea typeface="Aptos" pitchFamily="34" charset="-122"/>
                <a:cs typeface="Aptos" pitchFamily="34" charset="-120"/>
              </a:rPr>
              <a:t>5</a:t>
            </a:r>
            <a:endParaRPr lang="en-US" sz="1400" dirty="0"/>
          </a:p>
        </p:txBody>
      </p:sp>
      <p:sp>
        <p:nvSpPr>
          <p:cNvPr id="29" name="Text 27"/>
          <p:cNvSpPr/>
          <p:nvPr/>
        </p:nvSpPr>
        <p:spPr>
          <a:xfrm>
            <a:off x="8439912" y="1984248"/>
            <a:ext cx="1207008" cy="274320"/>
          </a:xfrm>
          <a:prstGeom prst="rect">
            <a:avLst/>
          </a:prstGeom>
          <a:noFill/>
          <a:ln/>
        </p:spPr>
        <p:txBody>
          <a:bodyPr wrap="square" lIns="635" tIns="635" rIns="635" bIns="635" rtlCol="0" anchor="ctr">
            <a:normAutofit/>
          </a:bodyPr>
          <a:lstStyle/>
          <a:p>
            <a:pPr marL="0" indent="0" algn="ctr">
              <a:buNone/>
            </a:pPr>
            <a:r>
              <a:rPr lang="en-US" sz="1220" b="1" dirty="0">
                <a:solidFill>
                  <a:srgbClr val="14213D"/>
                </a:solidFill>
                <a:latin typeface="Aptos" pitchFamily="34" charset="0"/>
                <a:ea typeface="Aptos" pitchFamily="34" charset="-122"/>
                <a:cs typeface="Aptos" pitchFamily="34" charset="-120"/>
              </a:rPr>
              <a:t>Binding</a:t>
            </a:r>
            <a:endParaRPr lang="en-US" sz="1220" dirty="0"/>
          </a:p>
        </p:txBody>
      </p:sp>
      <p:sp>
        <p:nvSpPr>
          <p:cNvPr id="30" name="Text 28"/>
          <p:cNvSpPr/>
          <p:nvPr/>
        </p:nvSpPr>
        <p:spPr>
          <a:xfrm>
            <a:off x="8421624" y="2340864"/>
            <a:ext cx="1243584" cy="219456"/>
          </a:xfrm>
          <a:prstGeom prst="rect">
            <a:avLst/>
          </a:prstGeom>
          <a:noFill/>
          <a:ln/>
        </p:spPr>
        <p:txBody>
          <a:bodyPr wrap="square" lIns="635" tIns="635" rIns="635" bIns="635" rtlCol="0" anchor="ctr">
            <a:normAutofit/>
          </a:bodyPr>
          <a:lstStyle/>
          <a:p>
            <a:pPr marL="0" indent="0" algn="ctr">
              <a:buNone/>
            </a:pPr>
            <a:r>
              <a:rPr lang="en-US" sz="870" dirty="0">
                <a:solidFill>
                  <a:srgbClr val="6B7280"/>
                </a:solidFill>
                <a:latin typeface="Aptos" pitchFamily="34" charset="0"/>
                <a:ea typeface="Aptos" pitchFamily="34" charset="-122"/>
                <a:cs typeface="Aptos" pitchFamily="34" charset="-120"/>
              </a:rPr>
              <a:t>map ops to FUs/registers</a:t>
            </a:r>
            <a:endParaRPr lang="en-US" sz="870" dirty="0"/>
          </a:p>
        </p:txBody>
      </p:sp>
      <p:sp>
        <p:nvSpPr>
          <p:cNvPr id="31" name="Shape 29"/>
          <p:cNvSpPr/>
          <p:nvPr/>
        </p:nvSpPr>
        <p:spPr>
          <a:xfrm>
            <a:off x="9884664" y="2176272"/>
            <a:ext cx="274320" cy="0"/>
          </a:xfrm>
          <a:prstGeom prst="line">
            <a:avLst/>
          </a:prstGeom>
          <a:noFill/>
          <a:ln w="15240">
            <a:solidFill>
              <a:srgbClr val="D6DEE9"/>
            </a:solidFill>
            <a:prstDash val="solid"/>
            <a:headEnd type="none"/>
            <a:tailEnd type="triangle"/>
          </a:ln>
        </p:spPr>
        <p:txBody>
          <a:bodyPr/>
          <a:lstStyle/>
          <a:p>
            <a:endParaRPr lang="en-DE"/>
          </a:p>
        </p:txBody>
      </p:sp>
      <p:sp>
        <p:nvSpPr>
          <p:cNvPr id="32" name="Shape 30"/>
          <p:cNvSpPr/>
          <p:nvPr/>
        </p:nvSpPr>
        <p:spPr>
          <a:xfrm>
            <a:off x="10204704" y="1572768"/>
            <a:ext cx="1481328" cy="1170432"/>
          </a:xfrm>
          <a:prstGeom prst="roundRect">
            <a:avLst>
              <a:gd name="adj" fmla="val 6250"/>
            </a:avLst>
          </a:prstGeom>
          <a:solidFill>
            <a:srgbClr val="EDE9FE"/>
          </a:solidFill>
          <a:ln w="12700">
            <a:solidFill>
              <a:srgbClr val="7C3AED"/>
            </a:solidFill>
            <a:prstDash val="solid"/>
          </a:ln>
        </p:spPr>
        <p:txBody>
          <a:bodyPr/>
          <a:lstStyle/>
          <a:p>
            <a:endParaRPr lang="en-DE"/>
          </a:p>
        </p:txBody>
      </p:sp>
      <p:sp>
        <p:nvSpPr>
          <p:cNvPr id="33" name="Text 31"/>
          <p:cNvSpPr/>
          <p:nvPr/>
        </p:nvSpPr>
        <p:spPr>
          <a:xfrm>
            <a:off x="10341864" y="1737360"/>
            <a:ext cx="256032" cy="219456"/>
          </a:xfrm>
          <a:prstGeom prst="rect">
            <a:avLst/>
          </a:prstGeom>
          <a:noFill/>
          <a:ln/>
        </p:spPr>
        <p:txBody>
          <a:bodyPr wrap="square" lIns="635" tIns="635" rIns="635" bIns="635" rtlCol="0" anchor="ctr">
            <a:normAutofit/>
          </a:bodyPr>
          <a:lstStyle/>
          <a:p>
            <a:pPr marL="0" indent="0" algn="ctr">
              <a:buNone/>
            </a:pPr>
            <a:r>
              <a:rPr lang="en-US" sz="1400" b="1" dirty="0">
                <a:solidFill>
                  <a:srgbClr val="7C3AED"/>
                </a:solidFill>
                <a:latin typeface="Aptos" pitchFamily="34" charset="0"/>
                <a:ea typeface="Aptos" pitchFamily="34" charset="-122"/>
                <a:cs typeface="Aptos" pitchFamily="34" charset="-120"/>
              </a:rPr>
              <a:t>6</a:t>
            </a:r>
            <a:endParaRPr lang="en-US" sz="1400" dirty="0"/>
          </a:p>
        </p:txBody>
      </p:sp>
      <p:sp>
        <p:nvSpPr>
          <p:cNvPr id="34" name="Text 32"/>
          <p:cNvSpPr/>
          <p:nvPr/>
        </p:nvSpPr>
        <p:spPr>
          <a:xfrm>
            <a:off x="10341864" y="1984248"/>
            <a:ext cx="1207008" cy="274320"/>
          </a:xfrm>
          <a:prstGeom prst="rect">
            <a:avLst/>
          </a:prstGeom>
          <a:noFill/>
          <a:ln/>
        </p:spPr>
        <p:txBody>
          <a:bodyPr wrap="square" lIns="635" tIns="635" rIns="635" bIns="635" rtlCol="0" anchor="ctr">
            <a:normAutofit/>
          </a:bodyPr>
          <a:lstStyle/>
          <a:p>
            <a:pPr marL="0" indent="0" algn="ctr">
              <a:buNone/>
            </a:pPr>
            <a:r>
              <a:rPr lang="en-US" sz="1220" b="1" dirty="0">
                <a:solidFill>
                  <a:srgbClr val="14213D"/>
                </a:solidFill>
                <a:latin typeface="Aptos" pitchFamily="34" charset="0"/>
                <a:ea typeface="Aptos" pitchFamily="34" charset="-122"/>
                <a:cs typeface="Aptos" pitchFamily="34" charset="-120"/>
              </a:rPr>
              <a:t>RTL generation</a:t>
            </a:r>
            <a:endParaRPr lang="en-US" sz="1220" dirty="0"/>
          </a:p>
        </p:txBody>
      </p:sp>
      <p:sp>
        <p:nvSpPr>
          <p:cNvPr id="35" name="Text 33"/>
          <p:cNvSpPr/>
          <p:nvPr/>
        </p:nvSpPr>
        <p:spPr>
          <a:xfrm>
            <a:off x="10323576" y="2340864"/>
            <a:ext cx="1243584" cy="219456"/>
          </a:xfrm>
          <a:prstGeom prst="rect">
            <a:avLst/>
          </a:prstGeom>
          <a:noFill/>
          <a:ln/>
        </p:spPr>
        <p:txBody>
          <a:bodyPr wrap="square" lIns="635" tIns="635" rIns="635" bIns="635" rtlCol="0" anchor="ctr">
            <a:normAutofit/>
          </a:bodyPr>
          <a:lstStyle/>
          <a:p>
            <a:pPr marL="0" indent="0" algn="ctr">
              <a:buNone/>
            </a:pPr>
            <a:r>
              <a:rPr lang="en-US" sz="870" dirty="0">
                <a:solidFill>
                  <a:srgbClr val="6B7280"/>
                </a:solidFill>
                <a:latin typeface="Aptos" pitchFamily="34" charset="0"/>
                <a:ea typeface="Aptos" pitchFamily="34" charset="-122"/>
                <a:cs typeface="Aptos" pitchFamily="34" charset="-120"/>
              </a:rPr>
              <a:t>VHDL / Verilog</a:t>
            </a:r>
            <a:endParaRPr lang="en-US" sz="870" dirty="0"/>
          </a:p>
        </p:txBody>
      </p:sp>
      <p:sp>
        <p:nvSpPr>
          <p:cNvPr id="36" name="Shape 34"/>
          <p:cNvSpPr/>
          <p:nvPr/>
        </p:nvSpPr>
        <p:spPr>
          <a:xfrm>
            <a:off x="5486400" y="3273552"/>
            <a:ext cx="0" cy="1389888"/>
          </a:xfrm>
          <a:prstGeom prst="line">
            <a:avLst/>
          </a:prstGeom>
          <a:noFill/>
          <a:ln w="25400">
            <a:solidFill>
              <a:srgbClr val="2563EB"/>
            </a:solidFill>
            <a:prstDash val="solid"/>
            <a:headEnd type="none"/>
            <a:tailEnd type="triangle"/>
          </a:ln>
        </p:spPr>
        <p:txBody>
          <a:bodyPr/>
          <a:lstStyle/>
          <a:p>
            <a:endParaRPr lang="en-DE"/>
          </a:p>
        </p:txBody>
      </p:sp>
      <p:sp>
        <p:nvSpPr>
          <p:cNvPr id="37" name="Text 35"/>
          <p:cNvSpPr/>
          <p:nvPr/>
        </p:nvSpPr>
        <p:spPr>
          <a:xfrm>
            <a:off x="4370832" y="4828032"/>
            <a:ext cx="2423160" cy="256032"/>
          </a:xfrm>
          <a:prstGeom prst="rect">
            <a:avLst/>
          </a:prstGeom>
          <a:noFill/>
          <a:ln/>
        </p:spPr>
        <p:txBody>
          <a:bodyPr wrap="square" lIns="635" tIns="635" rIns="635" bIns="635" rtlCol="0" anchor="ctr">
            <a:normAutofit/>
          </a:bodyPr>
          <a:lstStyle/>
          <a:p>
            <a:pPr marL="0" indent="0" algn="ctr">
              <a:buNone/>
            </a:pPr>
            <a:r>
              <a:rPr lang="en-US" sz="1600" b="1" dirty="0">
                <a:solidFill>
                  <a:srgbClr val="2563EB"/>
                </a:solidFill>
                <a:latin typeface="Aptos" pitchFamily="34" charset="0"/>
                <a:ea typeface="Aptos" pitchFamily="34" charset="-122"/>
                <a:cs typeface="Aptos" pitchFamily="34" charset="-120"/>
              </a:rPr>
              <a:t>Multi-core extension</a:t>
            </a:r>
            <a:endParaRPr lang="en-US" sz="1600" dirty="0"/>
          </a:p>
        </p:txBody>
      </p:sp>
      <p:sp>
        <p:nvSpPr>
          <p:cNvPr id="38" name="Shape 36"/>
          <p:cNvSpPr/>
          <p:nvPr/>
        </p:nvSpPr>
        <p:spPr>
          <a:xfrm>
            <a:off x="1344168" y="5321808"/>
            <a:ext cx="1426464" cy="530352"/>
          </a:xfrm>
          <a:prstGeom prst="roundRect">
            <a:avLst>
              <a:gd name="adj" fmla="val 13793"/>
            </a:avLst>
          </a:prstGeom>
          <a:solidFill>
            <a:srgbClr val="DBEAFE"/>
          </a:solidFill>
          <a:ln w="12700">
            <a:solidFill>
              <a:srgbClr val="2563EB"/>
            </a:solidFill>
            <a:prstDash val="solid"/>
          </a:ln>
        </p:spPr>
        <p:txBody>
          <a:bodyPr/>
          <a:lstStyle/>
          <a:p>
            <a:endParaRPr lang="en-DE"/>
          </a:p>
        </p:txBody>
      </p:sp>
      <p:sp>
        <p:nvSpPr>
          <p:cNvPr id="39" name="Text 37"/>
          <p:cNvSpPr/>
          <p:nvPr/>
        </p:nvSpPr>
        <p:spPr>
          <a:xfrm>
            <a:off x="1417320" y="5431536"/>
            <a:ext cx="1280160" cy="164592"/>
          </a:xfrm>
          <a:prstGeom prst="rect">
            <a:avLst/>
          </a:prstGeom>
          <a:noFill/>
          <a:ln/>
        </p:spPr>
        <p:txBody>
          <a:bodyPr wrap="square" lIns="635" tIns="635" rIns="635" bIns="635" rtlCol="0" anchor="ctr">
            <a:normAutofit/>
          </a:bodyPr>
          <a:lstStyle/>
          <a:p>
            <a:pPr marL="0" indent="0" algn="ctr">
              <a:buNone/>
            </a:pPr>
            <a:r>
              <a:rPr lang="en-US" sz="1050" b="1" dirty="0">
                <a:solidFill>
                  <a:srgbClr val="14213D"/>
                </a:solidFill>
                <a:latin typeface="Aptos" pitchFamily="34" charset="0"/>
                <a:ea typeface="Aptos" pitchFamily="34" charset="-122"/>
                <a:cs typeface="Aptos" pitchFamily="34" charset="-120"/>
              </a:rPr>
              <a:t>Partitioning</a:t>
            </a:r>
            <a:endParaRPr lang="en-US" sz="1050" dirty="0"/>
          </a:p>
        </p:txBody>
      </p:sp>
      <p:sp>
        <p:nvSpPr>
          <p:cNvPr id="40" name="Text 38"/>
          <p:cNvSpPr/>
          <p:nvPr/>
        </p:nvSpPr>
        <p:spPr>
          <a:xfrm>
            <a:off x="1417320" y="5632704"/>
            <a:ext cx="1280160" cy="128016"/>
          </a:xfrm>
          <a:prstGeom prst="rect">
            <a:avLst/>
          </a:prstGeom>
          <a:noFill/>
          <a:ln/>
        </p:spPr>
        <p:txBody>
          <a:bodyPr wrap="square" lIns="635" tIns="635" rIns="635" bIns="635" rtlCol="0" anchor="ctr">
            <a:normAutofit/>
          </a:bodyPr>
          <a:lstStyle/>
          <a:p>
            <a:pPr marL="0" indent="0" algn="ctr">
              <a:buNone/>
            </a:pPr>
            <a:r>
              <a:rPr lang="en-US" sz="820" dirty="0">
                <a:solidFill>
                  <a:srgbClr val="6B7280"/>
                </a:solidFill>
                <a:latin typeface="Aptos" pitchFamily="34" charset="0"/>
                <a:ea typeface="Aptos" pitchFamily="34" charset="-122"/>
                <a:cs typeface="Aptos" pitchFamily="34" charset="-120"/>
              </a:rPr>
              <a:t>Which PE?</a:t>
            </a:r>
            <a:endParaRPr lang="en-US" sz="820" dirty="0"/>
          </a:p>
        </p:txBody>
      </p:sp>
      <p:sp>
        <p:nvSpPr>
          <p:cNvPr id="41" name="Shape 39"/>
          <p:cNvSpPr/>
          <p:nvPr/>
        </p:nvSpPr>
        <p:spPr>
          <a:xfrm>
            <a:off x="3813048" y="5321808"/>
            <a:ext cx="1426464" cy="530352"/>
          </a:xfrm>
          <a:prstGeom prst="roundRect">
            <a:avLst>
              <a:gd name="adj" fmla="val 13793"/>
            </a:avLst>
          </a:prstGeom>
          <a:solidFill>
            <a:srgbClr val="D1FAE5"/>
          </a:solidFill>
          <a:ln w="12700">
            <a:solidFill>
              <a:srgbClr val="10B981"/>
            </a:solidFill>
            <a:prstDash val="solid"/>
          </a:ln>
        </p:spPr>
        <p:txBody>
          <a:bodyPr/>
          <a:lstStyle/>
          <a:p>
            <a:endParaRPr lang="en-DE"/>
          </a:p>
        </p:txBody>
      </p:sp>
      <p:sp>
        <p:nvSpPr>
          <p:cNvPr id="42" name="Text 40"/>
          <p:cNvSpPr/>
          <p:nvPr/>
        </p:nvSpPr>
        <p:spPr>
          <a:xfrm>
            <a:off x="3886200" y="5431536"/>
            <a:ext cx="1280160" cy="164592"/>
          </a:xfrm>
          <a:prstGeom prst="rect">
            <a:avLst/>
          </a:prstGeom>
          <a:noFill/>
          <a:ln/>
        </p:spPr>
        <p:txBody>
          <a:bodyPr wrap="square" lIns="635" tIns="635" rIns="635" bIns="635" rtlCol="0" anchor="ctr">
            <a:normAutofit/>
          </a:bodyPr>
          <a:lstStyle/>
          <a:p>
            <a:pPr marL="0" indent="0" algn="ctr">
              <a:buNone/>
            </a:pPr>
            <a:r>
              <a:rPr lang="en-US" sz="1050" b="1" dirty="0">
                <a:solidFill>
                  <a:srgbClr val="14213D"/>
                </a:solidFill>
                <a:latin typeface="Aptos" pitchFamily="34" charset="0"/>
                <a:ea typeface="Aptos" pitchFamily="34" charset="-122"/>
                <a:cs typeface="Aptos" pitchFamily="34" charset="-120"/>
              </a:rPr>
              <a:t>Communication</a:t>
            </a:r>
            <a:endParaRPr lang="en-US" sz="1050" dirty="0"/>
          </a:p>
        </p:txBody>
      </p:sp>
      <p:sp>
        <p:nvSpPr>
          <p:cNvPr id="43" name="Text 41"/>
          <p:cNvSpPr/>
          <p:nvPr/>
        </p:nvSpPr>
        <p:spPr>
          <a:xfrm>
            <a:off x="3886200" y="5632704"/>
            <a:ext cx="1280160" cy="128016"/>
          </a:xfrm>
          <a:prstGeom prst="rect">
            <a:avLst/>
          </a:prstGeom>
          <a:noFill/>
          <a:ln/>
        </p:spPr>
        <p:txBody>
          <a:bodyPr wrap="square" lIns="635" tIns="635" rIns="635" bIns="635" rtlCol="0" anchor="ctr">
            <a:normAutofit/>
          </a:bodyPr>
          <a:lstStyle/>
          <a:p>
            <a:pPr marL="0" indent="0" algn="ctr">
              <a:buNone/>
            </a:pPr>
            <a:r>
              <a:rPr lang="en-US" sz="820" dirty="0">
                <a:solidFill>
                  <a:srgbClr val="6B7280"/>
                </a:solidFill>
                <a:latin typeface="Aptos" pitchFamily="34" charset="0"/>
                <a:ea typeface="Aptos" pitchFamily="34" charset="-122"/>
                <a:cs typeface="Aptos" pitchFamily="34" charset="-120"/>
              </a:rPr>
              <a:t>How data moves?</a:t>
            </a:r>
            <a:endParaRPr lang="en-US" sz="820" dirty="0"/>
          </a:p>
        </p:txBody>
      </p:sp>
      <p:sp>
        <p:nvSpPr>
          <p:cNvPr id="44" name="Shape 42"/>
          <p:cNvSpPr/>
          <p:nvPr/>
        </p:nvSpPr>
        <p:spPr>
          <a:xfrm>
            <a:off x="6281928" y="5321808"/>
            <a:ext cx="1426464" cy="530352"/>
          </a:xfrm>
          <a:prstGeom prst="roundRect">
            <a:avLst>
              <a:gd name="adj" fmla="val 13793"/>
            </a:avLst>
          </a:prstGeom>
          <a:solidFill>
            <a:srgbClr val="DBEAFE"/>
          </a:solidFill>
          <a:ln w="12700">
            <a:solidFill>
              <a:srgbClr val="2563EB"/>
            </a:solidFill>
            <a:prstDash val="solid"/>
          </a:ln>
        </p:spPr>
        <p:txBody>
          <a:bodyPr/>
          <a:lstStyle/>
          <a:p>
            <a:endParaRPr lang="en-DE"/>
          </a:p>
        </p:txBody>
      </p:sp>
      <p:sp>
        <p:nvSpPr>
          <p:cNvPr id="45" name="Text 43"/>
          <p:cNvSpPr/>
          <p:nvPr/>
        </p:nvSpPr>
        <p:spPr>
          <a:xfrm>
            <a:off x="6355080" y="5431536"/>
            <a:ext cx="1280160" cy="164592"/>
          </a:xfrm>
          <a:prstGeom prst="rect">
            <a:avLst/>
          </a:prstGeom>
          <a:noFill/>
          <a:ln/>
        </p:spPr>
        <p:txBody>
          <a:bodyPr wrap="square" lIns="635" tIns="635" rIns="635" bIns="635" rtlCol="0" anchor="ctr">
            <a:normAutofit/>
          </a:bodyPr>
          <a:lstStyle/>
          <a:p>
            <a:pPr marL="0" indent="0" algn="ctr">
              <a:buNone/>
            </a:pPr>
            <a:r>
              <a:rPr lang="en-US" sz="1050" b="1" dirty="0">
                <a:solidFill>
                  <a:srgbClr val="14213D"/>
                </a:solidFill>
                <a:latin typeface="Aptos" pitchFamily="34" charset="0"/>
                <a:ea typeface="Aptos" pitchFamily="34" charset="-122"/>
                <a:cs typeface="Aptos" pitchFamily="34" charset="-120"/>
              </a:rPr>
              <a:t>Synchronization</a:t>
            </a:r>
            <a:endParaRPr lang="en-US" sz="1050" dirty="0"/>
          </a:p>
        </p:txBody>
      </p:sp>
      <p:sp>
        <p:nvSpPr>
          <p:cNvPr id="46" name="Text 44"/>
          <p:cNvSpPr/>
          <p:nvPr/>
        </p:nvSpPr>
        <p:spPr>
          <a:xfrm>
            <a:off x="6355080" y="5632704"/>
            <a:ext cx="1280160" cy="128016"/>
          </a:xfrm>
          <a:prstGeom prst="rect">
            <a:avLst/>
          </a:prstGeom>
          <a:noFill/>
          <a:ln/>
        </p:spPr>
        <p:txBody>
          <a:bodyPr wrap="square" lIns="635" tIns="635" rIns="635" bIns="635" rtlCol="0" anchor="ctr">
            <a:normAutofit/>
          </a:bodyPr>
          <a:lstStyle/>
          <a:p>
            <a:pPr marL="0" indent="0" algn="ctr">
              <a:buNone/>
            </a:pPr>
            <a:r>
              <a:rPr lang="en-US" sz="820" dirty="0">
                <a:solidFill>
                  <a:srgbClr val="6B7280"/>
                </a:solidFill>
                <a:latin typeface="Aptos" pitchFamily="34" charset="0"/>
                <a:ea typeface="Aptos" pitchFamily="34" charset="-122"/>
                <a:cs typeface="Aptos" pitchFamily="34" charset="-120"/>
              </a:rPr>
              <a:t>When values arrive?</a:t>
            </a:r>
            <a:endParaRPr lang="en-US" sz="820" dirty="0"/>
          </a:p>
        </p:txBody>
      </p:sp>
      <p:sp>
        <p:nvSpPr>
          <p:cNvPr id="47" name="Shape 45"/>
          <p:cNvSpPr/>
          <p:nvPr/>
        </p:nvSpPr>
        <p:spPr>
          <a:xfrm>
            <a:off x="8750808" y="5321808"/>
            <a:ext cx="1426464" cy="530352"/>
          </a:xfrm>
          <a:prstGeom prst="roundRect">
            <a:avLst>
              <a:gd name="adj" fmla="val 13793"/>
            </a:avLst>
          </a:prstGeom>
          <a:solidFill>
            <a:srgbClr val="D1FAE5"/>
          </a:solidFill>
          <a:ln w="12700">
            <a:solidFill>
              <a:srgbClr val="10B981"/>
            </a:solidFill>
            <a:prstDash val="solid"/>
          </a:ln>
        </p:spPr>
        <p:txBody>
          <a:bodyPr/>
          <a:lstStyle/>
          <a:p>
            <a:endParaRPr lang="en-DE"/>
          </a:p>
        </p:txBody>
      </p:sp>
      <p:sp>
        <p:nvSpPr>
          <p:cNvPr id="48" name="Text 46"/>
          <p:cNvSpPr/>
          <p:nvPr/>
        </p:nvSpPr>
        <p:spPr>
          <a:xfrm>
            <a:off x="8823960" y="5431536"/>
            <a:ext cx="1280160" cy="164592"/>
          </a:xfrm>
          <a:prstGeom prst="rect">
            <a:avLst/>
          </a:prstGeom>
          <a:noFill/>
          <a:ln/>
        </p:spPr>
        <p:txBody>
          <a:bodyPr wrap="square" lIns="635" tIns="635" rIns="635" bIns="635" rtlCol="0" anchor="ctr">
            <a:normAutofit/>
          </a:bodyPr>
          <a:lstStyle/>
          <a:p>
            <a:pPr marL="0" indent="0" algn="ctr">
              <a:buNone/>
            </a:pPr>
            <a:r>
              <a:rPr lang="en-US" sz="1050" b="1" dirty="0">
                <a:solidFill>
                  <a:srgbClr val="14213D"/>
                </a:solidFill>
                <a:latin typeface="Aptos" pitchFamily="34" charset="0"/>
                <a:ea typeface="Aptos" pitchFamily="34" charset="-122"/>
                <a:cs typeface="Aptos" pitchFamily="34" charset="-120"/>
              </a:rPr>
              <a:t>Shared resources</a:t>
            </a:r>
            <a:endParaRPr lang="en-US" sz="1050" dirty="0"/>
          </a:p>
        </p:txBody>
      </p:sp>
      <p:sp>
        <p:nvSpPr>
          <p:cNvPr id="49" name="Text 47"/>
          <p:cNvSpPr/>
          <p:nvPr/>
        </p:nvSpPr>
        <p:spPr>
          <a:xfrm>
            <a:off x="8823960" y="5632704"/>
            <a:ext cx="1280160" cy="128016"/>
          </a:xfrm>
          <a:prstGeom prst="rect">
            <a:avLst/>
          </a:prstGeom>
          <a:noFill/>
          <a:ln/>
        </p:spPr>
        <p:txBody>
          <a:bodyPr wrap="square" lIns="635" tIns="635" rIns="635" bIns="635" rtlCol="0" anchor="ctr">
            <a:normAutofit/>
          </a:bodyPr>
          <a:lstStyle/>
          <a:p>
            <a:pPr marL="0" indent="0" algn="ctr">
              <a:buNone/>
            </a:pPr>
            <a:r>
              <a:rPr lang="en-US" sz="820" dirty="0">
                <a:solidFill>
                  <a:srgbClr val="6B7280"/>
                </a:solidFill>
                <a:latin typeface="Aptos" pitchFamily="34" charset="0"/>
                <a:ea typeface="Aptos" pitchFamily="34" charset="-122"/>
                <a:cs typeface="Aptos" pitchFamily="34" charset="-120"/>
              </a:rPr>
              <a:t>How to save area?</a:t>
            </a:r>
            <a:endParaRPr lang="en-US" sz="8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280160"/>
          </a:xfrm>
          <a:prstGeom prst="rect">
            <a:avLst/>
          </a:prstGeom>
          <a:solidFill>
            <a:srgbClr val="0F2044"/>
          </a:solidFill>
          <a:ln w="12700">
            <a:solidFill>
              <a:srgbClr val="0F2044"/>
            </a:solidFill>
            <a:prstDash val="solid"/>
          </a:ln>
        </p:spPr>
        <p:txBody>
          <a:bodyPr/>
          <a:lstStyle/>
          <a:p>
            <a:endParaRPr lang="en-DE" sz="2400"/>
          </a:p>
        </p:txBody>
      </p:sp>
      <p:sp>
        <p:nvSpPr>
          <p:cNvPr id="3" name="Text 1"/>
          <p:cNvSpPr/>
          <p:nvPr/>
        </p:nvSpPr>
        <p:spPr>
          <a:xfrm>
            <a:off x="609600" y="243840"/>
            <a:ext cx="10363200" cy="792480"/>
          </a:xfrm>
          <a:prstGeom prst="rect">
            <a:avLst/>
          </a:prstGeom>
          <a:noFill/>
          <a:ln/>
        </p:spPr>
        <p:txBody>
          <a:bodyPr wrap="square" rtlCol="0" anchor="ctr"/>
          <a:lstStyle/>
          <a:p>
            <a:r>
              <a:rPr lang="en-US" sz="2800" b="1" dirty="0">
                <a:solidFill>
                  <a:srgbClr val="FFFFFF"/>
                </a:solidFill>
                <a:latin typeface="+mj-lt"/>
                <a:ea typeface="Cambria" pitchFamily="34" charset="-122"/>
                <a:cs typeface="Cambria" pitchFamily="34" charset="-120"/>
              </a:rPr>
              <a:t>Mathematical Foundations</a:t>
            </a:r>
            <a:endParaRPr lang="en-US" sz="2800" dirty="0">
              <a:latin typeface="+mj-lt"/>
            </a:endParaRPr>
          </a:p>
        </p:txBody>
      </p:sp>
      <p:sp>
        <p:nvSpPr>
          <p:cNvPr id="4" name="Shape 2"/>
          <p:cNvSpPr/>
          <p:nvPr/>
        </p:nvSpPr>
        <p:spPr>
          <a:xfrm>
            <a:off x="487680" y="1463040"/>
            <a:ext cx="5120640" cy="4703129"/>
          </a:xfrm>
          <a:prstGeom prst="roundRect">
            <a:avLst>
              <a:gd name="adj" fmla="val 4545"/>
            </a:avLst>
          </a:prstGeom>
          <a:solidFill>
            <a:srgbClr val="FFFFFF"/>
          </a:solidFill>
          <a:ln w="12700">
            <a:solidFill>
              <a:srgbClr val="E2E8F0"/>
            </a:solidFill>
            <a:prstDash val="solid"/>
          </a:ln>
          <a:effectLst>
            <a:outerShdw blurRad="101600" dist="38100" dir="2700000" algn="bl" rotWithShape="0">
              <a:srgbClr val="000000">
                <a:alpha val="10000"/>
              </a:srgbClr>
            </a:outerShdw>
          </a:effectLst>
        </p:spPr>
        <p:txBody>
          <a:bodyPr/>
          <a:lstStyle/>
          <a:p>
            <a:endParaRPr lang="en-DE" sz="2400" dirty="0"/>
          </a:p>
        </p:txBody>
      </p:sp>
      <p:sp>
        <p:nvSpPr>
          <p:cNvPr id="5" name="Text 3"/>
          <p:cNvSpPr/>
          <p:nvPr/>
        </p:nvSpPr>
        <p:spPr>
          <a:xfrm>
            <a:off x="731520" y="1609344"/>
            <a:ext cx="4632960" cy="512064"/>
          </a:xfrm>
          <a:prstGeom prst="rect">
            <a:avLst/>
          </a:prstGeom>
          <a:noFill/>
          <a:ln/>
        </p:spPr>
        <p:txBody>
          <a:bodyPr wrap="square" rtlCol="0" anchor="ctr"/>
          <a:lstStyle/>
          <a:p>
            <a:r>
              <a:rPr lang="en-US" sz="1867" b="1" dirty="0">
                <a:solidFill>
                  <a:srgbClr val="0F2044"/>
                </a:solidFill>
                <a:latin typeface="Cambria" pitchFamily="34" charset="0"/>
                <a:ea typeface="Cambria" pitchFamily="34" charset="-122"/>
                <a:cs typeface="Cambria" pitchFamily="34" charset="-120"/>
              </a:rPr>
              <a:t>Data-Flow Graph (DFG)</a:t>
            </a:r>
            <a:endParaRPr lang="en-US" sz="1867" dirty="0"/>
          </a:p>
        </p:txBody>
      </p:sp>
      <p:sp>
        <p:nvSpPr>
          <p:cNvPr id="6" name="Text 4"/>
          <p:cNvSpPr/>
          <p:nvPr/>
        </p:nvSpPr>
        <p:spPr>
          <a:xfrm>
            <a:off x="731520" y="2109216"/>
            <a:ext cx="4632960" cy="487680"/>
          </a:xfrm>
          <a:prstGeom prst="rect">
            <a:avLst/>
          </a:prstGeom>
          <a:noFill/>
          <a:ln/>
        </p:spPr>
        <p:txBody>
          <a:bodyPr wrap="square" rtlCol="0" anchor="ctr"/>
          <a:lstStyle/>
          <a:p>
            <a:r>
              <a:rPr lang="en-US" sz="1467" dirty="0">
                <a:solidFill>
                  <a:srgbClr val="334155"/>
                </a:solidFill>
                <a:latin typeface="Calibri" pitchFamily="34" charset="0"/>
                <a:ea typeface="Calibri" pitchFamily="34" charset="-122"/>
                <a:cs typeface="Calibri" pitchFamily="34" charset="-120"/>
              </a:rPr>
              <a:t>G = (V, E)  —  nodes = operations, edges = data dependencies</a:t>
            </a:r>
            <a:endParaRPr lang="en-US" sz="1467" dirty="0"/>
          </a:p>
        </p:txBody>
      </p:sp>
      <p:sp>
        <p:nvSpPr>
          <p:cNvPr id="7" name="Shape 5"/>
          <p:cNvSpPr/>
          <p:nvPr/>
        </p:nvSpPr>
        <p:spPr>
          <a:xfrm>
            <a:off x="914400" y="2682240"/>
            <a:ext cx="853440" cy="670560"/>
          </a:xfrm>
          <a:prstGeom prst="ellipse">
            <a:avLst/>
          </a:prstGeom>
          <a:solidFill>
            <a:srgbClr val="0F2044"/>
          </a:solidFill>
          <a:ln w="19050">
            <a:solidFill>
              <a:srgbClr val="00897B"/>
            </a:solidFill>
            <a:prstDash val="solid"/>
          </a:ln>
        </p:spPr>
        <p:txBody>
          <a:bodyPr/>
          <a:lstStyle/>
          <a:p>
            <a:endParaRPr lang="en-DE" sz="2400"/>
          </a:p>
        </p:txBody>
      </p:sp>
      <p:sp>
        <p:nvSpPr>
          <p:cNvPr id="8" name="Text 6"/>
          <p:cNvSpPr/>
          <p:nvPr/>
        </p:nvSpPr>
        <p:spPr>
          <a:xfrm>
            <a:off x="914400" y="2682240"/>
            <a:ext cx="853440" cy="670560"/>
          </a:xfrm>
          <a:prstGeom prst="rect">
            <a:avLst/>
          </a:prstGeom>
          <a:noFill/>
          <a:ln/>
        </p:spPr>
        <p:txBody>
          <a:bodyPr wrap="square" rtlCol="0" anchor="ctr"/>
          <a:lstStyle/>
          <a:p>
            <a:pPr algn="ctr"/>
            <a:r>
              <a:rPr lang="en-US" sz="1133" b="1" dirty="0">
                <a:solidFill>
                  <a:srgbClr val="FFFFFF"/>
                </a:solidFill>
                <a:latin typeface="Calibri" pitchFamily="34" charset="0"/>
                <a:ea typeface="Calibri" pitchFamily="34" charset="-122"/>
                <a:cs typeface="Calibri" pitchFamily="34" charset="-120"/>
              </a:rPr>
              <a:t>v₁</a:t>
            </a:r>
            <a:endParaRPr lang="en-US" sz="1133" dirty="0"/>
          </a:p>
          <a:p>
            <a:pPr algn="ctr"/>
            <a:r>
              <a:rPr lang="en-US" sz="1133" b="1" dirty="0">
                <a:solidFill>
                  <a:srgbClr val="FFFFFF"/>
                </a:solidFill>
                <a:latin typeface="Calibri" pitchFamily="34" charset="0"/>
                <a:ea typeface="Calibri" pitchFamily="34" charset="-122"/>
                <a:cs typeface="Calibri" pitchFamily="34" charset="-120"/>
              </a:rPr>
              <a:t>a×b</a:t>
            </a:r>
            <a:endParaRPr lang="en-US" sz="1133" dirty="0"/>
          </a:p>
        </p:txBody>
      </p:sp>
      <p:sp>
        <p:nvSpPr>
          <p:cNvPr id="9" name="Shape 7"/>
          <p:cNvSpPr/>
          <p:nvPr/>
        </p:nvSpPr>
        <p:spPr>
          <a:xfrm>
            <a:off x="2682895" y="2682240"/>
            <a:ext cx="853440" cy="670560"/>
          </a:xfrm>
          <a:prstGeom prst="ellipse">
            <a:avLst/>
          </a:prstGeom>
          <a:solidFill>
            <a:srgbClr val="0F2044"/>
          </a:solidFill>
          <a:ln w="19050">
            <a:solidFill>
              <a:srgbClr val="00897B"/>
            </a:solidFill>
            <a:prstDash val="solid"/>
          </a:ln>
        </p:spPr>
        <p:txBody>
          <a:bodyPr/>
          <a:lstStyle/>
          <a:p>
            <a:endParaRPr lang="en-DE" sz="2400"/>
          </a:p>
        </p:txBody>
      </p:sp>
      <p:sp>
        <p:nvSpPr>
          <p:cNvPr id="10" name="Text 8"/>
          <p:cNvSpPr/>
          <p:nvPr/>
        </p:nvSpPr>
        <p:spPr>
          <a:xfrm>
            <a:off x="2710524" y="2657856"/>
            <a:ext cx="853440" cy="670560"/>
          </a:xfrm>
          <a:prstGeom prst="rect">
            <a:avLst/>
          </a:prstGeom>
          <a:noFill/>
          <a:ln/>
        </p:spPr>
        <p:txBody>
          <a:bodyPr wrap="square" rtlCol="0" anchor="ctr"/>
          <a:lstStyle/>
          <a:p>
            <a:pPr algn="ctr"/>
            <a:r>
              <a:rPr lang="en-US" sz="1133" b="1" dirty="0">
                <a:solidFill>
                  <a:srgbClr val="FFFFFF"/>
                </a:solidFill>
                <a:latin typeface="Calibri" pitchFamily="34" charset="0"/>
                <a:ea typeface="Calibri" pitchFamily="34" charset="-122"/>
                <a:cs typeface="Calibri" pitchFamily="34" charset="-120"/>
              </a:rPr>
              <a:t>v₂</a:t>
            </a:r>
            <a:endParaRPr lang="en-US" sz="1133" dirty="0"/>
          </a:p>
          <a:p>
            <a:pPr algn="ctr"/>
            <a:r>
              <a:rPr lang="en-US" sz="1133" b="1" dirty="0">
                <a:solidFill>
                  <a:srgbClr val="FFFFFF"/>
                </a:solidFill>
                <a:latin typeface="Calibri" pitchFamily="34" charset="0"/>
                <a:ea typeface="Calibri" pitchFamily="34" charset="-122"/>
                <a:cs typeface="Calibri" pitchFamily="34" charset="-120"/>
              </a:rPr>
              <a:t>c×d</a:t>
            </a:r>
            <a:endParaRPr lang="en-US" sz="1133" dirty="0"/>
          </a:p>
        </p:txBody>
      </p:sp>
      <p:sp>
        <p:nvSpPr>
          <p:cNvPr id="11" name="Shape 9"/>
          <p:cNvSpPr/>
          <p:nvPr/>
        </p:nvSpPr>
        <p:spPr>
          <a:xfrm>
            <a:off x="1582767" y="4865815"/>
            <a:ext cx="853440" cy="670560"/>
          </a:xfrm>
          <a:prstGeom prst="ellipse">
            <a:avLst/>
          </a:prstGeom>
          <a:solidFill>
            <a:srgbClr val="0F2044"/>
          </a:solidFill>
          <a:ln w="19050">
            <a:solidFill>
              <a:srgbClr val="00897B"/>
            </a:solidFill>
            <a:prstDash val="solid"/>
          </a:ln>
        </p:spPr>
        <p:txBody>
          <a:bodyPr/>
          <a:lstStyle/>
          <a:p>
            <a:endParaRPr lang="en-DE" sz="2400"/>
          </a:p>
        </p:txBody>
      </p:sp>
      <p:sp>
        <p:nvSpPr>
          <p:cNvPr id="12" name="Text 10"/>
          <p:cNvSpPr/>
          <p:nvPr/>
        </p:nvSpPr>
        <p:spPr>
          <a:xfrm>
            <a:off x="1582767" y="4907280"/>
            <a:ext cx="853440" cy="670560"/>
          </a:xfrm>
          <a:prstGeom prst="rect">
            <a:avLst/>
          </a:prstGeom>
          <a:noFill/>
          <a:ln/>
        </p:spPr>
        <p:txBody>
          <a:bodyPr wrap="square" rtlCol="0" anchor="ctr"/>
          <a:lstStyle/>
          <a:p>
            <a:pPr algn="ctr"/>
            <a:r>
              <a:rPr lang="en-US" sz="1133" b="1" dirty="0">
                <a:solidFill>
                  <a:srgbClr val="FFFFFF"/>
                </a:solidFill>
                <a:latin typeface="Calibri" pitchFamily="34" charset="0"/>
                <a:ea typeface="Calibri" pitchFamily="34" charset="-122"/>
                <a:cs typeface="Calibri" pitchFamily="34" charset="-120"/>
              </a:rPr>
              <a:t>v₃</a:t>
            </a:r>
            <a:endParaRPr lang="en-US" sz="1133" dirty="0"/>
          </a:p>
          <a:p>
            <a:pPr algn="ctr"/>
            <a:r>
              <a:rPr lang="en-US" sz="1133" b="1" dirty="0">
                <a:solidFill>
                  <a:srgbClr val="FFFFFF"/>
                </a:solidFill>
                <a:latin typeface="Calibri" pitchFamily="34" charset="0"/>
                <a:ea typeface="Calibri" pitchFamily="34" charset="-122"/>
                <a:cs typeface="Calibri" pitchFamily="34" charset="-120"/>
              </a:rPr>
              <a:t>+</a:t>
            </a:r>
            <a:endParaRPr lang="en-US" sz="1133" dirty="0"/>
          </a:p>
        </p:txBody>
      </p:sp>
      <p:sp>
        <p:nvSpPr>
          <p:cNvPr id="13" name="Shape 11"/>
          <p:cNvSpPr/>
          <p:nvPr/>
        </p:nvSpPr>
        <p:spPr>
          <a:xfrm>
            <a:off x="1430366" y="3346704"/>
            <a:ext cx="337473" cy="1560576"/>
          </a:xfrm>
          <a:prstGeom prst="line">
            <a:avLst/>
          </a:prstGeom>
          <a:noFill/>
          <a:ln w="19050">
            <a:solidFill>
              <a:srgbClr val="00897B"/>
            </a:solidFill>
            <a:prstDash val="solid"/>
          </a:ln>
        </p:spPr>
        <p:txBody>
          <a:bodyPr/>
          <a:lstStyle/>
          <a:p>
            <a:endParaRPr lang="en-DE" sz="2400"/>
          </a:p>
        </p:txBody>
      </p:sp>
      <p:sp>
        <p:nvSpPr>
          <p:cNvPr id="14" name="Shape 12"/>
          <p:cNvSpPr/>
          <p:nvPr/>
        </p:nvSpPr>
        <p:spPr>
          <a:xfrm flipH="1">
            <a:off x="2283803" y="3346704"/>
            <a:ext cx="728227" cy="1579467"/>
          </a:xfrm>
          <a:prstGeom prst="line">
            <a:avLst/>
          </a:prstGeom>
          <a:noFill/>
          <a:ln w="19050">
            <a:solidFill>
              <a:srgbClr val="00897B"/>
            </a:solidFill>
            <a:prstDash val="solid"/>
          </a:ln>
        </p:spPr>
        <p:txBody>
          <a:bodyPr/>
          <a:lstStyle/>
          <a:p>
            <a:endParaRPr lang="en-DE" sz="2400"/>
          </a:p>
        </p:txBody>
      </p:sp>
      <p:sp>
        <p:nvSpPr>
          <p:cNvPr id="15" name="Text 13"/>
          <p:cNvSpPr/>
          <p:nvPr/>
        </p:nvSpPr>
        <p:spPr>
          <a:xfrm>
            <a:off x="2710524" y="3627971"/>
            <a:ext cx="2194560" cy="1097280"/>
          </a:xfrm>
          <a:prstGeom prst="rect">
            <a:avLst/>
          </a:prstGeom>
          <a:noFill/>
          <a:ln/>
        </p:spPr>
        <p:txBody>
          <a:bodyPr wrap="square" rtlCol="0" anchor="ctr"/>
          <a:lstStyle/>
          <a:p>
            <a:r>
              <a:rPr lang="en-US" sz="1267" i="1" dirty="0">
                <a:solidFill>
                  <a:srgbClr val="64748B"/>
                </a:solidFill>
                <a:latin typeface="Calibri" pitchFamily="34" charset="0"/>
                <a:ea typeface="Calibri" pitchFamily="34" charset="-122"/>
                <a:cs typeface="Calibri" pitchFamily="34" charset="-120"/>
              </a:rPr>
              <a:t>Latency dᵢ = clock cycles for hardware operator</a:t>
            </a:r>
            <a:endParaRPr lang="en-US" sz="1267" dirty="0"/>
          </a:p>
        </p:txBody>
      </p:sp>
      <p:sp>
        <p:nvSpPr>
          <p:cNvPr id="16" name="Shape 14"/>
          <p:cNvSpPr/>
          <p:nvPr/>
        </p:nvSpPr>
        <p:spPr>
          <a:xfrm>
            <a:off x="5852160" y="1463040"/>
            <a:ext cx="5852160" cy="2682240"/>
          </a:xfrm>
          <a:prstGeom prst="roundRect">
            <a:avLst>
              <a:gd name="adj" fmla="val 4545"/>
            </a:avLst>
          </a:prstGeom>
          <a:solidFill>
            <a:srgbClr val="FFFFFF"/>
          </a:solidFill>
          <a:ln w="12700">
            <a:solidFill>
              <a:srgbClr val="E2E8F0"/>
            </a:solidFill>
            <a:prstDash val="solid"/>
          </a:ln>
          <a:effectLst>
            <a:outerShdw blurRad="101600" dist="38100" dir="2700000" algn="bl" rotWithShape="0">
              <a:srgbClr val="000000">
                <a:alpha val="10000"/>
              </a:srgbClr>
            </a:outerShdw>
          </a:effectLst>
        </p:spPr>
        <p:txBody>
          <a:bodyPr/>
          <a:lstStyle/>
          <a:p>
            <a:endParaRPr lang="en-DE" sz="2400"/>
          </a:p>
        </p:txBody>
      </p:sp>
      <p:sp>
        <p:nvSpPr>
          <p:cNvPr id="17" name="Text 15"/>
          <p:cNvSpPr/>
          <p:nvPr/>
        </p:nvSpPr>
        <p:spPr>
          <a:xfrm>
            <a:off x="6096000" y="1609344"/>
            <a:ext cx="5364480" cy="512064"/>
          </a:xfrm>
          <a:prstGeom prst="rect">
            <a:avLst/>
          </a:prstGeom>
          <a:noFill/>
          <a:ln/>
        </p:spPr>
        <p:txBody>
          <a:bodyPr wrap="square" rtlCol="0" anchor="ctr"/>
          <a:lstStyle/>
          <a:p>
            <a:r>
              <a:rPr lang="en-US" sz="1867" b="1" dirty="0">
                <a:solidFill>
                  <a:srgbClr val="0F2044"/>
                </a:solidFill>
                <a:latin typeface="Cambria" pitchFamily="34" charset="0"/>
                <a:ea typeface="Cambria" pitchFamily="34" charset="-122"/>
                <a:cs typeface="Cambria" pitchFamily="34" charset="-120"/>
              </a:rPr>
              <a:t>ASAP · ALAP · Mobility</a:t>
            </a:r>
            <a:endParaRPr lang="en-US" sz="1867" dirty="0"/>
          </a:p>
        </p:txBody>
      </p:sp>
      <p:sp>
        <p:nvSpPr>
          <p:cNvPr id="18" name="Shape 16"/>
          <p:cNvSpPr/>
          <p:nvPr/>
        </p:nvSpPr>
        <p:spPr>
          <a:xfrm>
            <a:off x="6096000" y="2218944"/>
            <a:ext cx="1341120" cy="438912"/>
          </a:xfrm>
          <a:prstGeom prst="roundRect">
            <a:avLst>
              <a:gd name="adj" fmla="val 13889"/>
            </a:avLst>
          </a:prstGeom>
          <a:solidFill>
            <a:srgbClr val="00897B"/>
          </a:solidFill>
          <a:ln w="12700">
            <a:solidFill>
              <a:srgbClr val="00897B"/>
            </a:solidFill>
            <a:prstDash val="solid"/>
          </a:ln>
        </p:spPr>
        <p:txBody>
          <a:bodyPr/>
          <a:lstStyle/>
          <a:p>
            <a:endParaRPr lang="en-DE" sz="2400"/>
          </a:p>
        </p:txBody>
      </p:sp>
      <p:sp>
        <p:nvSpPr>
          <p:cNvPr id="19" name="Text 17"/>
          <p:cNvSpPr/>
          <p:nvPr/>
        </p:nvSpPr>
        <p:spPr>
          <a:xfrm>
            <a:off x="6096000" y="2218944"/>
            <a:ext cx="1341120" cy="438912"/>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ASAP</a:t>
            </a:r>
            <a:endParaRPr lang="en-US" sz="1467" dirty="0"/>
          </a:p>
        </p:txBody>
      </p:sp>
      <p:sp>
        <p:nvSpPr>
          <p:cNvPr id="20" name="Text 18"/>
          <p:cNvSpPr/>
          <p:nvPr/>
        </p:nvSpPr>
        <p:spPr>
          <a:xfrm>
            <a:off x="7559040" y="2218944"/>
            <a:ext cx="3901440" cy="438912"/>
          </a:xfrm>
          <a:prstGeom prst="rect">
            <a:avLst/>
          </a:prstGeom>
          <a:noFill/>
          <a:ln/>
        </p:spPr>
        <p:txBody>
          <a:bodyPr wrap="square" rtlCol="0" anchor="ctr"/>
          <a:lstStyle/>
          <a:p>
            <a:r>
              <a:rPr lang="en-US" sz="1400" dirty="0">
                <a:solidFill>
                  <a:srgbClr val="334155"/>
                </a:solidFill>
                <a:latin typeface="Calibri" pitchFamily="34" charset="0"/>
                <a:ea typeface="Calibri" pitchFamily="34" charset="-122"/>
                <a:cs typeface="Calibri" pitchFamily="34" charset="-120"/>
              </a:rPr>
              <a:t>Earliest possible control step for each operation</a:t>
            </a:r>
            <a:endParaRPr lang="en-US" sz="1400" dirty="0"/>
          </a:p>
        </p:txBody>
      </p:sp>
      <p:sp>
        <p:nvSpPr>
          <p:cNvPr id="21" name="Shape 19"/>
          <p:cNvSpPr/>
          <p:nvPr/>
        </p:nvSpPr>
        <p:spPr>
          <a:xfrm>
            <a:off x="6096000" y="2828544"/>
            <a:ext cx="1341120" cy="438912"/>
          </a:xfrm>
          <a:prstGeom prst="roundRect">
            <a:avLst>
              <a:gd name="adj" fmla="val 13889"/>
            </a:avLst>
          </a:prstGeom>
          <a:solidFill>
            <a:srgbClr val="00897B"/>
          </a:solidFill>
          <a:ln w="12700">
            <a:solidFill>
              <a:srgbClr val="00897B"/>
            </a:solidFill>
            <a:prstDash val="solid"/>
          </a:ln>
        </p:spPr>
        <p:txBody>
          <a:bodyPr/>
          <a:lstStyle/>
          <a:p>
            <a:endParaRPr lang="en-DE" sz="2400"/>
          </a:p>
        </p:txBody>
      </p:sp>
      <p:sp>
        <p:nvSpPr>
          <p:cNvPr id="22" name="Text 20"/>
          <p:cNvSpPr/>
          <p:nvPr/>
        </p:nvSpPr>
        <p:spPr>
          <a:xfrm>
            <a:off x="6096000" y="2828544"/>
            <a:ext cx="1341120" cy="438912"/>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ALAP</a:t>
            </a:r>
            <a:endParaRPr lang="en-US" sz="1467" dirty="0"/>
          </a:p>
        </p:txBody>
      </p:sp>
      <p:sp>
        <p:nvSpPr>
          <p:cNvPr id="23" name="Text 21"/>
          <p:cNvSpPr/>
          <p:nvPr/>
        </p:nvSpPr>
        <p:spPr>
          <a:xfrm>
            <a:off x="7559040" y="2828544"/>
            <a:ext cx="3901440" cy="438912"/>
          </a:xfrm>
          <a:prstGeom prst="rect">
            <a:avLst/>
          </a:prstGeom>
          <a:noFill/>
          <a:ln/>
        </p:spPr>
        <p:txBody>
          <a:bodyPr wrap="square" rtlCol="0" anchor="ctr"/>
          <a:lstStyle/>
          <a:p>
            <a:r>
              <a:rPr lang="en-US" sz="1400" dirty="0">
                <a:solidFill>
                  <a:srgbClr val="334155"/>
                </a:solidFill>
                <a:latin typeface="Calibri" pitchFamily="34" charset="0"/>
                <a:ea typeface="Calibri" pitchFamily="34" charset="-122"/>
                <a:cs typeface="Calibri" pitchFamily="34" charset="-120"/>
              </a:rPr>
              <a:t>Latest possible step under latency constraint λ</a:t>
            </a:r>
            <a:endParaRPr lang="en-US" sz="1400" dirty="0"/>
          </a:p>
        </p:txBody>
      </p:sp>
      <p:sp>
        <p:nvSpPr>
          <p:cNvPr id="24" name="Shape 22"/>
          <p:cNvSpPr/>
          <p:nvPr/>
        </p:nvSpPr>
        <p:spPr>
          <a:xfrm>
            <a:off x="6096000" y="3438144"/>
            <a:ext cx="1341120" cy="438912"/>
          </a:xfrm>
          <a:prstGeom prst="roundRect">
            <a:avLst>
              <a:gd name="adj" fmla="val 13889"/>
            </a:avLst>
          </a:prstGeom>
          <a:solidFill>
            <a:srgbClr val="00897B"/>
          </a:solidFill>
          <a:ln w="12700">
            <a:solidFill>
              <a:srgbClr val="00897B"/>
            </a:solidFill>
            <a:prstDash val="solid"/>
          </a:ln>
        </p:spPr>
        <p:txBody>
          <a:bodyPr/>
          <a:lstStyle/>
          <a:p>
            <a:endParaRPr lang="en-DE" sz="2400"/>
          </a:p>
        </p:txBody>
      </p:sp>
      <p:sp>
        <p:nvSpPr>
          <p:cNvPr id="25" name="Text 23"/>
          <p:cNvSpPr/>
          <p:nvPr/>
        </p:nvSpPr>
        <p:spPr>
          <a:xfrm>
            <a:off x="6096000" y="3438144"/>
            <a:ext cx="1341120" cy="438912"/>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Mobility</a:t>
            </a:r>
            <a:endParaRPr lang="en-US" sz="1467" dirty="0"/>
          </a:p>
        </p:txBody>
      </p:sp>
      <p:sp>
        <p:nvSpPr>
          <p:cNvPr id="26" name="Text 24"/>
          <p:cNvSpPr/>
          <p:nvPr/>
        </p:nvSpPr>
        <p:spPr>
          <a:xfrm>
            <a:off x="7559040" y="3438144"/>
            <a:ext cx="3901440" cy="438912"/>
          </a:xfrm>
          <a:prstGeom prst="rect">
            <a:avLst/>
          </a:prstGeom>
          <a:noFill/>
          <a:ln/>
        </p:spPr>
        <p:txBody>
          <a:bodyPr wrap="square" rtlCol="0" anchor="ctr"/>
          <a:lstStyle/>
          <a:p>
            <a:r>
              <a:rPr lang="en-US" sz="1400" dirty="0">
                <a:solidFill>
                  <a:srgbClr val="334155"/>
                </a:solidFill>
                <a:latin typeface="Calibri" pitchFamily="34" charset="0"/>
                <a:ea typeface="Calibri" pitchFamily="34" charset="-122"/>
                <a:cs typeface="Calibri" pitchFamily="34" charset="-120"/>
              </a:rPr>
              <a:t>tᴬᴸᴬᴾ(vᵢ) − tᴬˢᴬᴾ(vᵢ)  →  scheduling flexibility</a:t>
            </a:r>
            <a:endParaRPr lang="en-US" sz="1400" dirty="0"/>
          </a:p>
        </p:txBody>
      </p:sp>
      <p:sp>
        <p:nvSpPr>
          <p:cNvPr id="27" name="Shape 25"/>
          <p:cNvSpPr/>
          <p:nvPr/>
        </p:nvSpPr>
        <p:spPr>
          <a:xfrm>
            <a:off x="5852161" y="4490867"/>
            <a:ext cx="5852161" cy="1885549"/>
          </a:xfrm>
          <a:prstGeom prst="roundRect">
            <a:avLst>
              <a:gd name="adj" fmla="val 5714"/>
            </a:avLst>
          </a:prstGeom>
          <a:solidFill>
            <a:srgbClr val="0F2044"/>
          </a:solidFill>
          <a:ln w="12700">
            <a:solidFill>
              <a:srgbClr val="0F2044"/>
            </a:solidFill>
            <a:prstDash val="solid"/>
          </a:ln>
        </p:spPr>
        <p:txBody>
          <a:bodyPr/>
          <a:lstStyle/>
          <a:p>
            <a:endParaRPr lang="en-DE" sz="2400"/>
          </a:p>
        </p:txBody>
      </p:sp>
      <p:sp>
        <p:nvSpPr>
          <p:cNvPr id="28" name="Text 26"/>
          <p:cNvSpPr/>
          <p:nvPr/>
        </p:nvSpPr>
        <p:spPr>
          <a:xfrm>
            <a:off x="6274495" y="5335447"/>
            <a:ext cx="3657600" cy="512064"/>
          </a:xfrm>
          <a:prstGeom prst="rect">
            <a:avLst/>
          </a:prstGeom>
          <a:noFill/>
          <a:ln/>
        </p:spPr>
        <p:txBody>
          <a:bodyPr wrap="square" rtlCol="0" anchor="ctr"/>
          <a:lstStyle/>
          <a:p>
            <a:r>
              <a:rPr lang="en-US" sz="1867" b="1" dirty="0">
                <a:solidFill>
                  <a:srgbClr val="C8DFF8"/>
                </a:solidFill>
                <a:latin typeface="Cambria" pitchFamily="34" charset="0"/>
                <a:ea typeface="Cambria" pitchFamily="34" charset="-122"/>
                <a:cs typeface="Cambria" pitchFamily="34" charset="-120"/>
              </a:rPr>
              <a:t>Parallel Speedup</a:t>
            </a:r>
            <a:endParaRPr lang="en-US" sz="1867" dirty="0"/>
          </a:p>
        </p:txBody>
      </p:sp>
      <p:sp>
        <p:nvSpPr>
          <p:cNvPr id="29" name="Text 27"/>
          <p:cNvSpPr/>
          <p:nvPr/>
        </p:nvSpPr>
        <p:spPr>
          <a:xfrm>
            <a:off x="8209867" y="4602480"/>
            <a:ext cx="4289128" cy="792480"/>
          </a:xfrm>
          <a:prstGeom prst="rect">
            <a:avLst/>
          </a:prstGeom>
          <a:noFill/>
          <a:ln/>
        </p:spPr>
        <p:txBody>
          <a:bodyPr wrap="square" rtlCol="0" anchor="ctr"/>
          <a:lstStyle/>
          <a:p>
            <a:pPr algn="ctr"/>
            <a:r>
              <a:rPr lang="en-US" sz="2400" b="1" dirty="0">
                <a:solidFill>
                  <a:srgbClr val="FFFFFF"/>
                </a:solidFill>
                <a:latin typeface="Cambria" pitchFamily="34" charset="0"/>
                <a:ea typeface="Cambria" pitchFamily="34" charset="-122"/>
                <a:cs typeface="Cambria" pitchFamily="34" charset="-120"/>
              </a:rPr>
              <a:t>S(k)  =  T₁ / Tₖ</a:t>
            </a:r>
            <a:endParaRPr lang="en-US" sz="2400" dirty="0"/>
          </a:p>
        </p:txBody>
      </p:sp>
      <p:sp>
        <p:nvSpPr>
          <p:cNvPr id="30" name="Text 28"/>
          <p:cNvSpPr/>
          <p:nvPr/>
        </p:nvSpPr>
        <p:spPr>
          <a:xfrm>
            <a:off x="9265920" y="5349240"/>
            <a:ext cx="2560320" cy="1036320"/>
          </a:xfrm>
          <a:prstGeom prst="rect">
            <a:avLst/>
          </a:prstGeom>
          <a:noFill/>
          <a:ln/>
        </p:spPr>
        <p:txBody>
          <a:bodyPr wrap="square" rtlCol="0" anchor="ctr"/>
          <a:lstStyle/>
          <a:p>
            <a:r>
              <a:rPr lang="en-US" sz="1200" i="1" dirty="0">
                <a:solidFill>
                  <a:srgbClr val="C8DFF8"/>
                </a:solidFill>
                <a:latin typeface="Calibri" pitchFamily="34" charset="0"/>
                <a:ea typeface="Calibri" pitchFamily="34" charset="-122"/>
                <a:cs typeface="Calibri" pitchFamily="34" charset="-120"/>
              </a:rPr>
              <a:t>T₁ = single-core latency</a:t>
            </a:r>
            <a:endParaRPr lang="en-US" sz="1200" dirty="0"/>
          </a:p>
          <a:p>
            <a:r>
              <a:rPr lang="en-US" sz="1200" i="1" dirty="0">
                <a:solidFill>
                  <a:srgbClr val="C8DFF8"/>
                </a:solidFill>
                <a:latin typeface="Calibri" pitchFamily="34" charset="0"/>
                <a:ea typeface="Calibri" pitchFamily="34" charset="-122"/>
                <a:cs typeface="Calibri" pitchFamily="34" charset="-120"/>
              </a:rPr>
              <a:t>Tₖ = k-core latency</a:t>
            </a:r>
            <a:endParaRPr lang="en-US" sz="1200" dirty="0"/>
          </a:p>
          <a:p>
            <a:r>
              <a:rPr lang="en-US" sz="1200" i="1" dirty="0">
                <a:solidFill>
                  <a:srgbClr val="C8DFF8"/>
                </a:solidFill>
                <a:latin typeface="Calibri" pitchFamily="34" charset="0"/>
                <a:ea typeface="Calibri" pitchFamily="34" charset="-122"/>
                <a:cs typeface="Calibri" pitchFamily="34" charset="-120"/>
              </a:rPr>
              <a:t>Ideal: S(k) ≤ k  (communication overhead reduces this)</a:t>
            </a:r>
            <a:endParaRPr lang="en-US" sz="1200" dirty="0"/>
          </a:p>
        </p:txBody>
      </p:sp>
      <p:sp>
        <p:nvSpPr>
          <p:cNvPr id="31" name="Text 29"/>
          <p:cNvSpPr/>
          <p:nvPr/>
        </p:nvSpPr>
        <p:spPr>
          <a:xfrm>
            <a:off x="487680" y="6339840"/>
            <a:ext cx="10485120" cy="365760"/>
          </a:xfrm>
          <a:prstGeom prst="rect">
            <a:avLst/>
          </a:prstGeom>
          <a:noFill/>
          <a:ln/>
        </p:spPr>
        <p:txBody>
          <a:bodyPr wrap="square" rtlCol="0" anchor="ctr"/>
          <a:lstStyle/>
          <a:p>
            <a:r>
              <a:rPr lang="en-US" sz="1067" dirty="0">
                <a:solidFill>
                  <a:srgbClr val="64748B"/>
                </a:solidFill>
              </a:rPr>
              <a:t>High-Level Synthesis for Multi-Core Systems</a:t>
            </a:r>
            <a:endParaRPr lang="en-US" sz="1067" dirty="0"/>
          </a:p>
        </p:txBody>
      </p:sp>
      <p:sp>
        <p:nvSpPr>
          <p:cNvPr id="32" name="Text 30"/>
          <p:cNvSpPr/>
          <p:nvPr/>
        </p:nvSpPr>
        <p:spPr>
          <a:xfrm>
            <a:off x="11338560" y="6339840"/>
            <a:ext cx="609600" cy="365760"/>
          </a:xfrm>
          <a:prstGeom prst="rect">
            <a:avLst/>
          </a:prstGeom>
          <a:noFill/>
          <a:ln/>
        </p:spPr>
        <p:txBody>
          <a:bodyPr wrap="square" rtlCol="0" anchor="ctr"/>
          <a:lstStyle/>
          <a:p>
            <a:pPr algn="r"/>
            <a:r>
              <a:rPr lang="en-US" sz="1100" b="1" dirty="0">
                <a:solidFill>
                  <a:schemeClr val="accent1"/>
                </a:solidFill>
              </a:rPr>
              <a:t>04</a:t>
            </a:r>
          </a:p>
        </p:txBody>
      </p:sp>
      <p:sp>
        <p:nvSpPr>
          <p:cNvPr id="33" name="Text 12">
            <a:extLst>
              <a:ext uri="{FF2B5EF4-FFF2-40B4-BE49-F238E27FC236}">
                <a16:creationId xmlns:a16="http://schemas.microsoft.com/office/drawing/2014/main" id="{58897DD6-6215-525F-AFE5-6E5DCAD36BA3}"/>
              </a:ext>
            </a:extLst>
          </p:cNvPr>
          <p:cNvSpPr/>
          <p:nvPr/>
        </p:nvSpPr>
        <p:spPr>
          <a:xfrm>
            <a:off x="2072641" y="4593885"/>
            <a:ext cx="3535680" cy="304800"/>
          </a:xfrm>
          <a:prstGeom prst="rect">
            <a:avLst/>
          </a:prstGeom>
          <a:noFill/>
          <a:ln/>
        </p:spPr>
        <p:txBody>
          <a:bodyPr wrap="square" lIns="0" tIns="0" rIns="0" bIns="0" rtlCol="0" anchor="ctr"/>
          <a:lstStyle/>
          <a:p>
            <a:pPr algn="ctr" defTabSz="1219170">
              <a:defRPr/>
            </a:pPr>
            <a:r>
              <a:rPr lang="en-US" sz="1600" dirty="0">
                <a:latin typeface="Courier New" pitchFamily="34" charset="0"/>
                <a:ea typeface="Courier New" pitchFamily="34" charset="-122"/>
                <a:cs typeface="Courier New" pitchFamily="34" charset="-120"/>
              </a:rPr>
              <a:t>y = (a×b) + (c×d)</a:t>
            </a:r>
            <a:endParaRPr lang="en-US" sz="1600" dirty="0">
              <a:latin typeface="Apto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280160"/>
          </a:xfrm>
          <a:prstGeom prst="rect">
            <a:avLst/>
          </a:prstGeom>
          <a:solidFill>
            <a:srgbClr val="0F2044"/>
          </a:solidFill>
          <a:ln w="12700">
            <a:solidFill>
              <a:srgbClr val="0F2044"/>
            </a:solidFill>
            <a:prstDash val="solid"/>
          </a:ln>
        </p:spPr>
        <p:txBody>
          <a:bodyPr/>
          <a:lstStyle/>
          <a:p>
            <a:endParaRPr lang="en-DE" sz="2400"/>
          </a:p>
        </p:txBody>
      </p:sp>
      <p:sp>
        <p:nvSpPr>
          <p:cNvPr id="3" name="Text 1"/>
          <p:cNvSpPr/>
          <p:nvPr/>
        </p:nvSpPr>
        <p:spPr>
          <a:xfrm>
            <a:off x="609600" y="243840"/>
            <a:ext cx="10363200" cy="792480"/>
          </a:xfrm>
          <a:prstGeom prst="rect">
            <a:avLst/>
          </a:prstGeom>
          <a:noFill/>
          <a:ln/>
        </p:spPr>
        <p:txBody>
          <a:bodyPr wrap="square" rtlCol="0" anchor="ctr"/>
          <a:lstStyle/>
          <a:p>
            <a:r>
              <a:rPr lang="en-US" sz="2800" b="1" dirty="0">
                <a:solidFill>
                  <a:srgbClr val="FFFFFF"/>
                </a:solidFill>
                <a:latin typeface="+mj-lt"/>
                <a:ea typeface="Cambria" pitchFamily="34" charset="-122"/>
                <a:cs typeface="Cambria" pitchFamily="34" charset="-120"/>
              </a:rPr>
              <a:t>Multi-Core HLS Formal Model</a:t>
            </a:r>
            <a:endParaRPr lang="en-US" sz="2800" dirty="0">
              <a:latin typeface="+mj-lt"/>
            </a:endParaRPr>
          </a:p>
        </p:txBody>
      </p:sp>
      <p:sp>
        <p:nvSpPr>
          <p:cNvPr id="4" name="Shape 2"/>
          <p:cNvSpPr/>
          <p:nvPr/>
        </p:nvSpPr>
        <p:spPr>
          <a:xfrm>
            <a:off x="426720" y="1524000"/>
            <a:ext cx="2682240" cy="2865120"/>
          </a:xfrm>
          <a:prstGeom prst="roundRect">
            <a:avLst>
              <a:gd name="adj" fmla="val 4545"/>
            </a:avLst>
          </a:prstGeom>
          <a:solidFill>
            <a:srgbClr val="E8F5F3"/>
          </a:solidFill>
          <a:ln w="10160">
            <a:solidFill>
              <a:srgbClr val="E2E8F0"/>
            </a:solidFill>
            <a:prstDash val="solid"/>
          </a:ln>
          <a:effectLst>
            <a:outerShdw blurRad="101600" dist="38100" dir="2700000" algn="bl" rotWithShape="0">
              <a:srgbClr val="000000">
                <a:alpha val="10000"/>
              </a:srgbClr>
            </a:outerShdw>
          </a:effectLst>
        </p:spPr>
        <p:txBody>
          <a:bodyPr/>
          <a:lstStyle/>
          <a:p>
            <a:endParaRPr lang="en-DE" sz="2400"/>
          </a:p>
        </p:txBody>
      </p:sp>
      <p:pic>
        <p:nvPicPr>
          <p:cNvPr id="5" name="Image 0" descr="preencoded.png"/>
          <p:cNvPicPr>
            <a:picLocks noChangeAspect="1"/>
          </p:cNvPicPr>
          <p:nvPr/>
        </p:nvPicPr>
        <p:blipFill>
          <a:blip r:embed="rId3"/>
          <a:stretch>
            <a:fillRect/>
          </a:stretch>
        </p:blipFill>
        <p:spPr>
          <a:xfrm>
            <a:off x="1438656" y="1645920"/>
            <a:ext cx="670560" cy="670560"/>
          </a:xfrm>
          <a:prstGeom prst="rect">
            <a:avLst/>
          </a:prstGeom>
        </p:spPr>
      </p:pic>
      <p:sp>
        <p:nvSpPr>
          <p:cNvPr id="6" name="Text 3"/>
          <p:cNvSpPr/>
          <p:nvPr/>
        </p:nvSpPr>
        <p:spPr>
          <a:xfrm>
            <a:off x="487680" y="1645920"/>
            <a:ext cx="731520" cy="609600"/>
          </a:xfrm>
          <a:prstGeom prst="rect">
            <a:avLst/>
          </a:prstGeom>
          <a:noFill/>
          <a:ln/>
        </p:spPr>
        <p:txBody>
          <a:bodyPr wrap="square" rtlCol="0" anchor="ctr"/>
          <a:lstStyle/>
          <a:p>
            <a:r>
              <a:rPr lang="en-US" sz="2933" b="1" dirty="0">
                <a:solidFill>
                  <a:srgbClr val="00897B"/>
                </a:solidFill>
                <a:latin typeface="Cambria" pitchFamily="34" charset="0"/>
                <a:ea typeface="Cambria" pitchFamily="34" charset="-122"/>
                <a:cs typeface="Cambria" pitchFamily="34" charset="-120"/>
              </a:rPr>
              <a:t>π</a:t>
            </a:r>
            <a:endParaRPr lang="en-US" sz="2933" dirty="0"/>
          </a:p>
        </p:txBody>
      </p:sp>
      <p:sp>
        <p:nvSpPr>
          <p:cNvPr id="7" name="Text 4"/>
          <p:cNvSpPr/>
          <p:nvPr/>
        </p:nvSpPr>
        <p:spPr>
          <a:xfrm>
            <a:off x="548640" y="2377440"/>
            <a:ext cx="2438400" cy="512064"/>
          </a:xfrm>
          <a:prstGeom prst="rect">
            <a:avLst/>
          </a:prstGeom>
          <a:noFill/>
          <a:ln/>
        </p:spPr>
        <p:txBody>
          <a:bodyPr wrap="square" rtlCol="0" anchor="ctr"/>
          <a:lstStyle/>
          <a:p>
            <a:pPr algn="ctr"/>
            <a:r>
              <a:rPr lang="en-US" sz="1867" b="1" dirty="0">
                <a:solidFill>
                  <a:srgbClr val="0F2044"/>
                </a:solidFill>
                <a:latin typeface="Cambria" pitchFamily="34" charset="0"/>
                <a:ea typeface="Cambria" pitchFamily="34" charset="-122"/>
                <a:cs typeface="Cambria" pitchFamily="34" charset="-120"/>
              </a:rPr>
              <a:t>Partition</a:t>
            </a:r>
            <a:endParaRPr lang="en-US" sz="1867" dirty="0"/>
          </a:p>
        </p:txBody>
      </p:sp>
      <p:sp>
        <p:nvSpPr>
          <p:cNvPr id="8" name="Text 5"/>
          <p:cNvSpPr/>
          <p:nvPr/>
        </p:nvSpPr>
        <p:spPr>
          <a:xfrm>
            <a:off x="548640" y="2950464"/>
            <a:ext cx="2438400" cy="1158240"/>
          </a:xfrm>
          <a:prstGeom prst="rect">
            <a:avLst/>
          </a:prstGeom>
          <a:noFill/>
          <a:ln/>
        </p:spPr>
        <p:txBody>
          <a:bodyPr wrap="square" rtlCol="0" anchor="t"/>
          <a:lstStyle/>
          <a:p>
            <a:pPr algn="ctr"/>
            <a:r>
              <a:rPr lang="en-US" sz="1400" dirty="0">
                <a:solidFill>
                  <a:srgbClr val="334155"/>
                </a:solidFill>
                <a:latin typeface="Calibri" pitchFamily="34" charset="0"/>
                <a:ea typeface="Calibri" pitchFamily="34" charset="-122"/>
                <a:cs typeface="Calibri" pitchFamily="34" charset="-120"/>
              </a:rPr>
              <a:t>Assign each DFG node vᵢ → PE Pⱼ</a:t>
            </a:r>
            <a:endParaRPr lang="en-US" sz="1400" dirty="0"/>
          </a:p>
        </p:txBody>
      </p:sp>
      <p:sp>
        <p:nvSpPr>
          <p:cNvPr id="9" name="Shape 6"/>
          <p:cNvSpPr/>
          <p:nvPr/>
        </p:nvSpPr>
        <p:spPr>
          <a:xfrm>
            <a:off x="3291840" y="1524000"/>
            <a:ext cx="2682240" cy="2865120"/>
          </a:xfrm>
          <a:prstGeom prst="roundRect">
            <a:avLst>
              <a:gd name="adj" fmla="val 4545"/>
            </a:avLst>
          </a:prstGeom>
          <a:solidFill>
            <a:srgbClr val="EEF3FC"/>
          </a:solidFill>
          <a:ln w="10160">
            <a:solidFill>
              <a:srgbClr val="E2E8F0"/>
            </a:solidFill>
            <a:prstDash val="solid"/>
          </a:ln>
          <a:effectLst>
            <a:outerShdw blurRad="101600" dist="38100" dir="2700000" algn="bl" rotWithShape="0">
              <a:srgbClr val="000000">
                <a:alpha val="10000"/>
              </a:srgbClr>
            </a:outerShdw>
          </a:effectLst>
        </p:spPr>
        <p:txBody>
          <a:bodyPr/>
          <a:lstStyle/>
          <a:p>
            <a:endParaRPr lang="en-DE" sz="2400"/>
          </a:p>
        </p:txBody>
      </p:sp>
      <p:pic>
        <p:nvPicPr>
          <p:cNvPr id="10" name="Image 1" descr="preencoded.png"/>
          <p:cNvPicPr>
            <a:picLocks noChangeAspect="1"/>
          </p:cNvPicPr>
          <p:nvPr/>
        </p:nvPicPr>
        <p:blipFill>
          <a:blip r:embed="rId4"/>
          <a:stretch>
            <a:fillRect/>
          </a:stretch>
        </p:blipFill>
        <p:spPr>
          <a:xfrm>
            <a:off x="4303776" y="1645920"/>
            <a:ext cx="670560" cy="670560"/>
          </a:xfrm>
          <a:prstGeom prst="rect">
            <a:avLst/>
          </a:prstGeom>
        </p:spPr>
      </p:pic>
      <p:sp>
        <p:nvSpPr>
          <p:cNvPr id="11" name="Text 7"/>
          <p:cNvSpPr/>
          <p:nvPr/>
        </p:nvSpPr>
        <p:spPr>
          <a:xfrm>
            <a:off x="3352800" y="1645920"/>
            <a:ext cx="731520" cy="609600"/>
          </a:xfrm>
          <a:prstGeom prst="rect">
            <a:avLst/>
          </a:prstGeom>
          <a:noFill/>
          <a:ln/>
        </p:spPr>
        <p:txBody>
          <a:bodyPr wrap="square" rtlCol="0" anchor="ctr"/>
          <a:lstStyle/>
          <a:p>
            <a:r>
              <a:rPr lang="en-US" sz="2933" b="1" dirty="0">
                <a:solidFill>
                  <a:srgbClr val="00897B"/>
                </a:solidFill>
                <a:latin typeface="Cambria" pitchFamily="34" charset="0"/>
                <a:ea typeface="Cambria" pitchFamily="34" charset="-122"/>
                <a:cs typeface="Cambria" pitchFamily="34" charset="-120"/>
              </a:rPr>
              <a:t>s</a:t>
            </a:r>
            <a:endParaRPr lang="en-US" sz="2933" dirty="0"/>
          </a:p>
        </p:txBody>
      </p:sp>
      <p:sp>
        <p:nvSpPr>
          <p:cNvPr id="12" name="Text 8"/>
          <p:cNvSpPr/>
          <p:nvPr/>
        </p:nvSpPr>
        <p:spPr>
          <a:xfrm>
            <a:off x="3413760" y="2377440"/>
            <a:ext cx="2438400" cy="512064"/>
          </a:xfrm>
          <a:prstGeom prst="rect">
            <a:avLst/>
          </a:prstGeom>
          <a:noFill/>
          <a:ln/>
        </p:spPr>
        <p:txBody>
          <a:bodyPr wrap="square" rtlCol="0" anchor="ctr"/>
          <a:lstStyle/>
          <a:p>
            <a:pPr algn="ctr"/>
            <a:r>
              <a:rPr lang="en-US" sz="1867" b="1" dirty="0">
                <a:solidFill>
                  <a:srgbClr val="0F2044"/>
                </a:solidFill>
                <a:latin typeface="Cambria" pitchFamily="34" charset="0"/>
                <a:ea typeface="Cambria" pitchFamily="34" charset="-122"/>
                <a:cs typeface="Cambria" pitchFamily="34" charset="-120"/>
              </a:rPr>
              <a:t>Schedule</a:t>
            </a:r>
            <a:endParaRPr lang="en-US" sz="1867" dirty="0"/>
          </a:p>
        </p:txBody>
      </p:sp>
      <p:sp>
        <p:nvSpPr>
          <p:cNvPr id="13" name="Text 9"/>
          <p:cNvSpPr/>
          <p:nvPr/>
        </p:nvSpPr>
        <p:spPr>
          <a:xfrm>
            <a:off x="3413760" y="2950464"/>
            <a:ext cx="2438400" cy="1158240"/>
          </a:xfrm>
          <a:prstGeom prst="rect">
            <a:avLst/>
          </a:prstGeom>
          <a:noFill/>
          <a:ln/>
        </p:spPr>
        <p:txBody>
          <a:bodyPr wrap="square" rtlCol="0" anchor="t"/>
          <a:lstStyle/>
          <a:p>
            <a:pPr algn="ctr"/>
            <a:r>
              <a:rPr lang="en-US" sz="1400" dirty="0">
                <a:solidFill>
                  <a:srgbClr val="334155"/>
                </a:solidFill>
                <a:latin typeface="Calibri" pitchFamily="34" charset="0"/>
                <a:ea typeface="Calibri" pitchFamily="34" charset="-122"/>
                <a:cs typeface="Calibri" pitchFamily="34" charset="-120"/>
              </a:rPr>
              <a:t>Assign each node a control step ∈ ℤ⁺</a:t>
            </a:r>
            <a:endParaRPr lang="en-US" sz="1400" dirty="0"/>
          </a:p>
        </p:txBody>
      </p:sp>
      <p:sp>
        <p:nvSpPr>
          <p:cNvPr id="14" name="Shape 10"/>
          <p:cNvSpPr/>
          <p:nvPr/>
        </p:nvSpPr>
        <p:spPr>
          <a:xfrm>
            <a:off x="6156960" y="1524000"/>
            <a:ext cx="2682240" cy="2865120"/>
          </a:xfrm>
          <a:prstGeom prst="roundRect">
            <a:avLst>
              <a:gd name="adj" fmla="val 4545"/>
            </a:avLst>
          </a:prstGeom>
          <a:solidFill>
            <a:srgbClr val="F9F0E0"/>
          </a:solidFill>
          <a:ln w="10160">
            <a:solidFill>
              <a:srgbClr val="E2E8F0"/>
            </a:solidFill>
            <a:prstDash val="solid"/>
          </a:ln>
          <a:effectLst>
            <a:outerShdw blurRad="101600" dist="38100" dir="2700000" algn="bl" rotWithShape="0">
              <a:srgbClr val="000000">
                <a:alpha val="10000"/>
              </a:srgbClr>
            </a:outerShdw>
          </a:effectLst>
        </p:spPr>
        <p:txBody>
          <a:bodyPr/>
          <a:lstStyle/>
          <a:p>
            <a:endParaRPr lang="en-DE" sz="2400"/>
          </a:p>
        </p:txBody>
      </p:sp>
      <p:pic>
        <p:nvPicPr>
          <p:cNvPr id="15" name="Image 2" descr="preencoded.png"/>
          <p:cNvPicPr>
            <a:picLocks noChangeAspect="1"/>
          </p:cNvPicPr>
          <p:nvPr/>
        </p:nvPicPr>
        <p:blipFill>
          <a:blip r:embed="rId5"/>
          <a:stretch>
            <a:fillRect/>
          </a:stretch>
        </p:blipFill>
        <p:spPr>
          <a:xfrm>
            <a:off x="7168896" y="1645920"/>
            <a:ext cx="670560" cy="670560"/>
          </a:xfrm>
          <a:prstGeom prst="rect">
            <a:avLst/>
          </a:prstGeom>
        </p:spPr>
      </p:pic>
      <p:sp>
        <p:nvSpPr>
          <p:cNvPr id="16" name="Text 11"/>
          <p:cNvSpPr/>
          <p:nvPr/>
        </p:nvSpPr>
        <p:spPr>
          <a:xfrm>
            <a:off x="6217920" y="1645920"/>
            <a:ext cx="731520" cy="609600"/>
          </a:xfrm>
          <a:prstGeom prst="rect">
            <a:avLst/>
          </a:prstGeom>
          <a:noFill/>
          <a:ln/>
        </p:spPr>
        <p:txBody>
          <a:bodyPr wrap="square" rtlCol="0" anchor="ctr"/>
          <a:lstStyle/>
          <a:p>
            <a:r>
              <a:rPr lang="en-US" sz="2933" b="1" dirty="0">
                <a:solidFill>
                  <a:srgbClr val="00897B"/>
                </a:solidFill>
                <a:latin typeface="Cambria" pitchFamily="34" charset="0"/>
                <a:ea typeface="Cambria" pitchFamily="34" charset="-122"/>
                <a:cs typeface="Cambria" pitchFamily="34" charset="-120"/>
              </a:rPr>
              <a:t>β</a:t>
            </a:r>
            <a:endParaRPr lang="en-US" sz="2933" dirty="0"/>
          </a:p>
        </p:txBody>
      </p:sp>
      <p:sp>
        <p:nvSpPr>
          <p:cNvPr id="17" name="Text 12"/>
          <p:cNvSpPr/>
          <p:nvPr/>
        </p:nvSpPr>
        <p:spPr>
          <a:xfrm>
            <a:off x="6278880" y="2377440"/>
            <a:ext cx="2438400" cy="512064"/>
          </a:xfrm>
          <a:prstGeom prst="rect">
            <a:avLst/>
          </a:prstGeom>
          <a:noFill/>
          <a:ln/>
        </p:spPr>
        <p:txBody>
          <a:bodyPr wrap="square" rtlCol="0" anchor="ctr"/>
          <a:lstStyle/>
          <a:p>
            <a:pPr algn="ctr"/>
            <a:r>
              <a:rPr lang="en-US" sz="1867" b="1" dirty="0">
                <a:solidFill>
                  <a:srgbClr val="0F2044"/>
                </a:solidFill>
                <a:latin typeface="Cambria" pitchFamily="34" charset="0"/>
                <a:ea typeface="Cambria" pitchFamily="34" charset="-122"/>
                <a:cs typeface="Cambria" pitchFamily="34" charset="-120"/>
              </a:rPr>
              <a:t>Bind</a:t>
            </a:r>
            <a:endParaRPr lang="en-US" sz="1867" dirty="0"/>
          </a:p>
        </p:txBody>
      </p:sp>
      <p:sp>
        <p:nvSpPr>
          <p:cNvPr id="18" name="Text 13"/>
          <p:cNvSpPr/>
          <p:nvPr/>
        </p:nvSpPr>
        <p:spPr>
          <a:xfrm>
            <a:off x="6278880" y="2950464"/>
            <a:ext cx="2438400" cy="1158240"/>
          </a:xfrm>
          <a:prstGeom prst="rect">
            <a:avLst/>
          </a:prstGeom>
          <a:noFill/>
          <a:ln/>
        </p:spPr>
        <p:txBody>
          <a:bodyPr wrap="square" rtlCol="0" anchor="t"/>
          <a:lstStyle/>
          <a:p>
            <a:pPr algn="ctr"/>
            <a:r>
              <a:rPr lang="en-US" sz="1400" dirty="0">
                <a:solidFill>
                  <a:srgbClr val="334155"/>
                </a:solidFill>
                <a:latin typeface="Calibri" pitchFamily="34" charset="0"/>
                <a:ea typeface="Calibri" pitchFamily="34" charset="-122"/>
                <a:cs typeface="Calibri" pitchFamily="34" charset="-120"/>
              </a:rPr>
              <a:t>Map each operation → functional unit FU</a:t>
            </a:r>
            <a:endParaRPr lang="en-US" sz="1400" dirty="0"/>
          </a:p>
        </p:txBody>
      </p:sp>
      <p:sp>
        <p:nvSpPr>
          <p:cNvPr id="19" name="Shape 14"/>
          <p:cNvSpPr/>
          <p:nvPr/>
        </p:nvSpPr>
        <p:spPr>
          <a:xfrm>
            <a:off x="9022080" y="1524000"/>
            <a:ext cx="2682240" cy="2865120"/>
          </a:xfrm>
          <a:prstGeom prst="roundRect">
            <a:avLst>
              <a:gd name="adj" fmla="val 4545"/>
            </a:avLst>
          </a:prstGeom>
          <a:solidFill>
            <a:srgbClr val="F2F0FC"/>
          </a:solidFill>
          <a:ln w="10160">
            <a:solidFill>
              <a:srgbClr val="E2E8F0"/>
            </a:solidFill>
            <a:prstDash val="solid"/>
          </a:ln>
          <a:effectLst>
            <a:outerShdw blurRad="101600" dist="38100" dir="2700000" algn="bl" rotWithShape="0">
              <a:srgbClr val="000000">
                <a:alpha val="10000"/>
              </a:srgbClr>
            </a:outerShdw>
          </a:effectLst>
        </p:spPr>
        <p:txBody>
          <a:bodyPr/>
          <a:lstStyle/>
          <a:p>
            <a:endParaRPr lang="en-DE" sz="2400"/>
          </a:p>
        </p:txBody>
      </p:sp>
      <p:pic>
        <p:nvPicPr>
          <p:cNvPr id="20" name="Image 3" descr="preencoded.png"/>
          <p:cNvPicPr>
            <a:picLocks noChangeAspect="1"/>
          </p:cNvPicPr>
          <p:nvPr/>
        </p:nvPicPr>
        <p:blipFill>
          <a:blip r:embed="rId6"/>
          <a:stretch>
            <a:fillRect/>
          </a:stretch>
        </p:blipFill>
        <p:spPr>
          <a:xfrm>
            <a:off x="10034016" y="1645920"/>
            <a:ext cx="670560" cy="670560"/>
          </a:xfrm>
          <a:prstGeom prst="rect">
            <a:avLst/>
          </a:prstGeom>
        </p:spPr>
      </p:pic>
      <p:sp>
        <p:nvSpPr>
          <p:cNvPr id="21" name="Text 15"/>
          <p:cNvSpPr/>
          <p:nvPr/>
        </p:nvSpPr>
        <p:spPr>
          <a:xfrm>
            <a:off x="9083040" y="1645920"/>
            <a:ext cx="731520" cy="609600"/>
          </a:xfrm>
          <a:prstGeom prst="rect">
            <a:avLst/>
          </a:prstGeom>
          <a:noFill/>
          <a:ln/>
        </p:spPr>
        <p:txBody>
          <a:bodyPr wrap="square" rtlCol="0" anchor="ctr"/>
          <a:lstStyle/>
          <a:p>
            <a:r>
              <a:rPr lang="en-US" sz="2933" b="1" dirty="0">
                <a:solidFill>
                  <a:srgbClr val="00897B"/>
                </a:solidFill>
                <a:latin typeface="Cambria" pitchFamily="34" charset="0"/>
                <a:ea typeface="Cambria" pitchFamily="34" charset="-122"/>
                <a:cs typeface="Cambria" pitchFamily="34" charset="-120"/>
              </a:rPr>
              <a:t>δ</a:t>
            </a:r>
            <a:endParaRPr lang="en-US" sz="2933" dirty="0"/>
          </a:p>
        </p:txBody>
      </p:sp>
      <p:sp>
        <p:nvSpPr>
          <p:cNvPr id="22" name="Text 16"/>
          <p:cNvSpPr/>
          <p:nvPr/>
        </p:nvSpPr>
        <p:spPr>
          <a:xfrm>
            <a:off x="9144000" y="2377440"/>
            <a:ext cx="2438400" cy="512064"/>
          </a:xfrm>
          <a:prstGeom prst="rect">
            <a:avLst/>
          </a:prstGeom>
          <a:noFill/>
          <a:ln/>
        </p:spPr>
        <p:txBody>
          <a:bodyPr wrap="square" rtlCol="0" anchor="ctr"/>
          <a:lstStyle/>
          <a:p>
            <a:pPr algn="ctr"/>
            <a:r>
              <a:rPr lang="en-US" sz="1867" b="1" dirty="0">
                <a:solidFill>
                  <a:srgbClr val="0F2044"/>
                </a:solidFill>
                <a:latin typeface="Cambria" pitchFamily="34" charset="0"/>
                <a:ea typeface="Cambria" pitchFamily="34" charset="-122"/>
                <a:cs typeface="Cambria" pitchFamily="34" charset="-120"/>
              </a:rPr>
              <a:t>Communicate</a:t>
            </a:r>
            <a:endParaRPr lang="en-US" sz="1867" dirty="0"/>
          </a:p>
        </p:txBody>
      </p:sp>
      <p:sp>
        <p:nvSpPr>
          <p:cNvPr id="23" name="Text 17"/>
          <p:cNvSpPr/>
          <p:nvPr/>
        </p:nvSpPr>
        <p:spPr>
          <a:xfrm>
            <a:off x="9144000" y="2950464"/>
            <a:ext cx="2438400" cy="1158240"/>
          </a:xfrm>
          <a:prstGeom prst="rect">
            <a:avLst/>
          </a:prstGeom>
          <a:noFill/>
          <a:ln/>
        </p:spPr>
        <p:txBody>
          <a:bodyPr wrap="square" rtlCol="0" anchor="t"/>
          <a:lstStyle/>
          <a:p>
            <a:pPr algn="ctr"/>
            <a:r>
              <a:rPr lang="en-US" sz="1400" dirty="0">
                <a:solidFill>
                  <a:srgbClr val="334155"/>
                </a:solidFill>
                <a:latin typeface="Calibri" pitchFamily="34" charset="0"/>
                <a:ea typeface="Calibri" pitchFamily="34" charset="-122"/>
                <a:cs typeface="Calibri" pitchFamily="34" charset="-120"/>
              </a:rPr>
              <a:t>Schedule inter-PE data transfers</a:t>
            </a:r>
            <a:endParaRPr lang="en-US" sz="1400" dirty="0"/>
          </a:p>
        </p:txBody>
      </p:sp>
      <p:sp>
        <p:nvSpPr>
          <p:cNvPr id="24" name="Text 18"/>
          <p:cNvSpPr/>
          <p:nvPr/>
        </p:nvSpPr>
        <p:spPr>
          <a:xfrm>
            <a:off x="487680" y="4547616"/>
            <a:ext cx="11216640" cy="512064"/>
          </a:xfrm>
          <a:prstGeom prst="rect">
            <a:avLst/>
          </a:prstGeom>
          <a:noFill/>
          <a:ln/>
        </p:spPr>
        <p:txBody>
          <a:bodyPr wrap="square" rtlCol="0" anchor="ctr"/>
          <a:lstStyle/>
          <a:p>
            <a:pPr algn="ctr"/>
            <a:r>
              <a:rPr lang="en-US" sz="1600" b="1" i="1" dirty="0">
                <a:solidFill>
                  <a:srgbClr val="0F2044"/>
                </a:solidFill>
                <a:latin typeface="Calibri" pitchFamily="34" charset="0"/>
                <a:ea typeface="Calibri" pitchFamily="34" charset="-122"/>
                <a:cs typeface="Calibri" pitchFamily="34" charset="-120"/>
              </a:rPr>
              <a:t>Minimise total latency Λ, chip area A, power P  while satisfying communication, resource, and timing constraints.</a:t>
            </a:r>
            <a:endParaRPr lang="en-US" sz="1600" dirty="0"/>
          </a:p>
        </p:txBody>
      </p:sp>
      <p:sp>
        <p:nvSpPr>
          <p:cNvPr id="25" name="Shape 19"/>
          <p:cNvSpPr/>
          <p:nvPr/>
        </p:nvSpPr>
        <p:spPr>
          <a:xfrm>
            <a:off x="426720" y="5212080"/>
            <a:ext cx="11216640" cy="1158240"/>
          </a:xfrm>
          <a:prstGeom prst="roundRect">
            <a:avLst>
              <a:gd name="adj" fmla="val 10526"/>
            </a:avLst>
          </a:prstGeom>
          <a:solidFill>
            <a:srgbClr val="0F2044"/>
          </a:solidFill>
          <a:ln w="12700">
            <a:solidFill>
              <a:srgbClr val="0F2044"/>
            </a:solidFill>
            <a:prstDash val="solid"/>
          </a:ln>
        </p:spPr>
        <p:txBody>
          <a:bodyPr/>
          <a:lstStyle/>
          <a:p>
            <a:endParaRPr lang="en-US" sz="1600" b="1" dirty="0">
              <a:solidFill>
                <a:schemeClr val="bg1"/>
              </a:solidFill>
              <a:latin typeface="Courier New" pitchFamily="34" charset="0"/>
              <a:ea typeface="Courier New" pitchFamily="34" charset="-122"/>
              <a:cs typeface="Courier New" pitchFamily="34" charset="-120"/>
            </a:endParaRPr>
          </a:p>
          <a:p>
            <a:endParaRPr lang="en-US" sz="1600" b="1" dirty="0">
              <a:solidFill>
                <a:schemeClr val="bg1"/>
              </a:solidFill>
              <a:latin typeface="Courier New" pitchFamily="34" charset="0"/>
              <a:ea typeface="Courier New" pitchFamily="34" charset="-122"/>
              <a:cs typeface="Courier New" pitchFamily="34" charset="-120"/>
            </a:endParaRPr>
          </a:p>
          <a:p>
            <a:endParaRPr lang="en-US" sz="1600" b="1" dirty="0">
              <a:solidFill>
                <a:schemeClr val="bg1"/>
              </a:solidFill>
              <a:latin typeface="Courier New" pitchFamily="34" charset="0"/>
              <a:ea typeface="Courier New" pitchFamily="34" charset="-122"/>
              <a:cs typeface="Courier New" pitchFamily="34" charset="-120"/>
            </a:endParaRPr>
          </a:p>
          <a:p>
            <a:r>
              <a:rPr lang="en-US" sz="1600" b="1" dirty="0">
                <a:solidFill>
                  <a:schemeClr val="bg1"/>
                </a:solidFill>
                <a:latin typeface="+mj-lt"/>
                <a:ea typeface="Courier New" pitchFamily="34" charset="-122"/>
                <a:cs typeface="Courier New" pitchFamily="34" charset="-120"/>
              </a:rPr>
              <a:t>       Communication Constraint: start(consumer) ≥ finish(producer) + communication delay</a:t>
            </a:r>
            <a:endParaRPr lang="en-US" sz="1600" b="1" dirty="0">
              <a:solidFill>
                <a:schemeClr val="bg1"/>
              </a:solidFill>
              <a:latin typeface="+mj-lt"/>
            </a:endParaRPr>
          </a:p>
          <a:p>
            <a:endParaRPr lang="en-DE" sz="2400" dirty="0"/>
          </a:p>
        </p:txBody>
      </p:sp>
      <p:sp>
        <p:nvSpPr>
          <p:cNvPr id="26" name="Text 20"/>
          <p:cNvSpPr/>
          <p:nvPr/>
        </p:nvSpPr>
        <p:spPr>
          <a:xfrm>
            <a:off x="734152" y="5334000"/>
            <a:ext cx="4267200" cy="512064"/>
          </a:xfrm>
          <a:prstGeom prst="rect">
            <a:avLst/>
          </a:prstGeom>
          <a:noFill/>
          <a:ln/>
        </p:spPr>
        <p:txBody>
          <a:bodyPr wrap="square" rtlCol="0" anchor="ctr"/>
          <a:lstStyle/>
          <a:p>
            <a:r>
              <a:rPr lang="en-US" sz="1733" b="1" dirty="0">
                <a:solidFill>
                  <a:srgbClr val="C8DFF8"/>
                </a:solidFill>
                <a:latin typeface="Cambria" pitchFamily="34" charset="0"/>
                <a:ea typeface="Cambria" pitchFamily="34" charset="-122"/>
                <a:cs typeface="Cambria" pitchFamily="34" charset="-120"/>
              </a:rPr>
              <a:t>Communication Constraint:</a:t>
            </a:r>
            <a:endParaRPr lang="en-US" sz="1733" dirty="0"/>
          </a:p>
        </p:txBody>
      </p:sp>
      <p:sp>
        <p:nvSpPr>
          <p:cNvPr id="27" name="Text 21"/>
          <p:cNvSpPr/>
          <p:nvPr/>
        </p:nvSpPr>
        <p:spPr>
          <a:xfrm>
            <a:off x="3535681" y="5401056"/>
            <a:ext cx="4206240" cy="365760"/>
          </a:xfrm>
          <a:prstGeom prst="rect">
            <a:avLst/>
          </a:prstGeom>
          <a:noFill/>
          <a:ln/>
        </p:spPr>
        <p:txBody>
          <a:bodyPr wrap="square" rtlCol="0" anchor="ctr"/>
          <a:lstStyle/>
          <a:p>
            <a:pPr algn="ctr"/>
            <a:r>
              <a:rPr lang="en-US" sz="2667" b="1" dirty="0">
                <a:solidFill>
                  <a:srgbClr val="FFFFFF"/>
                </a:solidFill>
                <a:latin typeface="Cambria" pitchFamily="34" charset="0"/>
                <a:ea typeface="Cambria" pitchFamily="34" charset="-122"/>
                <a:cs typeface="Cambria" pitchFamily="34" charset="-120"/>
              </a:rPr>
              <a:t>s(vⱼ) ≥ s(vᵢ) + dᵢ + δᵢⱼ</a:t>
            </a:r>
            <a:endParaRPr lang="en-US" sz="2667" dirty="0"/>
          </a:p>
        </p:txBody>
      </p:sp>
      <p:sp>
        <p:nvSpPr>
          <p:cNvPr id="29" name="Text 23"/>
          <p:cNvSpPr/>
          <p:nvPr/>
        </p:nvSpPr>
        <p:spPr>
          <a:xfrm>
            <a:off x="487680" y="6339840"/>
            <a:ext cx="10485120" cy="365760"/>
          </a:xfrm>
          <a:prstGeom prst="rect">
            <a:avLst/>
          </a:prstGeom>
          <a:noFill/>
          <a:ln/>
        </p:spPr>
        <p:txBody>
          <a:bodyPr wrap="square" rtlCol="0" anchor="ctr"/>
          <a:lstStyle/>
          <a:p>
            <a:r>
              <a:rPr lang="en-US" sz="1067" dirty="0">
                <a:solidFill>
                  <a:srgbClr val="64748B"/>
                </a:solidFill>
              </a:rPr>
              <a:t>High-Level Synthesis for Multi-Core Systems</a:t>
            </a:r>
            <a:endParaRPr lang="en-US" sz="1067" dirty="0"/>
          </a:p>
        </p:txBody>
      </p:sp>
      <p:sp>
        <p:nvSpPr>
          <p:cNvPr id="30" name="Text 24"/>
          <p:cNvSpPr/>
          <p:nvPr/>
        </p:nvSpPr>
        <p:spPr>
          <a:xfrm>
            <a:off x="11338560" y="6339840"/>
            <a:ext cx="609600" cy="365760"/>
          </a:xfrm>
          <a:prstGeom prst="rect">
            <a:avLst/>
          </a:prstGeom>
          <a:noFill/>
          <a:ln/>
        </p:spPr>
        <p:txBody>
          <a:bodyPr wrap="square" rtlCol="0" anchor="ctr"/>
          <a:lstStyle/>
          <a:p>
            <a:pPr algn="r"/>
            <a:r>
              <a:rPr lang="en-US" sz="1100" b="1" dirty="0">
                <a:solidFill>
                  <a:schemeClr val="accent1"/>
                </a:solidFill>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C"/>
          </a:solidFill>
          <a:ln w="12700">
            <a:solidFill>
              <a:srgbClr val="F7FAFC">
                <a:alpha val="0"/>
              </a:srgbClr>
            </a:solidFill>
            <a:prstDash val="solid"/>
          </a:ln>
        </p:spPr>
        <p:txBody>
          <a:bodyPr/>
          <a:lstStyle/>
          <a:p>
            <a:endParaRPr lang="en-DE"/>
          </a:p>
        </p:txBody>
      </p:sp>
      <p:sp>
        <p:nvSpPr>
          <p:cNvPr id="3" name="Text 1"/>
          <p:cNvSpPr/>
          <p:nvPr/>
        </p:nvSpPr>
        <p:spPr>
          <a:xfrm>
            <a:off x="502920" y="310896"/>
            <a:ext cx="7863840" cy="438912"/>
          </a:xfrm>
          <a:prstGeom prst="rect">
            <a:avLst/>
          </a:prstGeom>
          <a:noFill/>
          <a:ln/>
        </p:spPr>
        <p:txBody>
          <a:bodyPr wrap="square" lIns="0" tIns="0" rIns="0" bIns="0" rtlCol="0" anchor="ctr"/>
          <a:lstStyle/>
          <a:p>
            <a:pPr marL="0" indent="0">
              <a:buNone/>
            </a:pPr>
            <a:r>
              <a:rPr lang="en-US" sz="2500" b="1" dirty="0">
                <a:solidFill>
                  <a:srgbClr val="14213D"/>
                </a:solidFill>
                <a:latin typeface="Aptos Display" pitchFamily="34" charset="0"/>
                <a:ea typeface="Aptos Display" pitchFamily="34" charset="-122"/>
                <a:cs typeface="Aptos Display" pitchFamily="34" charset="-120"/>
              </a:rPr>
              <a:t>Algorithm Focus: Scheduling + Binding</a:t>
            </a:r>
            <a:endParaRPr lang="en-US" sz="2500" dirty="0"/>
          </a:p>
        </p:txBody>
      </p:sp>
      <p:sp>
        <p:nvSpPr>
          <p:cNvPr id="4" name="Text 2"/>
          <p:cNvSpPr/>
          <p:nvPr/>
        </p:nvSpPr>
        <p:spPr>
          <a:xfrm>
            <a:off x="512064" y="804672"/>
            <a:ext cx="10789920" cy="274320"/>
          </a:xfrm>
          <a:prstGeom prst="rect">
            <a:avLst/>
          </a:prstGeom>
          <a:noFill/>
          <a:ln/>
        </p:spPr>
        <p:txBody>
          <a:bodyPr wrap="square" lIns="0" tIns="0" rIns="0" bIns="0" rtlCol="0" anchor="ctr"/>
          <a:lstStyle/>
          <a:p>
            <a:pPr marL="0" indent="0">
              <a:buNone/>
            </a:pPr>
            <a:r>
              <a:rPr lang="en-US" sz="1050" dirty="0">
                <a:solidFill>
                  <a:srgbClr val="6B7280"/>
                </a:solidFill>
              </a:rPr>
              <a:t>Scheduling and binding should not be treated as two isolated problems.</a:t>
            </a:r>
            <a:endParaRPr lang="en-US" sz="1050" dirty="0"/>
          </a:p>
        </p:txBody>
      </p:sp>
      <p:sp>
        <p:nvSpPr>
          <p:cNvPr id="5" name="Text 3"/>
          <p:cNvSpPr/>
          <p:nvPr/>
        </p:nvSpPr>
        <p:spPr>
          <a:xfrm>
            <a:off x="512064" y="6537960"/>
            <a:ext cx="4846320" cy="164592"/>
          </a:xfrm>
          <a:prstGeom prst="rect">
            <a:avLst/>
          </a:prstGeom>
          <a:noFill/>
          <a:ln/>
        </p:spPr>
        <p:txBody>
          <a:bodyPr wrap="square" lIns="0" tIns="0" rIns="0" bIns="0" rtlCol="0" anchor="ctr"/>
          <a:lstStyle/>
          <a:p>
            <a:pPr marL="0" indent="0">
              <a:buNone/>
            </a:pPr>
            <a:r>
              <a:rPr lang="en-US" sz="850" dirty="0">
                <a:solidFill>
                  <a:srgbClr val="6B7280"/>
                </a:solidFill>
              </a:rPr>
              <a:t>High-Level Synthesis for Multi-Core Systems</a:t>
            </a:r>
            <a:endParaRPr lang="en-US" sz="850" dirty="0"/>
          </a:p>
        </p:txBody>
      </p:sp>
      <p:sp>
        <p:nvSpPr>
          <p:cNvPr id="6" name="Text 4"/>
          <p:cNvSpPr/>
          <p:nvPr/>
        </p:nvSpPr>
        <p:spPr>
          <a:xfrm>
            <a:off x="11183112" y="6473952"/>
            <a:ext cx="502920" cy="256032"/>
          </a:xfrm>
          <a:prstGeom prst="rect">
            <a:avLst/>
          </a:prstGeom>
          <a:noFill/>
          <a:ln/>
        </p:spPr>
        <p:txBody>
          <a:bodyPr wrap="square" lIns="0" tIns="0" rIns="0" bIns="0" rtlCol="0" anchor="ctr"/>
          <a:lstStyle/>
          <a:p>
            <a:pPr marL="0" indent="0" algn="r">
              <a:buNone/>
            </a:pPr>
            <a:r>
              <a:rPr lang="en-US" sz="1100" b="1" dirty="0">
                <a:solidFill>
                  <a:srgbClr val="2563EB"/>
                </a:solidFill>
              </a:rPr>
              <a:t>06</a:t>
            </a:r>
            <a:endParaRPr lang="en-US" sz="1100" dirty="0"/>
          </a:p>
        </p:txBody>
      </p:sp>
      <p:sp>
        <p:nvSpPr>
          <p:cNvPr id="7" name="Text 5"/>
          <p:cNvSpPr/>
          <p:nvPr/>
        </p:nvSpPr>
        <p:spPr>
          <a:xfrm>
            <a:off x="868680" y="1325880"/>
            <a:ext cx="2286000" cy="256032"/>
          </a:xfrm>
          <a:prstGeom prst="rect">
            <a:avLst/>
          </a:prstGeom>
          <a:noFill/>
          <a:ln/>
        </p:spPr>
        <p:txBody>
          <a:bodyPr wrap="square" lIns="635" tIns="635" rIns="635" bIns="635" rtlCol="0" anchor="ctr">
            <a:normAutofit/>
          </a:bodyPr>
          <a:lstStyle/>
          <a:p>
            <a:pPr marL="0" indent="0" algn="l">
              <a:buNone/>
            </a:pPr>
            <a:r>
              <a:rPr lang="en-US" sz="1600" b="1" dirty="0">
                <a:solidFill>
                  <a:srgbClr val="14213D"/>
                </a:solidFill>
                <a:latin typeface="Aptos" pitchFamily="34" charset="0"/>
                <a:ea typeface="Aptos" pitchFamily="34" charset="-122"/>
                <a:cs typeface="Aptos" pitchFamily="34" charset="-120"/>
              </a:rPr>
              <a:t>List-based scheduler</a:t>
            </a:r>
            <a:endParaRPr lang="en-US" sz="1600" dirty="0"/>
          </a:p>
        </p:txBody>
      </p:sp>
      <p:sp>
        <p:nvSpPr>
          <p:cNvPr id="8" name="Shape 6"/>
          <p:cNvSpPr/>
          <p:nvPr/>
        </p:nvSpPr>
        <p:spPr>
          <a:xfrm>
            <a:off x="868680" y="1737360"/>
            <a:ext cx="1947672" cy="475488"/>
          </a:xfrm>
          <a:prstGeom prst="roundRect">
            <a:avLst>
              <a:gd name="adj" fmla="val 15385"/>
            </a:avLst>
          </a:prstGeom>
          <a:solidFill>
            <a:srgbClr val="DBEAFE"/>
          </a:solidFill>
          <a:ln w="12700">
            <a:solidFill>
              <a:srgbClr val="2563EB"/>
            </a:solidFill>
            <a:prstDash val="solid"/>
          </a:ln>
        </p:spPr>
        <p:txBody>
          <a:bodyPr/>
          <a:lstStyle/>
          <a:p>
            <a:endParaRPr lang="en-DE"/>
          </a:p>
        </p:txBody>
      </p:sp>
      <p:sp>
        <p:nvSpPr>
          <p:cNvPr id="9" name="Text 7"/>
          <p:cNvSpPr/>
          <p:nvPr/>
        </p:nvSpPr>
        <p:spPr>
          <a:xfrm>
            <a:off x="1005840" y="1847088"/>
            <a:ext cx="1664208" cy="164592"/>
          </a:xfrm>
          <a:prstGeom prst="rect">
            <a:avLst/>
          </a:prstGeom>
          <a:noFill/>
          <a:ln/>
        </p:spPr>
        <p:txBody>
          <a:bodyPr wrap="square" lIns="635" tIns="635" rIns="635" bIns="635" rtlCol="0" anchor="ctr">
            <a:normAutofit lnSpcReduction="10000"/>
          </a:bodyPr>
          <a:lstStyle/>
          <a:p>
            <a:pPr marL="0" indent="0" algn="ctr">
              <a:buNone/>
            </a:pPr>
            <a:r>
              <a:rPr lang="en-US" sz="1150" b="1" dirty="0">
                <a:solidFill>
                  <a:srgbClr val="1F2937"/>
                </a:solidFill>
                <a:latin typeface="Aptos" pitchFamily="34" charset="0"/>
                <a:ea typeface="Aptos" pitchFamily="34" charset="-122"/>
                <a:cs typeface="Aptos" pitchFamily="34" charset="-120"/>
              </a:rPr>
              <a:t>Ready operations</a:t>
            </a:r>
            <a:endParaRPr lang="en-US" sz="1150" dirty="0"/>
          </a:p>
        </p:txBody>
      </p:sp>
      <p:sp>
        <p:nvSpPr>
          <p:cNvPr id="10" name="Text 8"/>
          <p:cNvSpPr/>
          <p:nvPr/>
        </p:nvSpPr>
        <p:spPr>
          <a:xfrm>
            <a:off x="1005840" y="2029968"/>
            <a:ext cx="1664208" cy="109728"/>
          </a:xfrm>
          <a:prstGeom prst="rect">
            <a:avLst/>
          </a:prstGeom>
          <a:noFill/>
          <a:ln/>
        </p:spPr>
        <p:txBody>
          <a:bodyPr wrap="square" lIns="635" tIns="635" rIns="635" bIns="635" rtlCol="0" anchor="ctr">
            <a:normAutofit fontScale="92500" lnSpcReduction="20000"/>
          </a:bodyPr>
          <a:lstStyle/>
          <a:p>
            <a:pPr marL="0" indent="0" algn="ctr">
              <a:buNone/>
            </a:pPr>
            <a:r>
              <a:rPr lang="en-US" sz="830" dirty="0">
                <a:solidFill>
                  <a:srgbClr val="6B7280"/>
                </a:solidFill>
                <a:latin typeface="Aptos" pitchFamily="34" charset="0"/>
                <a:ea typeface="Aptos" pitchFamily="34" charset="-122"/>
                <a:cs typeface="Aptos" pitchFamily="34" charset="-120"/>
              </a:rPr>
              <a:t>predecessors done</a:t>
            </a:r>
            <a:endParaRPr lang="en-US" sz="830" dirty="0"/>
          </a:p>
        </p:txBody>
      </p:sp>
      <p:sp>
        <p:nvSpPr>
          <p:cNvPr id="11" name="Shape 9"/>
          <p:cNvSpPr/>
          <p:nvPr/>
        </p:nvSpPr>
        <p:spPr>
          <a:xfrm>
            <a:off x="1847088" y="2880360"/>
            <a:ext cx="0" cy="182880"/>
          </a:xfrm>
          <a:prstGeom prst="line">
            <a:avLst/>
          </a:prstGeom>
          <a:noFill/>
          <a:ln w="13970">
            <a:solidFill>
              <a:srgbClr val="D6DEE9"/>
            </a:solidFill>
            <a:prstDash val="solid"/>
            <a:headEnd type="none"/>
            <a:tailEnd type="triangle"/>
          </a:ln>
        </p:spPr>
        <p:txBody>
          <a:bodyPr/>
          <a:lstStyle/>
          <a:p>
            <a:endParaRPr lang="en-DE"/>
          </a:p>
        </p:txBody>
      </p:sp>
      <p:sp>
        <p:nvSpPr>
          <p:cNvPr id="12" name="Shape 10"/>
          <p:cNvSpPr/>
          <p:nvPr/>
        </p:nvSpPr>
        <p:spPr>
          <a:xfrm>
            <a:off x="868680" y="2487168"/>
            <a:ext cx="1947672" cy="475488"/>
          </a:xfrm>
          <a:prstGeom prst="roundRect">
            <a:avLst>
              <a:gd name="adj" fmla="val 15385"/>
            </a:avLst>
          </a:prstGeom>
          <a:solidFill>
            <a:srgbClr val="FFFFFF"/>
          </a:solidFill>
          <a:ln w="12700">
            <a:solidFill>
              <a:srgbClr val="D6DEE9"/>
            </a:solidFill>
            <a:prstDash val="solid"/>
          </a:ln>
        </p:spPr>
        <p:txBody>
          <a:bodyPr/>
          <a:lstStyle/>
          <a:p>
            <a:endParaRPr lang="en-DE"/>
          </a:p>
        </p:txBody>
      </p:sp>
      <p:sp>
        <p:nvSpPr>
          <p:cNvPr id="13" name="Text 11"/>
          <p:cNvSpPr/>
          <p:nvPr/>
        </p:nvSpPr>
        <p:spPr>
          <a:xfrm>
            <a:off x="1005840" y="2596896"/>
            <a:ext cx="1664208" cy="164592"/>
          </a:xfrm>
          <a:prstGeom prst="rect">
            <a:avLst/>
          </a:prstGeom>
          <a:noFill/>
          <a:ln/>
        </p:spPr>
        <p:txBody>
          <a:bodyPr wrap="square" lIns="635" tIns="635" rIns="635" bIns="635" rtlCol="0" anchor="ctr">
            <a:normAutofit lnSpcReduction="10000"/>
          </a:bodyPr>
          <a:lstStyle/>
          <a:p>
            <a:pPr marL="0" indent="0" algn="ctr">
              <a:buNone/>
            </a:pPr>
            <a:r>
              <a:rPr lang="en-US" sz="1150" b="1" dirty="0">
                <a:solidFill>
                  <a:srgbClr val="1F2937"/>
                </a:solidFill>
                <a:latin typeface="Aptos" pitchFamily="34" charset="0"/>
                <a:ea typeface="Aptos" pitchFamily="34" charset="-122"/>
                <a:cs typeface="Aptos" pitchFamily="34" charset="-120"/>
              </a:rPr>
              <a:t>Priority queue</a:t>
            </a:r>
            <a:endParaRPr lang="en-US" sz="1150" dirty="0"/>
          </a:p>
        </p:txBody>
      </p:sp>
      <p:sp>
        <p:nvSpPr>
          <p:cNvPr id="14" name="Text 12"/>
          <p:cNvSpPr/>
          <p:nvPr/>
        </p:nvSpPr>
        <p:spPr>
          <a:xfrm>
            <a:off x="1005840" y="2779776"/>
            <a:ext cx="1664208" cy="109728"/>
          </a:xfrm>
          <a:prstGeom prst="rect">
            <a:avLst/>
          </a:prstGeom>
          <a:noFill/>
          <a:ln/>
        </p:spPr>
        <p:txBody>
          <a:bodyPr wrap="square" lIns="635" tIns="635" rIns="635" bIns="635" rtlCol="0" anchor="ctr">
            <a:normAutofit fontScale="92500" lnSpcReduction="20000"/>
          </a:bodyPr>
          <a:lstStyle/>
          <a:p>
            <a:pPr marL="0" indent="0" algn="ctr">
              <a:buNone/>
            </a:pPr>
            <a:r>
              <a:rPr lang="en-US" sz="830" dirty="0">
                <a:solidFill>
                  <a:srgbClr val="6B7280"/>
                </a:solidFill>
                <a:latin typeface="Aptos" pitchFamily="34" charset="0"/>
                <a:ea typeface="Aptos" pitchFamily="34" charset="-122"/>
                <a:cs typeface="Aptos" pitchFamily="34" charset="-120"/>
              </a:rPr>
              <a:t>critical ops first</a:t>
            </a:r>
            <a:endParaRPr lang="en-US" sz="830" dirty="0"/>
          </a:p>
        </p:txBody>
      </p:sp>
      <p:sp>
        <p:nvSpPr>
          <p:cNvPr id="15" name="Shape 13"/>
          <p:cNvSpPr/>
          <p:nvPr/>
        </p:nvSpPr>
        <p:spPr>
          <a:xfrm>
            <a:off x="1847088" y="3566160"/>
            <a:ext cx="0" cy="182880"/>
          </a:xfrm>
          <a:prstGeom prst="line">
            <a:avLst/>
          </a:prstGeom>
          <a:noFill/>
          <a:ln w="13970">
            <a:solidFill>
              <a:srgbClr val="D6DEE9"/>
            </a:solidFill>
            <a:prstDash val="solid"/>
            <a:headEnd type="none"/>
            <a:tailEnd type="triangle"/>
          </a:ln>
        </p:spPr>
        <p:txBody>
          <a:bodyPr/>
          <a:lstStyle/>
          <a:p>
            <a:endParaRPr lang="en-DE"/>
          </a:p>
        </p:txBody>
      </p:sp>
      <p:sp>
        <p:nvSpPr>
          <p:cNvPr id="16" name="Shape 14"/>
          <p:cNvSpPr/>
          <p:nvPr/>
        </p:nvSpPr>
        <p:spPr>
          <a:xfrm>
            <a:off x="868680" y="3236976"/>
            <a:ext cx="1947672" cy="475488"/>
          </a:xfrm>
          <a:prstGeom prst="roundRect">
            <a:avLst>
              <a:gd name="adj" fmla="val 15385"/>
            </a:avLst>
          </a:prstGeom>
          <a:solidFill>
            <a:srgbClr val="FFFFFF"/>
          </a:solidFill>
          <a:ln w="12700">
            <a:solidFill>
              <a:srgbClr val="D6DEE9"/>
            </a:solidFill>
            <a:prstDash val="solid"/>
          </a:ln>
        </p:spPr>
        <p:txBody>
          <a:bodyPr/>
          <a:lstStyle/>
          <a:p>
            <a:endParaRPr lang="en-DE"/>
          </a:p>
        </p:txBody>
      </p:sp>
      <p:sp>
        <p:nvSpPr>
          <p:cNvPr id="17" name="Text 15"/>
          <p:cNvSpPr/>
          <p:nvPr/>
        </p:nvSpPr>
        <p:spPr>
          <a:xfrm>
            <a:off x="1005840" y="3346704"/>
            <a:ext cx="1664208" cy="164592"/>
          </a:xfrm>
          <a:prstGeom prst="rect">
            <a:avLst/>
          </a:prstGeom>
          <a:noFill/>
          <a:ln/>
        </p:spPr>
        <p:txBody>
          <a:bodyPr wrap="square" lIns="635" tIns="635" rIns="635" bIns="635" rtlCol="0" anchor="ctr">
            <a:normAutofit lnSpcReduction="10000"/>
          </a:bodyPr>
          <a:lstStyle/>
          <a:p>
            <a:pPr marL="0" indent="0" algn="ctr">
              <a:buNone/>
            </a:pPr>
            <a:r>
              <a:rPr lang="en-US" sz="1150" b="1" dirty="0">
                <a:solidFill>
                  <a:srgbClr val="1F2937"/>
                </a:solidFill>
                <a:latin typeface="Aptos" pitchFamily="34" charset="0"/>
                <a:ea typeface="Aptos" pitchFamily="34" charset="-122"/>
                <a:cs typeface="Aptos" pitchFamily="34" charset="-120"/>
              </a:rPr>
              <a:t>Available FUs</a:t>
            </a:r>
            <a:endParaRPr lang="en-US" sz="1150" dirty="0"/>
          </a:p>
        </p:txBody>
      </p:sp>
      <p:sp>
        <p:nvSpPr>
          <p:cNvPr id="18" name="Text 16"/>
          <p:cNvSpPr/>
          <p:nvPr/>
        </p:nvSpPr>
        <p:spPr>
          <a:xfrm>
            <a:off x="1005840" y="3529584"/>
            <a:ext cx="1664208" cy="109728"/>
          </a:xfrm>
          <a:prstGeom prst="rect">
            <a:avLst/>
          </a:prstGeom>
          <a:noFill/>
          <a:ln/>
        </p:spPr>
        <p:txBody>
          <a:bodyPr wrap="square" lIns="635" tIns="635" rIns="635" bIns="635" rtlCol="0" anchor="ctr">
            <a:normAutofit fontScale="92500" lnSpcReduction="20000"/>
          </a:bodyPr>
          <a:lstStyle/>
          <a:p>
            <a:pPr marL="0" indent="0" algn="ctr">
              <a:buNone/>
            </a:pPr>
            <a:r>
              <a:rPr lang="en-US" sz="830" dirty="0">
                <a:solidFill>
                  <a:srgbClr val="6B7280"/>
                </a:solidFill>
                <a:latin typeface="Aptos" pitchFamily="34" charset="0"/>
                <a:ea typeface="Aptos" pitchFamily="34" charset="-122"/>
                <a:cs typeface="Aptos" pitchFamily="34" charset="-120"/>
              </a:rPr>
              <a:t>respect resources</a:t>
            </a:r>
            <a:endParaRPr lang="en-US" sz="830" dirty="0"/>
          </a:p>
        </p:txBody>
      </p:sp>
      <p:sp>
        <p:nvSpPr>
          <p:cNvPr id="19" name="Shape 17"/>
          <p:cNvSpPr/>
          <p:nvPr/>
        </p:nvSpPr>
        <p:spPr>
          <a:xfrm>
            <a:off x="1847088" y="4251960"/>
            <a:ext cx="0" cy="182880"/>
          </a:xfrm>
          <a:prstGeom prst="line">
            <a:avLst/>
          </a:prstGeom>
          <a:noFill/>
          <a:ln w="13970">
            <a:solidFill>
              <a:srgbClr val="D6DEE9"/>
            </a:solidFill>
            <a:prstDash val="solid"/>
            <a:headEnd type="none"/>
            <a:tailEnd type="triangle"/>
          </a:ln>
        </p:spPr>
        <p:txBody>
          <a:bodyPr/>
          <a:lstStyle/>
          <a:p>
            <a:endParaRPr lang="en-DE"/>
          </a:p>
        </p:txBody>
      </p:sp>
      <p:sp>
        <p:nvSpPr>
          <p:cNvPr id="20" name="Shape 18"/>
          <p:cNvSpPr/>
          <p:nvPr/>
        </p:nvSpPr>
        <p:spPr>
          <a:xfrm>
            <a:off x="868680" y="3986784"/>
            <a:ext cx="1947672" cy="475488"/>
          </a:xfrm>
          <a:prstGeom prst="roundRect">
            <a:avLst>
              <a:gd name="adj" fmla="val 15385"/>
            </a:avLst>
          </a:prstGeom>
          <a:solidFill>
            <a:srgbClr val="D1FAE5"/>
          </a:solidFill>
          <a:ln w="12700">
            <a:solidFill>
              <a:srgbClr val="10B981"/>
            </a:solidFill>
            <a:prstDash val="solid"/>
          </a:ln>
        </p:spPr>
        <p:txBody>
          <a:bodyPr/>
          <a:lstStyle/>
          <a:p>
            <a:endParaRPr lang="en-DE"/>
          </a:p>
        </p:txBody>
      </p:sp>
      <p:sp>
        <p:nvSpPr>
          <p:cNvPr id="21" name="Text 19"/>
          <p:cNvSpPr/>
          <p:nvPr/>
        </p:nvSpPr>
        <p:spPr>
          <a:xfrm>
            <a:off x="1005840" y="4096512"/>
            <a:ext cx="1664208" cy="164592"/>
          </a:xfrm>
          <a:prstGeom prst="rect">
            <a:avLst/>
          </a:prstGeom>
          <a:noFill/>
          <a:ln/>
        </p:spPr>
        <p:txBody>
          <a:bodyPr wrap="square" lIns="635" tIns="635" rIns="635" bIns="635" rtlCol="0" anchor="ctr">
            <a:normAutofit lnSpcReduction="10000"/>
          </a:bodyPr>
          <a:lstStyle/>
          <a:p>
            <a:pPr marL="0" indent="0" algn="ctr">
              <a:buNone/>
            </a:pPr>
            <a:r>
              <a:rPr lang="en-US" sz="1150" b="1" dirty="0">
                <a:solidFill>
                  <a:srgbClr val="1F2937"/>
                </a:solidFill>
                <a:latin typeface="Aptos" pitchFamily="34" charset="0"/>
                <a:ea typeface="Aptos" pitchFamily="34" charset="-122"/>
                <a:cs typeface="Aptos" pitchFamily="34" charset="-120"/>
              </a:rPr>
              <a:t>Assign PE + step</a:t>
            </a:r>
            <a:endParaRPr lang="en-US" sz="1150" dirty="0"/>
          </a:p>
        </p:txBody>
      </p:sp>
      <p:sp>
        <p:nvSpPr>
          <p:cNvPr id="22" name="Text 20"/>
          <p:cNvSpPr/>
          <p:nvPr/>
        </p:nvSpPr>
        <p:spPr>
          <a:xfrm>
            <a:off x="1005840" y="4279392"/>
            <a:ext cx="1664208" cy="109728"/>
          </a:xfrm>
          <a:prstGeom prst="rect">
            <a:avLst/>
          </a:prstGeom>
          <a:noFill/>
          <a:ln/>
        </p:spPr>
        <p:txBody>
          <a:bodyPr wrap="square" lIns="635" tIns="635" rIns="635" bIns="635" rtlCol="0" anchor="ctr">
            <a:normAutofit fontScale="92500" lnSpcReduction="20000"/>
          </a:bodyPr>
          <a:lstStyle/>
          <a:p>
            <a:pPr marL="0" indent="0" algn="ctr">
              <a:buNone/>
            </a:pPr>
            <a:r>
              <a:rPr lang="en-US" sz="830" dirty="0">
                <a:solidFill>
                  <a:srgbClr val="6B7280"/>
                </a:solidFill>
                <a:latin typeface="Aptos" pitchFamily="34" charset="0"/>
                <a:ea typeface="Aptos" pitchFamily="34" charset="-122"/>
                <a:cs typeface="Aptos" pitchFamily="34" charset="-120"/>
              </a:rPr>
              <a:t>avoid cross-PE cost</a:t>
            </a:r>
            <a:endParaRPr lang="en-US" sz="830" dirty="0"/>
          </a:p>
        </p:txBody>
      </p:sp>
      <p:sp>
        <p:nvSpPr>
          <p:cNvPr id="23" name="Shape 21"/>
          <p:cNvSpPr/>
          <p:nvPr/>
        </p:nvSpPr>
        <p:spPr>
          <a:xfrm>
            <a:off x="3794760" y="1325880"/>
            <a:ext cx="3520440" cy="1847088"/>
          </a:xfrm>
          <a:prstGeom prst="roundRect">
            <a:avLst>
              <a:gd name="adj" fmla="val 3960"/>
            </a:avLst>
          </a:prstGeom>
          <a:solidFill>
            <a:srgbClr val="FFFFFF"/>
          </a:solidFill>
          <a:ln w="12700">
            <a:solidFill>
              <a:srgbClr val="D6DEE9"/>
            </a:solidFill>
            <a:prstDash val="solid"/>
          </a:ln>
        </p:spPr>
        <p:txBody>
          <a:bodyPr/>
          <a:lstStyle/>
          <a:p>
            <a:endParaRPr lang="en-DE"/>
          </a:p>
        </p:txBody>
      </p:sp>
      <p:sp>
        <p:nvSpPr>
          <p:cNvPr id="24" name="Text 22"/>
          <p:cNvSpPr/>
          <p:nvPr/>
        </p:nvSpPr>
        <p:spPr>
          <a:xfrm>
            <a:off x="4069080" y="1600200"/>
            <a:ext cx="1828800" cy="219456"/>
          </a:xfrm>
          <a:prstGeom prst="rect">
            <a:avLst/>
          </a:prstGeom>
          <a:noFill/>
          <a:ln/>
        </p:spPr>
        <p:txBody>
          <a:bodyPr wrap="square" lIns="635" tIns="635" rIns="635" bIns="635" rtlCol="0" anchor="ctr">
            <a:normAutofit lnSpcReduction="10000"/>
          </a:bodyPr>
          <a:lstStyle/>
          <a:p>
            <a:pPr marL="0" indent="0" algn="l">
              <a:buNone/>
            </a:pPr>
            <a:r>
              <a:rPr lang="en-US" sz="1500" b="1" dirty="0">
                <a:solidFill>
                  <a:srgbClr val="2563EB"/>
                </a:solidFill>
                <a:latin typeface="Aptos" pitchFamily="34" charset="0"/>
                <a:ea typeface="Aptos" pitchFamily="34" charset="-122"/>
                <a:cs typeface="Aptos" pitchFamily="34" charset="-120"/>
              </a:rPr>
              <a:t>Priority function</a:t>
            </a:r>
            <a:endParaRPr lang="en-US" sz="1500" dirty="0"/>
          </a:p>
        </p:txBody>
      </p:sp>
      <p:sp>
        <p:nvSpPr>
          <p:cNvPr id="25" name="Text 23"/>
          <p:cNvSpPr/>
          <p:nvPr/>
        </p:nvSpPr>
        <p:spPr>
          <a:xfrm>
            <a:off x="4069080" y="2029968"/>
            <a:ext cx="2971800" cy="457200"/>
          </a:xfrm>
          <a:prstGeom prst="rect">
            <a:avLst/>
          </a:prstGeom>
          <a:noFill/>
          <a:ln/>
        </p:spPr>
        <p:txBody>
          <a:bodyPr wrap="square" lIns="635" tIns="635" rIns="635" bIns="635" rtlCol="0" anchor="ctr">
            <a:normAutofit/>
          </a:bodyPr>
          <a:lstStyle/>
          <a:p>
            <a:pPr marL="0" indent="0" algn="ctr">
              <a:buNone/>
            </a:pPr>
            <a:r>
              <a:rPr lang="en-US" sz="1300" b="1" dirty="0">
                <a:solidFill>
                  <a:srgbClr val="14213D"/>
                </a:solidFill>
                <a:latin typeface="Aptos" pitchFamily="34" charset="0"/>
                <a:ea typeface="Aptos" pitchFamily="34" charset="-122"/>
                <a:cs typeface="Aptos" pitchFamily="34" charset="-120"/>
              </a:rPr>
              <a:t>Priority(vᵢ) = 1/mobility(vᵢ) + α₁·width(vᵢ) + α₂·|succ(vᵢ)| + PE-affinity</a:t>
            </a:r>
            <a:endParaRPr lang="en-US" sz="1300" dirty="0"/>
          </a:p>
        </p:txBody>
      </p:sp>
      <p:sp>
        <p:nvSpPr>
          <p:cNvPr id="26" name="Text 24"/>
          <p:cNvSpPr/>
          <p:nvPr/>
        </p:nvSpPr>
        <p:spPr>
          <a:xfrm>
            <a:off x="4160520" y="2697480"/>
            <a:ext cx="2761488" cy="182880"/>
          </a:xfrm>
          <a:prstGeom prst="rect">
            <a:avLst/>
          </a:prstGeom>
          <a:noFill/>
          <a:ln/>
        </p:spPr>
        <p:txBody>
          <a:bodyPr wrap="square" lIns="635" tIns="635" rIns="635" bIns="635" rtlCol="0" anchor="ctr">
            <a:normAutofit fontScale="77500" lnSpcReduction="20000"/>
          </a:bodyPr>
          <a:lstStyle/>
          <a:p>
            <a:pPr marL="0" indent="0" algn="ctr">
              <a:buNone/>
            </a:pPr>
            <a:r>
              <a:rPr lang="en-US" sz="960" dirty="0">
                <a:solidFill>
                  <a:srgbClr val="6B7280"/>
                </a:solidFill>
                <a:latin typeface="Aptos" pitchFamily="34" charset="0"/>
                <a:ea typeface="Aptos" pitchFamily="34" charset="-122"/>
                <a:cs typeface="Aptos" pitchFamily="34" charset="-120"/>
              </a:rPr>
              <a:t>Low mobility = critical path. PE-affinity reduces unnecessary communication.</a:t>
            </a:r>
            <a:endParaRPr lang="en-US" sz="960" dirty="0"/>
          </a:p>
        </p:txBody>
      </p:sp>
      <p:sp>
        <p:nvSpPr>
          <p:cNvPr id="27" name="Shape 25"/>
          <p:cNvSpPr/>
          <p:nvPr/>
        </p:nvSpPr>
        <p:spPr>
          <a:xfrm>
            <a:off x="3794760" y="3730752"/>
            <a:ext cx="3520440" cy="1298448"/>
          </a:xfrm>
          <a:prstGeom prst="roundRect">
            <a:avLst>
              <a:gd name="adj" fmla="val 5634"/>
            </a:avLst>
          </a:prstGeom>
          <a:solidFill>
            <a:srgbClr val="FFFFFF"/>
          </a:solidFill>
          <a:ln w="12700">
            <a:solidFill>
              <a:srgbClr val="D6DEE9"/>
            </a:solidFill>
            <a:prstDash val="solid"/>
          </a:ln>
        </p:spPr>
        <p:txBody>
          <a:bodyPr/>
          <a:lstStyle/>
          <a:p>
            <a:endParaRPr lang="en-DE"/>
          </a:p>
        </p:txBody>
      </p:sp>
      <p:sp>
        <p:nvSpPr>
          <p:cNvPr id="28" name="Text 26"/>
          <p:cNvSpPr/>
          <p:nvPr/>
        </p:nvSpPr>
        <p:spPr>
          <a:xfrm>
            <a:off x="4069080" y="3968496"/>
            <a:ext cx="1645920" cy="219456"/>
          </a:xfrm>
          <a:prstGeom prst="rect">
            <a:avLst/>
          </a:prstGeom>
          <a:noFill/>
          <a:ln/>
        </p:spPr>
        <p:txBody>
          <a:bodyPr wrap="square" lIns="635" tIns="635" rIns="635" bIns="635" rtlCol="0" anchor="ctr">
            <a:normAutofit lnSpcReduction="10000"/>
          </a:bodyPr>
          <a:lstStyle/>
          <a:p>
            <a:pPr marL="0" indent="0" algn="l">
              <a:buNone/>
            </a:pPr>
            <a:r>
              <a:rPr lang="en-US" sz="1500" b="1" dirty="0">
                <a:solidFill>
                  <a:srgbClr val="F59E0B"/>
                </a:solidFill>
                <a:latin typeface="Aptos" pitchFamily="34" charset="0"/>
                <a:ea typeface="Aptos" pitchFamily="34" charset="-122"/>
                <a:cs typeface="Aptos" pitchFamily="34" charset="-120"/>
              </a:rPr>
              <a:t>Binding cost</a:t>
            </a:r>
            <a:endParaRPr lang="en-US" sz="1500" dirty="0"/>
          </a:p>
        </p:txBody>
      </p:sp>
      <p:sp>
        <p:nvSpPr>
          <p:cNvPr id="29" name="Text 27"/>
          <p:cNvSpPr/>
          <p:nvPr/>
        </p:nvSpPr>
        <p:spPr>
          <a:xfrm>
            <a:off x="4069080" y="4370832"/>
            <a:ext cx="2971800" cy="274320"/>
          </a:xfrm>
          <a:prstGeom prst="rect">
            <a:avLst/>
          </a:prstGeom>
          <a:noFill/>
          <a:ln/>
        </p:spPr>
        <p:txBody>
          <a:bodyPr wrap="square" lIns="635" tIns="635" rIns="635" bIns="635" rtlCol="0" anchor="ctr">
            <a:normAutofit fontScale="77500" lnSpcReduction="20000"/>
          </a:bodyPr>
          <a:lstStyle/>
          <a:p>
            <a:pPr marL="0" indent="0" algn="ctr">
              <a:buNone/>
            </a:pPr>
            <a:r>
              <a:rPr lang="en-US" sz="1400" b="1" dirty="0">
                <a:solidFill>
                  <a:srgbClr val="14213D"/>
                </a:solidFill>
                <a:latin typeface="Aptos" pitchFamily="34" charset="0"/>
                <a:ea typeface="Aptos" pitchFamily="34" charset="-122"/>
                <a:cs typeface="Aptos" pitchFamily="34" charset="-120"/>
              </a:rPr>
              <a:t>χ(yᵢ,nⱼ) = ωop + ωpath + communication term</a:t>
            </a:r>
            <a:endParaRPr lang="en-US" sz="1400" dirty="0"/>
          </a:p>
        </p:txBody>
      </p:sp>
      <p:sp>
        <p:nvSpPr>
          <p:cNvPr id="30" name="Text 28"/>
          <p:cNvSpPr/>
          <p:nvPr/>
        </p:nvSpPr>
        <p:spPr>
          <a:xfrm>
            <a:off x="4160520" y="4736592"/>
            <a:ext cx="2761488" cy="182880"/>
          </a:xfrm>
          <a:prstGeom prst="rect">
            <a:avLst/>
          </a:prstGeom>
          <a:noFill/>
          <a:ln/>
        </p:spPr>
        <p:txBody>
          <a:bodyPr wrap="square" lIns="635" tIns="635" rIns="635" bIns="635" rtlCol="0" anchor="ctr">
            <a:normAutofit fontScale="77500" lnSpcReduction="20000"/>
          </a:bodyPr>
          <a:lstStyle/>
          <a:p>
            <a:pPr marL="0" indent="0" algn="ctr">
              <a:buNone/>
            </a:pPr>
            <a:r>
              <a:rPr lang="en-US" sz="960" dirty="0">
                <a:solidFill>
                  <a:srgbClr val="6B7280"/>
                </a:solidFill>
                <a:latin typeface="Aptos" pitchFamily="34" charset="0"/>
                <a:ea typeface="Aptos" pitchFamily="34" charset="-122"/>
                <a:cs typeface="Aptos" pitchFamily="34" charset="-120"/>
              </a:rPr>
              <a:t>Choose not only the cheapest operator, but also the cheapest data path.</a:t>
            </a:r>
            <a:endParaRPr lang="en-US" sz="960" dirty="0"/>
          </a:p>
        </p:txBody>
      </p:sp>
      <p:sp>
        <p:nvSpPr>
          <p:cNvPr id="31" name="Text 29"/>
          <p:cNvSpPr/>
          <p:nvPr/>
        </p:nvSpPr>
        <p:spPr>
          <a:xfrm>
            <a:off x="8275320" y="1325880"/>
            <a:ext cx="2103120" cy="256032"/>
          </a:xfrm>
          <a:prstGeom prst="rect">
            <a:avLst/>
          </a:prstGeom>
          <a:noFill/>
          <a:ln/>
        </p:spPr>
        <p:txBody>
          <a:bodyPr wrap="square" lIns="635" tIns="635" rIns="635" bIns="635" rtlCol="0" anchor="ctr">
            <a:normAutofit/>
          </a:bodyPr>
          <a:lstStyle/>
          <a:p>
            <a:pPr marL="0" indent="0" algn="ctr">
              <a:buNone/>
            </a:pPr>
            <a:r>
              <a:rPr lang="en-US" sz="1600" b="1" dirty="0">
                <a:solidFill>
                  <a:srgbClr val="14213D"/>
                </a:solidFill>
                <a:latin typeface="Aptos" pitchFamily="34" charset="0"/>
                <a:ea typeface="Aptos" pitchFamily="34" charset="-122"/>
                <a:cs typeface="Aptos" pitchFamily="34" charset="-120"/>
              </a:rPr>
              <a:t>Design trade-off</a:t>
            </a:r>
            <a:endParaRPr lang="en-US" sz="1600" dirty="0"/>
          </a:p>
        </p:txBody>
      </p:sp>
      <p:sp>
        <p:nvSpPr>
          <p:cNvPr id="32" name="Shape 30"/>
          <p:cNvSpPr/>
          <p:nvPr/>
        </p:nvSpPr>
        <p:spPr>
          <a:xfrm>
            <a:off x="8641080" y="1874520"/>
            <a:ext cx="1207008" cy="640080"/>
          </a:xfrm>
          <a:prstGeom prst="ellipse">
            <a:avLst/>
          </a:prstGeom>
          <a:solidFill>
            <a:srgbClr val="DBEAFE"/>
          </a:solidFill>
          <a:ln w="15240">
            <a:solidFill>
              <a:srgbClr val="2563EB"/>
            </a:solidFill>
            <a:prstDash val="solid"/>
          </a:ln>
        </p:spPr>
        <p:txBody>
          <a:bodyPr/>
          <a:lstStyle/>
          <a:p>
            <a:endParaRPr lang="en-DE"/>
          </a:p>
        </p:txBody>
      </p:sp>
      <p:sp>
        <p:nvSpPr>
          <p:cNvPr id="33" name="Text 31"/>
          <p:cNvSpPr/>
          <p:nvPr/>
        </p:nvSpPr>
        <p:spPr>
          <a:xfrm>
            <a:off x="8714232" y="2002536"/>
            <a:ext cx="1060704" cy="164592"/>
          </a:xfrm>
          <a:prstGeom prst="rect">
            <a:avLst/>
          </a:prstGeom>
          <a:noFill/>
          <a:ln/>
        </p:spPr>
        <p:txBody>
          <a:bodyPr wrap="square" lIns="635" tIns="635" rIns="635" bIns="635" rtlCol="0" anchor="ctr">
            <a:normAutofit fontScale="92500" lnSpcReduction="10000"/>
          </a:bodyPr>
          <a:lstStyle/>
          <a:p>
            <a:pPr marL="0" indent="0" algn="ctr">
              <a:buNone/>
            </a:pPr>
            <a:r>
              <a:rPr lang="en-US" sz="1230" b="1" dirty="0">
                <a:solidFill>
                  <a:srgbClr val="14213D"/>
                </a:solidFill>
                <a:latin typeface="Aptos" pitchFamily="34" charset="0"/>
                <a:ea typeface="Aptos" pitchFamily="34" charset="-122"/>
                <a:cs typeface="Aptos" pitchFamily="34" charset="-120"/>
              </a:rPr>
              <a:t>Speed</a:t>
            </a:r>
            <a:endParaRPr lang="en-US" sz="1230" dirty="0"/>
          </a:p>
        </p:txBody>
      </p:sp>
      <p:sp>
        <p:nvSpPr>
          <p:cNvPr id="34" name="Text 32"/>
          <p:cNvSpPr/>
          <p:nvPr/>
        </p:nvSpPr>
        <p:spPr>
          <a:xfrm>
            <a:off x="8714232" y="2212848"/>
            <a:ext cx="1060704" cy="109728"/>
          </a:xfrm>
          <a:prstGeom prst="rect">
            <a:avLst/>
          </a:prstGeom>
          <a:noFill/>
          <a:ln/>
        </p:spPr>
        <p:txBody>
          <a:bodyPr wrap="square" lIns="635" tIns="635" rIns="635" bIns="635" rtlCol="0" anchor="ctr">
            <a:normAutofit fontScale="92500" lnSpcReduction="20000"/>
          </a:bodyPr>
          <a:lstStyle/>
          <a:p>
            <a:pPr marL="0" indent="0" algn="ctr">
              <a:buNone/>
            </a:pPr>
            <a:r>
              <a:rPr lang="en-US" sz="820" dirty="0">
                <a:solidFill>
                  <a:srgbClr val="6B7280"/>
                </a:solidFill>
                <a:latin typeface="Aptos" pitchFamily="34" charset="0"/>
                <a:ea typeface="Aptos" pitchFamily="34" charset="-122"/>
                <a:cs typeface="Aptos" pitchFamily="34" charset="-120"/>
              </a:rPr>
              <a:t>parallelism</a:t>
            </a:r>
            <a:endParaRPr lang="en-US" sz="820" dirty="0"/>
          </a:p>
        </p:txBody>
      </p:sp>
      <p:sp>
        <p:nvSpPr>
          <p:cNvPr id="35" name="Shape 33"/>
          <p:cNvSpPr/>
          <p:nvPr/>
        </p:nvSpPr>
        <p:spPr>
          <a:xfrm>
            <a:off x="7699248" y="3429000"/>
            <a:ext cx="1207008" cy="640080"/>
          </a:xfrm>
          <a:prstGeom prst="ellipse">
            <a:avLst/>
          </a:prstGeom>
          <a:solidFill>
            <a:srgbClr val="D1FAE5"/>
          </a:solidFill>
          <a:ln w="15240">
            <a:solidFill>
              <a:srgbClr val="10B981"/>
            </a:solidFill>
            <a:prstDash val="solid"/>
          </a:ln>
        </p:spPr>
        <p:txBody>
          <a:bodyPr/>
          <a:lstStyle/>
          <a:p>
            <a:endParaRPr lang="en-DE"/>
          </a:p>
        </p:txBody>
      </p:sp>
      <p:sp>
        <p:nvSpPr>
          <p:cNvPr id="36" name="Text 34"/>
          <p:cNvSpPr/>
          <p:nvPr/>
        </p:nvSpPr>
        <p:spPr>
          <a:xfrm>
            <a:off x="7772400" y="3557016"/>
            <a:ext cx="1060704" cy="164592"/>
          </a:xfrm>
          <a:prstGeom prst="rect">
            <a:avLst/>
          </a:prstGeom>
          <a:noFill/>
          <a:ln/>
        </p:spPr>
        <p:txBody>
          <a:bodyPr wrap="square" lIns="635" tIns="635" rIns="635" bIns="635" rtlCol="0" anchor="ctr">
            <a:normAutofit fontScale="92500" lnSpcReduction="10000"/>
          </a:bodyPr>
          <a:lstStyle/>
          <a:p>
            <a:pPr marL="0" indent="0" algn="ctr">
              <a:buNone/>
            </a:pPr>
            <a:r>
              <a:rPr lang="en-US" sz="1230" b="1" dirty="0">
                <a:solidFill>
                  <a:srgbClr val="14213D"/>
                </a:solidFill>
                <a:latin typeface="Aptos" pitchFamily="34" charset="0"/>
                <a:ea typeface="Aptos" pitchFamily="34" charset="-122"/>
                <a:cs typeface="Aptos" pitchFamily="34" charset="-120"/>
              </a:rPr>
              <a:t>Area</a:t>
            </a:r>
            <a:endParaRPr lang="en-US" sz="1230" dirty="0"/>
          </a:p>
        </p:txBody>
      </p:sp>
      <p:sp>
        <p:nvSpPr>
          <p:cNvPr id="37" name="Text 35"/>
          <p:cNvSpPr/>
          <p:nvPr/>
        </p:nvSpPr>
        <p:spPr>
          <a:xfrm>
            <a:off x="7772400" y="3767328"/>
            <a:ext cx="1060704" cy="109728"/>
          </a:xfrm>
          <a:prstGeom prst="rect">
            <a:avLst/>
          </a:prstGeom>
          <a:noFill/>
          <a:ln/>
        </p:spPr>
        <p:txBody>
          <a:bodyPr wrap="square" lIns="635" tIns="635" rIns="635" bIns="635" rtlCol="0" anchor="ctr">
            <a:normAutofit fontScale="92500" lnSpcReduction="20000"/>
          </a:bodyPr>
          <a:lstStyle/>
          <a:p>
            <a:pPr marL="0" indent="0" algn="ctr">
              <a:buNone/>
            </a:pPr>
            <a:r>
              <a:rPr lang="en-US" sz="820" dirty="0">
                <a:solidFill>
                  <a:srgbClr val="6B7280"/>
                </a:solidFill>
                <a:latin typeface="Aptos" pitchFamily="34" charset="0"/>
                <a:ea typeface="Aptos" pitchFamily="34" charset="-122"/>
                <a:cs typeface="Aptos" pitchFamily="34" charset="-120"/>
              </a:rPr>
              <a:t>sharing</a:t>
            </a:r>
            <a:endParaRPr lang="en-US" sz="820" dirty="0"/>
          </a:p>
        </p:txBody>
      </p:sp>
      <p:sp>
        <p:nvSpPr>
          <p:cNvPr id="38" name="Shape 36"/>
          <p:cNvSpPr/>
          <p:nvPr/>
        </p:nvSpPr>
        <p:spPr>
          <a:xfrm>
            <a:off x="9985248" y="3429000"/>
            <a:ext cx="1207008" cy="640080"/>
          </a:xfrm>
          <a:prstGeom prst="ellipse">
            <a:avLst/>
          </a:prstGeom>
          <a:solidFill>
            <a:srgbClr val="FEF3C7"/>
          </a:solidFill>
          <a:ln w="15240">
            <a:solidFill>
              <a:srgbClr val="F59E0B"/>
            </a:solidFill>
            <a:prstDash val="solid"/>
          </a:ln>
        </p:spPr>
        <p:txBody>
          <a:bodyPr/>
          <a:lstStyle/>
          <a:p>
            <a:endParaRPr lang="en-DE"/>
          </a:p>
        </p:txBody>
      </p:sp>
      <p:sp>
        <p:nvSpPr>
          <p:cNvPr id="39" name="Text 37"/>
          <p:cNvSpPr/>
          <p:nvPr/>
        </p:nvSpPr>
        <p:spPr>
          <a:xfrm>
            <a:off x="10067544" y="3639312"/>
            <a:ext cx="1060704" cy="164592"/>
          </a:xfrm>
          <a:prstGeom prst="rect">
            <a:avLst/>
          </a:prstGeom>
          <a:noFill/>
          <a:ln/>
        </p:spPr>
        <p:txBody>
          <a:bodyPr wrap="square" lIns="635" tIns="635" rIns="635" bIns="635" rtlCol="0" anchor="ctr">
            <a:normAutofit fontScale="92500" lnSpcReduction="10000"/>
          </a:bodyPr>
          <a:lstStyle/>
          <a:p>
            <a:pPr marL="0" indent="0" algn="ctr">
              <a:buNone/>
            </a:pPr>
            <a:r>
              <a:rPr lang="en-US" sz="1230" b="1" dirty="0">
                <a:solidFill>
                  <a:srgbClr val="14213D"/>
                </a:solidFill>
                <a:latin typeface="Aptos" pitchFamily="34" charset="0"/>
                <a:ea typeface="Aptos" pitchFamily="34" charset="-122"/>
                <a:cs typeface="Aptos" pitchFamily="34" charset="-120"/>
              </a:rPr>
              <a:t>Communication</a:t>
            </a:r>
            <a:endParaRPr lang="en-US" sz="1230" dirty="0"/>
          </a:p>
        </p:txBody>
      </p:sp>
      <p:sp>
        <p:nvSpPr>
          <p:cNvPr id="40" name="Text 38"/>
          <p:cNvSpPr/>
          <p:nvPr/>
        </p:nvSpPr>
        <p:spPr>
          <a:xfrm>
            <a:off x="10058400" y="3806718"/>
            <a:ext cx="1060704" cy="109728"/>
          </a:xfrm>
          <a:prstGeom prst="rect">
            <a:avLst/>
          </a:prstGeom>
          <a:noFill/>
          <a:ln/>
        </p:spPr>
        <p:txBody>
          <a:bodyPr wrap="square" lIns="635" tIns="635" rIns="635" bIns="635" rtlCol="0" anchor="ctr">
            <a:normAutofit fontScale="92500" lnSpcReduction="20000"/>
          </a:bodyPr>
          <a:lstStyle/>
          <a:p>
            <a:pPr marL="0" indent="0" algn="ctr">
              <a:buNone/>
            </a:pPr>
            <a:r>
              <a:rPr lang="en-US" sz="820" dirty="0">
                <a:solidFill>
                  <a:srgbClr val="6B7280"/>
                </a:solidFill>
                <a:latin typeface="Aptos" pitchFamily="34" charset="0"/>
                <a:ea typeface="Aptos" pitchFamily="34" charset="-122"/>
                <a:cs typeface="Aptos" pitchFamily="34" charset="-120"/>
              </a:rPr>
              <a:t>delay</a:t>
            </a:r>
            <a:endParaRPr lang="en-US" sz="820" dirty="0"/>
          </a:p>
        </p:txBody>
      </p:sp>
      <p:sp>
        <p:nvSpPr>
          <p:cNvPr id="41" name="Text 39"/>
          <p:cNvSpPr/>
          <p:nvPr/>
        </p:nvSpPr>
        <p:spPr>
          <a:xfrm>
            <a:off x="8851392" y="2761488"/>
            <a:ext cx="731520" cy="146304"/>
          </a:xfrm>
          <a:prstGeom prst="rect">
            <a:avLst/>
          </a:prstGeom>
          <a:noFill/>
          <a:ln/>
        </p:spPr>
        <p:txBody>
          <a:bodyPr wrap="square" lIns="635" tIns="635" rIns="635" bIns="635" rtlCol="0" anchor="ctr">
            <a:normAutofit/>
          </a:bodyPr>
          <a:lstStyle/>
          <a:p>
            <a:pPr marL="0" indent="0" algn="ctr">
              <a:buNone/>
            </a:pPr>
            <a:r>
              <a:rPr lang="en-US" sz="900" dirty="0">
                <a:solidFill>
                  <a:srgbClr val="6B7280"/>
                </a:solidFill>
                <a:latin typeface="Aptos" pitchFamily="34" charset="0"/>
                <a:ea typeface="Aptos" pitchFamily="34" charset="-122"/>
                <a:cs typeface="Aptos" pitchFamily="34" charset="-120"/>
              </a:rPr>
              <a:t>Fast</a:t>
            </a:r>
            <a:endParaRPr lang="en-US" sz="900" dirty="0"/>
          </a:p>
        </p:txBody>
      </p:sp>
      <p:sp>
        <p:nvSpPr>
          <p:cNvPr id="42" name="Text 40"/>
          <p:cNvSpPr/>
          <p:nvPr/>
        </p:nvSpPr>
        <p:spPr>
          <a:xfrm>
            <a:off x="7936992" y="4160520"/>
            <a:ext cx="731520" cy="146304"/>
          </a:xfrm>
          <a:prstGeom prst="rect">
            <a:avLst/>
          </a:prstGeom>
          <a:noFill/>
          <a:ln/>
        </p:spPr>
        <p:txBody>
          <a:bodyPr wrap="square" lIns="635" tIns="635" rIns="635" bIns="635" rtlCol="0" anchor="ctr">
            <a:normAutofit/>
          </a:bodyPr>
          <a:lstStyle/>
          <a:p>
            <a:pPr marL="0" indent="0" algn="ctr">
              <a:buNone/>
            </a:pPr>
            <a:r>
              <a:rPr lang="en-US" sz="900" dirty="0">
                <a:solidFill>
                  <a:srgbClr val="6B7280"/>
                </a:solidFill>
                <a:latin typeface="Aptos" pitchFamily="34" charset="0"/>
                <a:ea typeface="Aptos" pitchFamily="34" charset="-122"/>
                <a:cs typeface="Aptos" pitchFamily="34" charset="-120"/>
              </a:rPr>
              <a:t>Small</a:t>
            </a:r>
            <a:endParaRPr lang="en-US" sz="900" dirty="0"/>
          </a:p>
        </p:txBody>
      </p:sp>
      <p:sp>
        <p:nvSpPr>
          <p:cNvPr id="43" name="Text 41"/>
          <p:cNvSpPr/>
          <p:nvPr/>
        </p:nvSpPr>
        <p:spPr>
          <a:xfrm>
            <a:off x="10186416" y="4160520"/>
            <a:ext cx="822960" cy="146304"/>
          </a:xfrm>
          <a:prstGeom prst="rect">
            <a:avLst/>
          </a:prstGeom>
          <a:noFill/>
          <a:ln/>
        </p:spPr>
        <p:txBody>
          <a:bodyPr wrap="square" lIns="635" tIns="635" rIns="635" bIns="635" rtlCol="0" anchor="ctr">
            <a:normAutofit/>
          </a:bodyPr>
          <a:lstStyle/>
          <a:p>
            <a:pPr marL="0" indent="0" algn="ctr">
              <a:buNone/>
            </a:pPr>
            <a:r>
              <a:rPr lang="en-US" sz="900" dirty="0">
                <a:solidFill>
                  <a:srgbClr val="6B7280"/>
                </a:solidFill>
                <a:latin typeface="Aptos" pitchFamily="34" charset="0"/>
                <a:ea typeface="Aptos" pitchFamily="34" charset="-122"/>
                <a:cs typeface="Aptos" pitchFamily="34" charset="-120"/>
              </a:rPr>
              <a:t>Low delay</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C"/>
          </a:solidFill>
          <a:ln w="12700">
            <a:solidFill>
              <a:srgbClr val="F7FAFC">
                <a:alpha val="0"/>
              </a:srgbClr>
            </a:solidFill>
            <a:prstDash val="solid"/>
          </a:ln>
        </p:spPr>
        <p:txBody>
          <a:bodyPr/>
          <a:lstStyle/>
          <a:p>
            <a:endParaRPr lang="en-DE"/>
          </a:p>
        </p:txBody>
      </p:sp>
      <p:sp>
        <p:nvSpPr>
          <p:cNvPr id="3" name="Text 1"/>
          <p:cNvSpPr/>
          <p:nvPr/>
        </p:nvSpPr>
        <p:spPr>
          <a:xfrm>
            <a:off x="502920" y="310896"/>
            <a:ext cx="7863840" cy="438912"/>
          </a:xfrm>
          <a:prstGeom prst="rect">
            <a:avLst/>
          </a:prstGeom>
          <a:noFill/>
          <a:ln/>
        </p:spPr>
        <p:txBody>
          <a:bodyPr wrap="square" lIns="0" tIns="0" rIns="0" bIns="0" rtlCol="0" anchor="ctr"/>
          <a:lstStyle/>
          <a:p>
            <a:pPr marL="0" indent="0">
              <a:buNone/>
            </a:pPr>
            <a:r>
              <a:rPr lang="en-US" sz="2500" b="1" dirty="0">
                <a:solidFill>
                  <a:srgbClr val="14213D"/>
                </a:solidFill>
                <a:latin typeface="Aptos Display" pitchFamily="34" charset="0"/>
                <a:ea typeface="Aptos Display" pitchFamily="34" charset="-122"/>
                <a:cs typeface="Aptos Display" pitchFamily="34" charset="-120"/>
              </a:rPr>
              <a:t>Experiment Strategy</a:t>
            </a:r>
            <a:endParaRPr lang="en-US" sz="2500" dirty="0"/>
          </a:p>
        </p:txBody>
      </p:sp>
      <p:sp>
        <p:nvSpPr>
          <p:cNvPr id="5" name="Text 3"/>
          <p:cNvSpPr/>
          <p:nvPr/>
        </p:nvSpPr>
        <p:spPr>
          <a:xfrm>
            <a:off x="512064" y="6537960"/>
            <a:ext cx="4846320" cy="164592"/>
          </a:xfrm>
          <a:prstGeom prst="rect">
            <a:avLst/>
          </a:prstGeom>
          <a:noFill/>
          <a:ln/>
        </p:spPr>
        <p:txBody>
          <a:bodyPr wrap="square" lIns="0" tIns="0" rIns="0" bIns="0" rtlCol="0" anchor="ctr"/>
          <a:lstStyle/>
          <a:p>
            <a:pPr marL="0" indent="0">
              <a:buNone/>
            </a:pPr>
            <a:r>
              <a:rPr lang="en-US" sz="850" dirty="0">
                <a:solidFill>
                  <a:srgbClr val="6B7280"/>
                </a:solidFill>
              </a:rPr>
              <a:t>High-Level Synthesis for Multi-Core Systems</a:t>
            </a:r>
            <a:endParaRPr lang="en-US" sz="850" dirty="0"/>
          </a:p>
        </p:txBody>
      </p:sp>
      <p:sp>
        <p:nvSpPr>
          <p:cNvPr id="6" name="Text 4"/>
          <p:cNvSpPr/>
          <p:nvPr/>
        </p:nvSpPr>
        <p:spPr>
          <a:xfrm>
            <a:off x="11183112" y="6473952"/>
            <a:ext cx="502920" cy="256032"/>
          </a:xfrm>
          <a:prstGeom prst="rect">
            <a:avLst/>
          </a:prstGeom>
          <a:noFill/>
          <a:ln/>
        </p:spPr>
        <p:txBody>
          <a:bodyPr wrap="square" lIns="0" tIns="0" rIns="0" bIns="0" rtlCol="0" anchor="ctr"/>
          <a:lstStyle/>
          <a:p>
            <a:pPr marL="0" indent="0" algn="r">
              <a:buNone/>
            </a:pPr>
            <a:r>
              <a:rPr lang="en-US" sz="1100" b="1" dirty="0">
                <a:solidFill>
                  <a:srgbClr val="2563EB"/>
                </a:solidFill>
              </a:rPr>
              <a:t>07</a:t>
            </a:r>
            <a:endParaRPr lang="en-US" sz="1100" dirty="0"/>
          </a:p>
        </p:txBody>
      </p:sp>
      <p:sp>
        <p:nvSpPr>
          <p:cNvPr id="7" name="Shape 5"/>
          <p:cNvSpPr/>
          <p:nvPr/>
        </p:nvSpPr>
        <p:spPr>
          <a:xfrm>
            <a:off x="868680" y="1463040"/>
            <a:ext cx="621792" cy="621792"/>
          </a:xfrm>
          <a:prstGeom prst="ellipse">
            <a:avLst/>
          </a:prstGeom>
          <a:solidFill>
            <a:srgbClr val="DBEAFE"/>
          </a:solidFill>
          <a:ln w="15240">
            <a:solidFill>
              <a:srgbClr val="2563EB"/>
            </a:solidFill>
            <a:prstDash val="solid"/>
          </a:ln>
        </p:spPr>
        <p:txBody>
          <a:bodyPr/>
          <a:lstStyle/>
          <a:p>
            <a:endParaRPr lang="en-DE"/>
          </a:p>
        </p:txBody>
      </p:sp>
      <p:sp>
        <p:nvSpPr>
          <p:cNvPr id="8" name="Text 6"/>
          <p:cNvSpPr/>
          <p:nvPr/>
        </p:nvSpPr>
        <p:spPr>
          <a:xfrm>
            <a:off x="1069848" y="1627632"/>
            <a:ext cx="219456" cy="164592"/>
          </a:xfrm>
          <a:prstGeom prst="rect">
            <a:avLst/>
          </a:prstGeom>
          <a:noFill/>
          <a:ln/>
        </p:spPr>
        <p:txBody>
          <a:bodyPr wrap="square" lIns="635" tIns="635" rIns="635" bIns="635" rtlCol="0" anchor="ctr">
            <a:normAutofit fontScale="77500" lnSpcReduction="20000"/>
          </a:bodyPr>
          <a:lstStyle/>
          <a:p>
            <a:pPr marL="0" indent="0" algn="ctr">
              <a:buNone/>
            </a:pPr>
            <a:r>
              <a:rPr lang="en-US" sz="1500" b="1" dirty="0">
                <a:solidFill>
                  <a:srgbClr val="2563EB"/>
                </a:solidFill>
                <a:latin typeface="Aptos" pitchFamily="34" charset="0"/>
                <a:ea typeface="Aptos" pitchFamily="34" charset="-122"/>
                <a:cs typeface="Aptos" pitchFamily="34" charset="-120"/>
              </a:rPr>
              <a:t>1</a:t>
            </a:r>
            <a:endParaRPr lang="en-US" sz="1500" dirty="0"/>
          </a:p>
        </p:txBody>
      </p:sp>
      <p:sp>
        <p:nvSpPr>
          <p:cNvPr id="9" name="Text 7"/>
          <p:cNvSpPr/>
          <p:nvPr/>
        </p:nvSpPr>
        <p:spPr>
          <a:xfrm>
            <a:off x="1783080" y="1435608"/>
            <a:ext cx="2651760" cy="256032"/>
          </a:xfrm>
          <a:prstGeom prst="rect">
            <a:avLst/>
          </a:prstGeom>
          <a:noFill/>
          <a:ln/>
        </p:spPr>
        <p:txBody>
          <a:bodyPr wrap="square" lIns="635" tIns="635" rIns="635" bIns="635" rtlCol="0" anchor="ctr">
            <a:normAutofit/>
          </a:bodyPr>
          <a:lstStyle/>
          <a:p>
            <a:pPr marL="0" indent="0" algn="l">
              <a:buNone/>
            </a:pPr>
            <a:r>
              <a:rPr lang="en-US" sz="1600" b="1" dirty="0">
                <a:solidFill>
                  <a:srgbClr val="14213D"/>
                </a:solidFill>
                <a:latin typeface="Aptos" pitchFamily="34" charset="0"/>
                <a:ea typeface="Aptos" pitchFamily="34" charset="-122"/>
                <a:cs typeface="Aptos" pitchFamily="34" charset="-120"/>
              </a:rPr>
              <a:t>C++ scheduling model</a:t>
            </a:r>
            <a:endParaRPr lang="en-US" sz="1600" dirty="0"/>
          </a:p>
        </p:txBody>
      </p:sp>
      <p:sp>
        <p:nvSpPr>
          <p:cNvPr id="10" name="Text 8"/>
          <p:cNvSpPr/>
          <p:nvPr/>
        </p:nvSpPr>
        <p:spPr>
          <a:xfrm>
            <a:off x="1783080" y="1764792"/>
            <a:ext cx="3794760" cy="201168"/>
          </a:xfrm>
          <a:prstGeom prst="rect">
            <a:avLst/>
          </a:prstGeom>
          <a:noFill/>
          <a:ln/>
        </p:spPr>
        <p:txBody>
          <a:bodyPr wrap="square" lIns="635" tIns="635" rIns="635" bIns="635" rtlCol="0" anchor="ctr">
            <a:normAutofit/>
          </a:bodyPr>
          <a:lstStyle/>
          <a:p>
            <a:pPr marL="0" indent="0" algn="l">
              <a:buNone/>
            </a:pPr>
            <a:r>
              <a:rPr lang="en-US" sz="1140" dirty="0">
                <a:solidFill>
                  <a:srgbClr val="1F2937"/>
                </a:solidFill>
                <a:latin typeface="Aptos" pitchFamily="34" charset="0"/>
                <a:ea typeface="Aptos" pitchFamily="34" charset="-122"/>
                <a:cs typeface="Aptos" pitchFamily="34" charset="-120"/>
              </a:rPr>
              <a:t>Shows operation → step → PE assignment</a:t>
            </a:r>
            <a:endParaRPr lang="en-US" sz="1140" dirty="0"/>
          </a:p>
        </p:txBody>
      </p:sp>
      <p:sp>
        <p:nvSpPr>
          <p:cNvPr id="11" name="Shape 9"/>
          <p:cNvSpPr/>
          <p:nvPr/>
        </p:nvSpPr>
        <p:spPr>
          <a:xfrm>
            <a:off x="1783080" y="2130552"/>
            <a:ext cx="1783080" cy="310896"/>
          </a:xfrm>
          <a:prstGeom prst="roundRect">
            <a:avLst>
              <a:gd name="adj" fmla="val 23529"/>
            </a:avLst>
          </a:prstGeom>
          <a:solidFill>
            <a:srgbClr val="DBEAFE"/>
          </a:solidFill>
          <a:ln w="12700">
            <a:solidFill>
              <a:srgbClr val="DBEAFE">
                <a:alpha val="0"/>
              </a:srgbClr>
            </a:solidFill>
            <a:prstDash val="solid"/>
          </a:ln>
        </p:spPr>
        <p:txBody>
          <a:bodyPr/>
          <a:lstStyle/>
          <a:p>
            <a:endParaRPr lang="en-DE"/>
          </a:p>
        </p:txBody>
      </p:sp>
      <p:sp>
        <p:nvSpPr>
          <p:cNvPr id="12" name="Text 10"/>
          <p:cNvSpPr/>
          <p:nvPr/>
        </p:nvSpPr>
        <p:spPr>
          <a:xfrm>
            <a:off x="1856232" y="2194560"/>
            <a:ext cx="1636776" cy="146304"/>
          </a:xfrm>
          <a:prstGeom prst="rect">
            <a:avLst/>
          </a:prstGeom>
          <a:noFill/>
          <a:ln/>
        </p:spPr>
        <p:txBody>
          <a:bodyPr wrap="square" lIns="0" tIns="0" rIns="0" bIns="0" rtlCol="0" anchor="ctr"/>
          <a:lstStyle/>
          <a:p>
            <a:pPr marL="0" indent="0" algn="ctr">
              <a:buNone/>
            </a:pPr>
            <a:r>
              <a:rPr lang="en-US" sz="850" b="1" dirty="0">
                <a:solidFill>
                  <a:srgbClr val="2563EB"/>
                </a:solidFill>
              </a:rPr>
              <a:t>sched.cpp</a:t>
            </a:r>
            <a:endParaRPr lang="en-US" sz="850" dirty="0"/>
          </a:p>
        </p:txBody>
      </p:sp>
      <p:sp>
        <p:nvSpPr>
          <p:cNvPr id="13" name="Shape 11"/>
          <p:cNvSpPr/>
          <p:nvPr/>
        </p:nvSpPr>
        <p:spPr>
          <a:xfrm>
            <a:off x="868680" y="2788920"/>
            <a:ext cx="621792" cy="621792"/>
          </a:xfrm>
          <a:prstGeom prst="ellipse">
            <a:avLst/>
          </a:prstGeom>
          <a:solidFill>
            <a:srgbClr val="D1FAE5"/>
          </a:solidFill>
          <a:ln w="15240">
            <a:solidFill>
              <a:srgbClr val="10B981"/>
            </a:solidFill>
            <a:prstDash val="solid"/>
          </a:ln>
        </p:spPr>
        <p:txBody>
          <a:bodyPr/>
          <a:lstStyle/>
          <a:p>
            <a:endParaRPr lang="en-DE"/>
          </a:p>
        </p:txBody>
      </p:sp>
      <p:sp>
        <p:nvSpPr>
          <p:cNvPr id="14" name="Text 12"/>
          <p:cNvSpPr/>
          <p:nvPr/>
        </p:nvSpPr>
        <p:spPr>
          <a:xfrm>
            <a:off x="1069848" y="2953512"/>
            <a:ext cx="219456" cy="164592"/>
          </a:xfrm>
          <a:prstGeom prst="rect">
            <a:avLst/>
          </a:prstGeom>
          <a:noFill/>
          <a:ln/>
        </p:spPr>
        <p:txBody>
          <a:bodyPr wrap="square" lIns="635" tIns="635" rIns="635" bIns="635" rtlCol="0" anchor="ctr">
            <a:normAutofit fontScale="77500" lnSpcReduction="20000"/>
          </a:bodyPr>
          <a:lstStyle/>
          <a:p>
            <a:pPr marL="0" indent="0" algn="ctr">
              <a:buNone/>
            </a:pPr>
            <a:r>
              <a:rPr lang="en-US" sz="1500" b="1" dirty="0">
                <a:solidFill>
                  <a:srgbClr val="10B981"/>
                </a:solidFill>
                <a:latin typeface="Aptos" pitchFamily="34" charset="0"/>
                <a:ea typeface="Aptos" pitchFamily="34" charset="-122"/>
                <a:cs typeface="Aptos" pitchFamily="34" charset="-120"/>
              </a:rPr>
              <a:t>2</a:t>
            </a:r>
            <a:endParaRPr lang="en-US" sz="1500" dirty="0"/>
          </a:p>
        </p:txBody>
      </p:sp>
      <p:sp>
        <p:nvSpPr>
          <p:cNvPr id="15" name="Text 13"/>
          <p:cNvSpPr/>
          <p:nvPr/>
        </p:nvSpPr>
        <p:spPr>
          <a:xfrm>
            <a:off x="1783080" y="2761488"/>
            <a:ext cx="2651760" cy="256032"/>
          </a:xfrm>
          <a:prstGeom prst="rect">
            <a:avLst/>
          </a:prstGeom>
          <a:noFill/>
          <a:ln/>
        </p:spPr>
        <p:txBody>
          <a:bodyPr wrap="square" lIns="635" tIns="635" rIns="635" bIns="635" rtlCol="0" anchor="ctr">
            <a:normAutofit/>
          </a:bodyPr>
          <a:lstStyle/>
          <a:p>
            <a:pPr marL="0" indent="0" algn="l">
              <a:buNone/>
            </a:pPr>
            <a:r>
              <a:rPr lang="en-US" sz="1600" b="1" dirty="0">
                <a:solidFill>
                  <a:srgbClr val="14213D"/>
                </a:solidFill>
                <a:latin typeface="Aptos" pitchFamily="34" charset="0"/>
                <a:ea typeface="Aptos" pitchFamily="34" charset="-122"/>
                <a:cs typeface="Aptos" pitchFamily="34" charset="-120"/>
              </a:rPr>
              <a:t>POSIX multi-core run</a:t>
            </a:r>
            <a:endParaRPr lang="en-US" sz="1600" dirty="0"/>
          </a:p>
        </p:txBody>
      </p:sp>
      <p:sp>
        <p:nvSpPr>
          <p:cNvPr id="16" name="Text 14"/>
          <p:cNvSpPr/>
          <p:nvPr/>
        </p:nvSpPr>
        <p:spPr>
          <a:xfrm>
            <a:off x="1783080" y="3090672"/>
            <a:ext cx="3794760" cy="201168"/>
          </a:xfrm>
          <a:prstGeom prst="rect">
            <a:avLst/>
          </a:prstGeom>
          <a:noFill/>
          <a:ln/>
        </p:spPr>
        <p:txBody>
          <a:bodyPr wrap="square" lIns="635" tIns="635" rIns="635" bIns="635" rtlCol="0" anchor="ctr">
            <a:normAutofit/>
          </a:bodyPr>
          <a:lstStyle/>
          <a:p>
            <a:pPr marL="0" indent="0" algn="l">
              <a:buNone/>
            </a:pPr>
            <a:r>
              <a:rPr lang="en-US" sz="1140" dirty="0">
                <a:solidFill>
                  <a:srgbClr val="1F2937"/>
                </a:solidFill>
                <a:latin typeface="Aptos" pitchFamily="34" charset="0"/>
                <a:ea typeface="Aptos" pitchFamily="34" charset="-122"/>
                <a:cs typeface="Aptos" pitchFamily="34" charset="-120"/>
              </a:rPr>
              <a:t>Measures practical speedup and overhead</a:t>
            </a:r>
            <a:endParaRPr lang="en-US" sz="1140" dirty="0"/>
          </a:p>
        </p:txBody>
      </p:sp>
      <p:sp>
        <p:nvSpPr>
          <p:cNvPr id="17" name="Shape 15"/>
          <p:cNvSpPr/>
          <p:nvPr/>
        </p:nvSpPr>
        <p:spPr>
          <a:xfrm>
            <a:off x="1783080" y="3456432"/>
            <a:ext cx="1783080" cy="310896"/>
          </a:xfrm>
          <a:prstGeom prst="roundRect">
            <a:avLst>
              <a:gd name="adj" fmla="val 23529"/>
            </a:avLst>
          </a:prstGeom>
          <a:solidFill>
            <a:srgbClr val="D1FAE5"/>
          </a:solidFill>
          <a:ln w="12700">
            <a:solidFill>
              <a:srgbClr val="D1FAE5">
                <a:alpha val="0"/>
              </a:srgbClr>
            </a:solidFill>
            <a:prstDash val="solid"/>
          </a:ln>
        </p:spPr>
        <p:txBody>
          <a:bodyPr/>
          <a:lstStyle/>
          <a:p>
            <a:endParaRPr lang="en-DE"/>
          </a:p>
        </p:txBody>
      </p:sp>
      <p:sp>
        <p:nvSpPr>
          <p:cNvPr id="18" name="Text 16"/>
          <p:cNvSpPr/>
          <p:nvPr/>
        </p:nvSpPr>
        <p:spPr>
          <a:xfrm>
            <a:off x="1856232" y="3520440"/>
            <a:ext cx="1636776" cy="146304"/>
          </a:xfrm>
          <a:prstGeom prst="rect">
            <a:avLst/>
          </a:prstGeom>
          <a:noFill/>
          <a:ln/>
        </p:spPr>
        <p:txBody>
          <a:bodyPr wrap="square" lIns="0" tIns="0" rIns="0" bIns="0" rtlCol="0" anchor="ctr"/>
          <a:lstStyle/>
          <a:p>
            <a:pPr marL="0" indent="0" algn="ctr">
              <a:buNone/>
            </a:pPr>
            <a:r>
              <a:rPr lang="en-US" sz="850" b="1" dirty="0">
                <a:solidFill>
                  <a:srgbClr val="10B981"/>
                </a:solidFill>
              </a:rPr>
              <a:t>matrix_pthread.c</a:t>
            </a:r>
            <a:endParaRPr lang="en-US" sz="850" dirty="0"/>
          </a:p>
        </p:txBody>
      </p:sp>
      <p:sp>
        <p:nvSpPr>
          <p:cNvPr id="19" name="Shape 17"/>
          <p:cNvSpPr/>
          <p:nvPr/>
        </p:nvSpPr>
        <p:spPr>
          <a:xfrm>
            <a:off x="868680" y="4114800"/>
            <a:ext cx="621792" cy="621792"/>
          </a:xfrm>
          <a:prstGeom prst="ellipse">
            <a:avLst/>
          </a:prstGeom>
          <a:solidFill>
            <a:srgbClr val="FEF3C7"/>
          </a:solidFill>
          <a:ln w="15240">
            <a:solidFill>
              <a:srgbClr val="F59E0B"/>
            </a:solidFill>
            <a:prstDash val="solid"/>
          </a:ln>
        </p:spPr>
        <p:txBody>
          <a:bodyPr/>
          <a:lstStyle/>
          <a:p>
            <a:endParaRPr lang="en-DE"/>
          </a:p>
        </p:txBody>
      </p:sp>
      <p:sp>
        <p:nvSpPr>
          <p:cNvPr id="20" name="Text 18"/>
          <p:cNvSpPr/>
          <p:nvPr/>
        </p:nvSpPr>
        <p:spPr>
          <a:xfrm>
            <a:off x="1069848" y="4279392"/>
            <a:ext cx="219456" cy="164592"/>
          </a:xfrm>
          <a:prstGeom prst="rect">
            <a:avLst/>
          </a:prstGeom>
          <a:noFill/>
          <a:ln/>
        </p:spPr>
        <p:txBody>
          <a:bodyPr wrap="square" lIns="635" tIns="635" rIns="635" bIns="635" rtlCol="0" anchor="ctr">
            <a:normAutofit fontScale="77500" lnSpcReduction="20000"/>
          </a:bodyPr>
          <a:lstStyle/>
          <a:p>
            <a:pPr marL="0" indent="0" algn="ctr">
              <a:buNone/>
            </a:pPr>
            <a:r>
              <a:rPr lang="en-US" sz="1500" b="1" dirty="0">
                <a:solidFill>
                  <a:srgbClr val="F59E0B"/>
                </a:solidFill>
                <a:latin typeface="Aptos" pitchFamily="34" charset="0"/>
                <a:ea typeface="Aptos" pitchFamily="34" charset="-122"/>
                <a:cs typeface="Aptos" pitchFamily="34" charset="-120"/>
              </a:rPr>
              <a:t>3</a:t>
            </a:r>
            <a:endParaRPr lang="en-US" sz="1500" dirty="0"/>
          </a:p>
        </p:txBody>
      </p:sp>
      <p:sp>
        <p:nvSpPr>
          <p:cNvPr id="21" name="Text 19"/>
          <p:cNvSpPr/>
          <p:nvPr/>
        </p:nvSpPr>
        <p:spPr>
          <a:xfrm>
            <a:off x="1783080" y="4087368"/>
            <a:ext cx="2651760" cy="256032"/>
          </a:xfrm>
          <a:prstGeom prst="rect">
            <a:avLst/>
          </a:prstGeom>
          <a:noFill/>
          <a:ln/>
        </p:spPr>
        <p:txBody>
          <a:bodyPr wrap="square" lIns="635" tIns="635" rIns="635" bIns="635" rtlCol="0" anchor="ctr">
            <a:normAutofit/>
          </a:bodyPr>
          <a:lstStyle/>
          <a:p>
            <a:pPr marL="0" indent="0" algn="l">
              <a:buNone/>
            </a:pPr>
            <a:r>
              <a:rPr lang="en-US" sz="1600" b="1" dirty="0">
                <a:solidFill>
                  <a:srgbClr val="14213D"/>
                </a:solidFill>
                <a:latin typeface="Aptos" pitchFamily="34" charset="0"/>
                <a:ea typeface="Aptos" pitchFamily="34" charset="-122"/>
                <a:cs typeface="Aptos" pitchFamily="34" charset="-120"/>
              </a:rPr>
              <a:t>Vivado FPGA synthesis</a:t>
            </a:r>
            <a:endParaRPr lang="en-US" sz="1600" dirty="0"/>
          </a:p>
        </p:txBody>
      </p:sp>
      <p:sp>
        <p:nvSpPr>
          <p:cNvPr id="22" name="Text 20"/>
          <p:cNvSpPr/>
          <p:nvPr/>
        </p:nvSpPr>
        <p:spPr>
          <a:xfrm>
            <a:off x="1783080" y="4416552"/>
            <a:ext cx="3794760" cy="201168"/>
          </a:xfrm>
          <a:prstGeom prst="rect">
            <a:avLst/>
          </a:prstGeom>
          <a:noFill/>
          <a:ln/>
        </p:spPr>
        <p:txBody>
          <a:bodyPr wrap="square" lIns="635" tIns="635" rIns="635" bIns="635" rtlCol="0" anchor="ctr">
            <a:normAutofit/>
          </a:bodyPr>
          <a:lstStyle/>
          <a:p>
            <a:pPr marL="0" indent="0" algn="l">
              <a:buNone/>
            </a:pPr>
            <a:r>
              <a:rPr lang="en-US" sz="1140" dirty="0">
                <a:solidFill>
                  <a:srgbClr val="1F2937"/>
                </a:solidFill>
                <a:latin typeface="Aptos" pitchFamily="34" charset="0"/>
                <a:ea typeface="Aptos" pitchFamily="34" charset="-122"/>
                <a:cs typeface="Aptos" pitchFamily="34" charset="-120"/>
              </a:rPr>
              <a:t>Compares separate vs. shared datapath area</a:t>
            </a:r>
            <a:endParaRPr lang="en-US" sz="1140" dirty="0"/>
          </a:p>
        </p:txBody>
      </p:sp>
      <p:sp>
        <p:nvSpPr>
          <p:cNvPr id="23" name="Shape 21"/>
          <p:cNvSpPr/>
          <p:nvPr/>
        </p:nvSpPr>
        <p:spPr>
          <a:xfrm>
            <a:off x="1783080" y="4782312"/>
            <a:ext cx="1783080" cy="310896"/>
          </a:xfrm>
          <a:prstGeom prst="roundRect">
            <a:avLst>
              <a:gd name="adj" fmla="val 23529"/>
            </a:avLst>
          </a:prstGeom>
          <a:solidFill>
            <a:srgbClr val="FEF3C7"/>
          </a:solidFill>
          <a:ln w="12700">
            <a:solidFill>
              <a:srgbClr val="FEF3C7">
                <a:alpha val="0"/>
              </a:srgbClr>
            </a:solidFill>
            <a:prstDash val="solid"/>
          </a:ln>
        </p:spPr>
        <p:txBody>
          <a:bodyPr/>
          <a:lstStyle/>
          <a:p>
            <a:endParaRPr lang="en-DE"/>
          </a:p>
        </p:txBody>
      </p:sp>
      <p:sp>
        <p:nvSpPr>
          <p:cNvPr id="24" name="Text 22"/>
          <p:cNvSpPr/>
          <p:nvPr/>
        </p:nvSpPr>
        <p:spPr>
          <a:xfrm>
            <a:off x="1856232" y="4846320"/>
            <a:ext cx="1636776" cy="146304"/>
          </a:xfrm>
          <a:prstGeom prst="rect">
            <a:avLst/>
          </a:prstGeom>
          <a:noFill/>
          <a:ln/>
        </p:spPr>
        <p:txBody>
          <a:bodyPr wrap="square" lIns="0" tIns="0" rIns="0" bIns="0" rtlCol="0" anchor="ctr"/>
          <a:lstStyle/>
          <a:p>
            <a:pPr marL="0" indent="0" algn="ctr">
              <a:buNone/>
            </a:pPr>
            <a:r>
              <a:rPr lang="en-US" sz="850" b="1" dirty="0">
                <a:solidFill>
                  <a:srgbClr val="F59E0B"/>
                </a:solidFill>
              </a:rPr>
              <a:t>VHDL + utilization report</a:t>
            </a:r>
            <a:endParaRPr lang="en-US" sz="850" dirty="0"/>
          </a:p>
        </p:txBody>
      </p:sp>
      <p:sp>
        <p:nvSpPr>
          <p:cNvPr id="25" name="Shape 23"/>
          <p:cNvSpPr/>
          <p:nvPr/>
        </p:nvSpPr>
        <p:spPr>
          <a:xfrm>
            <a:off x="6355080" y="1874520"/>
            <a:ext cx="1097280" cy="0"/>
          </a:xfrm>
          <a:prstGeom prst="line">
            <a:avLst/>
          </a:prstGeom>
          <a:noFill/>
          <a:ln w="20320">
            <a:solidFill>
              <a:srgbClr val="2563EB"/>
            </a:solidFill>
            <a:prstDash val="solid"/>
            <a:headEnd type="none"/>
            <a:tailEnd type="triangle"/>
          </a:ln>
        </p:spPr>
        <p:txBody>
          <a:bodyPr/>
          <a:lstStyle/>
          <a:p>
            <a:endParaRPr lang="en-DE"/>
          </a:p>
        </p:txBody>
      </p:sp>
      <p:sp>
        <p:nvSpPr>
          <p:cNvPr id="26" name="Shape 24"/>
          <p:cNvSpPr/>
          <p:nvPr/>
        </p:nvSpPr>
        <p:spPr>
          <a:xfrm>
            <a:off x="6355080" y="3200400"/>
            <a:ext cx="1097280" cy="0"/>
          </a:xfrm>
          <a:prstGeom prst="line">
            <a:avLst/>
          </a:prstGeom>
          <a:noFill/>
          <a:ln w="20320">
            <a:solidFill>
              <a:srgbClr val="10B981"/>
            </a:solidFill>
            <a:prstDash val="solid"/>
            <a:headEnd type="none"/>
            <a:tailEnd type="triangle"/>
          </a:ln>
        </p:spPr>
        <p:txBody>
          <a:bodyPr/>
          <a:lstStyle/>
          <a:p>
            <a:endParaRPr lang="en-DE"/>
          </a:p>
        </p:txBody>
      </p:sp>
      <p:sp>
        <p:nvSpPr>
          <p:cNvPr id="27" name="Shape 25"/>
          <p:cNvSpPr/>
          <p:nvPr/>
        </p:nvSpPr>
        <p:spPr>
          <a:xfrm>
            <a:off x="6355080" y="4526280"/>
            <a:ext cx="1097280" cy="0"/>
          </a:xfrm>
          <a:prstGeom prst="line">
            <a:avLst/>
          </a:prstGeom>
          <a:noFill/>
          <a:ln w="20320">
            <a:solidFill>
              <a:srgbClr val="F59E0B"/>
            </a:solidFill>
            <a:prstDash val="solid"/>
            <a:headEnd type="none"/>
            <a:tailEnd type="triangle"/>
          </a:ln>
        </p:spPr>
        <p:txBody>
          <a:bodyPr/>
          <a:lstStyle/>
          <a:p>
            <a:endParaRPr lang="en-DE"/>
          </a:p>
        </p:txBody>
      </p:sp>
      <p:sp>
        <p:nvSpPr>
          <p:cNvPr id="28" name="Shape 26"/>
          <p:cNvSpPr/>
          <p:nvPr/>
        </p:nvSpPr>
        <p:spPr>
          <a:xfrm>
            <a:off x="7635240" y="1325880"/>
            <a:ext cx="3017520" cy="3886200"/>
          </a:xfrm>
          <a:prstGeom prst="roundRect">
            <a:avLst>
              <a:gd name="adj" fmla="val 2424"/>
            </a:avLst>
          </a:prstGeom>
          <a:solidFill>
            <a:srgbClr val="FFFFFF"/>
          </a:solidFill>
          <a:ln w="12700">
            <a:solidFill>
              <a:srgbClr val="D6DEE9"/>
            </a:solidFill>
            <a:prstDash val="solid"/>
          </a:ln>
        </p:spPr>
        <p:txBody>
          <a:bodyPr/>
          <a:lstStyle/>
          <a:p>
            <a:endParaRPr lang="en-DE"/>
          </a:p>
        </p:txBody>
      </p:sp>
      <p:sp>
        <p:nvSpPr>
          <p:cNvPr id="29" name="Text 27"/>
          <p:cNvSpPr/>
          <p:nvPr/>
        </p:nvSpPr>
        <p:spPr>
          <a:xfrm>
            <a:off x="8001000" y="1737360"/>
            <a:ext cx="2240280" cy="256032"/>
          </a:xfrm>
          <a:prstGeom prst="rect">
            <a:avLst/>
          </a:prstGeom>
          <a:noFill/>
          <a:ln/>
        </p:spPr>
        <p:txBody>
          <a:bodyPr wrap="square" lIns="635" tIns="635" rIns="635" bIns="635" rtlCol="0" anchor="ctr">
            <a:normAutofit lnSpcReduction="10000"/>
          </a:bodyPr>
          <a:lstStyle/>
          <a:p>
            <a:pPr marL="0" indent="0" algn="ctr">
              <a:buNone/>
            </a:pPr>
            <a:r>
              <a:rPr lang="en-US" sz="1700" b="1" dirty="0">
                <a:solidFill>
                  <a:srgbClr val="14213D"/>
                </a:solidFill>
                <a:latin typeface="Aptos" pitchFamily="34" charset="0"/>
                <a:ea typeface="Aptos" pitchFamily="34" charset="-122"/>
                <a:cs typeface="Aptos" pitchFamily="34" charset="-120"/>
              </a:rPr>
              <a:t>Together they prove</a:t>
            </a:r>
            <a:endParaRPr lang="en-US" sz="1700" dirty="0"/>
          </a:p>
        </p:txBody>
      </p:sp>
      <p:sp>
        <p:nvSpPr>
          <p:cNvPr id="30" name="Text 28"/>
          <p:cNvSpPr/>
          <p:nvPr/>
        </p:nvSpPr>
        <p:spPr>
          <a:xfrm>
            <a:off x="8065008" y="2286000"/>
            <a:ext cx="2148840" cy="1874520"/>
          </a:xfrm>
          <a:prstGeom prst="rect">
            <a:avLst/>
          </a:prstGeom>
          <a:noFill/>
          <a:ln/>
        </p:spPr>
        <p:txBody>
          <a:bodyPr wrap="square" lIns="635" tIns="635" rIns="635" bIns="635" rtlCol="0" anchor="ctr">
            <a:normAutofit/>
          </a:bodyPr>
          <a:lstStyle/>
          <a:p>
            <a:r>
              <a:rPr lang="en-US" sz="1350" dirty="0">
                <a:solidFill>
                  <a:srgbClr val="1F2937"/>
                </a:solidFill>
              </a:rPr>
              <a:t>DFG scheduling maps work to PEs</a:t>
            </a:r>
            <a:endParaRPr lang="en-US" sz="1350" dirty="0"/>
          </a:p>
          <a:p>
            <a:r>
              <a:rPr lang="en-US" sz="1350" dirty="0">
                <a:solidFill>
                  <a:srgbClr val="1F2937"/>
                </a:solidFill>
              </a:rPr>
              <a:t>Real speedup is useful but not ideal</a:t>
            </a:r>
            <a:endParaRPr lang="en-US" sz="1350" dirty="0"/>
          </a:p>
          <a:p>
            <a:r>
              <a:rPr lang="en-US" sz="1350" dirty="0">
                <a:solidFill>
                  <a:srgbClr val="1F2937"/>
                </a:solidFill>
              </a:rPr>
              <a:t>Resource sharing can reduce FPGA LUTs</a:t>
            </a:r>
            <a:endParaRPr lang="en-US" sz="1350" dirty="0"/>
          </a:p>
          <a:p>
            <a:r>
              <a:rPr lang="en-US" sz="1350" dirty="0">
                <a:solidFill>
                  <a:srgbClr val="1F2937"/>
                </a:solidFill>
              </a:rPr>
              <a:t>Best design balances all three</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C"/>
          </a:solidFill>
          <a:ln w="12700">
            <a:solidFill>
              <a:srgbClr val="F7FAFC">
                <a:alpha val="0"/>
              </a:srgbClr>
            </a:solidFill>
            <a:prstDash val="solid"/>
          </a:ln>
        </p:spPr>
        <p:txBody>
          <a:bodyPr/>
          <a:lstStyle/>
          <a:p>
            <a:endParaRPr lang="en-DE"/>
          </a:p>
        </p:txBody>
      </p:sp>
      <p:sp>
        <p:nvSpPr>
          <p:cNvPr id="3" name="Text 1"/>
          <p:cNvSpPr/>
          <p:nvPr/>
        </p:nvSpPr>
        <p:spPr>
          <a:xfrm>
            <a:off x="502920" y="310896"/>
            <a:ext cx="7863840" cy="438912"/>
          </a:xfrm>
          <a:prstGeom prst="rect">
            <a:avLst/>
          </a:prstGeom>
          <a:noFill/>
          <a:ln/>
        </p:spPr>
        <p:txBody>
          <a:bodyPr wrap="square" lIns="0" tIns="0" rIns="0" bIns="0" rtlCol="0" anchor="ctr"/>
          <a:lstStyle/>
          <a:p>
            <a:pPr marL="0" indent="0">
              <a:buNone/>
            </a:pPr>
            <a:r>
              <a:rPr lang="en-US" sz="2500" b="1" dirty="0">
                <a:solidFill>
                  <a:srgbClr val="14213D"/>
                </a:solidFill>
                <a:latin typeface="Aptos Display" pitchFamily="34" charset="0"/>
                <a:ea typeface="Aptos Display" pitchFamily="34" charset="-122"/>
                <a:cs typeface="Aptos Display" pitchFamily="34" charset="-120"/>
              </a:rPr>
              <a:t>C++ List-Based Scheduler</a:t>
            </a:r>
            <a:endParaRPr lang="en-US" sz="2500" dirty="0"/>
          </a:p>
        </p:txBody>
      </p:sp>
      <p:sp>
        <p:nvSpPr>
          <p:cNvPr id="4" name="Text 2"/>
          <p:cNvSpPr/>
          <p:nvPr/>
        </p:nvSpPr>
        <p:spPr>
          <a:xfrm>
            <a:off x="512064" y="804672"/>
            <a:ext cx="10789920" cy="274320"/>
          </a:xfrm>
          <a:prstGeom prst="rect">
            <a:avLst/>
          </a:prstGeom>
          <a:noFill/>
          <a:ln/>
        </p:spPr>
        <p:txBody>
          <a:bodyPr wrap="square" lIns="0" tIns="0" rIns="0" bIns="0" rtlCol="0" anchor="ctr"/>
          <a:lstStyle/>
          <a:p>
            <a:pPr marL="0" indent="0">
              <a:buNone/>
            </a:pPr>
            <a:r>
              <a:rPr lang="en-US" sz="1050" dirty="0">
                <a:solidFill>
                  <a:srgbClr val="6B7280"/>
                </a:solidFill>
              </a:rPr>
              <a:t>A small 2×2 matrix multiplication DFG is scheduled onto two processing elements.</a:t>
            </a:r>
            <a:endParaRPr lang="en-US" sz="1050" dirty="0"/>
          </a:p>
        </p:txBody>
      </p:sp>
      <p:sp>
        <p:nvSpPr>
          <p:cNvPr id="5" name="Text 3"/>
          <p:cNvSpPr/>
          <p:nvPr/>
        </p:nvSpPr>
        <p:spPr>
          <a:xfrm>
            <a:off x="512064" y="6537960"/>
            <a:ext cx="4846320" cy="164592"/>
          </a:xfrm>
          <a:prstGeom prst="rect">
            <a:avLst/>
          </a:prstGeom>
          <a:noFill/>
          <a:ln/>
        </p:spPr>
        <p:txBody>
          <a:bodyPr wrap="square" lIns="0" tIns="0" rIns="0" bIns="0" rtlCol="0" anchor="ctr"/>
          <a:lstStyle/>
          <a:p>
            <a:pPr marL="0" indent="0">
              <a:buNone/>
            </a:pPr>
            <a:r>
              <a:rPr lang="en-US" sz="850" dirty="0">
                <a:solidFill>
                  <a:srgbClr val="6B7280"/>
                </a:solidFill>
              </a:rPr>
              <a:t>High-Level Synthesis for Multi-Core Systems</a:t>
            </a:r>
            <a:endParaRPr lang="en-US" sz="850" dirty="0"/>
          </a:p>
        </p:txBody>
      </p:sp>
      <p:sp>
        <p:nvSpPr>
          <p:cNvPr id="6" name="Text 4"/>
          <p:cNvSpPr/>
          <p:nvPr/>
        </p:nvSpPr>
        <p:spPr>
          <a:xfrm>
            <a:off x="11183112" y="6473952"/>
            <a:ext cx="502920" cy="256032"/>
          </a:xfrm>
          <a:prstGeom prst="rect">
            <a:avLst/>
          </a:prstGeom>
          <a:noFill/>
          <a:ln/>
        </p:spPr>
        <p:txBody>
          <a:bodyPr wrap="square" lIns="0" tIns="0" rIns="0" bIns="0" rtlCol="0" anchor="ctr"/>
          <a:lstStyle/>
          <a:p>
            <a:pPr marL="0" indent="0" algn="r">
              <a:buNone/>
            </a:pPr>
            <a:r>
              <a:rPr lang="en-US" sz="1100" b="1" dirty="0">
                <a:solidFill>
                  <a:srgbClr val="2563EB"/>
                </a:solidFill>
              </a:rPr>
              <a:t>08</a:t>
            </a:r>
            <a:endParaRPr lang="en-US" sz="1100" dirty="0"/>
          </a:p>
        </p:txBody>
      </p:sp>
      <p:sp>
        <p:nvSpPr>
          <p:cNvPr id="7" name="Shape 5"/>
          <p:cNvSpPr/>
          <p:nvPr/>
        </p:nvSpPr>
        <p:spPr>
          <a:xfrm>
            <a:off x="749808" y="1298448"/>
            <a:ext cx="4315968" cy="4297680"/>
          </a:xfrm>
          <a:prstGeom prst="roundRect">
            <a:avLst>
              <a:gd name="adj" fmla="val 1702"/>
            </a:avLst>
          </a:prstGeom>
          <a:solidFill>
            <a:srgbClr val="111827"/>
          </a:solidFill>
          <a:ln w="12700">
            <a:solidFill>
              <a:srgbClr val="374151"/>
            </a:solidFill>
            <a:prstDash val="solid"/>
          </a:ln>
        </p:spPr>
        <p:txBody>
          <a:bodyPr/>
          <a:lstStyle/>
          <a:p>
            <a:endParaRPr lang="en-DE"/>
          </a:p>
        </p:txBody>
      </p:sp>
      <p:sp>
        <p:nvSpPr>
          <p:cNvPr id="8" name="Text 6"/>
          <p:cNvSpPr/>
          <p:nvPr/>
        </p:nvSpPr>
        <p:spPr>
          <a:xfrm>
            <a:off x="960120" y="1600200"/>
            <a:ext cx="3886200" cy="1737360"/>
          </a:xfrm>
          <a:prstGeom prst="rect">
            <a:avLst/>
          </a:prstGeom>
          <a:noFill/>
          <a:ln/>
        </p:spPr>
        <p:txBody>
          <a:bodyPr wrap="square" lIns="889" tIns="889" rIns="889" bIns="889" rtlCol="0" anchor="ctr">
            <a:normAutofit/>
          </a:bodyPr>
          <a:lstStyle/>
          <a:p>
            <a:pPr marL="0" indent="0">
              <a:buNone/>
            </a:pPr>
            <a:endParaRPr lang="en-US" sz="1200" dirty="0"/>
          </a:p>
        </p:txBody>
      </p:sp>
      <p:sp>
        <p:nvSpPr>
          <p:cNvPr id="9" name="Text 7"/>
          <p:cNvSpPr/>
          <p:nvPr/>
        </p:nvSpPr>
        <p:spPr>
          <a:xfrm>
            <a:off x="960120" y="3703320"/>
            <a:ext cx="731520" cy="201168"/>
          </a:xfrm>
          <a:prstGeom prst="rect">
            <a:avLst/>
          </a:prstGeom>
          <a:noFill/>
          <a:ln/>
        </p:spPr>
        <p:txBody>
          <a:bodyPr wrap="square" lIns="635" tIns="635" rIns="635" bIns="635" rtlCol="0" anchor="ctr">
            <a:normAutofit lnSpcReduction="10000"/>
          </a:bodyPr>
          <a:lstStyle/>
          <a:p>
            <a:pPr marL="0" indent="0" algn="l">
              <a:buNone/>
            </a:pPr>
            <a:endParaRPr lang="en-US" sz="1400" dirty="0"/>
          </a:p>
        </p:txBody>
      </p:sp>
      <p:sp>
        <p:nvSpPr>
          <p:cNvPr id="10" name="Text 8"/>
          <p:cNvSpPr/>
          <p:nvPr/>
        </p:nvSpPr>
        <p:spPr>
          <a:xfrm>
            <a:off x="1005840" y="4023360"/>
            <a:ext cx="3017520" cy="960120"/>
          </a:xfrm>
          <a:prstGeom prst="rect">
            <a:avLst/>
          </a:prstGeom>
          <a:noFill/>
          <a:ln/>
        </p:spPr>
        <p:txBody>
          <a:bodyPr wrap="square" lIns="381" tIns="381" rIns="381" bIns="381" rtlCol="0" anchor="ctr">
            <a:normAutofit/>
          </a:bodyPr>
          <a:lstStyle/>
          <a:p>
            <a:pPr marL="0" indent="0">
              <a:buNone/>
            </a:pPr>
            <a:endParaRPr lang="en-US" sz="1250" dirty="0"/>
          </a:p>
        </p:txBody>
      </p:sp>
      <p:sp>
        <p:nvSpPr>
          <p:cNvPr id="11" name="Text 9"/>
          <p:cNvSpPr/>
          <p:nvPr/>
        </p:nvSpPr>
        <p:spPr>
          <a:xfrm>
            <a:off x="5687568" y="1371600"/>
            <a:ext cx="1828800" cy="256032"/>
          </a:xfrm>
          <a:prstGeom prst="rect">
            <a:avLst/>
          </a:prstGeom>
          <a:noFill/>
          <a:ln/>
        </p:spPr>
        <p:txBody>
          <a:bodyPr wrap="square" lIns="635" tIns="635" rIns="635" bIns="635" rtlCol="0" anchor="ctr">
            <a:normAutofit/>
          </a:bodyPr>
          <a:lstStyle/>
          <a:p>
            <a:pPr marL="0" indent="0" algn="l">
              <a:buNone/>
            </a:pPr>
            <a:r>
              <a:rPr lang="en-US" sz="1600" b="1" dirty="0">
                <a:solidFill>
                  <a:srgbClr val="14213D"/>
                </a:solidFill>
                <a:latin typeface="Aptos" pitchFamily="34" charset="0"/>
                <a:ea typeface="Aptos" pitchFamily="34" charset="-122"/>
                <a:cs typeface="Aptos" pitchFamily="34" charset="-120"/>
              </a:rPr>
              <a:t>Observed output</a:t>
            </a:r>
            <a:endParaRPr lang="en-US" sz="1600" dirty="0"/>
          </a:p>
        </p:txBody>
      </p:sp>
      <p:sp>
        <p:nvSpPr>
          <p:cNvPr id="12" name="Shape 10"/>
          <p:cNvSpPr/>
          <p:nvPr/>
        </p:nvSpPr>
        <p:spPr>
          <a:xfrm>
            <a:off x="5715000" y="1810512"/>
            <a:ext cx="731520" cy="438912"/>
          </a:xfrm>
          <a:prstGeom prst="rect">
            <a:avLst/>
          </a:prstGeom>
          <a:solidFill>
            <a:srgbClr val="14213D"/>
          </a:solidFill>
          <a:ln w="12700">
            <a:solidFill>
              <a:srgbClr val="14213D"/>
            </a:solidFill>
            <a:prstDash val="solid"/>
          </a:ln>
        </p:spPr>
        <p:txBody>
          <a:bodyPr/>
          <a:lstStyle/>
          <a:p>
            <a:endParaRPr lang="en-DE"/>
          </a:p>
        </p:txBody>
      </p:sp>
      <p:sp>
        <p:nvSpPr>
          <p:cNvPr id="13" name="Text 11"/>
          <p:cNvSpPr/>
          <p:nvPr/>
        </p:nvSpPr>
        <p:spPr>
          <a:xfrm>
            <a:off x="5769864" y="1938528"/>
            <a:ext cx="621792" cy="128016"/>
          </a:xfrm>
          <a:prstGeom prst="rect">
            <a:avLst/>
          </a:prstGeom>
          <a:noFill/>
          <a:ln/>
        </p:spPr>
        <p:txBody>
          <a:bodyPr wrap="square" lIns="635" tIns="635" rIns="635" bIns="635" rtlCol="0" anchor="ctr">
            <a:normAutofit fontScale="92500" lnSpcReduction="20000"/>
          </a:bodyPr>
          <a:lstStyle/>
          <a:p>
            <a:pPr marL="0" indent="0" algn="ctr">
              <a:buNone/>
            </a:pPr>
            <a:r>
              <a:rPr lang="en-US" sz="1050" b="1" dirty="0">
                <a:solidFill>
                  <a:srgbClr val="FFFFFF"/>
                </a:solidFill>
                <a:latin typeface="Aptos" pitchFamily="34" charset="0"/>
                <a:ea typeface="Aptos" pitchFamily="34" charset="-122"/>
                <a:cs typeface="Aptos" pitchFamily="34" charset="-120"/>
              </a:rPr>
              <a:t>Step</a:t>
            </a:r>
            <a:endParaRPr lang="en-US" sz="1050" dirty="0"/>
          </a:p>
        </p:txBody>
      </p:sp>
      <p:sp>
        <p:nvSpPr>
          <p:cNvPr id="14" name="Shape 12"/>
          <p:cNvSpPr/>
          <p:nvPr/>
        </p:nvSpPr>
        <p:spPr>
          <a:xfrm>
            <a:off x="6446520" y="1810512"/>
            <a:ext cx="1508760" cy="438912"/>
          </a:xfrm>
          <a:prstGeom prst="rect">
            <a:avLst/>
          </a:prstGeom>
          <a:solidFill>
            <a:srgbClr val="14213D"/>
          </a:solidFill>
          <a:ln w="12700">
            <a:solidFill>
              <a:srgbClr val="14213D"/>
            </a:solidFill>
            <a:prstDash val="solid"/>
          </a:ln>
        </p:spPr>
        <p:txBody>
          <a:bodyPr/>
          <a:lstStyle/>
          <a:p>
            <a:endParaRPr lang="en-DE"/>
          </a:p>
        </p:txBody>
      </p:sp>
      <p:sp>
        <p:nvSpPr>
          <p:cNvPr id="15" name="Text 13"/>
          <p:cNvSpPr/>
          <p:nvPr/>
        </p:nvSpPr>
        <p:spPr>
          <a:xfrm>
            <a:off x="6501384" y="1938528"/>
            <a:ext cx="1399032" cy="128016"/>
          </a:xfrm>
          <a:prstGeom prst="rect">
            <a:avLst/>
          </a:prstGeom>
          <a:noFill/>
          <a:ln/>
        </p:spPr>
        <p:txBody>
          <a:bodyPr wrap="square" lIns="635" tIns="635" rIns="635" bIns="635" rtlCol="0" anchor="ctr">
            <a:normAutofit fontScale="92500" lnSpcReduction="20000"/>
          </a:bodyPr>
          <a:lstStyle/>
          <a:p>
            <a:pPr marL="0" indent="0" algn="ctr">
              <a:buNone/>
            </a:pPr>
            <a:r>
              <a:rPr lang="en-US" sz="1050" b="1" dirty="0">
                <a:solidFill>
                  <a:srgbClr val="FFFFFF"/>
                </a:solidFill>
                <a:latin typeface="Aptos" pitchFamily="34" charset="0"/>
                <a:ea typeface="Aptos" pitchFamily="34" charset="-122"/>
                <a:cs typeface="Aptos" pitchFamily="34" charset="-120"/>
              </a:rPr>
              <a:t>PE1</a:t>
            </a:r>
            <a:endParaRPr lang="en-US" sz="1050" dirty="0"/>
          </a:p>
        </p:txBody>
      </p:sp>
      <p:sp>
        <p:nvSpPr>
          <p:cNvPr id="16" name="Shape 14"/>
          <p:cNvSpPr/>
          <p:nvPr/>
        </p:nvSpPr>
        <p:spPr>
          <a:xfrm>
            <a:off x="7955280" y="1810512"/>
            <a:ext cx="1508760" cy="438912"/>
          </a:xfrm>
          <a:prstGeom prst="rect">
            <a:avLst/>
          </a:prstGeom>
          <a:solidFill>
            <a:srgbClr val="14213D"/>
          </a:solidFill>
          <a:ln w="12700">
            <a:solidFill>
              <a:srgbClr val="14213D"/>
            </a:solidFill>
            <a:prstDash val="solid"/>
          </a:ln>
        </p:spPr>
        <p:txBody>
          <a:bodyPr/>
          <a:lstStyle/>
          <a:p>
            <a:endParaRPr lang="en-DE"/>
          </a:p>
        </p:txBody>
      </p:sp>
      <p:sp>
        <p:nvSpPr>
          <p:cNvPr id="17" name="Text 15"/>
          <p:cNvSpPr/>
          <p:nvPr/>
        </p:nvSpPr>
        <p:spPr>
          <a:xfrm>
            <a:off x="8010144" y="1938528"/>
            <a:ext cx="1399032" cy="128016"/>
          </a:xfrm>
          <a:prstGeom prst="rect">
            <a:avLst/>
          </a:prstGeom>
          <a:noFill/>
          <a:ln/>
        </p:spPr>
        <p:txBody>
          <a:bodyPr wrap="square" lIns="635" tIns="635" rIns="635" bIns="635" rtlCol="0" anchor="ctr">
            <a:normAutofit fontScale="92500" lnSpcReduction="20000"/>
          </a:bodyPr>
          <a:lstStyle/>
          <a:p>
            <a:pPr marL="0" indent="0" algn="ctr">
              <a:buNone/>
            </a:pPr>
            <a:r>
              <a:rPr lang="en-US" sz="1050" b="1" dirty="0">
                <a:solidFill>
                  <a:srgbClr val="FFFFFF"/>
                </a:solidFill>
                <a:latin typeface="Aptos" pitchFamily="34" charset="0"/>
                <a:ea typeface="Aptos" pitchFamily="34" charset="-122"/>
                <a:cs typeface="Aptos" pitchFamily="34" charset="-120"/>
              </a:rPr>
              <a:t>PE2</a:t>
            </a:r>
            <a:endParaRPr lang="en-US" sz="1050" dirty="0"/>
          </a:p>
        </p:txBody>
      </p:sp>
      <p:sp>
        <p:nvSpPr>
          <p:cNvPr id="18" name="Shape 16"/>
          <p:cNvSpPr/>
          <p:nvPr/>
        </p:nvSpPr>
        <p:spPr>
          <a:xfrm>
            <a:off x="5715000" y="2249424"/>
            <a:ext cx="731520" cy="438912"/>
          </a:xfrm>
          <a:prstGeom prst="rect">
            <a:avLst/>
          </a:prstGeom>
          <a:solidFill>
            <a:srgbClr val="FFFFFF"/>
          </a:solidFill>
          <a:ln w="12700">
            <a:solidFill>
              <a:srgbClr val="D6DEE9"/>
            </a:solidFill>
            <a:prstDash val="solid"/>
          </a:ln>
        </p:spPr>
        <p:txBody>
          <a:bodyPr/>
          <a:lstStyle/>
          <a:p>
            <a:endParaRPr lang="en-DE"/>
          </a:p>
        </p:txBody>
      </p:sp>
      <p:sp>
        <p:nvSpPr>
          <p:cNvPr id="19" name="Text 17"/>
          <p:cNvSpPr/>
          <p:nvPr/>
        </p:nvSpPr>
        <p:spPr>
          <a:xfrm>
            <a:off x="5769864" y="2377440"/>
            <a:ext cx="621792" cy="128016"/>
          </a:xfrm>
          <a:prstGeom prst="rect">
            <a:avLst/>
          </a:prstGeom>
          <a:noFill/>
          <a:ln/>
        </p:spPr>
        <p:txBody>
          <a:bodyPr wrap="square" lIns="635" tIns="635" rIns="635" bIns="635" rtlCol="0" anchor="ctr">
            <a:normAutofit fontScale="92500" lnSpcReduction="20000"/>
          </a:bodyPr>
          <a:lstStyle/>
          <a:p>
            <a:pPr marL="0" indent="0" algn="ctr">
              <a:buNone/>
            </a:pPr>
            <a:r>
              <a:rPr lang="en-US" sz="1100" dirty="0">
                <a:solidFill>
                  <a:srgbClr val="1F2937"/>
                </a:solidFill>
                <a:latin typeface="Aptos" pitchFamily="34" charset="0"/>
                <a:ea typeface="Aptos" pitchFamily="34" charset="-122"/>
                <a:cs typeface="Aptos" pitchFamily="34" charset="-120"/>
              </a:rPr>
              <a:t>1</a:t>
            </a:r>
            <a:endParaRPr lang="en-US" sz="1100" dirty="0"/>
          </a:p>
        </p:txBody>
      </p:sp>
      <p:sp>
        <p:nvSpPr>
          <p:cNvPr id="20" name="Shape 18"/>
          <p:cNvSpPr/>
          <p:nvPr/>
        </p:nvSpPr>
        <p:spPr>
          <a:xfrm>
            <a:off x="6446520" y="2249424"/>
            <a:ext cx="1508760" cy="438912"/>
          </a:xfrm>
          <a:prstGeom prst="rect">
            <a:avLst/>
          </a:prstGeom>
          <a:solidFill>
            <a:srgbClr val="FFFFFF"/>
          </a:solidFill>
          <a:ln w="12700">
            <a:solidFill>
              <a:srgbClr val="D6DEE9"/>
            </a:solidFill>
            <a:prstDash val="solid"/>
          </a:ln>
        </p:spPr>
        <p:txBody>
          <a:bodyPr/>
          <a:lstStyle/>
          <a:p>
            <a:endParaRPr lang="en-DE"/>
          </a:p>
        </p:txBody>
      </p:sp>
      <p:sp>
        <p:nvSpPr>
          <p:cNvPr id="21" name="Text 19"/>
          <p:cNvSpPr/>
          <p:nvPr/>
        </p:nvSpPr>
        <p:spPr>
          <a:xfrm>
            <a:off x="6501384" y="2377440"/>
            <a:ext cx="1399032" cy="128016"/>
          </a:xfrm>
          <a:prstGeom prst="rect">
            <a:avLst/>
          </a:prstGeom>
          <a:noFill/>
          <a:ln/>
        </p:spPr>
        <p:txBody>
          <a:bodyPr wrap="square" lIns="635" tIns="635" rIns="635" bIns="635" rtlCol="0" anchor="ctr">
            <a:normAutofit fontScale="92500" lnSpcReduction="20000"/>
          </a:bodyPr>
          <a:lstStyle/>
          <a:p>
            <a:pPr marL="0" indent="0" algn="ctr">
              <a:buNone/>
            </a:pPr>
            <a:r>
              <a:rPr lang="en-US" sz="1100" dirty="0">
                <a:solidFill>
                  <a:srgbClr val="1F2937"/>
                </a:solidFill>
                <a:latin typeface="Aptos" pitchFamily="34" charset="0"/>
                <a:ea typeface="Aptos" pitchFamily="34" charset="-122"/>
                <a:cs typeface="Aptos" pitchFamily="34" charset="-120"/>
              </a:rPr>
              <a:t>v1, v2</a:t>
            </a:r>
            <a:endParaRPr lang="en-US" sz="1100" dirty="0"/>
          </a:p>
        </p:txBody>
      </p:sp>
      <p:sp>
        <p:nvSpPr>
          <p:cNvPr id="22" name="Shape 20"/>
          <p:cNvSpPr/>
          <p:nvPr/>
        </p:nvSpPr>
        <p:spPr>
          <a:xfrm>
            <a:off x="7955280" y="2249424"/>
            <a:ext cx="1508760" cy="438912"/>
          </a:xfrm>
          <a:prstGeom prst="rect">
            <a:avLst/>
          </a:prstGeom>
          <a:solidFill>
            <a:srgbClr val="FFFFFF"/>
          </a:solidFill>
          <a:ln w="12700">
            <a:solidFill>
              <a:srgbClr val="D6DEE9"/>
            </a:solidFill>
            <a:prstDash val="solid"/>
          </a:ln>
        </p:spPr>
        <p:txBody>
          <a:bodyPr/>
          <a:lstStyle/>
          <a:p>
            <a:endParaRPr lang="en-DE"/>
          </a:p>
        </p:txBody>
      </p:sp>
      <p:sp>
        <p:nvSpPr>
          <p:cNvPr id="23" name="Text 21"/>
          <p:cNvSpPr/>
          <p:nvPr/>
        </p:nvSpPr>
        <p:spPr>
          <a:xfrm>
            <a:off x="8010144" y="2377440"/>
            <a:ext cx="1399032" cy="128016"/>
          </a:xfrm>
          <a:prstGeom prst="rect">
            <a:avLst/>
          </a:prstGeom>
          <a:noFill/>
          <a:ln/>
        </p:spPr>
        <p:txBody>
          <a:bodyPr wrap="square" lIns="635" tIns="635" rIns="635" bIns="635" rtlCol="0" anchor="ctr">
            <a:normAutofit fontScale="92500" lnSpcReduction="20000"/>
          </a:bodyPr>
          <a:lstStyle/>
          <a:p>
            <a:pPr marL="0" indent="0" algn="ctr">
              <a:buNone/>
            </a:pPr>
            <a:r>
              <a:rPr lang="en-US" sz="1100" dirty="0">
                <a:solidFill>
                  <a:srgbClr val="1F2937"/>
                </a:solidFill>
                <a:latin typeface="Aptos" pitchFamily="34" charset="0"/>
                <a:ea typeface="Aptos" pitchFamily="34" charset="-122"/>
                <a:cs typeface="Aptos" pitchFamily="34" charset="-120"/>
              </a:rPr>
              <a:t>v3, v4</a:t>
            </a:r>
            <a:endParaRPr lang="en-US" sz="1100" dirty="0"/>
          </a:p>
        </p:txBody>
      </p:sp>
      <p:sp>
        <p:nvSpPr>
          <p:cNvPr id="24" name="Shape 22"/>
          <p:cNvSpPr/>
          <p:nvPr/>
        </p:nvSpPr>
        <p:spPr>
          <a:xfrm>
            <a:off x="5715000" y="2688336"/>
            <a:ext cx="731520" cy="438912"/>
          </a:xfrm>
          <a:prstGeom prst="rect">
            <a:avLst/>
          </a:prstGeom>
          <a:solidFill>
            <a:srgbClr val="EEF2FF"/>
          </a:solidFill>
          <a:ln w="12700">
            <a:solidFill>
              <a:srgbClr val="D6DEE9"/>
            </a:solidFill>
            <a:prstDash val="solid"/>
          </a:ln>
        </p:spPr>
        <p:txBody>
          <a:bodyPr/>
          <a:lstStyle/>
          <a:p>
            <a:endParaRPr lang="en-DE"/>
          </a:p>
        </p:txBody>
      </p:sp>
      <p:sp>
        <p:nvSpPr>
          <p:cNvPr id="25" name="Text 23"/>
          <p:cNvSpPr/>
          <p:nvPr/>
        </p:nvSpPr>
        <p:spPr>
          <a:xfrm>
            <a:off x="5769864" y="2816352"/>
            <a:ext cx="621792" cy="128016"/>
          </a:xfrm>
          <a:prstGeom prst="rect">
            <a:avLst/>
          </a:prstGeom>
          <a:noFill/>
          <a:ln/>
        </p:spPr>
        <p:txBody>
          <a:bodyPr wrap="square" lIns="635" tIns="635" rIns="635" bIns="635" rtlCol="0" anchor="ctr">
            <a:normAutofit fontScale="92500" lnSpcReduction="20000"/>
          </a:bodyPr>
          <a:lstStyle/>
          <a:p>
            <a:pPr marL="0" indent="0" algn="ctr">
              <a:buNone/>
            </a:pPr>
            <a:r>
              <a:rPr lang="en-US" sz="1100" dirty="0">
                <a:solidFill>
                  <a:srgbClr val="1F2937"/>
                </a:solidFill>
                <a:latin typeface="Aptos" pitchFamily="34" charset="0"/>
                <a:ea typeface="Aptos" pitchFamily="34" charset="-122"/>
                <a:cs typeface="Aptos" pitchFamily="34" charset="-120"/>
              </a:rPr>
              <a:t>2</a:t>
            </a:r>
            <a:endParaRPr lang="en-US" sz="1100" dirty="0"/>
          </a:p>
        </p:txBody>
      </p:sp>
      <p:sp>
        <p:nvSpPr>
          <p:cNvPr id="26" name="Shape 24"/>
          <p:cNvSpPr/>
          <p:nvPr/>
        </p:nvSpPr>
        <p:spPr>
          <a:xfrm>
            <a:off x="6446520" y="2688336"/>
            <a:ext cx="1508760" cy="438912"/>
          </a:xfrm>
          <a:prstGeom prst="rect">
            <a:avLst/>
          </a:prstGeom>
          <a:solidFill>
            <a:srgbClr val="EEF2FF"/>
          </a:solidFill>
          <a:ln w="12700">
            <a:solidFill>
              <a:srgbClr val="D6DEE9"/>
            </a:solidFill>
            <a:prstDash val="solid"/>
          </a:ln>
        </p:spPr>
        <p:txBody>
          <a:bodyPr/>
          <a:lstStyle/>
          <a:p>
            <a:endParaRPr lang="en-DE"/>
          </a:p>
        </p:txBody>
      </p:sp>
      <p:sp>
        <p:nvSpPr>
          <p:cNvPr id="27" name="Text 25"/>
          <p:cNvSpPr/>
          <p:nvPr/>
        </p:nvSpPr>
        <p:spPr>
          <a:xfrm>
            <a:off x="6501384" y="2816352"/>
            <a:ext cx="1399032" cy="128016"/>
          </a:xfrm>
          <a:prstGeom prst="rect">
            <a:avLst/>
          </a:prstGeom>
          <a:noFill/>
          <a:ln/>
        </p:spPr>
        <p:txBody>
          <a:bodyPr wrap="square" lIns="635" tIns="635" rIns="635" bIns="635" rtlCol="0" anchor="ctr">
            <a:normAutofit fontScale="92500" lnSpcReduction="20000"/>
          </a:bodyPr>
          <a:lstStyle/>
          <a:p>
            <a:pPr marL="0" indent="0" algn="ctr">
              <a:buNone/>
            </a:pPr>
            <a:r>
              <a:rPr lang="en-US" sz="1100" dirty="0">
                <a:solidFill>
                  <a:srgbClr val="1F2937"/>
                </a:solidFill>
                <a:latin typeface="Aptos" pitchFamily="34" charset="0"/>
                <a:ea typeface="Aptos" pitchFamily="34" charset="-122"/>
                <a:cs typeface="Aptos" pitchFamily="34" charset="-120"/>
              </a:rPr>
              <a:t>v5, v6</a:t>
            </a:r>
            <a:endParaRPr lang="en-US" sz="1100" dirty="0"/>
          </a:p>
        </p:txBody>
      </p:sp>
      <p:sp>
        <p:nvSpPr>
          <p:cNvPr id="28" name="Shape 26"/>
          <p:cNvSpPr/>
          <p:nvPr/>
        </p:nvSpPr>
        <p:spPr>
          <a:xfrm>
            <a:off x="7955280" y="2688336"/>
            <a:ext cx="1508760" cy="438912"/>
          </a:xfrm>
          <a:prstGeom prst="rect">
            <a:avLst/>
          </a:prstGeom>
          <a:solidFill>
            <a:srgbClr val="EEF2FF"/>
          </a:solidFill>
          <a:ln w="12700">
            <a:solidFill>
              <a:srgbClr val="D6DEE9"/>
            </a:solidFill>
            <a:prstDash val="solid"/>
          </a:ln>
        </p:spPr>
        <p:txBody>
          <a:bodyPr/>
          <a:lstStyle/>
          <a:p>
            <a:endParaRPr lang="en-DE"/>
          </a:p>
        </p:txBody>
      </p:sp>
      <p:sp>
        <p:nvSpPr>
          <p:cNvPr id="29" name="Text 27"/>
          <p:cNvSpPr/>
          <p:nvPr/>
        </p:nvSpPr>
        <p:spPr>
          <a:xfrm>
            <a:off x="8010144" y="2816352"/>
            <a:ext cx="1399032" cy="128016"/>
          </a:xfrm>
          <a:prstGeom prst="rect">
            <a:avLst/>
          </a:prstGeom>
          <a:noFill/>
          <a:ln/>
        </p:spPr>
        <p:txBody>
          <a:bodyPr wrap="square" lIns="635" tIns="635" rIns="635" bIns="635" rtlCol="0" anchor="ctr">
            <a:normAutofit fontScale="92500" lnSpcReduction="20000"/>
          </a:bodyPr>
          <a:lstStyle/>
          <a:p>
            <a:pPr marL="0" indent="0" algn="ctr">
              <a:buNone/>
            </a:pPr>
            <a:r>
              <a:rPr lang="en-US" sz="1100" dirty="0">
                <a:solidFill>
                  <a:srgbClr val="1F2937"/>
                </a:solidFill>
                <a:latin typeface="Aptos" pitchFamily="34" charset="0"/>
                <a:ea typeface="Aptos" pitchFamily="34" charset="-122"/>
                <a:cs typeface="Aptos" pitchFamily="34" charset="-120"/>
              </a:rPr>
              <a:t>v7, v8</a:t>
            </a:r>
            <a:endParaRPr lang="en-US" sz="1100" dirty="0"/>
          </a:p>
        </p:txBody>
      </p:sp>
      <p:sp>
        <p:nvSpPr>
          <p:cNvPr id="30" name="Shape 28"/>
          <p:cNvSpPr/>
          <p:nvPr/>
        </p:nvSpPr>
        <p:spPr>
          <a:xfrm>
            <a:off x="5715000" y="3127248"/>
            <a:ext cx="731520" cy="438912"/>
          </a:xfrm>
          <a:prstGeom prst="rect">
            <a:avLst/>
          </a:prstGeom>
          <a:solidFill>
            <a:srgbClr val="FFFFFF"/>
          </a:solidFill>
          <a:ln w="12700">
            <a:solidFill>
              <a:srgbClr val="D6DEE9"/>
            </a:solidFill>
            <a:prstDash val="solid"/>
          </a:ln>
        </p:spPr>
        <p:txBody>
          <a:bodyPr/>
          <a:lstStyle/>
          <a:p>
            <a:endParaRPr lang="en-DE"/>
          </a:p>
        </p:txBody>
      </p:sp>
      <p:sp>
        <p:nvSpPr>
          <p:cNvPr id="31" name="Text 29"/>
          <p:cNvSpPr/>
          <p:nvPr/>
        </p:nvSpPr>
        <p:spPr>
          <a:xfrm>
            <a:off x="5769864" y="3255264"/>
            <a:ext cx="621792" cy="128016"/>
          </a:xfrm>
          <a:prstGeom prst="rect">
            <a:avLst/>
          </a:prstGeom>
          <a:noFill/>
          <a:ln/>
        </p:spPr>
        <p:txBody>
          <a:bodyPr wrap="square" lIns="635" tIns="635" rIns="635" bIns="635" rtlCol="0" anchor="ctr">
            <a:normAutofit fontScale="92500" lnSpcReduction="20000"/>
          </a:bodyPr>
          <a:lstStyle/>
          <a:p>
            <a:pPr marL="0" indent="0" algn="ctr">
              <a:buNone/>
            </a:pPr>
            <a:r>
              <a:rPr lang="en-US" sz="1100" dirty="0">
                <a:solidFill>
                  <a:srgbClr val="1F2937"/>
                </a:solidFill>
                <a:latin typeface="Aptos" pitchFamily="34" charset="0"/>
                <a:ea typeface="Aptos" pitchFamily="34" charset="-122"/>
                <a:cs typeface="Aptos" pitchFamily="34" charset="-120"/>
              </a:rPr>
              <a:t>3</a:t>
            </a:r>
            <a:endParaRPr lang="en-US" sz="1100" dirty="0"/>
          </a:p>
        </p:txBody>
      </p:sp>
      <p:sp>
        <p:nvSpPr>
          <p:cNvPr id="32" name="Shape 30"/>
          <p:cNvSpPr/>
          <p:nvPr/>
        </p:nvSpPr>
        <p:spPr>
          <a:xfrm>
            <a:off x="6446520" y="3127248"/>
            <a:ext cx="1508760" cy="438912"/>
          </a:xfrm>
          <a:prstGeom prst="rect">
            <a:avLst/>
          </a:prstGeom>
          <a:solidFill>
            <a:srgbClr val="FFFFFF"/>
          </a:solidFill>
          <a:ln w="12700">
            <a:solidFill>
              <a:srgbClr val="D6DEE9"/>
            </a:solidFill>
            <a:prstDash val="solid"/>
          </a:ln>
        </p:spPr>
        <p:txBody>
          <a:bodyPr/>
          <a:lstStyle/>
          <a:p>
            <a:endParaRPr lang="en-DE"/>
          </a:p>
        </p:txBody>
      </p:sp>
      <p:sp>
        <p:nvSpPr>
          <p:cNvPr id="33" name="Text 31"/>
          <p:cNvSpPr/>
          <p:nvPr/>
        </p:nvSpPr>
        <p:spPr>
          <a:xfrm>
            <a:off x="6501384" y="3255264"/>
            <a:ext cx="1399032" cy="128016"/>
          </a:xfrm>
          <a:prstGeom prst="rect">
            <a:avLst/>
          </a:prstGeom>
          <a:noFill/>
          <a:ln/>
        </p:spPr>
        <p:txBody>
          <a:bodyPr wrap="square" lIns="635" tIns="635" rIns="635" bIns="635" rtlCol="0" anchor="ctr">
            <a:normAutofit fontScale="92500" lnSpcReduction="20000"/>
          </a:bodyPr>
          <a:lstStyle/>
          <a:p>
            <a:pPr marL="0" indent="0" algn="ctr">
              <a:buNone/>
            </a:pPr>
            <a:r>
              <a:rPr lang="en-US" sz="1100" dirty="0">
                <a:solidFill>
                  <a:srgbClr val="1F2937"/>
                </a:solidFill>
                <a:latin typeface="Aptos" pitchFamily="34" charset="0"/>
                <a:ea typeface="Aptos" pitchFamily="34" charset="-122"/>
                <a:cs typeface="Aptos" pitchFamily="34" charset="-120"/>
              </a:rPr>
              <a:t>v9, v10</a:t>
            </a:r>
            <a:endParaRPr lang="en-US" sz="1100" dirty="0"/>
          </a:p>
        </p:txBody>
      </p:sp>
      <p:sp>
        <p:nvSpPr>
          <p:cNvPr id="34" name="Shape 32"/>
          <p:cNvSpPr/>
          <p:nvPr/>
        </p:nvSpPr>
        <p:spPr>
          <a:xfrm>
            <a:off x="7955280" y="3127248"/>
            <a:ext cx="1508760" cy="438912"/>
          </a:xfrm>
          <a:prstGeom prst="rect">
            <a:avLst/>
          </a:prstGeom>
          <a:solidFill>
            <a:srgbClr val="FFFFFF"/>
          </a:solidFill>
          <a:ln w="12700">
            <a:solidFill>
              <a:srgbClr val="D6DEE9"/>
            </a:solidFill>
            <a:prstDash val="solid"/>
          </a:ln>
        </p:spPr>
        <p:txBody>
          <a:bodyPr/>
          <a:lstStyle/>
          <a:p>
            <a:endParaRPr lang="en-DE"/>
          </a:p>
        </p:txBody>
      </p:sp>
      <p:sp>
        <p:nvSpPr>
          <p:cNvPr id="35" name="Text 33"/>
          <p:cNvSpPr/>
          <p:nvPr/>
        </p:nvSpPr>
        <p:spPr>
          <a:xfrm>
            <a:off x="8010144" y="3255264"/>
            <a:ext cx="1399032" cy="128016"/>
          </a:xfrm>
          <a:prstGeom prst="rect">
            <a:avLst/>
          </a:prstGeom>
          <a:noFill/>
          <a:ln/>
        </p:spPr>
        <p:txBody>
          <a:bodyPr wrap="square" lIns="635" tIns="635" rIns="635" bIns="635" rtlCol="0" anchor="ctr">
            <a:normAutofit fontScale="92500" lnSpcReduction="20000"/>
          </a:bodyPr>
          <a:lstStyle/>
          <a:p>
            <a:pPr marL="0" indent="0" algn="ctr">
              <a:buNone/>
            </a:pPr>
            <a:r>
              <a:rPr lang="en-US" sz="1100" dirty="0">
                <a:solidFill>
                  <a:srgbClr val="1F2937"/>
                </a:solidFill>
                <a:latin typeface="Aptos" pitchFamily="34" charset="0"/>
                <a:ea typeface="Aptos" pitchFamily="34" charset="-122"/>
                <a:cs typeface="Aptos" pitchFamily="34" charset="-120"/>
              </a:rPr>
              <a:t>—</a:t>
            </a:r>
            <a:endParaRPr lang="en-US" sz="1100" dirty="0"/>
          </a:p>
        </p:txBody>
      </p:sp>
      <p:sp>
        <p:nvSpPr>
          <p:cNvPr id="36" name="Shape 34"/>
          <p:cNvSpPr/>
          <p:nvPr/>
        </p:nvSpPr>
        <p:spPr>
          <a:xfrm>
            <a:off x="5715000" y="3566160"/>
            <a:ext cx="731520" cy="438912"/>
          </a:xfrm>
          <a:prstGeom prst="rect">
            <a:avLst/>
          </a:prstGeom>
          <a:solidFill>
            <a:srgbClr val="EEF2FF"/>
          </a:solidFill>
          <a:ln w="12700">
            <a:solidFill>
              <a:srgbClr val="D6DEE9"/>
            </a:solidFill>
            <a:prstDash val="solid"/>
          </a:ln>
        </p:spPr>
        <p:txBody>
          <a:bodyPr/>
          <a:lstStyle/>
          <a:p>
            <a:endParaRPr lang="en-DE"/>
          </a:p>
        </p:txBody>
      </p:sp>
      <p:sp>
        <p:nvSpPr>
          <p:cNvPr id="37" name="Text 35"/>
          <p:cNvSpPr/>
          <p:nvPr/>
        </p:nvSpPr>
        <p:spPr>
          <a:xfrm>
            <a:off x="5769864" y="3694176"/>
            <a:ext cx="621792" cy="128016"/>
          </a:xfrm>
          <a:prstGeom prst="rect">
            <a:avLst/>
          </a:prstGeom>
          <a:noFill/>
          <a:ln/>
        </p:spPr>
        <p:txBody>
          <a:bodyPr wrap="square" lIns="635" tIns="635" rIns="635" bIns="635" rtlCol="0" anchor="ctr">
            <a:normAutofit fontScale="92500" lnSpcReduction="20000"/>
          </a:bodyPr>
          <a:lstStyle/>
          <a:p>
            <a:pPr marL="0" indent="0" algn="ctr">
              <a:buNone/>
            </a:pPr>
            <a:r>
              <a:rPr lang="en-US" sz="1100" dirty="0">
                <a:solidFill>
                  <a:srgbClr val="1F2937"/>
                </a:solidFill>
                <a:latin typeface="Aptos" pitchFamily="34" charset="0"/>
                <a:ea typeface="Aptos" pitchFamily="34" charset="-122"/>
                <a:cs typeface="Aptos" pitchFamily="34" charset="-120"/>
              </a:rPr>
              <a:t>4</a:t>
            </a:r>
            <a:endParaRPr lang="en-US" sz="1100" dirty="0"/>
          </a:p>
        </p:txBody>
      </p:sp>
      <p:sp>
        <p:nvSpPr>
          <p:cNvPr id="38" name="Shape 36"/>
          <p:cNvSpPr/>
          <p:nvPr/>
        </p:nvSpPr>
        <p:spPr>
          <a:xfrm>
            <a:off x="6446520" y="3566160"/>
            <a:ext cx="1508760" cy="438912"/>
          </a:xfrm>
          <a:prstGeom prst="rect">
            <a:avLst/>
          </a:prstGeom>
          <a:solidFill>
            <a:srgbClr val="EEF2FF"/>
          </a:solidFill>
          <a:ln w="12700">
            <a:solidFill>
              <a:srgbClr val="D6DEE9"/>
            </a:solidFill>
            <a:prstDash val="solid"/>
          </a:ln>
        </p:spPr>
        <p:txBody>
          <a:bodyPr/>
          <a:lstStyle/>
          <a:p>
            <a:endParaRPr lang="en-DE"/>
          </a:p>
        </p:txBody>
      </p:sp>
      <p:sp>
        <p:nvSpPr>
          <p:cNvPr id="39" name="Text 37"/>
          <p:cNvSpPr/>
          <p:nvPr/>
        </p:nvSpPr>
        <p:spPr>
          <a:xfrm>
            <a:off x="6501384" y="3694176"/>
            <a:ext cx="1399032" cy="128016"/>
          </a:xfrm>
          <a:prstGeom prst="rect">
            <a:avLst/>
          </a:prstGeom>
          <a:noFill/>
          <a:ln/>
        </p:spPr>
        <p:txBody>
          <a:bodyPr wrap="square" lIns="635" tIns="635" rIns="635" bIns="635" rtlCol="0" anchor="ctr">
            <a:normAutofit fontScale="92500" lnSpcReduction="20000"/>
          </a:bodyPr>
          <a:lstStyle/>
          <a:p>
            <a:pPr marL="0" indent="0" algn="ctr">
              <a:buNone/>
            </a:pPr>
            <a:r>
              <a:rPr lang="en-US" sz="1100" dirty="0">
                <a:solidFill>
                  <a:srgbClr val="1F2937"/>
                </a:solidFill>
                <a:latin typeface="Aptos" pitchFamily="34" charset="0"/>
                <a:ea typeface="Aptos" pitchFamily="34" charset="-122"/>
                <a:cs typeface="Aptos" pitchFamily="34" charset="-120"/>
              </a:rPr>
              <a:t>v11, v12</a:t>
            </a:r>
            <a:endParaRPr lang="en-US" sz="1100" dirty="0"/>
          </a:p>
        </p:txBody>
      </p:sp>
      <p:sp>
        <p:nvSpPr>
          <p:cNvPr id="40" name="Shape 38"/>
          <p:cNvSpPr/>
          <p:nvPr/>
        </p:nvSpPr>
        <p:spPr>
          <a:xfrm>
            <a:off x="7955280" y="3566160"/>
            <a:ext cx="1508760" cy="438912"/>
          </a:xfrm>
          <a:prstGeom prst="rect">
            <a:avLst/>
          </a:prstGeom>
          <a:solidFill>
            <a:srgbClr val="EEF2FF"/>
          </a:solidFill>
          <a:ln w="12700">
            <a:solidFill>
              <a:srgbClr val="D6DEE9"/>
            </a:solidFill>
            <a:prstDash val="solid"/>
          </a:ln>
        </p:spPr>
        <p:txBody>
          <a:bodyPr/>
          <a:lstStyle/>
          <a:p>
            <a:endParaRPr lang="en-DE"/>
          </a:p>
        </p:txBody>
      </p:sp>
      <p:sp>
        <p:nvSpPr>
          <p:cNvPr id="41" name="Text 39"/>
          <p:cNvSpPr/>
          <p:nvPr/>
        </p:nvSpPr>
        <p:spPr>
          <a:xfrm>
            <a:off x="8010144" y="3694176"/>
            <a:ext cx="1399032" cy="128016"/>
          </a:xfrm>
          <a:prstGeom prst="rect">
            <a:avLst/>
          </a:prstGeom>
          <a:noFill/>
          <a:ln/>
        </p:spPr>
        <p:txBody>
          <a:bodyPr wrap="square" lIns="635" tIns="635" rIns="635" bIns="635" rtlCol="0" anchor="ctr">
            <a:normAutofit fontScale="92500" lnSpcReduction="20000"/>
          </a:bodyPr>
          <a:lstStyle/>
          <a:p>
            <a:pPr marL="0" indent="0" algn="ctr">
              <a:buNone/>
            </a:pPr>
            <a:r>
              <a:rPr lang="en-US" sz="1100" dirty="0">
                <a:solidFill>
                  <a:srgbClr val="1F2937"/>
                </a:solidFill>
                <a:latin typeface="Aptos" pitchFamily="34" charset="0"/>
                <a:ea typeface="Aptos" pitchFamily="34" charset="-122"/>
                <a:cs typeface="Aptos" pitchFamily="34" charset="-120"/>
              </a:rPr>
              <a:t>—</a:t>
            </a:r>
            <a:endParaRPr lang="en-US" sz="1100" dirty="0"/>
          </a:p>
        </p:txBody>
      </p:sp>
      <p:sp>
        <p:nvSpPr>
          <p:cNvPr id="61" name="Text 3">
            <a:extLst>
              <a:ext uri="{FF2B5EF4-FFF2-40B4-BE49-F238E27FC236}">
                <a16:creationId xmlns:a16="http://schemas.microsoft.com/office/drawing/2014/main" id="{809A623F-D190-76D0-0C24-C560068605A7}"/>
              </a:ext>
            </a:extLst>
          </p:cNvPr>
          <p:cNvSpPr/>
          <p:nvPr/>
        </p:nvSpPr>
        <p:spPr>
          <a:xfrm>
            <a:off x="960120" y="1629039"/>
            <a:ext cx="4572000" cy="201168"/>
          </a:xfrm>
          <a:prstGeom prst="rect">
            <a:avLst/>
          </a:prstGeom>
          <a:noFill/>
          <a:ln/>
        </p:spPr>
        <p:txBody>
          <a:bodyPr wrap="square" rtlCol="0" anchor="ctr"/>
          <a:lstStyle/>
          <a:p>
            <a:pPr marL="0" indent="0">
              <a:buNone/>
            </a:pPr>
            <a:r>
              <a:rPr lang="en-US" sz="950" dirty="0">
                <a:solidFill>
                  <a:srgbClr val="6B7280"/>
                </a:solidFill>
                <a:latin typeface="Courier New" pitchFamily="34" charset="0"/>
                <a:ea typeface="Courier New" pitchFamily="34" charset="-122"/>
                <a:cs typeface="Courier New" pitchFamily="34" charset="-120"/>
              </a:rPr>
              <a:t>// 2×2 matrix multiply DFG scheduling</a:t>
            </a:r>
            <a:endParaRPr lang="en-US" sz="950" dirty="0"/>
          </a:p>
        </p:txBody>
      </p:sp>
      <p:sp>
        <p:nvSpPr>
          <p:cNvPr id="62" name="Text 4">
            <a:extLst>
              <a:ext uri="{FF2B5EF4-FFF2-40B4-BE49-F238E27FC236}">
                <a16:creationId xmlns:a16="http://schemas.microsoft.com/office/drawing/2014/main" id="{96BB3834-7E77-4EC4-DCAF-F47460BC6542}"/>
              </a:ext>
            </a:extLst>
          </p:cNvPr>
          <p:cNvSpPr/>
          <p:nvPr/>
        </p:nvSpPr>
        <p:spPr>
          <a:xfrm>
            <a:off x="960120" y="1811919"/>
            <a:ext cx="4572000" cy="201168"/>
          </a:xfrm>
          <a:prstGeom prst="rect">
            <a:avLst/>
          </a:prstGeom>
          <a:noFill/>
          <a:ln/>
        </p:spPr>
        <p:txBody>
          <a:bodyPr wrap="square" rtlCol="0" anchor="ctr"/>
          <a:lstStyle/>
          <a:p>
            <a:pPr marL="0" indent="0">
              <a:buNone/>
            </a:pPr>
            <a:r>
              <a:rPr lang="en-US" sz="950" dirty="0">
                <a:solidFill>
                  <a:srgbClr val="CBD5E1"/>
                </a:solidFill>
                <a:latin typeface="Courier New" pitchFamily="34" charset="0"/>
                <a:ea typeface="Courier New" pitchFamily="34" charset="-122"/>
                <a:cs typeface="Courier New" pitchFamily="34" charset="-120"/>
              </a:rPr>
              <a:t>struct Operation {</a:t>
            </a:r>
            <a:endParaRPr lang="en-US" sz="950" dirty="0"/>
          </a:p>
        </p:txBody>
      </p:sp>
      <p:sp>
        <p:nvSpPr>
          <p:cNvPr id="63" name="Text 5">
            <a:extLst>
              <a:ext uri="{FF2B5EF4-FFF2-40B4-BE49-F238E27FC236}">
                <a16:creationId xmlns:a16="http://schemas.microsoft.com/office/drawing/2014/main" id="{EE07D788-B835-FCB7-2CDF-DBE914E8D682}"/>
              </a:ext>
            </a:extLst>
          </p:cNvPr>
          <p:cNvSpPr/>
          <p:nvPr/>
        </p:nvSpPr>
        <p:spPr>
          <a:xfrm>
            <a:off x="960120" y="1994799"/>
            <a:ext cx="4572000" cy="201168"/>
          </a:xfrm>
          <a:prstGeom prst="rect">
            <a:avLst/>
          </a:prstGeom>
          <a:noFill/>
          <a:ln/>
        </p:spPr>
        <p:txBody>
          <a:bodyPr wrap="square" rtlCol="0" anchor="ctr"/>
          <a:lstStyle/>
          <a:p>
            <a:pPr marL="0" indent="0">
              <a:buNone/>
            </a:pPr>
            <a:r>
              <a:rPr lang="en-US" sz="950" dirty="0">
                <a:solidFill>
                  <a:srgbClr val="CBD5E1"/>
                </a:solidFill>
                <a:latin typeface="Courier New" pitchFamily="34" charset="0"/>
                <a:ea typeface="Courier New" pitchFamily="34" charset="-122"/>
                <a:cs typeface="Courier New" pitchFamily="34" charset="-120"/>
              </a:rPr>
              <a:t>  int id, latency, step=-1, core=-1;</a:t>
            </a:r>
            <a:endParaRPr lang="en-US" sz="950" dirty="0"/>
          </a:p>
        </p:txBody>
      </p:sp>
      <p:sp>
        <p:nvSpPr>
          <p:cNvPr id="64" name="Text 6">
            <a:extLst>
              <a:ext uri="{FF2B5EF4-FFF2-40B4-BE49-F238E27FC236}">
                <a16:creationId xmlns:a16="http://schemas.microsoft.com/office/drawing/2014/main" id="{94735E25-5DB1-72F3-6D23-AE9378CAEF8F}"/>
              </a:ext>
            </a:extLst>
          </p:cNvPr>
          <p:cNvSpPr/>
          <p:nvPr/>
        </p:nvSpPr>
        <p:spPr>
          <a:xfrm>
            <a:off x="960120" y="2177679"/>
            <a:ext cx="4572000" cy="201168"/>
          </a:xfrm>
          <a:prstGeom prst="rect">
            <a:avLst/>
          </a:prstGeom>
          <a:noFill/>
          <a:ln/>
        </p:spPr>
        <p:txBody>
          <a:bodyPr wrap="square" rtlCol="0" anchor="ctr"/>
          <a:lstStyle/>
          <a:p>
            <a:pPr marL="0" indent="0">
              <a:buNone/>
            </a:pPr>
            <a:r>
              <a:rPr lang="en-US" sz="950" dirty="0">
                <a:solidFill>
                  <a:srgbClr val="CBD5E1"/>
                </a:solidFill>
                <a:latin typeface="Courier New" pitchFamily="34" charset="0"/>
                <a:ea typeface="Courier New" pitchFamily="34" charset="-122"/>
                <a:cs typeface="Courier New" pitchFamily="34" charset="-120"/>
              </a:rPr>
              <a:t>  vector&lt;int&gt; preds;</a:t>
            </a:r>
            <a:endParaRPr lang="en-US" sz="950" dirty="0"/>
          </a:p>
        </p:txBody>
      </p:sp>
      <p:sp>
        <p:nvSpPr>
          <p:cNvPr id="65" name="Text 7">
            <a:extLst>
              <a:ext uri="{FF2B5EF4-FFF2-40B4-BE49-F238E27FC236}">
                <a16:creationId xmlns:a16="http://schemas.microsoft.com/office/drawing/2014/main" id="{6AED2E29-DD14-D463-686B-E0F6D9F1D953}"/>
              </a:ext>
            </a:extLst>
          </p:cNvPr>
          <p:cNvSpPr/>
          <p:nvPr/>
        </p:nvSpPr>
        <p:spPr>
          <a:xfrm>
            <a:off x="960120" y="2360559"/>
            <a:ext cx="4572000" cy="201168"/>
          </a:xfrm>
          <a:prstGeom prst="rect">
            <a:avLst/>
          </a:prstGeom>
          <a:noFill/>
          <a:ln/>
        </p:spPr>
        <p:txBody>
          <a:bodyPr wrap="square" rtlCol="0" anchor="ctr"/>
          <a:lstStyle/>
          <a:p>
            <a:pPr marL="0" indent="0">
              <a:buNone/>
            </a:pPr>
            <a:r>
              <a:rPr lang="en-US" sz="950" dirty="0">
                <a:solidFill>
                  <a:srgbClr val="CBD5E1"/>
                </a:solidFill>
                <a:latin typeface="Courier New" pitchFamily="34" charset="0"/>
                <a:ea typeface="Courier New" pitchFamily="34" charset="-122"/>
                <a:cs typeface="Courier New" pitchFamily="34" charset="-120"/>
              </a:rPr>
              <a:t>};</a:t>
            </a:r>
            <a:endParaRPr lang="en-US" sz="950" dirty="0"/>
          </a:p>
        </p:txBody>
      </p:sp>
      <p:sp>
        <p:nvSpPr>
          <p:cNvPr id="66" name="Text 9">
            <a:extLst>
              <a:ext uri="{FF2B5EF4-FFF2-40B4-BE49-F238E27FC236}">
                <a16:creationId xmlns:a16="http://schemas.microsoft.com/office/drawing/2014/main" id="{09149875-EBAF-9739-4982-AE4426057F8D}"/>
              </a:ext>
            </a:extLst>
          </p:cNvPr>
          <p:cNvSpPr/>
          <p:nvPr/>
        </p:nvSpPr>
        <p:spPr>
          <a:xfrm>
            <a:off x="960120" y="2726319"/>
            <a:ext cx="4572000" cy="201168"/>
          </a:xfrm>
          <a:prstGeom prst="rect">
            <a:avLst/>
          </a:prstGeom>
          <a:noFill/>
          <a:ln/>
        </p:spPr>
        <p:txBody>
          <a:bodyPr wrap="square" rtlCol="0" anchor="ctr"/>
          <a:lstStyle/>
          <a:p>
            <a:pPr marL="0" indent="0">
              <a:buNone/>
            </a:pPr>
            <a:r>
              <a:rPr lang="en-US" sz="950" dirty="0">
                <a:solidFill>
                  <a:srgbClr val="CBD5E1"/>
                </a:solidFill>
                <a:latin typeface="Courier New" pitchFamily="34" charset="0"/>
                <a:ea typeface="Courier New" pitchFamily="34" charset="-122"/>
                <a:cs typeface="Courier New" pitchFamily="34" charset="-120"/>
              </a:rPr>
              <a:t>bool predecessorsDone(op, step) {</a:t>
            </a:r>
            <a:endParaRPr lang="en-US" sz="950" dirty="0"/>
          </a:p>
        </p:txBody>
      </p:sp>
      <p:sp>
        <p:nvSpPr>
          <p:cNvPr id="67" name="Text 10">
            <a:extLst>
              <a:ext uri="{FF2B5EF4-FFF2-40B4-BE49-F238E27FC236}">
                <a16:creationId xmlns:a16="http://schemas.microsoft.com/office/drawing/2014/main" id="{61E19AA1-67FF-E56E-2E0E-BF26085FB2C5}"/>
              </a:ext>
            </a:extLst>
          </p:cNvPr>
          <p:cNvSpPr/>
          <p:nvPr/>
        </p:nvSpPr>
        <p:spPr>
          <a:xfrm>
            <a:off x="960120" y="2909199"/>
            <a:ext cx="4572000" cy="201168"/>
          </a:xfrm>
          <a:prstGeom prst="rect">
            <a:avLst/>
          </a:prstGeom>
          <a:noFill/>
          <a:ln/>
        </p:spPr>
        <p:txBody>
          <a:bodyPr wrap="square" rtlCol="0" anchor="ctr"/>
          <a:lstStyle/>
          <a:p>
            <a:pPr marL="0" indent="0">
              <a:buNone/>
            </a:pPr>
            <a:r>
              <a:rPr lang="en-US" sz="950" dirty="0">
                <a:solidFill>
                  <a:srgbClr val="CBD5E1"/>
                </a:solidFill>
                <a:latin typeface="Courier New" pitchFamily="34" charset="0"/>
                <a:ea typeface="Courier New" pitchFamily="34" charset="-122"/>
                <a:cs typeface="Courier New" pitchFamily="34" charset="-120"/>
              </a:rPr>
              <a:t>  for (int p : op.preds)</a:t>
            </a:r>
            <a:endParaRPr lang="en-US" sz="950" dirty="0"/>
          </a:p>
        </p:txBody>
      </p:sp>
      <p:sp>
        <p:nvSpPr>
          <p:cNvPr id="68" name="Text 11">
            <a:extLst>
              <a:ext uri="{FF2B5EF4-FFF2-40B4-BE49-F238E27FC236}">
                <a16:creationId xmlns:a16="http://schemas.microsoft.com/office/drawing/2014/main" id="{AA505AED-0247-82CA-DEA1-927F3968EFD9}"/>
              </a:ext>
            </a:extLst>
          </p:cNvPr>
          <p:cNvSpPr/>
          <p:nvPr/>
        </p:nvSpPr>
        <p:spPr>
          <a:xfrm>
            <a:off x="960120" y="3092079"/>
            <a:ext cx="4572000" cy="201168"/>
          </a:xfrm>
          <a:prstGeom prst="rect">
            <a:avLst/>
          </a:prstGeom>
          <a:noFill/>
          <a:ln/>
        </p:spPr>
        <p:txBody>
          <a:bodyPr wrap="square" rtlCol="0" anchor="ctr"/>
          <a:lstStyle/>
          <a:p>
            <a:pPr marL="0" indent="0">
              <a:buNone/>
            </a:pPr>
            <a:r>
              <a:rPr lang="en-US" sz="950" dirty="0">
                <a:solidFill>
                  <a:srgbClr val="CBD5E1"/>
                </a:solidFill>
                <a:latin typeface="Courier New" pitchFamily="34" charset="0"/>
                <a:ea typeface="Courier New" pitchFamily="34" charset="-122"/>
                <a:cs typeface="Courier New" pitchFamily="34" charset="-120"/>
              </a:rPr>
              <a:t>    if (ops[p].step+ops[p].latency &gt; step)</a:t>
            </a:r>
            <a:endParaRPr lang="en-US" sz="950" dirty="0"/>
          </a:p>
        </p:txBody>
      </p:sp>
      <p:sp>
        <p:nvSpPr>
          <p:cNvPr id="69" name="Text 12">
            <a:extLst>
              <a:ext uri="{FF2B5EF4-FFF2-40B4-BE49-F238E27FC236}">
                <a16:creationId xmlns:a16="http://schemas.microsoft.com/office/drawing/2014/main" id="{49F35E26-21CE-CE1D-6431-C48D9D9C07DF}"/>
              </a:ext>
            </a:extLst>
          </p:cNvPr>
          <p:cNvSpPr/>
          <p:nvPr/>
        </p:nvSpPr>
        <p:spPr>
          <a:xfrm>
            <a:off x="960120" y="3274959"/>
            <a:ext cx="4572000" cy="201168"/>
          </a:xfrm>
          <a:prstGeom prst="rect">
            <a:avLst/>
          </a:prstGeom>
          <a:noFill/>
          <a:ln/>
        </p:spPr>
        <p:txBody>
          <a:bodyPr wrap="square" rtlCol="0" anchor="ctr"/>
          <a:lstStyle/>
          <a:p>
            <a:pPr marL="0" indent="0">
              <a:buNone/>
            </a:pPr>
            <a:r>
              <a:rPr lang="en-US" sz="950" dirty="0">
                <a:solidFill>
                  <a:srgbClr val="CBD5E1"/>
                </a:solidFill>
                <a:latin typeface="Courier New" pitchFamily="34" charset="0"/>
                <a:ea typeface="Courier New" pitchFamily="34" charset="-122"/>
                <a:cs typeface="Courier New" pitchFamily="34" charset="-120"/>
              </a:rPr>
              <a:t>      return false;</a:t>
            </a:r>
            <a:endParaRPr lang="en-US" sz="950" dirty="0"/>
          </a:p>
        </p:txBody>
      </p:sp>
      <p:sp>
        <p:nvSpPr>
          <p:cNvPr id="70" name="Text 13">
            <a:extLst>
              <a:ext uri="{FF2B5EF4-FFF2-40B4-BE49-F238E27FC236}">
                <a16:creationId xmlns:a16="http://schemas.microsoft.com/office/drawing/2014/main" id="{460E5D92-DCB7-156A-D21A-C79EE87260FD}"/>
              </a:ext>
            </a:extLst>
          </p:cNvPr>
          <p:cNvSpPr/>
          <p:nvPr/>
        </p:nvSpPr>
        <p:spPr>
          <a:xfrm>
            <a:off x="960120" y="3457839"/>
            <a:ext cx="4572000" cy="201168"/>
          </a:xfrm>
          <a:prstGeom prst="rect">
            <a:avLst/>
          </a:prstGeom>
          <a:noFill/>
          <a:ln/>
        </p:spPr>
        <p:txBody>
          <a:bodyPr wrap="square" rtlCol="0" anchor="ctr"/>
          <a:lstStyle/>
          <a:p>
            <a:pPr marL="0" indent="0">
              <a:buNone/>
            </a:pPr>
            <a:r>
              <a:rPr lang="en-US" sz="950" dirty="0">
                <a:solidFill>
                  <a:srgbClr val="CBD5E1"/>
                </a:solidFill>
                <a:latin typeface="Courier New" pitchFamily="34" charset="0"/>
                <a:ea typeface="Courier New" pitchFamily="34" charset="-122"/>
                <a:cs typeface="Courier New" pitchFamily="34" charset="-120"/>
              </a:rPr>
              <a:t>  return true; }</a:t>
            </a:r>
            <a:endParaRPr lang="en-US" sz="950" dirty="0"/>
          </a:p>
        </p:txBody>
      </p:sp>
      <p:sp>
        <p:nvSpPr>
          <p:cNvPr id="71" name="Text 15">
            <a:extLst>
              <a:ext uri="{FF2B5EF4-FFF2-40B4-BE49-F238E27FC236}">
                <a16:creationId xmlns:a16="http://schemas.microsoft.com/office/drawing/2014/main" id="{9F8B4C8C-EC7C-7036-5EDD-65277F40CB3C}"/>
              </a:ext>
            </a:extLst>
          </p:cNvPr>
          <p:cNvSpPr/>
          <p:nvPr/>
        </p:nvSpPr>
        <p:spPr>
          <a:xfrm>
            <a:off x="960120" y="3823599"/>
            <a:ext cx="4572000" cy="201168"/>
          </a:xfrm>
          <a:prstGeom prst="rect">
            <a:avLst/>
          </a:prstGeom>
          <a:noFill/>
          <a:ln/>
        </p:spPr>
        <p:txBody>
          <a:bodyPr wrap="square" rtlCol="0" anchor="ctr"/>
          <a:lstStyle/>
          <a:p>
            <a:pPr marL="0" indent="0">
              <a:buNone/>
            </a:pPr>
            <a:r>
              <a:rPr lang="en-US" sz="950" dirty="0">
                <a:solidFill>
                  <a:srgbClr val="6B7280"/>
                </a:solidFill>
                <a:latin typeface="Courier New" pitchFamily="34" charset="0"/>
                <a:ea typeface="Courier New" pitchFamily="34" charset="-122"/>
                <a:cs typeface="Courier New" pitchFamily="34" charset="-120"/>
              </a:rPr>
              <a:t>// Greedy loop: assign ready ops to PE</a:t>
            </a:r>
            <a:endParaRPr lang="en-US" sz="950" dirty="0"/>
          </a:p>
        </p:txBody>
      </p:sp>
      <p:sp>
        <p:nvSpPr>
          <p:cNvPr id="72" name="Text 16">
            <a:extLst>
              <a:ext uri="{FF2B5EF4-FFF2-40B4-BE49-F238E27FC236}">
                <a16:creationId xmlns:a16="http://schemas.microsoft.com/office/drawing/2014/main" id="{ADB93A47-E671-31FC-040A-6F66503111C6}"/>
              </a:ext>
            </a:extLst>
          </p:cNvPr>
          <p:cNvSpPr/>
          <p:nvPr/>
        </p:nvSpPr>
        <p:spPr>
          <a:xfrm>
            <a:off x="960120" y="4006479"/>
            <a:ext cx="4572000" cy="201168"/>
          </a:xfrm>
          <a:prstGeom prst="rect">
            <a:avLst/>
          </a:prstGeom>
          <a:noFill/>
          <a:ln/>
        </p:spPr>
        <p:txBody>
          <a:bodyPr wrap="square" rtlCol="0" anchor="ctr"/>
          <a:lstStyle/>
          <a:p>
            <a:pPr marL="0" indent="0">
              <a:buNone/>
            </a:pPr>
            <a:r>
              <a:rPr lang="en-US" sz="950" dirty="0">
                <a:solidFill>
                  <a:srgbClr val="00BFA5"/>
                </a:solidFill>
                <a:latin typeface="Courier New" pitchFamily="34" charset="0"/>
                <a:ea typeface="Courier New" pitchFamily="34" charset="-122"/>
                <a:cs typeface="Courier New" pitchFamily="34" charset="-120"/>
              </a:rPr>
              <a:t>for (int step=1; !allScheduled(ops); step++)</a:t>
            </a:r>
            <a:endParaRPr lang="en-US" sz="950" dirty="0"/>
          </a:p>
        </p:txBody>
      </p:sp>
      <p:sp>
        <p:nvSpPr>
          <p:cNvPr id="73" name="Text 17">
            <a:extLst>
              <a:ext uri="{FF2B5EF4-FFF2-40B4-BE49-F238E27FC236}">
                <a16:creationId xmlns:a16="http://schemas.microsoft.com/office/drawing/2014/main" id="{679F210A-0DF2-DC46-7AF3-216EA640CA63}"/>
              </a:ext>
            </a:extLst>
          </p:cNvPr>
          <p:cNvSpPr/>
          <p:nvPr/>
        </p:nvSpPr>
        <p:spPr>
          <a:xfrm>
            <a:off x="960120" y="4189359"/>
            <a:ext cx="4572000" cy="201168"/>
          </a:xfrm>
          <a:prstGeom prst="rect">
            <a:avLst/>
          </a:prstGeom>
          <a:noFill/>
          <a:ln/>
        </p:spPr>
        <p:txBody>
          <a:bodyPr wrap="square" rtlCol="0" anchor="ctr"/>
          <a:lstStyle/>
          <a:p>
            <a:pPr marL="0" indent="0">
              <a:buNone/>
            </a:pPr>
            <a:r>
              <a:rPr lang="en-US" sz="950" dirty="0">
                <a:solidFill>
                  <a:srgbClr val="CBD5E1"/>
                </a:solidFill>
                <a:latin typeface="Courier New" pitchFamily="34" charset="0"/>
                <a:ea typeface="Courier New" pitchFamily="34" charset="-122"/>
                <a:cs typeface="Courier New" pitchFamily="34" charset="-120"/>
              </a:rPr>
              <a:t>  for (auto&amp; op : ops)</a:t>
            </a:r>
            <a:endParaRPr lang="en-US" sz="950" dirty="0"/>
          </a:p>
        </p:txBody>
      </p:sp>
      <p:sp>
        <p:nvSpPr>
          <p:cNvPr id="74" name="Text 18">
            <a:extLst>
              <a:ext uri="{FF2B5EF4-FFF2-40B4-BE49-F238E27FC236}">
                <a16:creationId xmlns:a16="http://schemas.microsoft.com/office/drawing/2014/main" id="{C3264F3B-1F06-AC80-4DE9-AEE12D43AE8E}"/>
              </a:ext>
            </a:extLst>
          </p:cNvPr>
          <p:cNvSpPr/>
          <p:nvPr/>
        </p:nvSpPr>
        <p:spPr>
          <a:xfrm>
            <a:off x="960120" y="4372239"/>
            <a:ext cx="4572000" cy="201168"/>
          </a:xfrm>
          <a:prstGeom prst="rect">
            <a:avLst/>
          </a:prstGeom>
          <a:noFill/>
          <a:ln/>
        </p:spPr>
        <p:txBody>
          <a:bodyPr wrap="square" rtlCol="0" anchor="ctr"/>
          <a:lstStyle/>
          <a:p>
            <a:pPr marL="0" indent="0">
              <a:buNone/>
            </a:pPr>
            <a:r>
              <a:rPr lang="en-US" sz="950" dirty="0">
                <a:solidFill>
                  <a:srgbClr val="CBD5E1"/>
                </a:solidFill>
                <a:latin typeface="Courier New" pitchFamily="34" charset="0"/>
                <a:ea typeface="Courier New" pitchFamily="34" charset="-122"/>
                <a:cs typeface="Courier New" pitchFamily="34" charset="-120"/>
              </a:rPr>
              <a:t>    if (predecessorsDone(op,step))</a:t>
            </a:r>
            <a:endParaRPr lang="en-US" sz="950" dirty="0"/>
          </a:p>
        </p:txBody>
      </p:sp>
      <p:sp>
        <p:nvSpPr>
          <p:cNvPr id="75" name="Text 19">
            <a:extLst>
              <a:ext uri="{FF2B5EF4-FFF2-40B4-BE49-F238E27FC236}">
                <a16:creationId xmlns:a16="http://schemas.microsoft.com/office/drawing/2014/main" id="{2B674C9F-80A0-22BF-66AA-C4E02412FC58}"/>
              </a:ext>
            </a:extLst>
          </p:cNvPr>
          <p:cNvSpPr/>
          <p:nvPr/>
        </p:nvSpPr>
        <p:spPr>
          <a:xfrm>
            <a:off x="960120" y="4555119"/>
            <a:ext cx="4572000" cy="201168"/>
          </a:xfrm>
          <a:prstGeom prst="rect">
            <a:avLst/>
          </a:prstGeom>
          <a:noFill/>
          <a:ln/>
        </p:spPr>
        <p:txBody>
          <a:bodyPr wrap="square" rtlCol="0" anchor="ctr"/>
          <a:lstStyle/>
          <a:p>
            <a:pPr marL="0" indent="0">
              <a:buNone/>
            </a:pPr>
            <a:r>
              <a:rPr lang="en-US" sz="950" dirty="0">
                <a:solidFill>
                  <a:srgbClr val="F59E0B"/>
                </a:solidFill>
                <a:latin typeface="Courier New" pitchFamily="34" charset="0"/>
                <a:ea typeface="Courier New" pitchFamily="34" charset="-122"/>
                <a:cs typeface="Courier New" pitchFamily="34" charset="-120"/>
              </a:rPr>
              <a:t>      assign to first PE with free FU;</a:t>
            </a:r>
            <a:endParaRPr lang="en-US" sz="950" dirty="0"/>
          </a:p>
        </p:txBody>
      </p:sp>
      <p:sp>
        <p:nvSpPr>
          <p:cNvPr id="76" name="Text 22">
            <a:extLst>
              <a:ext uri="{FF2B5EF4-FFF2-40B4-BE49-F238E27FC236}">
                <a16:creationId xmlns:a16="http://schemas.microsoft.com/office/drawing/2014/main" id="{F1D43C7D-15E0-59C9-5C8F-DFC370D4C70A}"/>
              </a:ext>
            </a:extLst>
          </p:cNvPr>
          <p:cNvSpPr/>
          <p:nvPr/>
        </p:nvSpPr>
        <p:spPr>
          <a:xfrm>
            <a:off x="5687568" y="4372239"/>
            <a:ext cx="2834640" cy="219456"/>
          </a:xfrm>
          <a:prstGeom prst="rect">
            <a:avLst/>
          </a:prstGeom>
          <a:noFill/>
          <a:ln/>
        </p:spPr>
        <p:txBody>
          <a:bodyPr wrap="square" rtlCol="0" anchor="ctr"/>
          <a:lstStyle/>
          <a:p>
            <a:pPr marL="171450" indent="-171450">
              <a:buFont typeface="Wingdings" panose="05000000000000000000" pitchFamily="2" charset="2"/>
              <a:buChar char="q"/>
            </a:pPr>
            <a:r>
              <a:rPr lang="en-US" sz="1050" dirty="0">
                <a:solidFill>
                  <a:srgbClr val="334155"/>
                </a:solidFill>
                <a:latin typeface="Calibri" pitchFamily="34" charset="0"/>
                <a:ea typeface="Calibri" pitchFamily="34" charset="-122"/>
                <a:cs typeface="Calibri" pitchFamily="34" charset="-120"/>
              </a:rPr>
              <a:t>DFG: 2×2 matrix multiply (12 ops)</a:t>
            </a:r>
            <a:endParaRPr lang="en-US" sz="1050" dirty="0"/>
          </a:p>
        </p:txBody>
      </p:sp>
      <p:sp>
        <p:nvSpPr>
          <p:cNvPr id="77" name="Text 23">
            <a:extLst>
              <a:ext uri="{FF2B5EF4-FFF2-40B4-BE49-F238E27FC236}">
                <a16:creationId xmlns:a16="http://schemas.microsoft.com/office/drawing/2014/main" id="{DC9C3696-A2DB-CE84-5E8F-1C4EAF71EDE9}"/>
              </a:ext>
            </a:extLst>
          </p:cNvPr>
          <p:cNvSpPr/>
          <p:nvPr/>
        </p:nvSpPr>
        <p:spPr>
          <a:xfrm>
            <a:off x="5687568" y="4591695"/>
            <a:ext cx="2834640" cy="219456"/>
          </a:xfrm>
          <a:prstGeom prst="rect">
            <a:avLst/>
          </a:prstGeom>
          <a:noFill/>
          <a:ln/>
        </p:spPr>
        <p:txBody>
          <a:bodyPr wrap="square" rtlCol="0" anchor="ctr"/>
          <a:lstStyle/>
          <a:p>
            <a:pPr marL="171450" indent="-171450">
              <a:buFont typeface="Wingdings" panose="05000000000000000000" pitchFamily="2" charset="2"/>
              <a:buChar char="q"/>
            </a:pPr>
            <a:r>
              <a:rPr lang="en-US" sz="1050" dirty="0">
                <a:solidFill>
                  <a:srgbClr val="334155"/>
                </a:solidFill>
                <a:latin typeface="Calibri" pitchFamily="34" charset="0"/>
                <a:ea typeface="Calibri" pitchFamily="34" charset="-122"/>
                <a:cs typeface="Calibri" pitchFamily="34" charset="-120"/>
              </a:rPr>
              <a:t>2 Processing Elements</a:t>
            </a:r>
            <a:endParaRPr lang="en-US" sz="1050" dirty="0"/>
          </a:p>
        </p:txBody>
      </p:sp>
      <p:sp>
        <p:nvSpPr>
          <p:cNvPr id="78" name="Text 24">
            <a:extLst>
              <a:ext uri="{FF2B5EF4-FFF2-40B4-BE49-F238E27FC236}">
                <a16:creationId xmlns:a16="http://schemas.microsoft.com/office/drawing/2014/main" id="{47AD1903-50BB-A73F-357D-77FD96C8F089}"/>
              </a:ext>
            </a:extLst>
          </p:cNvPr>
          <p:cNvSpPr/>
          <p:nvPr/>
        </p:nvSpPr>
        <p:spPr>
          <a:xfrm>
            <a:off x="5687568" y="4811151"/>
            <a:ext cx="2834640" cy="219456"/>
          </a:xfrm>
          <a:prstGeom prst="rect">
            <a:avLst/>
          </a:prstGeom>
          <a:noFill/>
          <a:ln/>
        </p:spPr>
        <p:txBody>
          <a:bodyPr wrap="square" rtlCol="0" anchor="ctr"/>
          <a:lstStyle/>
          <a:p>
            <a:pPr marL="171450" indent="-171450">
              <a:buFont typeface="Wingdings" panose="05000000000000000000" pitchFamily="2" charset="2"/>
              <a:buChar char="q"/>
            </a:pPr>
            <a:r>
              <a:rPr lang="en-US" sz="1050" dirty="0">
                <a:solidFill>
                  <a:srgbClr val="334155"/>
                </a:solidFill>
                <a:latin typeface="Calibri" pitchFamily="34" charset="0"/>
                <a:ea typeface="Calibri" pitchFamily="34" charset="-122"/>
                <a:cs typeface="Calibri" pitchFamily="34" charset="-120"/>
              </a:rPr>
              <a:t>2 Functional Units per PE</a:t>
            </a:r>
            <a:endParaRPr lang="en-US" sz="1050" dirty="0"/>
          </a:p>
        </p:txBody>
      </p:sp>
      <p:sp>
        <p:nvSpPr>
          <p:cNvPr id="79" name="Text 25">
            <a:extLst>
              <a:ext uri="{FF2B5EF4-FFF2-40B4-BE49-F238E27FC236}">
                <a16:creationId xmlns:a16="http://schemas.microsoft.com/office/drawing/2014/main" id="{827E1532-4D2D-E135-DA97-58497F42447D}"/>
              </a:ext>
            </a:extLst>
          </p:cNvPr>
          <p:cNvSpPr/>
          <p:nvPr/>
        </p:nvSpPr>
        <p:spPr>
          <a:xfrm>
            <a:off x="5687568" y="5030607"/>
            <a:ext cx="2834640" cy="219456"/>
          </a:xfrm>
          <a:prstGeom prst="rect">
            <a:avLst/>
          </a:prstGeom>
          <a:noFill/>
          <a:ln/>
        </p:spPr>
        <p:txBody>
          <a:bodyPr wrap="square" rtlCol="0" anchor="ctr"/>
          <a:lstStyle/>
          <a:p>
            <a:pPr marL="171450" indent="-171450">
              <a:buFont typeface="Wingdings" panose="05000000000000000000" pitchFamily="2" charset="2"/>
              <a:buChar char="q"/>
            </a:pPr>
            <a:r>
              <a:rPr lang="en-US" sz="1050" dirty="0">
                <a:solidFill>
                  <a:srgbClr val="334155"/>
                </a:solidFill>
                <a:latin typeface="Calibri" pitchFamily="34" charset="0"/>
                <a:ea typeface="Calibri" pitchFamily="34" charset="-122"/>
                <a:cs typeface="Calibri" pitchFamily="34" charset="-120"/>
              </a:rPr>
              <a:t>Multiplication: latency = 2 cycles</a:t>
            </a:r>
            <a:endParaRPr lang="en-US" sz="1050" dirty="0"/>
          </a:p>
        </p:txBody>
      </p:sp>
      <p:sp>
        <p:nvSpPr>
          <p:cNvPr id="80" name="Text 26">
            <a:extLst>
              <a:ext uri="{FF2B5EF4-FFF2-40B4-BE49-F238E27FC236}">
                <a16:creationId xmlns:a16="http://schemas.microsoft.com/office/drawing/2014/main" id="{9F942A67-67E8-1693-2227-8A492B177736}"/>
              </a:ext>
            </a:extLst>
          </p:cNvPr>
          <p:cNvSpPr/>
          <p:nvPr/>
        </p:nvSpPr>
        <p:spPr>
          <a:xfrm>
            <a:off x="5687568" y="5250063"/>
            <a:ext cx="2834640" cy="219456"/>
          </a:xfrm>
          <a:prstGeom prst="rect">
            <a:avLst/>
          </a:prstGeom>
          <a:noFill/>
          <a:ln/>
        </p:spPr>
        <p:txBody>
          <a:bodyPr wrap="square" rtlCol="0" anchor="ctr"/>
          <a:lstStyle/>
          <a:p>
            <a:pPr marL="171450" indent="-171450">
              <a:buFont typeface="Wingdings" panose="05000000000000000000" pitchFamily="2" charset="2"/>
              <a:buChar char="q"/>
            </a:pPr>
            <a:r>
              <a:rPr lang="en-US" sz="1050" dirty="0">
                <a:solidFill>
                  <a:srgbClr val="334155"/>
                </a:solidFill>
                <a:latin typeface="Calibri" pitchFamily="34" charset="0"/>
                <a:ea typeface="Calibri" pitchFamily="34" charset="-122"/>
                <a:cs typeface="Calibri" pitchFamily="34" charset="-120"/>
              </a:rPr>
              <a:t>Addition: latency = 1 cycle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7FAFC"/>
        </a:solidFill>
        <a:effectLst/>
      </p:bgPr>
    </p:bg>
    <p:spTree>
      <p:nvGrpSpPr>
        <p:cNvPr id="1" name=""/>
        <p:cNvGrpSpPr/>
        <p:nvPr/>
      </p:nvGrpSpPr>
      <p:grpSpPr>
        <a:xfrm>
          <a:off x="0" y="0"/>
          <a:ext cx="0" cy="0"/>
          <a:chOff x="0" y="0"/>
          <a:chExt cx="0" cy="0"/>
        </a:xfrm>
      </p:grpSpPr>
      <p:sp>
        <p:nvSpPr>
          <p:cNvPr id="3" name="Text 1"/>
          <p:cNvSpPr/>
          <p:nvPr/>
        </p:nvSpPr>
        <p:spPr>
          <a:xfrm>
            <a:off x="502920" y="310896"/>
            <a:ext cx="7863840" cy="438912"/>
          </a:xfrm>
          <a:prstGeom prst="rect">
            <a:avLst/>
          </a:prstGeom>
          <a:noFill/>
          <a:ln/>
        </p:spPr>
        <p:txBody>
          <a:bodyPr wrap="square" lIns="0" tIns="0" rIns="0" bIns="0" rtlCol="0" anchor="ctr"/>
          <a:lstStyle/>
          <a:p>
            <a:pPr marL="0" indent="0">
              <a:buNone/>
            </a:pPr>
            <a:r>
              <a:rPr lang="en-US" sz="2500" b="1" dirty="0">
                <a:solidFill>
                  <a:srgbClr val="14213D"/>
                </a:solidFill>
                <a:latin typeface="Aptos Display" pitchFamily="34" charset="0"/>
                <a:ea typeface="Aptos Display" pitchFamily="34" charset="-122"/>
                <a:cs typeface="Aptos Display" pitchFamily="34" charset="-120"/>
              </a:rPr>
              <a:t>2×2 Example: Communication-Aware Partitioning</a:t>
            </a:r>
            <a:endParaRPr lang="en-US" sz="2500" dirty="0"/>
          </a:p>
        </p:txBody>
      </p:sp>
      <p:sp>
        <p:nvSpPr>
          <p:cNvPr id="4" name="Text 2"/>
          <p:cNvSpPr/>
          <p:nvPr/>
        </p:nvSpPr>
        <p:spPr>
          <a:xfrm>
            <a:off x="512064" y="804672"/>
            <a:ext cx="10789920" cy="274320"/>
          </a:xfrm>
          <a:prstGeom prst="rect">
            <a:avLst/>
          </a:prstGeom>
          <a:noFill/>
          <a:ln/>
        </p:spPr>
        <p:txBody>
          <a:bodyPr wrap="square" lIns="0" tIns="0" rIns="0" bIns="0" rtlCol="0" anchor="ctr"/>
          <a:lstStyle/>
          <a:p>
            <a:pPr marL="0" indent="0">
              <a:buNone/>
            </a:pPr>
            <a:r>
              <a:rPr lang="en-US" sz="1050" dirty="0">
                <a:solidFill>
                  <a:srgbClr val="6B7280"/>
                </a:solidFill>
              </a:rPr>
              <a:t>For the 2×2 matrix product, row-based partitioning removes inter-PE data transfers.</a:t>
            </a:r>
            <a:endParaRPr lang="en-US" sz="1050" dirty="0"/>
          </a:p>
        </p:txBody>
      </p:sp>
      <p:sp>
        <p:nvSpPr>
          <p:cNvPr id="5" name="Text 3"/>
          <p:cNvSpPr/>
          <p:nvPr/>
        </p:nvSpPr>
        <p:spPr>
          <a:xfrm>
            <a:off x="512064" y="6537960"/>
            <a:ext cx="4846320" cy="164592"/>
          </a:xfrm>
          <a:prstGeom prst="rect">
            <a:avLst/>
          </a:prstGeom>
          <a:noFill/>
          <a:ln/>
        </p:spPr>
        <p:txBody>
          <a:bodyPr wrap="square" lIns="0" tIns="0" rIns="0" bIns="0" rtlCol="0" anchor="ctr"/>
          <a:lstStyle/>
          <a:p>
            <a:pPr marL="0" indent="0">
              <a:buNone/>
            </a:pPr>
            <a:r>
              <a:rPr lang="en-US" sz="850" dirty="0">
                <a:solidFill>
                  <a:srgbClr val="6B7280"/>
                </a:solidFill>
              </a:rPr>
              <a:t>High-Level Synthesis for Multi-Core Systems</a:t>
            </a:r>
            <a:endParaRPr lang="en-US" sz="850" dirty="0"/>
          </a:p>
        </p:txBody>
      </p:sp>
      <p:sp>
        <p:nvSpPr>
          <p:cNvPr id="6" name="Text 4"/>
          <p:cNvSpPr/>
          <p:nvPr/>
        </p:nvSpPr>
        <p:spPr>
          <a:xfrm>
            <a:off x="11183112" y="6473952"/>
            <a:ext cx="502920" cy="256032"/>
          </a:xfrm>
          <a:prstGeom prst="rect">
            <a:avLst/>
          </a:prstGeom>
          <a:noFill/>
          <a:ln/>
        </p:spPr>
        <p:txBody>
          <a:bodyPr wrap="square" lIns="0" tIns="0" rIns="0" bIns="0" rtlCol="0" anchor="ctr"/>
          <a:lstStyle/>
          <a:p>
            <a:pPr marL="0" indent="0" algn="r">
              <a:buNone/>
            </a:pPr>
            <a:r>
              <a:rPr lang="en-US" sz="1100" b="1" dirty="0">
                <a:solidFill>
                  <a:srgbClr val="2563EB"/>
                </a:solidFill>
              </a:rPr>
              <a:t>09</a:t>
            </a:r>
            <a:endParaRPr lang="en-US" sz="1100" dirty="0"/>
          </a:p>
        </p:txBody>
      </p:sp>
      <p:sp>
        <p:nvSpPr>
          <p:cNvPr id="7" name="Shape 5"/>
          <p:cNvSpPr/>
          <p:nvPr/>
        </p:nvSpPr>
        <p:spPr>
          <a:xfrm>
            <a:off x="777240" y="1325880"/>
            <a:ext cx="5074920" cy="4297680"/>
          </a:xfrm>
          <a:prstGeom prst="roundRect">
            <a:avLst>
              <a:gd name="adj" fmla="val 1702"/>
            </a:avLst>
          </a:prstGeom>
          <a:solidFill>
            <a:srgbClr val="FFFFFF"/>
          </a:solidFill>
          <a:ln w="12700">
            <a:solidFill>
              <a:srgbClr val="D6DEE9"/>
            </a:solidFill>
            <a:prstDash val="solid"/>
          </a:ln>
        </p:spPr>
        <p:txBody>
          <a:bodyPr/>
          <a:lstStyle/>
          <a:p>
            <a:endParaRPr lang="en-DE"/>
          </a:p>
        </p:txBody>
      </p:sp>
      <p:sp>
        <p:nvSpPr>
          <p:cNvPr id="8" name="Text 6"/>
          <p:cNvSpPr/>
          <p:nvPr/>
        </p:nvSpPr>
        <p:spPr>
          <a:xfrm>
            <a:off x="1051560" y="1600200"/>
            <a:ext cx="2011680" cy="237744"/>
          </a:xfrm>
          <a:prstGeom prst="rect">
            <a:avLst/>
          </a:prstGeom>
          <a:noFill/>
          <a:ln/>
        </p:spPr>
        <p:txBody>
          <a:bodyPr wrap="square" lIns="635" tIns="635" rIns="635" bIns="635" rtlCol="0" anchor="ctr">
            <a:normAutofit lnSpcReduction="10000"/>
          </a:bodyPr>
          <a:lstStyle/>
          <a:p>
            <a:pPr marL="0" indent="0" algn="l">
              <a:buNone/>
            </a:pPr>
            <a:r>
              <a:rPr lang="en-US" sz="1600" b="1" dirty="0">
                <a:solidFill>
                  <a:srgbClr val="14213D"/>
                </a:solidFill>
                <a:latin typeface="Aptos" pitchFamily="34" charset="0"/>
                <a:ea typeface="Aptos" pitchFamily="34" charset="-122"/>
                <a:cs typeface="Aptos" pitchFamily="34" charset="-120"/>
              </a:rPr>
              <a:t>Row-based partition</a:t>
            </a:r>
            <a:endParaRPr lang="en-US" sz="1600" dirty="0"/>
          </a:p>
        </p:txBody>
      </p:sp>
      <p:sp>
        <p:nvSpPr>
          <p:cNvPr id="9" name="Shape 7"/>
          <p:cNvSpPr/>
          <p:nvPr/>
        </p:nvSpPr>
        <p:spPr>
          <a:xfrm>
            <a:off x="1143000" y="2148840"/>
            <a:ext cx="1645920" cy="749808"/>
          </a:xfrm>
          <a:prstGeom prst="roundRect">
            <a:avLst>
              <a:gd name="adj" fmla="val 9756"/>
            </a:avLst>
          </a:prstGeom>
          <a:solidFill>
            <a:srgbClr val="DBEAFE"/>
          </a:solidFill>
          <a:ln w="12700">
            <a:solidFill>
              <a:srgbClr val="2563EB"/>
            </a:solidFill>
            <a:prstDash val="solid"/>
          </a:ln>
        </p:spPr>
        <p:txBody>
          <a:bodyPr/>
          <a:lstStyle/>
          <a:p>
            <a:endParaRPr lang="en-DE"/>
          </a:p>
        </p:txBody>
      </p:sp>
      <p:sp>
        <p:nvSpPr>
          <p:cNvPr id="10" name="Text 8"/>
          <p:cNvSpPr/>
          <p:nvPr/>
        </p:nvSpPr>
        <p:spPr>
          <a:xfrm>
            <a:off x="1417320" y="2267712"/>
            <a:ext cx="1097280" cy="310896"/>
          </a:xfrm>
          <a:prstGeom prst="rect">
            <a:avLst/>
          </a:prstGeom>
          <a:noFill/>
          <a:ln/>
        </p:spPr>
        <p:txBody>
          <a:bodyPr wrap="square" lIns="635" tIns="635" rIns="635" bIns="635" rtlCol="0" anchor="ctr">
            <a:normAutofit fontScale="92500" lnSpcReduction="20000"/>
          </a:bodyPr>
          <a:lstStyle/>
          <a:p>
            <a:pPr marL="0" indent="0" algn="ctr">
              <a:buNone/>
            </a:pPr>
            <a:r>
              <a:rPr lang="en-US" sz="1300" b="1" dirty="0">
                <a:solidFill>
                  <a:srgbClr val="1F2937"/>
                </a:solidFill>
                <a:latin typeface="Aptos" pitchFamily="34" charset="0"/>
                <a:ea typeface="Aptos" pitchFamily="34" charset="-122"/>
                <a:cs typeface="Aptos" pitchFamily="34" charset="-120"/>
              </a:rPr>
              <a:t>P1</a:t>
            </a:r>
            <a:endParaRPr lang="en-US" sz="1300" dirty="0"/>
          </a:p>
          <a:p>
            <a:pPr marL="0" indent="0" algn="ctr">
              <a:buNone/>
            </a:pPr>
            <a:r>
              <a:rPr lang="en-US" sz="1300" b="1" dirty="0">
                <a:solidFill>
                  <a:srgbClr val="1F2937"/>
                </a:solidFill>
                <a:latin typeface="Aptos" pitchFamily="34" charset="0"/>
                <a:ea typeface="Aptos" pitchFamily="34" charset="-122"/>
                <a:cs typeface="Aptos" pitchFamily="34" charset="-120"/>
              </a:rPr>
              <a:t>row 0 of C</a:t>
            </a:r>
            <a:endParaRPr lang="en-US" sz="1300" dirty="0"/>
          </a:p>
        </p:txBody>
      </p:sp>
      <p:sp>
        <p:nvSpPr>
          <p:cNvPr id="11" name="Shape 9"/>
          <p:cNvSpPr/>
          <p:nvPr/>
        </p:nvSpPr>
        <p:spPr>
          <a:xfrm>
            <a:off x="3611880" y="2148840"/>
            <a:ext cx="1645920" cy="749808"/>
          </a:xfrm>
          <a:prstGeom prst="roundRect">
            <a:avLst>
              <a:gd name="adj" fmla="val 9756"/>
            </a:avLst>
          </a:prstGeom>
          <a:solidFill>
            <a:srgbClr val="D1FAE5"/>
          </a:solidFill>
          <a:ln w="12700">
            <a:solidFill>
              <a:srgbClr val="10B981"/>
            </a:solidFill>
            <a:prstDash val="solid"/>
          </a:ln>
        </p:spPr>
        <p:txBody>
          <a:bodyPr/>
          <a:lstStyle/>
          <a:p>
            <a:endParaRPr lang="en-DE"/>
          </a:p>
        </p:txBody>
      </p:sp>
      <p:sp>
        <p:nvSpPr>
          <p:cNvPr id="12" name="Text 10"/>
          <p:cNvSpPr/>
          <p:nvPr/>
        </p:nvSpPr>
        <p:spPr>
          <a:xfrm>
            <a:off x="3886200" y="2267712"/>
            <a:ext cx="1097280" cy="310896"/>
          </a:xfrm>
          <a:prstGeom prst="rect">
            <a:avLst/>
          </a:prstGeom>
          <a:noFill/>
          <a:ln/>
        </p:spPr>
        <p:txBody>
          <a:bodyPr wrap="square" lIns="635" tIns="635" rIns="635" bIns="635" rtlCol="0" anchor="ctr">
            <a:normAutofit fontScale="92500" lnSpcReduction="20000"/>
          </a:bodyPr>
          <a:lstStyle/>
          <a:p>
            <a:pPr marL="0" indent="0" algn="ctr">
              <a:buNone/>
            </a:pPr>
            <a:r>
              <a:rPr lang="en-US" sz="1300" b="1" dirty="0">
                <a:solidFill>
                  <a:srgbClr val="1F2937"/>
                </a:solidFill>
                <a:latin typeface="Aptos" pitchFamily="34" charset="0"/>
                <a:ea typeface="Aptos" pitchFamily="34" charset="-122"/>
                <a:cs typeface="Aptos" pitchFamily="34" charset="-120"/>
              </a:rPr>
              <a:t>P2</a:t>
            </a:r>
            <a:endParaRPr lang="en-US" sz="1300" dirty="0"/>
          </a:p>
          <a:p>
            <a:pPr marL="0" indent="0" algn="ctr">
              <a:buNone/>
            </a:pPr>
            <a:r>
              <a:rPr lang="en-US" sz="1300" b="1" dirty="0">
                <a:solidFill>
                  <a:srgbClr val="1F2937"/>
                </a:solidFill>
                <a:latin typeface="Aptos" pitchFamily="34" charset="0"/>
                <a:ea typeface="Aptos" pitchFamily="34" charset="-122"/>
                <a:cs typeface="Aptos" pitchFamily="34" charset="-120"/>
              </a:rPr>
              <a:t>row 1 of C</a:t>
            </a:r>
            <a:endParaRPr lang="en-US" sz="1300" dirty="0"/>
          </a:p>
        </p:txBody>
      </p:sp>
      <p:sp>
        <p:nvSpPr>
          <p:cNvPr id="13" name="Shape 11"/>
          <p:cNvSpPr/>
          <p:nvPr/>
        </p:nvSpPr>
        <p:spPr>
          <a:xfrm>
            <a:off x="1938528" y="3063240"/>
            <a:ext cx="0" cy="685800"/>
          </a:xfrm>
          <a:prstGeom prst="line">
            <a:avLst/>
          </a:prstGeom>
          <a:noFill/>
          <a:ln w="19050">
            <a:solidFill>
              <a:srgbClr val="2563EB"/>
            </a:solidFill>
            <a:prstDash val="solid"/>
            <a:headEnd type="none"/>
            <a:tailEnd type="triangle"/>
          </a:ln>
        </p:spPr>
        <p:txBody>
          <a:bodyPr/>
          <a:lstStyle/>
          <a:p>
            <a:endParaRPr lang="en-DE"/>
          </a:p>
        </p:txBody>
      </p:sp>
      <p:sp>
        <p:nvSpPr>
          <p:cNvPr id="14" name="Shape 12"/>
          <p:cNvSpPr/>
          <p:nvPr/>
        </p:nvSpPr>
        <p:spPr>
          <a:xfrm>
            <a:off x="4407408" y="3063240"/>
            <a:ext cx="0" cy="685800"/>
          </a:xfrm>
          <a:prstGeom prst="line">
            <a:avLst/>
          </a:prstGeom>
          <a:noFill/>
          <a:ln w="19050">
            <a:solidFill>
              <a:srgbClr val="10B981"/>
            </a:solidFill>
            <a:prstDash val="solid"/>
            <a:headEnd type="none"/>
            <a:tailEnd type="triangle"/>
          </a:ln>
        </p:spPr>
        <p:txBody>
          <a:bodyPr/>
          <a:lstStyle/>
          <a:p>
            <a:endParaRPr lang="en-DE"/>
          </a:p>
        </p:txBody>
      </p:sp>
      <p:sp>
        <p:nvSpPr>
          <p:cNvPr id="15" name="Text 13"/>
          <p:cNvSpPr/>
          <p:nvPr/>
        </p:nvSpPr>
        <p:spPr>
          <a:xfrm>
            <a:off x="960120" y="3977640"/>
            <a:ext cx="2011680" cy="201168"/>
          </a:xfrm>
          <a:prstGeom prst="rect">
            <a:avLst/>
          </a:prstGeom>
          <a:noFill/>
          <a:ln/>
        </p:spPr>
        <p:txBody>
          <a:bodyPr wrap="square" lIns="635" tIns="635" rIns="635" bIns="635" rtlCol="0" anchor="ctr">
            <a:normAutofit/>
          </a:bodyPr>
          <a:lstStyle/>
          <a:p>
            <a:pPr marL="0" indent="0" algn="ctr">
              <a:buNone/>
            </a:pPr>
            <a:r>
              <a:rPr lang="en-US" sz="1000" dirty="0">
                <a:solidFill>
                  <a:srgbClr val="2563EB"/>
                </a:solidFill>
                <a:latin typeface="Aptos" pitchFamily="34" charset="0"/>
                <a:ea typeface="Aptos" pitchFamily="34" charset="-122"/>
                <a:cs typeface="Aptos" pitchFamily="34" charset="-120"/>
              </a:rPr>
              <a:t>{v1,v2,v3,v4,v9,v10}</a:t>
            </a:r>
            <a:endParaRPr lang="en-US" sz="1000" dirty="0"/>
          </a:p>
        </p:txBody>
      </p:sp>
      <p:sp>
        <p:nvSpPr>
          <p:cNvPr id="16" name="Text 14"/>
          <p:cNvSpPr/>
          <p:nvPr/>
        </p:nvSpPr>
        <p:spPr>
          <a:xfrm>
            <a:off x="3429000" y="3977640"/>
            <a:ext cx="2011680" cy="201168"/>
          </a:xfrm>
          <a:prstGeom prst="rect">
            <a:avLst/>
          </a:prstGeom>
          <a:noFill/>
          <a:ln/>
        </p:spPr>
        <p:txBody>
          <a:bodyPr wrap="square" lIns="635" tIns="635" rIns="635" bIns="635" rtlCol="0" anchor="ctr">
            <a:normAutofit/>
          </a:bodyPr>
          <a:lstStyle/>
          <a:p>
            <a:pPr marL="0" indent="0" algn="ctr">
              <a:buNone/>
            </a:pPr>
            <a:r>
              <a:rPr lang="en-US" sz="1000" dirty="0">
                <a:solidFill>
                  <a:srgbClr val="10B981"/>
                </a:solidFill>
                <a:latin typeface="Aptos" pitchFamily="34" charset="0"/>
                <a:ea typeface="Aptos" pitchFamily="34" charset="-122"/>
                <a:cs typeface="Aptos" pitchFamily="34" charset="-120"/>
              </a:rPr>
              <a:t>{v5,v6,v7,v8,v11,v12}</a:t>
            </a:r>
            <a:endParaRPr lang="en-US" sz="1000" dirty="0"/>
          </a:p>
        </p:txBody>
      </p:sp>
      <p:sp>
        <p:nvSpPr>
          <p:cNvPr id="17" name="Shape 15"/>
          <p:cNvSpPr/>
          <p:nvPr/>
        </p:nvSpPr>
        <p:spPr>
          <a:xfrm>
            <a:off x="2286000" y="4617720"/>
            <a:ext cx="1600200" cy="310896"/>
          </a:xfrm>
          <a:prstGeom prst="roundRect">
            <a:avLst>
              <a:gd name="adj" fmla="val 23529"/>
            </a:avLst>
          </a:prstGeom>
          <a:solidFill>
            <a:srgbClr val="EDE9FE"/>
          </a:solidFill>
          <a:ln w="12700">
            <a:solidFill>
              <a:srgbClr val="EDE9FE">
                <a:alpha val="0"/>
              </a:srgbClr>
            </a:solidFill>
            <a:prstDash val="solid"/>
          </a:ln>
        </p:spPr>
        <p:txBody>
          <a:bodyPr/>
          <a:lstStyle/>
          <a:p>
            <a:endParaRPr lang="en-DE"/>
          </a:p>
        </p:txBody>
      </p:sp>
      <p:sp>
        <p:nvSpPr>
          <p:cNvPr id="18" name="Text 16"/>
          <p:cNvSpPr/>
          <p:nvPr/>
        </p:nvSpPr>
        <p:spPr>
          <a:xfrm>
            <a:off x="2359152" y="4681728"/>
            <a:ext cx="1453896" cy="146304"/>
          </a:xfrm>
          <a:prstGeom prst="rect">
            <a:avLst/>
          </a:prstGeom>
          <a:noFill/>
          <a:ln/>
        </p:spPr>
        <p:txBody>
          <a:bodyPr wrap="square" lIns="0" tIns="0" rIns="0" bIns="0" rtlCol="0" anchor="ctr"/>
          <a:lstStyle/>
          <a:p>
            <a:pPr marL="0" indent="0" algn="ctr">
              <a:buNone/>
            </a:pPr>
            <a:r>
              <a:rPr lang="en-US" sz="850" b="1" dirty="0">
                <a:solidFill>
                  <a:srgbClr val="7C3AED"/>
                </a:solidFill>
              </a:rPr>
              <a:t>δᵢⱼ = 0 for all edges</a:t>
            </a:r>
            <a:endParaRPr lang="en-US" sz="850" dirty="0"/>
          </a:p>
        </p:txBody>
      </p:sp>
      <p:sp>
        <p:nvSpPr>
          <p:cNvPr id="19" name="Text 17"/>
          <p:cNvSpPr/>
          <p:nvPr/>
        </p:nvSpPr>
        <p:spPr>
          <a:xfrm>
            <a:off x="6400800" y="1417320"/>
            <a:ext cx="2011680" cy="256032"/>
          </a:xfrm>
          <a:prstGeom prst="rect">
            <a:avLst/>
          </a:prstGeom>
          <a:noFill/>
          <a:ln/>
        </p:spPr>
        <p:txBody>
          <a:bodyPr wrap="square" lIns="635" tIns="635" rIns="635" bIns="635" rtlCol="0" anchor="ctr">
            <a:normAutofit/>
          </a:bodyPr>
          <a:lstStyle/>
          <a:p>
            <a:pPr marL="0" indent="0" algn="l">
              <a:buNone/>
            </a:pPr>
            <a:r>
              <a:rPr lang="en-US" sz="1600" b="1" dirty="0">
                <a:solidFill>
                  <a:srgbClr val="14213D"/>
                </a:solidFill>
                <a:latin typeface="Aptos" pitchFamily="34" charset="0"/>
                <a:ea typeface="Aptos" pitchFamily="34" charset="-122"/>
                <a:cs typeface="Aptos" pitchFamily="34" charset="-120"/>
              </a:rPr>
              <a:t>Two-core schedule</a:t>
            </a:r>
            <a:endParaRPr lang="en-US" sz="1600" dirty="0"/>
          </a:p>
        </p:txBody>
      </p:sp>
      <p:sp>
        <p:nvSpPr>
          <p:cNvPr id="21" name="Text 19"/>
          <p:cNvSpPr/>
          <p:nvPr/>
        </p:nvSpPr>
        <p:spPr>
          <a:xfrm>
            <a:off x="6473952" y="2011680"/>
            <a:ext cx="667512" cy="137160"/>
          </a:xfrm>
          <a:prstGeom prst="rect">
            <a:avLst/>
          </a:prstGeom>
          <a:noFill/>
          <a:ln/>
        </p:spPr>
        <p:txBody>
          <a:bodyPr wrap="square" lIns="635" tIns="635" rIns="635" bIns="635" rtlCol="0" anchor="ctr">
            <a:normAutofit fontScale="92500" lnSpcReduction="20000"/>
          </a:bodyPr>
          <a:lstStyle/>
          <a:p>
            <a:pPr marL="0" indent="0" algn="ctr">
              <a:buNone/>
            </a:pPr>
            <a:r>
              <a:rPr lang="en-US" sz="1050" b="1" dirty="0">
                <a:solidFill>
                  <a:srgbClr val="FFFFFF"/>
                </a:solidFill>
                <a:latin typeface="Aptos" pitchFamily="34" charset="0"/>
                <a:ea typeface="Aptos" pitchFamily="34" charset="-122"/>
                <a:cs typeface="Aptos" pitchFamily="34" charset="-120"/>
              </a:rPr>
              <a:t>Step</a:t>
            </a:r>
            <a:endParaRPr lang="en-US" sz="1050" dirty="0"/>
          </a:p>
        </p:txBody>
      </p:sp>
      <p:sp>
        <p:nvSpPr>
          <p:cNvPr id="23" name="Text 21"/>
          <p:cNvSpPr/>
          <p:nvPr/>
        </p:nvSpPr>
        <p:spPr>
          <a:xfrm>
            <a:off x="7251192" y="2011680"/>
            <a:ext cx="1399032" cy="137160"/>
          </a:xfrm>
          <a:prstGeom prst="rect">
            <a:avLst/>
          </a:prstGeom>
          <a:noFill/>
          <a:ln/>
        </p:spPr>
        <p:txBody>
          <a:bodyPr wrap="square" lIns="635" tIns="635" rIns="635" bIns="635" rtlCol="0" anchor="ctr">
            <a:normAutofit fontScale="92500" lnSpcReduction="20000"/>
          </a:bodyPr>
          <a:lstStyle/>
          <a:p>
            <a:pPr marL="0" indent="0" algn="ctr">
              <a:buNone/>
            </a:pPr>
            <a:r>
              <a:rPr lang="en-US" sz="1050" b="1" dirty="0">
                <a:solidFill>
                  <a:srgbClr val="FFFFFF"/>
                </a:solidFill>
                <a:latin typeface="Aptos" pitchFamily="34" charset="0"/>
                <a:ea typeface="Aptos" pitchFamily="34" charset="-122"/>
                <a:cs typeface="Aptos" pitchFamily="34" charset="-120"/>
              </a:rPr>
              <a:t>P1</a:t>
            </a:r>
            <a:endParaRPr lang="en-US" sz="1050" dirty="0"/>
          </a:p>
        </p:txBody>
      </p:sp>
      <p:sp>
        <p:nvSpPr>
          <p:cNvPr id="25" name="Text 23"/>
          <p:cNvSpPr/>
          <p:nvPr/>
        </p:nvSpPr>
        <p:spPr>
          <a:xfrm>
            <a:off x="8759952" y="2011680"/>
            <a:ext cx="1399032" cy="137160"/>
          </a:xfrm>
          <a:prstGeom prst="rect">
            <a:avLst/>
          </a:prstGeom>
          <a:noFill/>
          <a:ln/>
        </p:spPr>
        <p:txBody>
          <a:bodyPr wrap="square" lIns="635" tIns="635" rIns="635" bIns="635" rtlCol="0" anchor="ctr">
            <a:normAutofit fontScale="92500" lnSpcReduction="20000"/>
          </a:bodyPr>
          <a:lstStyle/>
          <a:p>
            <a:pPr marL="0" indent="0" algn="ctr">
              <a:buNone/>
            </a:pPr>
            <a:r>
              <a:rPr lang="en-US" sz="1050" b="1" dirty="0">
                <a:solidFill>
                  <a:srgbClr val="FFFFFF"/>
                </a:solidFill>
                <a:latin typeface="Aptos" pitchFamily="34" charset="0"/>
                <a:ea typeface="Aptos" pitchFamily="34" charset="-122"/>
                <a:cs typeface="Aptos" pitchFamily="34" charset="-120"/>
              </a:rPr>
              <a:t>P2</a:t>
            </a:r>
            <a:endParaRPr lang="en-US" sz="1050" dirty="0"/>
          </a:p>
        </p:txBody>
      </p:sp>
      <p:sp>
        <p:nvSpPr>
          <p:cNvPr id="50" name="Shape 48"/>
          <p:cNvSpPr/>
          <p:nvPr/>
        </p:nvSpPr>
        <p:spPr>
          <a:xfrm>
            <a:off x="6446520" y="4562856"/>
            <a:ext cx="3703320" cy="731520"/>
          </a:xfrm>
          <a:prstGeom prst="rect">
            <a:avLst/>
          </a:prstGeom>
          <a:solidFill>
            <a:srgbClr val="D1FAE5"/>
          </a:solidFill>
          <a:ln w="15240">
            <a:solidFill>
              <a:srgbClr val="10B981"/>
            </a:solidFill>
            <a:prstDash val="solid"/>
          </a:ln>
        </p:spPr>
        <p:txBody>
          <a:bodyPr/>
          <a:lstStyle/>
          <a:p>
            <a:endParaRPr lang="en-DE"/>
          </a:p>
        </p:txBody>
      </p:sp>
      <p:sp>
        <p:nvSpPr>
          <p:cNvPr id="51" name="Text 49"/>
          <p:cNvSpPr/>
          <p:nvPr/>
        </p:nvSpPr>
        <p:spPr>
          <a:xfrm>
            <a:off x="6675120" y="4983480"/>
            <a:ext cx="3246120" cy="201168"/>
          </a:xfrm>
          <a:prstGeom prst="rect">
            <a:avLst/>
          </a:prstGeom>
          <a:noFill/>
          <a:ln/>
        </p:spPr>
        <p:txBody>
          <a:bodyPr wrap="square" lIns="635" tIns="635" rIns="635" bIns="635" rtlCol="0" anchor="ctr">
            <a:normAutofit fontScale="92500" lnSpcReduction="10000"/>
          </a:bodyPr>
          <a:lstStyle/>
          <a:p>
            <a:pPr marL="0" indent="0" algn="ctr">
              <a:buNone/>
            </a:pPr>
            <a:r>
              <a:rPr lang="en-US" sz="1550" b="1" dirty="0">
                <a:solidFill>
                  <a:srgbClr val="14213D"/>
                </a:solidFill>
                <a:latin typeface="Aptos" pitchFamily="34" charset="0"/>
                <a:ea typeface="Aptos" pitchFamily="34" charset="-122"/>
                <a:cs typeface="Aptos" pitchFamily="34" charset="-120"/>
              </a:rPr>
              <a:t>Ideal speedup: S(2) = T₁/T₂ = 12/6 = 2.0</a:t>
            </a:r>
            <a:endParaRPr lang="en-US" sz="1550" dirty="0"/>
          </a:p>
        </p:txBody>
      </p:sp>
      <p:graphicFrame>
        <p:nvGraphicFramePr>
          <p:cNvPr id="57" name="Table 0">
            <a:extLst>
              <a:ext uri="{FF2B5EF4-FFF2-40B4-BE49-F238E27FC236}">
                <a16:creationId xmlns:a16="http://schemas.microsoft.com/office/drawing/2014/main" id="{4196F8E7-9232-0071-A1EF-3081B66BB692}"/>
              </a:ext>
            </a:extLst>
          </p:cNvPr>
          <p:cNvGraphicFramePr>
            <a:graphicFrameLocks noGrp="1"/>
          </p:cNvGraphicFramePr>
          <p:nvPr>
            <p:extLst>
              <p:ext uri="{D42A27DB-BD31-4B8C-83A1-F6EECF244321}">
                <p14:modId xmlns:p14="http://schemas.microsoft.com/office/powerpoint/2010/main" val="2741705020"/>
              </p:ext>
            </p:extLst>
          </p:nvPr>
        </p:nvGraphicFramePr>
        <p:xfrm>
          <a:off x="6400800" y="1929384"/>
          <a:ext cx="4572000" cy="2148840"/>
        </p:xfrm>
        <a:graphic>
          <a:graphicData uri="http://schemas.openxmlformats.org/drawingml/2006/table">
            <a:tbl>
              <a:tblPr/>
              <a:tblGrid>
                <a:gridCol w="100584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tblGrid>
              <a:tr h="429768">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Step</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044"/>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PE1 (Row 0)</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044"/>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PE2 (Row 1)</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044"/>
                    </a:solidFill>
                  </a:tcPr>
                </a:tc>
                <a:extLst>
                  <a:ext uri="{0D108BD9-81ED-4DB2-BD59-A6C34878D82A}">
                    <a16:rowId xmlns:a16="http://schemas.microsoft.com/office/drawing/2014/main" val="10000"/>
                  </a:ext>
                </a:extLst>
              </a:tr>
              <a:tr h="429768">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1 – 2</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v1 × v2  (mult)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3FC"/>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v5 × v6  (mult)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5F3"/>
                    </a:solidFill>
                  </a:tcPr>
                </a:tc>
                <a:extLst>
                  <a:ext uri="{0D108BD9-81ED-4DB2-BD59-A6C34878D82A}">
                    <a16:rowId xmlns:a16="http://schemas.microsoft.com/office/drawing/2014/main" val="10001"/>
                  </a:ext>
                </a:extLst>
              </a:tr>
              <a:tr h="429768">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v9  (add)</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3FC"/>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v11 (add)</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5F3"/>
                    </a:solidFill>
                  </a:tcPr>
                </a:tc>
                <a:extLst>
                  <a:ext uri="{0D108BD9-81ED-4DB2-BD59-A6C34878D82A}">
                    <a16:rowId xmlns:a16="http://schemas.microsoft.com/office/drawing/2014/main" val="10002"/>
                  </a:ext>
                </a:extLst>
              </a:tr>
              <a:tr h="429768">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4 – 5</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v3 × v4  (mult)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3FC"/>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v7 × v8  (mult)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5F3"/>
                    </a:solidFill>
                  </a:tcPr>
                </a:tc>
                <a:extLst>
                  <a:ext uri="{0D108BD9-81ED-4DB2-BD59-A6C34878D82A}">
                    <a16:rowId xmlns:a16="http://schemas.microsoft.com/office/drawing/2014/main" val="10003"/>
                  </a:ext>
                </a:extLst>
              </a:tr>
              <a:tr h="429768">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v10 (add)</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EF3FC"/>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v12 (add)</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5F3"/>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280160"/>
          </a:xfrm>
          <a:prstGeom prst="rect">
            <a:avLst/>
          </a:prstGeom>
          <a:solidFill>
            <a:srgbClr val="0F2044"/>
          </a:solidFill>
          <a:ln w="12700">
            <a:solidFill>
              <a:srgbClr val="0F2044"/>
            </a:solidFill>
            <a:prstDash val="solid"/>
          </a:ln>
        </p:spPr>
        <p:txBody>
          <a:bodyPr/>
          <a:lstStyle/>
          <a:p>
            <a:endParaRPr lang="en-DE" sz="2400"/>
          </a:p>
        </p:txBody>
      </p:sp>
      <p:sp>
        <p:nvSpPr>
          <p:cNvPr id="3" name="Text 1"/>
          <p:cNvSpPr/>
          <p:nvPr/>
        </p:nvSpPr>
        <p:spPr>
          <a:xfrm>
            <a:off x="609600" y="243840"/>
            <a:ext cx="10363200" cy="792480"/>
          </a:xfrm>
          <a:prstGeom prst="rect">
            <a:avLst/>
          </a:prstGeom>
          <a:noFill/>
          <a:ln/>
        </p:spPr>
        <p:txBody>
          <a:bodyPr wrap="square" rtlCol="0" anchor="ctr"/>
          <a:lstStyle/>
          <a:p>
            <a:r>
              <a:rPr lang="en-US" sz="2800" b="1" dirty="0">
                <a:solidFill>
                  <a:srgbClr val="FFFFFF"/>
                </a:solidFill>
                <a:latin typeface="+mj-lt"/>
                <a:ea typeface="Cambria" pitchFamily="34" charset="-122"/>
                <a:cs typeface="Cambria" pitchFamily="34" charset="-120"/>
              </a:rPr>
              <a:t>POSIX Multi-Core Simulation</a:t>
            </a:r>
            <a:endParaRPr lang="en-US" sz="2800" dirty="0">
              <a:latin typeface="+mj-lt"/>
            </a:endParaRPr>
          </a:p>
        </p:txBody>
      </p:sp>
      <p:sp>
        <p:nvSpPr>
          <p:cNvPr id="4" name="Shape 2"/>
          <p:cNvSpPr/>
          <p:nvPr/>
        </p:nvSpPr>
        <p:spPr>
          <a:xfrm>
            <a:off x="487680" y="1463040"/>
            <a:ext cx="6583680" cy="4937760"/>
          </a:xfrm>
          <a:prstGeom prst="roundRect">
            <a:avLst>
              <a:gd name="adj" fmla="val 2469"/>
            </a:avLst>
          </a:prstGeom>
          <a:solidFill>
            <a:srgbClr val="1A1E2E"/>
          </a:solidFill>
          <a:ln w="12700">
            <a:solidFill>
              <a:srgbClr val="2D3748"/>
            </a:solidFill>
            <a:prstDash val="solid"/>
          </a:ln>
          <a:effectLst>
            <a:outerShdw blurRad="101600" dist="38100" dir="2700000" algn="bl" rotWithShape="0">
              <a:srgbClr val="000000">
                <a:alpha val="10000"/>
              </a:srgbClr>
            </a:outerShdw>
          </a:effectLst>
        </p:spPr>
        <p:txBody>
          <a:bodyPr/>
          <a:lstStyle/>
          <a:p>
            <a:endParaRPr lang="en-DE" sz="2400"/>
          </a:p>
        </p:txBody>
      </p:sp>
      <p:sp>
        <p:nvSpPr>
          <p:cNvPr id="5" name="Text 3"/>
          <p:cNvSpPr/>
          <p:nvPr/>
        </p:nvSpPr>
        <p:spPr>
          <a:xfrm>
            <a:off x="731520" y="1609344"/>
            <a:ext cx="6096000" cy="268224"/>
          </a:xfrm>
          <a:prstGeom prst="rect">
            <a:avLst/>
          </a:prstGeom>
          <a:noFill/>
          <a:ln/>
        </p:spPr>
        <p:txBody>
          <a:bodyPr wrap="square" rtlCol="0" anchor="ctr"/>
          <a:lstStyle/>
          <a:p>
            <a:r>
              <a:rPr lang="en-US" sz="1267" dirty="0">
                <a:solidFill>
                  <a:srgbClr val="6B7280"/>
                </a:solidFill>
                <a:latin typeface="Courier New" pitchFamily="34" charset="0"/>
                <a:ea typeface="Courier New" pitchFamily="34" charset="-122"/>
                <a:cs typeface="Courier New" pitchFamily="34" charset="-120"/>
              </a:rPr>
              <a:t>// matrix_pthread.c  (N=64, CLK_US=8)</a:t>
            </a:r>
            <a:endParaRPr lang="en-US" sz="1267" dirty="0"/>
          </a:p>
        </p:txBody>
      </p:sp>
      <p:sp>
        <p:nvSpPr>
          <p:cNvPr id="6" name="Text 4"/>
          <p:cNvSpPr/>
          <p:nvPr/>
        </p:nvSpPr>
        <p:spPr>
          <a:xfrm>
            <a:off x="731520" y="1853184"/>
            <a:ext cx="6096000" cy="268224"/>
          </a:xfrm>
          <a:prstGeom prst="rect">
            <a:avLst/>
          </a:prstGeom>
          <a:noFill/>
          <a:ln/>
        </p:spPr>
        <p:txBody>
          <a:bodyPr wrap="square" rtlCol="0" anchor="ctr"/>
          <a:lstStyle/>
          <a:p>
            <a:r>
              <a:rPr lang="en-US" sz="1267" dirty="0">
                <a:solidFill>
                  <a:srgbClr val="CBD5E1"/>
                </a:solidFill>
                <a:latin typeface="Courier New" pitchFamily="34" charset="0"/>
                <a:ea typeface="Courier New" pitchFamily="34" charset="-122"/>
                <a:cs typeface="Courier New" pitchFamily="34" charset="-120"/>
              </a:rPr>
              <a:t>void *pe_worker(void *arg) {</a:t>
            </a:r>
            <a:endParaRPr lang="en-US" sz="1267" dirty="0"/>
          </a:p>
        </p:txBody>
      </p:sp>
      <p:sp>
        <p:nvSpPr>
          <p:cNvPr id="7" name="Text 5"/>
          <p:cNvSpPr/>
          <p:nvPr/>
        </p:nvSpPr>
        <p:spPr>
          <a:xfrm>
            <a:off x="731520" y="2097024"/>
            <a:ext cx="6096000" cy="268224"/>
          </a:xfrm>
          <a:prstGeom prst="rect">
            <a:avLst/>
          </a:prstGeom>
          <a:noFill/>
          <a:ln/>
        </p:spPr>
        <p:txBody>
          <a:bodyPr wrap="square" rtlCol="0" anchor="ctr"/>
          <a:lstStyle/>
          <a:p>
            <a:r>
              <a:rPr lang="en-US" sz="1267" dirty="0">
                <a:solidFill>
                  <a:srgbClr val="6B7280"/>
                </a:solidFill>
                <a:latin typeface="Courier New" pitchFamily="34" charset="0"/>
                <a:ea typeface="Courier New" pitchFamily="34" charset="-122"/>
                <a:cs typeface="Courier New" pitchFamily="34" charset="-120"/>
              </a:rPr>
              <a:t>  // Each thread = one PE</a:t>
            </a:r>
            <a:endParaRPr lang="en-US" sz="1267" dirty="0"/>
          </a:p>
        </p:txBody>
      </p:sp>
      <p:sp>
        <p:nvSpPr>
          <p:cNvPr id="8" name="Text 6"/>
          <p:cNvSpPr/>
          <p:nvPr/>
        </p:nvSpPr>
        <p:spPr>
          <a:xfrm>
            <a:off x="731520" y="2340864"/>
            <a:ext cx="6096000" cy="268224"/>
          </a:xfrm>
          <a:prstGeom prst="rect">
            <a:avLst/>
          </a:prstGeom>
          <a:noFill/>
          <a:ln/>
        </p:spPr>
        <p:txBody>
          <a:bodyPr wrap="square" rtlCol="0" anchor="ctr"/>
          <a:lstStyle/>
          <a:p>
            <a:r>
              <a:rPr lang="en-US" sz="1267" dirty="0">
                <a:solidFill>
                  <a:srgbClr val="CBD5E1"/>
                </a:solidFill>
                <a:latin typeface="Courier New" pitchFamily="34" charset="0"/>
                <a:ea typeface="Courier New" pitchFamily="34" charset="-122"/>
                <a:cs typeface="Courier New" pitchFamily="34" charset="-120"/>
              </a:rPr>
              <a:t>  int rows = N/K;</a:t>
            </a:r>
            <a:endParaRPr lang="en-US" sz="1267" dirty="0"/>
          </a:p>
        </p:txBody>
      </p:sp>
      <p:sp>
        <p:nvSpPr>
          <p:cNvPr id="9" name="Text 7"/>
          <p:cNvSpPr/>
          <p:nvPr/>
        </p:nvSpPr>
        <p:spPr>
          <a:xfrm>
            <a:off x="731520" y="2584704"/>
            <a:ext cx="6096000" cy="268224"/>
          </a:xfrm>
          <a:prstGeom prst="rect">
            <a:avLst/>
          </a:prstGeom>
          <a:noFill/>
          <a:ln/>
        </p:spPr>
        <p:txBody>
          <a:bodyPr wrap="square" rtlCol="0" anchor="ctr"/>
          <a:lstStyle/>
          <a:p>
            <a:r>
              <a:rPr lang="en-US" sz="1267" dirty="0">
                <a:solidFill>
                  <a:srgbClr val="6B7280"/>
                </a:solidFill>
                <a:latin typeface="Courier New" pitchFamily="34" charset="0"/>
                <a:ea typeface="Courier New" pitchFamily="34" charset="-122"/>
                <a:cs typeface="Courier New" pitchFamily="34" charset="-120"/>
              </a:rPr>
              <a:t>  // Row-partitioned matrix multiply</a:t>
            </a:r>
            <a:endParaRPr lang="en-US" sz="1267" dirty="0"/>
          </a:p>
        </p:txBody>
      </p:sp>
      <p:sp>
        <p:nvSpPr>
          <p:cNvPr id="10" name="Text 8"/>
          <p:cNvSpPr/>
          <p:nvPr/>
        </p:nvSpPr>
        <p:spPr>
          <a:xfrm>
            <a:off x="731520" y="2828544"/>
            <a:ext cx="6096000" cy="268224"/>
          </a:xfrm>
          <a:prstGeom prst="rect">
            <a:avLst/>
          </a:prstGeom>
          <a:noFill/>
          <a:ln/>
        </p:spPr>
        <p:txBody>
          <a:bodyPr wrap="square" rtlCol="0" anchor="ctr"/>
          <a:lstStyle/>
          <a:p>
            <a:r>
              <a:rPr lang="en-US" sz="1267" dirty="0">
                <a:solidFill>
                  <a:srgbClr val="CBD5E1"/>
                </a:solidFill>
                <a:latin typeface="Courier New" pitchFamily="34" charset="0"/>
                <a:ea typeface="Courier New" pitchFamily="34" charset="-122"/>
                <a:cs typeface="Courier New" pitchFamily="34" charset="-120"/>
              </a:rPr>
              <a:t>  for (i=start; i&lt;end; i++)</a:t>
            </a:r>
            <a:endParaRPr lang="en-US" sz="1267" dirty="0"/>
          </a:p>
        </p:txBody>
      </p:sp>
      <p:sp>
        <p:nvSpPr>
          <p:cNvPr id="11" name="Text 9"/>
          <p:cNvSpPr/>
          <p:nvPr/>
        </p:nvSpPr>
        <p:spPr>
          <a:xfrm>
            <a:off x="731520" y="3072384"/>
            <a:ext cx="6096000" cy="268224"/>
          </a:xfrm>
          <a:prstGeom prst="rect">
            <a:avLst/>
          </a:prstGeom>
          <a:noFill/>
          <a:ln/>
        </p:spPr>
        <p:txBody>
          <a:bodyPr wrap="square" rtlCol="0" anchor="ctr"/>
          <a:lstStyle/>
          <a:p>
            <a:r>
              <a:rPr lang="en-US" sz="1267" dirty="0">
                <a:solidFill>
                  <a:srgbClr val="CBD5E1"/>
                </a:solidFill>
                <a:latin typeface="Courier New" pitchFamily="34" charset="0"/>
                <a:ea typeface="Courier New" pitchFamily="34" charset="-122"/>
                <a:cs typeface="Courier New" pitchFamily="34" charset="-120"/>
              </a:rPr>
              <a:t>    for (j=0; j&lt;N; j++)</a:t>
            </a:r>
            <a:endParaRPr lang="en-US" sz="1267" dirty="0"/>
          </a:p>
        </p:txBody>
      </p:sp>
      <p:sp>
        <p:nvSpPr>
          <p:cNvPr id="12" name="Text 10"/>
          <p:cNvSpPr/>
          <p:nvPr/>
        </p:nvSpPr>
        <p:spPr>
          <a:xfrm>
            <a:off x="731520" y="3316224"/>
            <a:ext cx="6096000" cy="268224"/>
          </a:xfrm>
          <a:prstGeom prst="rect">
            <a:avLst/>
          </a:prstGeom>
          <a:noFill/>
          <a:ln/>
        </p:spPr>
        <p:txBody>
          <a:bodyPr wrap="square" rtlCol="0" anchor="ctr"/>
          <a:lstStyle/>
          <a:p>
            <a:r>
              <a:rPr lang="en-US" sz="1267" dirty="0">
                <a:solidFill>
                  <a:srgbClr val="CBD5E1"/>
                </a:solidFill>
                <a:latin typeface="Courier New" pitchFamily="34" charset="0"/>
                <a:ea typeface="Courier New" pitchFamily="34" charset="-122"/>
                <a:cs typeface="Courier New" pitchFamily="34" charset="-120"/>
              </a:rPr>
              <a:t>      C[i][j] += A[i][k]*B[k][j];</a:t>
            </a:r>
            <a:endParaRPr lang="en-US" sz="1267" dirty="0"/>
          </a:p>
        </p:txBody>
      </p:sp>
      <p:sp>
        <p:nvSpPr>
          <p:cNvPr id="13" name="Text 11"/>
          <p:cNvSpPr/>
          <p:nvPr/>
        </p:nvSpPr>
        <p:spPr>
          <a:xfrm>
            <a:off x="731520" y="3560064"/>
            <a:ext cx="6096000" cy="268224"/>
          </a:xfrm>
          <a:prstGeom prst="rect">
            <a:avLst/>
          </a:prstGeom>
          <a:noFill/>
          <a:ln/>
        </p:spPr>
        <p:txBody>
          <a:bodyPr wrap="square" rtlCol="0" anchor="ctr"/>
          <a:lstStyle/>
          <a:p>
            <a:r>
              <a:rPr lang="en-US" sz="1267" dirty="0">
                <a:solidFill>
                  <a:srgbClr val="6B7280"/>
                </a:solidFill>
                <a:latin typeface="Courier New" pitchFamily="34" charset="0"/>
                <a:ea typeface="Courier New" pitchFamily="34" charset="-122"/>
                <a:cs typeface="Courier New" pitchFamily="34" charset="-120"/>
              </a:rPr>
              <a:t>  // Simulate HW latency</a:t>
            </a:r>
            <a:endParaRPr lang="en-US" sz="1267" dirty="0"/>
          </a:p>
        </p:txBody>
      </p:sp>
      <p:sp>
        <p:nvSpPr>
          <p:cNvPr id="14" name="Text 12"/>
          <p:cNvSpPr/>
          <p:nvPr/>
        </p:nvSpPr>
        <p:spPr>
          <a:xfrm>
            <a:off x="731520" y="3803904"/>
            <a:ext cx="6096000" cy="268224"/>
          </a:xfrm>
          <a:prstGeom prst="rect">
            <a:avLst/>
          </a:prstGeom>
          <a:noFill/>
          <a:ln/>
        </p:spPr>
        <p:txBody>
          <a:bodyPr wrap="square" rtlCol="0" anchor="ctr"/>
          <a:lstStyle/>
          <a:p>
            <a:r>
              <a:rPr lang="en-US" sz="1267" dirty="0">
                <a:solidFill>
                  <a:srgbClr val="00BFA5"/>
                </a:solidFill>
                <a:latin typeface="Courier New" pitchFamily="34" charset="0"/>
                <a:ea typeface="Courier New" pitchFamily="34" charset="-122"/>
                <a:cs typeface="Courier New" pitchFamily="34" charset="-120"/>
              </a:rPr>
              <a:t>  usleep(rows*(MUL+ADD)*CLK_US);</a:t>
            </a:r>
            <a:endParaRPr lang="en-US" sz="1267" dirty="0"/>
          </a:p>
        </p:txBody>
      </p:sp>
      <p:sp>
        <p:nvSpPr>
          <p:cNvPr id="15" name="Text 13"/>
          <p:cNvSpPr/>
          <p:nvPr/>
        </p:nvSpPr>
        <p:spPr>
          <a:xfrm>
            <a:off x="731520" y="4047744"/>
            <a:ext cx="6096000" cy="268224"/>
          </a:xfrm>
          <a:prstGeom prst="rect">
            <a:avLst/>
          </a:prstGeom>
          <a:noFill/>
          <a:ln/>
        </p:spPr>
        <p:txBody>
          <a:bodyPr wrap="square" rtlCol="0" anchor="ctr"/>
          <a:lstStyle/>
          <a:p>
            <a:r>
              <a:rPr lang="en-US" sz="1267" dirty="0">
                <a:solidFill>
                  <a:srgbClr val="CBD5E1"/>
                </a:solidFill>
                <a:latin typeface="Courier New" pitchFamily="34" charset="0"/>
                <a:ea typeface="Courier New" pitchFamily="34" charset="-122"/>
                <a:cs typeface="Courier New" pitchFamily="34" charset="-120"/>
              </a:rPr>
              <a:t>}</a:t>
            </a:r>
            <a:endParaRPr lang="en-US" sz="1267" dirty="0"/>
          </a:p>
        </p:txBody>
      </p:sp>
      <p:sp>
        <p:nvSpPr>
          <p:cNvPr id="16" name="Text 14"/>
          <p:cNvSpPr/>
          <p:nvPr/>
        </p:nvSpPr>
        <p:spPr>
          <a:xfrm>
            <a:off x="731520" y="4291584"/>
            <a:ext cx="6096000" cy="268224"/>
          </a:xfrm>
          <a:prstGeom prst="rect">
            <a:avLst/>
          </a:prstGeom>
          <a:noFill/>
          <a:ln/>
        </p:spPr>
        <p:txBody>
          <a:bodyPr wrap="square" rtlCol="0" anchor="ctr"/>
          <a:lstStyle/>
          <a:p>
            <a:r>
              <a:rPr lang="en-US" sz="1267" dirty="0">
                <a:solidFill>
                  <a:srgbClr val="CBD5E1"/>
                </a:solidFill>
                <a:latin typeface="Courier New" pitchFamily="34" charset="0"/>
                <a:ea typeface="Courier New" pitchFamily="34" charset="-122"/>
                <a:cs typeface="Courier New" pitchFamily="34" charset="-120"/>
              </a:rPr>
              <a:t> </a:t>
            </a:r>
            <a:endParaRPr lang="en-US" sz="1267" dirty="0"/>
          </a:p>
        </p:txBody>
      </p:sp>
      <p:sp>
        <p:nvSpPr>
          <p:cNvPr id="17" name="Text 15"/>
          <p:cNvSpPr/>
          <p:nvPr/>
        </p:nvSpPr>
        <p:spPr>
          <a:xfrm>
            <a:off x="731520" y="4535424"/>
            <a:ext cx="6096000" cy="268224"/>
          </a:xfrm>
          <a:prstGeom prst="rect">
            <a:avLst/>
          </a:prstGeom>
          <a:noFill/>
          <a:ln/>
        </p:spPr>
        <p:txBody>
          <a:bodyPr wrap="square" rtlCol="0" anchor="ctr"/>
          <a:lstStyle/>
          <a:p>
            <a:r>
              <a:rPr lang="en-US" sz="1267" dirty="0">
                <a:solidFill>
                  <a:srgbClr val="6B7280"/>
                </a:solidFill>
                <a:latin typeface="Courier New" pitchFamily="34" charset="0"/>
                <a:ea typeface="Courier New" pitchFamily="34" charset="-122"/>
                <a:cs typeface="Courier New" pitchFamily="34" charset="-120"/>
              </a:rPr>
              <a:t>// Measure wall-clock for K=1,2,4</a:t>
            </a:r>
            <a:endParaRPr lang="en-US" sz="1267" dirty="0"/>
          </a:p>
        </p:txBody>
      </p:sp>
      <p:sp>
        <p:nvSpPr>
          <p:cNvPr id="18" name="Text 16"/>
          <p:cNvSpPr/>
          <p:nvPr/>
        </p:nvSpPr>
        <p:spPr>
          <a:xfrm>
            <a:off x="731520" y="4779264"/>
            <a:ext cx="6096000" cy="268224"/>
          </a:xfrm>
          <a:prstGeom prst="rect">
            <a:avLst/>
          </a:prstGeom>
          <a:noFill/>
          <a:ln/>
        </p:spPr>
        <p:txBody>
          <a:bodyPr wrap="square" rtlCol="0" anchor="ctr"/>
          <a:lstStyle/>
          <a:p>
            <a:r>
              <a:rPr lang="en-US" sz="1267" dirty="0">
                <a:solidFill>
                  <a:srgbClr val="F59E0B"/>
                </a:solidFill>
                <a:latin typeface="Courier New" pitchFamily="34" charset="0"/>
                <a:ea typeface="Courier New" pitchFamily="34" charset="-122"/>
                <a:cs typeface="Courier New" pitchFamily="34" charset="-120"/>
              </a:rPr>
              <a:t>double T1 = run_test(1);</a:t>
            </a:r>
            <a:endParaRPr lang="en-US" sz="1267" dirty="0"/>
          </a:p>
        </p:txBody>
      </p:sp>
      <p:sp>
        <p:nvSpPr>
          <p:cNvPr id="19" name="Text 17"/>
          <p:cNvSpPr/>
          <p:nvPr/>
        </p:nvSpPr>
        <p:spPr>
          <a:xfrm>
            <a:off x="731520" y="5023104"/>
            <a:ext cx="6096000" cy="268224"/>
          </a:xfrm>
          <a:prstGeom prst="rect">
            <a:avLst/>
          </a:prstGeom>
          <a:noFill/>
          <a:ln/>
        </p:spPr>
        <p:txBody>
          <a:bodyPr wrap="square" rtlCol="0" anchor="ctr"/>
          <a:lstStyle/>
          <a:p>
            <a:r>
              <a:rPr lang="en-US" sz="1267" dirty="0">
                <a:solidFill>
                  <a:srgbClr val="F59E0B"/>
                </a:solidFill>
                <a:latin typeface="Courier New" pitchFamily="34" charset="0"/>
                <a:ea typeface="Courier New" pitchFamily="34" charset="-122"/>
                <a:cs typeface="Courier New" pitchFamily="34" charset="-120"/>
              </a:rPr>
              <a:t>double T2 = run_test(2);</a:t>
            </a:r>
            <a:endParaRPr lang="en-US" sz="1267" dirty="0"/>
          </a:p>
        </p:txBody>
      </p:sp>
      <p:sp>
        <p:nvSpPr>
          <p:cNvPr id="20" name="Text 18"/>
          <p:cNvSpPr/>
          <p:nvPr/>
        </p:nvSpPr>
        <p:spPr>
          <a:xfrm>
            <a:off x="731520" y="5266944"/>
            <a:ext cx="6096000" cy="268224"/>
          </a:xfrm>
          <a:prstGeom prst="rect">
            <a:avLst/>
          </a:prstGeom>
          <a:noFill/>
          <a:ln/>
        </p:spPr>
        <p:txBody>
          <a:bodyPr wrap="square" rtlCol="0" anchor="ctr"/>
          <a:lstStyle/>
          <a:p>
            <a:r>
              <a:rPr lang="en-US" sz="1267" dirty="0">
                <a:solidFill>
                  <a:srgbClr val="F59E0B"/>
                </a:solidFill>
                <a:latin typeface="Courier New" pitchFamily="34" charset="0"/>
                <a:ea typeface="Courier New" pitchFamily="34" charset="-122"/>
                <a:cs typeface="Courier New" pitchFamily="34" charset="-120"/>
              </a:rPr>
              <a:t>double T4 = run_test(4);</a:t>
            </a:r>
            <a:endParaRPr lang="en-US" sz="1267" dirty="0"/>
          </a:p>
        </p:txBody>
      </p:sp>
      <p:sp>
        <p:nvSpPr>
          <p:cNvPr id="21" name="Text 19"/>
          <p:cNvSpPr/>
          <p:nvPr/>
        </p:nvSpPr>
        <p:spPr>
          <a:xfrm>
            <a:off x="731520" y="5510784"/>
            <a:ext cx="6096000" cy="268224"/>
          </a:xfrm>
          <a:prstGeom prst="rect">
            <a:avLst/>
          </a:prstGeom>
          <a:noFill/>
          <a:ln/>
        </p:spPr>
        <p:txBody>
          <a:bodyPr wrap="square" rtlCol="0" anchor="ctr"/>
          <a:lstStyle/>
          <a:p>
            <a:r>
              <a:rPr lang="en-US" sz="1267" dirty="0">
                <a:solidFill>
                  <a:srgbClr val="00BFA5"/>
                </a:solidFill>
                <a:latin typeface="Courier New" pitchFamily="34" charset="0"/>
                <a:ea typeface="Courier New" pitchFamily="34" charset="-122"/>
                <a:cs typeface="Courier New" pitchFamily="34" charset="-120"/>
              </a:rPr>
              <a:t>S(K) = T1 / TK;</a:t>
            </a:r>
            <a:endParaRPr lang="en-US" sz="1267" dirty="0"/>
          </a:p>
        </p:txBody>
      </p:sp>
      <p:sp>
        <p:nvSpPr>
          <p:cNvPr id="22" name="Shape 20"/>
          <p:cNvSpPr/>
          <p:nvPr/>
        </p:nvSpPr>
        <p:spPr>
          <a:xfrm>
            <a:off x="7315200" y="1463040"/>
            <a:ext cx="4389120" cy="2865120"/>
          </a:xfrm>
          <a:prstGeom prst="roundRect">
            <a:avLst>
              <a:gd name="adj" fmla="val 4255"/>
            </a:avLst>
          </a:prstGeom>
          <a:solidFill>
            <a:srgbClr val="FFFFFF"/>
          </a:solidFill>
          <a:ln w="12700">
            <a:solidFill>
              <a:srgbClr val="E2E8F0"/>
            </a:solidFill>
            <a:prstDash val="solid"/>
          </a:ln>
          <a:effectLst>
            <a:outerShdw blurRad="101600" dist="38100" dir="2700000" algn="bl" rotWithShape="0">
              <a:srgbClr val="000000">
                <a:alpha val="10000"/>
              </a:srgbClr>
            </a:outerShdw>
          </a:effectLst>
        </p:spPr>
        <p:txBody>
          <a:bodyPr/>
          <a:lstStyle/>
          <a:p>
            <a:endParaRPr lang="en-DE" sz="2400"/>
          </a:p>
        </p:txBody>
      </p:sp>
      <p:sp>
        <p:nvSpPr>
          <p:cNvPr id="23" name="Text 21"/>
          <p:cNvSpPr/>
          <p:nvPr/>
        </p:nvSpPr>
        <p:spPr>
          <a:xfrm>
            <a:off x="7559040" y="1609344"/>
            <a:ext cx="3901440" cy="463296"/>
          </a:xfrm>
          <a:prstGeom prst="rect">
            <a:avLst/>
          </a:prstGeom>
          <a:noFill/>
          <a:ln/>
        </p:spPr>
        <p:txBody>
          <a:bodyPr wrap="square" rtlCol="0" anchor="ctr"/>
          <a:lstStyle/>
          <a:p>
            <a:r>
              <a:rPr lang="en-US" sz="1733" b="1" dirty="0">
                <a:solidFill>
                  <a:srgbClr val="0F2044"/>
                </a:solidFill>
                <a:latin typeface="Cambria" pitchFamily="34" charset="0"/>
                <a:ea typeface="Cambria" pitchFamily="34" charset="-122"/>
                <a:cs typeface="Cambria" pitchFamily="34" charset="-120"/>
              </a:rPr>
              <a:t>Hardware Model Mapping</a:t>
            </a:r>
            <a:endParaRPr lang="en-US" sz="1733" dirty="0"/>
          </a:p>
        </p:txBody>
      </p:sp>
      <p:sp>
        <p:nvSpPr>
          <p:cNvPr id="24" name="Shape 22"/>
          <p:cNvSpPr/>
          <p:nvPr/>
        </p:nvSpPr>
        <p:spPr>
          <a:xfrm>
            <a:off x="7498080" y="2170176"/>
            <a:ext cx="1645920" cy="365760"/>
          </a:xfrm>
          <a:prstGeom prst="roundRect">
            <a:avLst>
              <a:gd name="adj" fmla="val 13333"/>
            </a:avLst>
          </a:prstGeom>
          <a:solidFill>
            <a:srgbClr val="00897B"/>
          </a:solidFill>
          <a:ln w="12700">
            <a:solidFill>
              <a:srgbClr val="00897B"/>
            </a:solidFill>
            <a:prstDash val="solid"/>
          </a:ln>
        </p:spPr>
        <p:txBody>
          <a:bodyPr/>
          <a:lstStyle/>
          <a:p>
            <a:endParaRPr lang="en-DE" sz="2400"/>
          </a:p>
        </p:txBody>
      </p:sp>
      <p:sp>
        <p:nvSpPr>
          <p:cNvPr id="25" name="Text 23"/>
          <p:cNvSpPr/>
          <p:nvPr/>
        </p:nvSpPr>
        <p:spPr>
          <a:xfrm>
            <a:off x="7498080" y="2170176"/>
            <a:ext cx="1645920" cy="365760"/>
          </a:xfrm>
          <a:prstGeom prst="rect">
            <a:avLst/>
          </a:prstGeom>
          <a:noFill/>
          <a:ln/>
        </p:spPr>
        <p:txBody>
          <a:bodyPr wrap="square" rtlCol="0" anchor="ctr"/>
          <a:lstStyle/>
          <a:p>
            <a:pPr algn="ctr"/>
            <a:r>
              <a:rPr lang="en-US" sz="1267" b="1" dirty="0">
                <a:solidFill>
                  <a:srgbClr val="FFFFFF"/>
                </a:solidFill>
                <a:latin typeface="Calibri" pitchFamily="34" charset="0"/>
                <a:ea typeface="Calibri" pitchFamily="34" charset="-122"/>
                <a:cs typeface="Calibri" pitchFamily="34" charset="-120"/>
              </a:rPr>
              <a:t>pthread</a:t>
            </a:r>
            <a:endParaRPr lang="en-US" sz="1267" dirty="0"/>
          </a:p>
        </p:txBody>
      </p:sp>
      <p:sp>
        <p:nvSpPr>
          <p:cNvPr id="26" name="Text 24"/>
          <p:cNvSpPr/>
          <p:nvPr/>
        </p:nvSpPr>
        <p:spPr>
          <a:xfrm>
            <a:off x="9265920" y="2170176"/>
            <a:ext cx="2316480" cy="365760"/>
          </a:xfrm>
          <a:prstGeom prst="rect">
            <a:avLst/>
          </a:prstGeom>
          <a:noFill/>
          <a:ln/>
        </p:spPr>
        <p:txBody>
          <a:bodyPr wrap="square" rtlCol="0" anchor="ctr"/>
          <a:lstStyle/>
          <a:p>
            <a:r>
              <a:rPr lang="en-US" sz="1267" dirty="0">
                <a:solidFill>
                  <a:srgbClr val="334155"/>
                </a:solidFill>
                <a:latin typeface="Calibri" pitchFamily="34" charset="0"/>
                <a:ea typeface="Calibri" pitchFamily="34" charset="-122"/>
                <a:cs typeface="Calibri" pitchFamily="34" charset="-120"/>
              </a:rPr>
              <a:t>Processing Element (PE)</a:t>
            </a:r>
            <a:endParaRPr lang="en-US" sz="1267" dirty="0"/>
          </a:p>
        </p:txBody>
      </p:sp>
      <p:sp>
        <p:nvSpPr>
          <p:cNvPr id="27" name="Shape 25"/>
          <p:cNvSpPr/>
          <p:nvPr/>
        </p:nvSpPr>
        <p:spPr>
          <a:xfrm>
            <a:off x="7498080" y="2609088"/>
            <a:ext cx="1645920" cy="365760"/>
          </a:xfrm>
          <a:prstGeom prst="roundRect">
            <a:avLst>
              <a:gd name="adj" fmla="val 13333"/>
            </a:avLst>
          </a:prstGeom>
          <a:solidFill>
            <a:srgbClr val="00897B"/>
          </a:solidFill>
          <a:ln w="12700">
            <a:solidFill>
              <a:srgbClr val="00897B"/>
            </a:solidFill>
            <a:prstDash val="solid"/>
          </a:ln>
        </p:spPr>
        <p:txBody>
          <a:bodyPr/>
          <a:lstStyle/>
          <a:p>
            <a:endParaRPr lang="en-DE" sz="2400"/>
          </a:p>
        </p:txBody>
      </p:sp>
      <p:sp>
        <p:nvSpPr>
          <p:cNvPr id="28" name="Text 26"/>
          <p:cNvSpPr/>
          <p:nvPr/>
        </p:nvSpPr>
        <p:spPr>
          <a:xfrm>
            <a:off x="7498080" y="2609088"/>
            <a:ext cx="1645920" cy="365760"/>
          </a:xfrm>
          <a:prstGeom prst="rect">
            <a:avLst/>
          </a:prstGeom>
          <a:noFill/>
          <a:ln/>
        </p:spPr>
        <p:txBody>
          <a:bodyPr wrap="square" rtlCol="0" anchor="ctr"/>
          <a:lstStyle/>
          <a:p>
            <a:pPr algn="ctr"/>
            <a:r>
              <a:rPr lang="en-US" sz="1267" b="1" dirty="0">
                <a:solidFill>
                  <a:srgbClr val="FFFFFF"/>
                </a:solidFill>
                <a:latin typeface="Calibri" pitchFamily="34" charset="0"/>
                <a:ea typeface="Calibri" pitchFamily="34" charset="-122"/>
                <a:cs typeface="Calibri" pitchFamily="34" charset="-120"/>
              </a:rPr>
              <a:t>row block</a:t>
            </a:r>
            <a:endParaRPr lang="en-US" sz="1267" dirty="0"/>
          </a:p>
        </p:txBody>
      </p:sp>
      <p:sp>
        <p:nvSpPr>
          <p:cNvPr id="29" name="Text 27"/>
          <p:cNvSpPr/>
          <p:nvPr/>
        </p:nvSpPr>
        <p:spPr>
          <a:xfrm>
            <a:off x="9265920" y="2609088"/>
            <a:ext cx="2316480" cy="365760"/>
          </a:xfrm>
          <a:prstGeom prst="rect">
            <a:avLst/>
          </a:prstGeom>
          <a:noFill/>
          <a:ln/>
        </p:spPr>
        <p:txBody>
          <a:bodyPr wrap="square" rtlCol="0" anchor="ctr"/>
          <a:lstStyle/>
          <a:p>
            <a:r>
              <a:rPr lang="en-US" sz="1267" dirty="0">
                <a:solidFill>
                  <a:srgbClr val="334155"/>
                </a:solidFill>
                <a:latin typeface="Calibri" pitchFamily="34" charset="0"/>
                <a:ea typeface="Calibri" pitchFamily="34" charset="-122"/>
                <a:cs typeface="Calibri" pitchFamily="34" charset="-120"/>
              </a:rPr>
              <a:t>DFG partition</a:t>
            </a:r>
            <a:endParaRPr lang="en-US" sz="1267" dirty="0"/>
          </a:p>
        </p:txBody>
      </p:sp>
      <p:sp>
        <p:nvSpPr>
          <p:cNvPr id="30" name="Shape 28"/>
          <p:cNvSpPr/>
          <p:nvPr/>
        </p:nvSpPr>
        <p:spPr>
          <a:xfrm>
            <a:off x="7498080" y="3048000"/>
            <a:ext cx="1645920" cy="365760"/>
          </a:xfrm>
          <a:prstGeom prst="roundRect">
            <a:avLst>
              <a:gd name="adj" fmla="val 13333"/>
            </a:avLst>
          </a:prstGeom>
          <a:solidFill>
            <a:srgbClr val="00897B"/>
          </a:solidFill>
          <a:ln w="12700">
            <a:solidFill>
              <a:srgbClr val="00897B"/>
            </a:solidFill>
            <a:prstDash val="solid"/>
          </a:ln>
        </p:spPr>
        <p:txBody>
          <a:bodyPr/>
          <a:lstStyle/>
          <a:p>
            <a:endParaRPr lang="en-DE" sz="2400"/>
          </a:p>
        </p:txBody>
      </p:sp>
      <p:sp>
        <p:nvSpPr>
          <p:cNvPr id="31" name="Text 29"/>
          <p:cNvSpPr/>
          <p:nvPr/>
        </p:nvSpPr>
        <p:spPr>
          <a:xfrm>
            <a:off x="7498080" y="3048000"/>
            <a:ext cx="1645920" cy="365760"/>
          </a:xfrm>
          <a:prstGeom prst="rect">
            <a:avLst/>
          </a:prstGeom>
          <a:noFill/>
          <a:ln/>
        </p:spPr>
        <p:txBody>
          <a:bodyPr wrap="square" rtlCol="0" anchor="ctr"/>
          <a:lstStyle/>
          <a:p>
            <a:pPr algn="ctr"/>
            <a:r>
              <a:rPr lang="en-US" sz="1267" b="1" dirty="0">
                <a:solidFill>
                  <a:srgbClr val="FFFFFF"/>
                </a:solidFill>
                <a:latin typeface="Calibri" pitchFamily="34" charset="0"/>
                <a:ea typeface="Calibri" pitchFamily="34" charset="-122"/>
                <a:cs typeface="Calibri" pitchFamily="34" charset="-120"/>
              </a:rPr>
              <a:t>usleep()</a:t>
            </a:r>
            <a:endParaRPr lang="en-US" sz="1267" dirty="0"/>
          </a:p>
        </p:txBody>
      </p:sp>
      <p:sp>
        <p:nvSpPr>
          <p:cNvPr id="32" name="Text 30"/>
          <p:cNvSpPr/>
          <p:nvPr/>
        </p:nvSpPr>
        <p:spPr>
          <a:xfrm>
            <a:off x="9265920" y="3048000"/>
            <a:ext cx="2316480" cy="365760"/>
          </a:xfrm>
          <a:prstGeom prst="rect">
            <a:avLst/>
          </a:prstGeom>
          <a:noFill/>
          <a:ln/>
        </p:spPr>
        <p:txBody>
          <a:bodyPr wrap="square" rtlCol="0" anchor="ctr"/>
          <a:lstStyle/>
          <a:p>
            <a:r>
              <a:rPr lang="en-US" sz="1267" dirty="0">
                <a:solidFill>
                  <a:srgbClr val="334155"/>
                </a:solidFill>
                <a:latin typeface="Calibri" pitchFamily="34" charset="0"/>
                <a:ea typeface="Calibri" pitchFamily="34" charset="-122"/>
                <a:cs typeface="Calibri" pitchFamily="34" charset="-120"/>
              </a:rPr>
              <a:t>hardware operator latency</a:t>
            </a:r>
            <a:endParaRPr lang="en-US" sz="1267" dirty="0"/>
          </a:p>
        </p:txBody>
      </p:sp>
      <p:sp>
        <p:nvSpPr>
          <p:cNvPr id="33" name="Shape 31"/>
          <p:cNvSpPr/>
          <p:nvPr/>
        </p:nvSpPr>
        <p:spPr>
          <a:xfrm>
            <a:off x="7498080" y="3486912"/>
            <a:ext cx="1645920" cy="365760"/>
          </a:xfrm>
          <a:prstGeom prst="roundRect">
            <a:avLst>
              <a:gd name="adj" fmla="val 13333"/>
            </a:avLst>
          </a:prstGeom>
          <a:solidFill>
            <a:srgbClr val="00897B"/>
          </a:solidFill>
          <a:ln w="12700">
            <a:solidFill>
              <a:srgbClr val="00897B"/>
            </a:solidFill>
            <a:prstDash val="solid"/>
          </a:ln>
        </p:spPr>
        <p:txBody>
          <a:bodyPr/>
          <a:lstStyle/>
          <a:p>
            <a:endParaRPr lang="en-DE" sz="2400"/>
          </a:p>
        </p:txBody>
      </p:sp>
      <p:sp>
        <p:nvSpPr>
          <p:cNvPr id="34" name="Text 32"/>
          <p:cNvSpPr/>
          <p:nvPr/>
        </p:nvSpPr>
        <p:spPr>
          <a:xfrm>
            <a:off x="7498080" y="3486912"/>
            <a:ext cx="1645920" cy="365760"/>
          </a:xfrm>
          <a:prstGeom prst="rect">
            <a:avLst/>
          </a:prstGeom>
          <a:noFill/>
          <a:ln/>
        </p:spPr>
        <p:txBody>
          <a:bodyPr wrap="square" rtlCol="0" anchor="ctr"/>
          <a:lstStyle/>
          <a:p>
            <a:pPr algn="ctr"/>
            <a:r>
              <a:rPr lang="en-US" sz="1267" b="1" dirty="0">
                <a:solidFill>
                  <a:srgbClr val="FFFFFF"/>
                </a:solidFill>
                <a:latin typeface="Calibri" pitchFamily="34" charset="0"/>
                <a:ea typeface="Calibri" pitchFamily="34" charset="-122"/>
                <a:cs typeface="Calibri" pitchFamily="34" charset="-120"/>
              </a:rPr>
              <a:t>pthread_join</a:t>
            </a:r>
            <a:endParaRPr lang="en-US" sz="1267" dirty="0"/>
          </a:p>
        </p:txBody>
      </p:sp>
      <p:sp>
        <p:nvSpPr>
          <p:cNvPr id="35" name="Text 33"/>
          <p:cNvSpPr/>
          <p:nvPr/>
        </p:nvSpPr>
        <p:spPr>
          <a:xfrm>
            <a:off x="9265920" y="3486912"/>
            <a:ext cx="2316480" cy="365760"/>
          </a:xfrm>
          <a:prstGeom prst="rect">
            <a:avLst/>
          </a:prstGeom>
          <a:noFill/>
          <a:ln/>
        </p:spPr>
        <p:txBody>
          <a:bodyPr wrap="square" rtlCol="0" anchor="ctr"/>
          <a:lstStyle/>
          <a:p>
            <a:r>
              <a:rPr lang="en-US" sz="1267" dirty="0">
                <a:solidFill>
                  <a:srgbClr val="334155"/>
                </a:solidFill>
                <a:latin typeface="Calibri" pitchFamily="34" charset="0"/>
                <a:ea typeface="Calibri" pitchFamily="34" charset="-122"/>
                <a:cs typeface="Calibri" pitchFamily="34" charset="-120"/>
              </a:rPr>
              <a:t>synchronization δᵢⱼ</a:t>
            </a:r>
            <a:endParaRPr lang="en-US" sz="1267" dirty="0"/>
          </a:p>
        </p:txBody>
      </p:sp>
      <p:sp>
        <p:nvSpPr>
          <p:cNvPr id="36" name="Shape 34"/>
          <p:cNvSpPr/>
          <p:nvPr/>
        </p:nvSpPr>
        <p:spPr>
          <a:xfrm>
            <a:off x="7498080" y="3925824"/>
            <a:ext cx="1645920" cy="365760"/>
          </a:xfrm>
          <a:prstGeom prst="roundRect">
            <a:avLst>
              <a:gd name="adj" fmla="val 13333"/>
            </a:avLst>
          </a:prstGeom>
          <a:solidFill>
            <a:srgbClr val="00897B"/>
          </a:solidFill>
          <a:ln w="12700">
            <a:solidFill>
              <a:srgbClr val="00897B"/>
            </a:solidFill>
            <a:prstDash val="solid"/>
          </a:ln>
        </p:spPr>
        <p:txBody>
          <a:bodyPr/>
          <a:lstStyle/>
          <a:p>
            <a:endParaRPr lang="en-DE" sz="2400"/>
          </a:p>
        </p:txBody>
      </p:sp>
      <p:sp>
        <p:nvSpPr>
          <p:cNvPr id="37" name="Text 35"/>
          <p:cNvSpPr/>
          <p:nvPr/>
        </p:nvSpPr>
        <p:spPr>
          <a:xfrm>
            <a:off x="7498080" y="3925824"/>
            <a:ext cx="1645920" cy="365760"/>
          </a:xfrm>
          <a:prstGeom prst="rect">
            <a:avLst/>
          </a:prstGeom>
          <a:noFill/>
          <a:ln/>
        </p:spPr>
        <p:txBody>
          <a:bodyPr wrap="square" rtlCol="0" anchor="ctr"/>
          <a:lstStyle/>
          <a:p>
            <a:pPr algn="ctr"/>
            <a:r>
              <a:rPr lang="en-US" sz="1267" b="1" dirty="0">
                <a:solidFill>
                  <a:srgbClr val="FFFFFF"/>
                </a:solidFill>
                <a:latin typeface="Calibri" pitchFamily="34" charset="0"/>
                <a:ea typeface="Calibri" pitchFamily="34" charset="-122"/>
                <a:cs typeface="Calibri" pitchFamily="34" charset="-120"/>
              </a:rPr>
              <a:t>AMD Ryzen 7</a:t>
            </a:r>
            <a:endParaRPr lang="en-US" sz="1267" dirty="0"/>
          </a:p>
        </p:txBody>
      </p:sp>
      <p:sp>
        <p:nvSpPr>
          <p:cNvPr id="38" name="Text 36"/>
          <p:cNvSpPr/>
          <p:nvPr/>
        </p:nvSpPr>
        <p:spPr>
          <a:xfrm>
            <a:off x="9265920" y="3925824"/>
            <a:ext cx="2316480" cy="365760"/>
          </a:xfrm>
          <a:prstGeom prst="rect">
            <a:avLst/>
          </a:prstGeom>
          <a:noFill/>
          <a:ln/>
        </p:spPr>
        <p:txBody>
          <a:bodyPr wrap="square" rtlCol="0" anchor="ctr"/>
          <a:lstStyle/>
          <a:p>
            <a:r>
              <a:rPr lang="en-US" sz="1267" dirty="0">
                <a:solidFill>
                  <a:srgbClr val="334155"/>
                </a:solidFill>
                <a:latin typeface="Calibri" pitchFamily="34" charset="0"/>
                <a:ea typeface="Calibri" pitchFamily="34" charset="-122"/>
                <a:cs typeface="Calibri" pitchFamily="34" charset="-120"/>
              </a:rPr>
              <a:t>8-core target machine</a:t>
            </a:r>
            <a:endParaRPr lang="en-US" sz="1267" dirty="0"/>
          </a:p>
        </p:txBody>
      </p:sp>
      <p:sp>
        <p:nvSpPr>
          <p:cNvPr id="39" name="Shape 37"/>
          <p:cNvSpPr/>
          <p:nvPr/>
        </p:nvSpPr>
        <p:spPr>
          <a:xfrm>
            <a:off x="7315200" y="4462272"/>
            <a:ext cx="4389120" cy="1938528"/>
          </a:xfrm>
          <a:prstGeom prst="roundRect">
            <a:avLst>
              <a:gd name="adj" fmla="val 6289"/>
            </a:avLst>
          </a:prstGeom>
          <a:solidFill>
            <a:srgbClr val="E0F5F2"/>
          </a:solidFill>
          <a:ln w="10160">
            <a:solidFill>
              <a:srgbClr val="00897B"/>
            </a:solidFill>
            <a:prstDash val="solid"/>
          </a:ln>
        </p:spPr>
        <p:txBody>
          <a:bodyPr/>
          <a:lstStyle/>
          <a:p>
            <a:endParaRPr lang="en-DE" sz="2400"/>
          </a:p>
        </p:txBody>
      </p:sp>
      <p:sp>
        <p:nvSpPr>
          <p:cNvPr id="40" name="Text 38"/>
          <p:cNvSpPr/>
          <p:nvPr/>
        </p:nvSpPr>
        <p:spPr>
          <a:xfrm>
            <a:off x="7559040" y="4584192"/>
            <a:ext cx="3901440" cy="438912"/>
          </a:xfrm>
          <a:prstGeom prst="rect">
            <a:avLst/>
          </a:prstGeom>
          <a:noFill/>
          <a:ln/>
        </p:spPr>
        <p:txBody>
          <a:bodyPr wrap="square" rtlCol="0" anchor="ctr"/>
          <a:lstStyle/>
          <a:p>
            <a:r>
              <a:rPr lang="en-US" sz="1600" b="1" dirty="0">
                <a:solidFill>
                  <a:srgbClr val="0F2044"/>
                </a:solidFill>
                <a:latin typeface="Cambria" pitchFamily="34" charset="0"/>
                <a:ea typeface="Cambria" pitchFamily="34" charset="-122"/>
                <a:cs typeface="Cambria" pitchFamily="34" charset="-120"/>
              </a:rPr>
              <a:t>Test Configuration</a:t>
            </a:r>
            <a:endParaRPr lang="en-US" sz="1600" dirty="0"/>
          </a:p>
        </p:txBody>
      </p:sp>
      <p:pic>
        <p:nvPicPr>
          <p:cNvPr id="41" name="Image 0" descr="preencoded.png"/>
          <p:cNvPicPr>
            <a:picLocks noChangeAspect="1"/>
          </p:cNvPicPr>
          <p:nvPr/>
        </p:nvPicPr>
        <p:blipFill>
          <a:blip r:embed="rId3"/>
          <a:stretch>
            <a:fillRect/>
          </a:stretch>
        </p:blipFill>
        <p:spPr>
          <a:xfrm>
            <a:off x="7498080" y="5084064"/>
            <a:ext cx="219456" cy="219456"/>
          </a:xfrm>
          <a:prstGeom prst="rect">
            <a:avLst/>
          </a:prstGeom>
        </p:spPr>
      </p:pic>
      <p:sp>
        <p:nvSpPr>
          <p:cNvPr id="42" name="Text 39"/>
          <p:cNvSpPr/>
          <p:nvPr/>
        </p:nvSpPr>
        <p:spPr>
          <a:xfrm>
            <a:off x="7778496" y="5059680"/>
            <a:ext cx="3779520" cy="292608"/>
          </a:xfrm>
          <a:prstGeom prst="rect">
            <a:avLst/>
          </a:prstGeom>
          <a:noFill/>
          <a:ln/>
        </p:spPr>
        <p:txBody>
          <a:bodyPr wrap="square" rtlCol="0" anchor="ctr"/>
          <a:lstStyle/>
          <a:p>
            <a:r>
              <a:rPr lang="en-US" sz="1400" dirty="0">
                <a:solidFill>
                  <a:srgbClr val="334155"/>
                </a:solidFill>
                <a:latin typeface="Calibri" pitchFamily="34" charset="0"/>
                <a:ea typeface="Calibri" pitchFamily="34" charset="-122"/>
                <a:cs typeface="Calibri" pitchFamily="34" charset="-120"/>
              </a:rPr>
              <a:t>N = 64 × 64 matrix</a:t>
            </a:r>
            <a:endParaRPr lang="en-US" sz="1400" dirty="0"/>
          </a:p>
        </p:txBody>
      </p:sp>
      <p:pic>
        <p:nvPicPr>
          <p:cNvPr id="43" name="Image 1" descr="preencoded.png"/>
          <p:cNvPicPr>
            <a:picLocks noChangeAspect="1"/>
          </p:cNvPicPr>
          <p:nvPr/>
        </p:nvPicPr>
        <p:blipFill>
          <a:blip r:embed="rId3"/>
          <a:stretch>
            <a:fillRect/>
          </a:stretch>
        </p:blipFill>
        <p:spPr>
          <a:xfrm>
            <a:off x="7498080" y="5376672"/>
            <a:ext cx="219456" cy="219456"/>
          </a:xfrm>
          <a:prstGeom prst="rect">
            <a:avLst/>
          </a:prstGeom>
        </p:spPr>
      </p:pic>
      <p:sp>
        <p:nvSpPr>
          <p:cNvPr id="44" name="Text 40"/>
          <p:cNvSpPr/>
          <p:nvPr/>
        </p:nvSpPr>
        <p:spPr>
          <a:xfrm>
            <a:off x="7778496" y="5352288"/>
            <a:ext cx="3779520" cy="292608"/>
          </a:xfrm>
          <a:prstGeom prst="rect">
            <a:avLst/>
          </a:prstGeom>
          <a:noFill/>
          <a:ln/>
        </p:spPr>
        <p:txBody>
          <a:bodyPr wrap="square" rtlCol="0" anchor="ctr"/>
          <a:lstStyle/>
          <a:p>
            <a:r>
              <a:rPr lang="en-US" sz="1400" dirty="0">
                <a:solidFill>
                  <a:srgbClr val="334155"/>
                </a:solidFill>
                <a:latin typeface="Calibri" pitchFamily="34" charset="0"/>
                <a:ea typeface="Calibri" pitchFamily="34" charset="-122"/>
                <a:cs typeface="Calibri" pitchFamily="34" charset="-120"/>
              </a:rPr>
              <a:t>6 runs — median reported</a:t>
            </a:r>
            <a:endParaRPr lang="en-US" sz="1400" dirty="0"/>
          </a:p>
        </p:txBody>
      </p:sp>
      <p:pic>
        <p:nvPicPr>
          <p:cNvPr id="45" name="Image 2" descr="preencoded.png"/>
          <p:cNvPicPr>
            <a:picLocks noChangeAspect="1"/>
          </p:cNvPicPr>
          <p:nvPr/>
        </p:nvPicPr>
        <p:blipFill>
          <a:blip r:embed="rId3"/>
          <a:stretch>
            <a:fillRect/>
          </a:stretch>
        </p:blipFill>
        <p:spPr>
          <a:xfrm>
            <a:off x="7498080" y="5669280"/>
            <a:ext cx="219456" cy="219456"/>
          </a:xfrm>
          <a:prstGeom prst="rect">
            <a:avLst/>
          </a:prstGeom>
        </p:spPr>
      </p:pic>
      <p:sp>
        <p:nvSpPr>
          <p:cNvPr id="46" name="Text 41"/>
          <p:cNvSpPr/>
          <p:nvPr/>
        </p:nvSpPr>
        <p:spPr>
          <a:xfrm>
            <a:off x="7778496" y="5644896"/>
            <a:ext cx="3779520" cy="292608"/>
          </a:xfrm>
          <a:prstGeom prst="rect">
            <a:avLst/>
          </a:prstGeom>
          <a:noFill/>
          <a:ln/>
        </p:spPr>
        <p:txBody>
          <a:bodyPr wrap="square" rtlCol="0" anchor="ctr"/>
          <a:lstStyle/>
          <a:p>
            <a:r>
              <a:rPr lang="en-US" sz="1400" dirty="0">
                <a:solidFill>
                  <a:srgbClr val="334155"/>
                </a:solidFill>
                <a:latin typeface="Calibri" pitchFamily="34" charset="0"/>
                <a:ea typeface="Calibri" pitchFamily="34" charset="-122"/>
                <a:cs typeface="Calibri" pitchFamily="34" charset="-120"/>
              </a:rPr>
              <a:t>Linux CLOCK_MONOTONIC timer</a:t>
            </a:r>
            <a:endParaRPr lang="en-US" sz="1400" dirty="0"/>
          </a:p>
        </p:txBody>
      </p:sp>
      <p:pic>
        <p:nvPicPr>
          <p:cNvPr id="47" name="Image 3" descr="preencoded.png"/>
          <p:cNvPicPr>
            <a:picLocks noChangeAspect="1"/>
          </p:cNvPicPr>
          <p:nvPr/>
        </p:nvPicPr>
        <p:blipFill>
          <a:blip r:embed="rId3"/>
          <a:stretch>
            <a:fillRect/>
          </a:stretch>
        </p:blipFill>
        <p:spPr>
          <a:xfrm>
            <a:off x="7498080" y="5961888"/>
            <a:ext cx="219456" cy="219456"/>
          </a:xfrm>
          <a:prstGeom prst="rect">
            <a:avLst/>
          </a:prstGeom>
        </p:spPr>
      </p:pic>
      <p:sp>
        <p:nvSpPr>
          <p:cNvPr id="48" name="Text 42"/>
          <p:cNvSpPr/>
          <p:nvPr/>
        </p:nvSpPr>
        <p:spPr>
          <a:xfrm>
            <a:off x="7778496" y="5937504"/>
            <a:ext cx="3779520" cy="292608"/>
          </a:xfrm>
          <a:prstGeom prst="rect">
            <a:avLst/>
          </a:prstGeom>
          <a:noFill/>
          <a:ln/>
        </p:spPr>
        <p:txBody>
          <a:bodyPr wrap="square" rtlCol="0" anchor="ctr"/>
          <a:lstStyle/>
          <a:p>
            <a:r>
              <a:rPr lang="en-US" sz="1400" dirty="0">
                <a:solidFill>
                  <a:srgbClr val="334155"/>
                </a:solidFill>
                <a:latin typeface="Calibri" pitchFamily="34" charset="0"/>
                <a:ea typeface="Calibri" pitchFamily="34" charset="-122"/>
                <a:cs typeface="Calibri" pitchFamily="34" charset="-120"/>
              </a:rPr>
              <a:t>gcc -O2 -pthread</a:t>
            </a:r>
            <a:endParaRPr lang="en-US" sz="1400" dirty="0"/>
          </a:p>
        </p:txBody>
      </p:sp>
      <p:sp>
        <p:nvSpPr>
          <p:cNvPr id="49" name="Text 43"/>
          <p:cNvSpPr/>
          <p:nvPr/>
        </p:nvSpPr>
        <p:spPr>
          <a:xfrm>
            <a:off x="487680" y="6339840"/>
            <a:ext cx="10485120" cy="365760"/>
          </a:xfrm>
          <a:prstGeom prst="rect">
            <a:avLst/>
          </a:prstGeom>
          <a:noFill/>
          <a:ln/>
        </p:spPr>
        <p:txBody>
          <a:bodyPr wrap="square" rtlCol="0" anchor="ctr"/>
          <a:lstStyle/>
          <a:p>
            <a:r>
              <a:rPr lang="en-US" sz="1067" dirty="0">
                <a:solidFill>
                  <a:srgbClr val="64748B"/>
                </a:solidFill>
              </a:rPr>
              <a:t>High-Level Synthesis for Multi-Core Systems</a:t>
            </a:r>
            <a:endParaRPr lang="en-US" sz="1067" dirty="0"/>
          </a:p>
        </p:txBody>
      </p:sp>
      <p:sp>
        <p:nvSpPr>
          <p:cNvPr id="50" name="Text 44"/>
          <p:cNvSpPr/>
          <p:nvPr/>
        </p:nvSpPr>
        <p:spPr>
          <a:xfrm>
            <a:off x="11338560" y="6339840"/>
            <a:ext cx="609600" cy="365760"/>
          </a:xfrm>
          <a:prstGeom prst="rect">
            <a:avLst/>
          </a:prstGeom>
          <a:noFill/>
          <a:ln/>
        </p:spPr>
        <p:txBody>
          <a:bodyPr wrap="square" rtlCol="0" anchor="ctr"/>
          <a:lstStyle/>
          <a:p>
            <a:pPr algn="r"/>
            <a:r>
              <a:rPr lang="en-US" sz="1100" b="1" dirty="0">
                <a:solidFill>
                  <a:schemeClr val="accent1"/>
                </a:solidFill>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C"/>
          </a:solidFill>
          <a:ln w="12700">
            <a:solidFill>
              <a:srgbClr val="F7FAFC">
                <a:alpha val="0"/>
              </a:srgbClr>
            </a:solidFill>
            <a:prstDash val="solid"/>
          </a:ln>
        </p:spPr>
        <p:txBody>
          <a:bodyPr/>
          <a:lstStyle/>
          <a:p>
            <a:endParaRPr lang="en-DE"/>
          </a:p>
        </p:txBody>
      </p:sp>
      <p:sp>
        <p:nvSpPr>
          <p:cNvPr id="3" name="Text 1"/>
          <p:cNvSpPr/>
          <p:nvPr/>
        </p:nvSpPr>
        <p:spPr>
          <a:xfrm>
            <a:off x="502920" y="310896"/>
            <a:ext cx="7863840" cy="438912"/>
          </a:xfrm>
          <a:prstGeom prst="rect">
            <a:avLst/>
          </a:prstGeom>
          <a:noFill/>
          <a:ln/>
        </p:spPr>
        <p:txBody>
          <a:bodyPr wrap="square" lIns="0" tIns="0" rIns="0" bIns="0" rtlCol="0" anchor="ctr"/>
          <a:lstStyle/>
          <a:p>
            <a:pPr marL="0" indent="0">
              <a:buNone/>
            </a:pPr>
            <a:r>
              <a:rPr lang="en-US" sz="2500" b="1" dirty="0">
                <a:solidFill>
                  <a:srgbClr val="14213D"/>
                </a:solidFill>
                <a:latin typeface="Aptos Display" pitchFamily="34" charset="0"/>
                <a:ea typeface="Aptos Display" pitchFamily="34" charset="-122"/>
                <a:cs typeface="Aptos Display" pitchFamily="34" charset="-120"/>
              </a:rPr>
              <a:t>POSIX Results</a:t>
            </a:r>
            <a:endParaRPr lang="en-US" sz="2500" dirty="0"/>
          </a:p>
        </p:txBody>
      </p:sp>
      <p:sp>
        <p:nvSpPr>
          <p:cNvPr id="4" name="Text 2"/>
          <p:cNvSpPr/>
          <p:nvPr/>
        </p:nvSpPr>
        <p:spPr>
          <a:xfrm>
            <a:off x="512064" y="804672"/>
            <a:ext cx="10789920" cy="274320"/>
          </a:xfrm>
          <a:prstGeom prst="rect">
            <a:avLst/>
          </a:prstGeom>
          <a:noFill/>
          <a:ln/>
        </p:spPr>
        <p:txBody>
          <a:bodyPr wrap="square" lIns="0" tIns="0" rIns="0" bIns="0" rtlCol="0" anchor="ctr"/>
          <a:lstStyle/>
          <a:p>
            <a:pPr marL="0" indent="0">
              <a:buNone/>
            </a:pPr>
            <a:r>
              <a:rPr lang="en-US" sz="1050" dirty="0">
                <a:solidFill>
                  <a:srgbClr val="6B7280"/>
                </a:solidFill>
              </a:rPr>
              <a:t>Linux pthreads model processing elements and expose real overhead.</a:t>
            </a:r>
            <a:endParaRPr lang="en-US" sz="1050" dirty="0"/>
          </a:p>
        </p:txBody>
      </p:sp>
      <p:sp>
        <p:nvSpPr>
          <p:cNvPr id="5" name="Text 3"/>
          <p:cNvSpPr/>
          <p:nvPr/>
        </p:nvSpPr>
        <p:spPr>
          <a:xfrm>
            <a:off x="512064" y="6537960"/>
            <a:ext cx="4846320" cy="164592"/>
          </a:xfrm>
          <a:prstGeom prst="rect">
            <a:avLst/>
          </a:prstGeom>
          <a:noFill/>
          <a:ln/>
        </p:spPr>
        <p:txBody>
          <a:bodyPr wrap="square" lIns="0" tIns="0" rIns="0" bIns="0" rtlCol="0" anchor="ctr"/>
          <a:lstStyle/>
          <a:p>
            <a:pPr marL="0" indent="0">
              <a:buNone/>
            </a:pPr>
            <a:r>
              <a:rPr lang="en-US" sz="850" dirty="0">
                <a:solidFill>
                  <a:srgbClr val="6B7280"/>
                </a:solidFill>
              </a:rPr>
              <a:t>High-Level Synthesis for Multi-Core Systems</a:t>
            </a:r>
            <a:endParaRPr lang="en-US" sz="850" dirty="0"/>
          </a:p>
        </p:txBody>
      </p:sp>
      <p:sp>
        <p:nvSpPr>
          <p:cNvPr id="6" name="Text 4"/>
          <p:cNvSpPr/>
          <p:nvPr/>
        </p:nvSpPr>
        <p:spPr>
          <a:xfrm>
            <a:off x="11183112" y="6473952"/>
            <a:ext cx="502920" cy="256032"/>
          </a:xfrm>
          <a:prstGeom prst="rect">
            <a:avLst/>
          </a:prstGeom>
          <a:noFill/>
          <a:ln/>
        </p:spPr>
        <p:txBody>
          <a:bodyPr wrap="square" lIns="0" tIns="0" rIns="0" bIns="0" rtlCol="0" anchor="ctr"/>
          <a:lstStyle/>
          <a:p>
            <a:pPr marL="0" indent="0" algn="r">
              <a:buNone/>
            </a:pPr>
            <a:r>
              <a:rPr lang="en-US" sz="1100" b="1" dirty="0">
                <a:solidFill>
                  <a:srgbClr val="2563EB"/>
                </a:solidFill>
              </a:rPr>
              <a:t>11</a:t>
            </a:r>
            <a:endParaRPr lang="en-US" sz="1100" dirty="0"/>
          </a:p>
        </p:txBody>
      </p:sp>
      <p:graphicFrame>
        <p:nvGraphicFramePr>
          <p:cNvPr id="7" name="Chart 0"/>
          <p:cNvGraphicFramePr/>
          <p:nvPr/>
        </p:nvGraphicFramePr>
        <p:xfrm>
          <a:off x="777240" y="1417320"/>
          <a:ext cx="4892040" cy="278892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2057400" y="4315968"/>
            <a:ext cx="2148840" cy="256032"/>
          </a:xfrm>
          <a:prstGeom prst="rect">
            <a:avLst/>
          </a:prstGeom>
          <a:noFill/>
          <a:ln/>
        </p:spPr>
        <p:txBody>
          <a:bodyPr wrap="square" lIns="635" tIns="635" rIns="635" bIns="635" rtlCol="0" anchor="ctr">
            <a:normAutofit/>
          </a:bodyPr>
          <a:lstStyle/>
          <a:p>
            <a:pPr marL="0" indent="0" algn="ctr">
              <a:buNone/>
            </a:pPr>
            <a:r>
              <a:rPr lang="en-US" sz="1500" b="1" dirty="0">
                <a:solidFill>
                  <a:srgbClr val="14213D"/>
                </a:solidFill>
                <a:latin typeface="Aptos" pitchFamily="34" charset="0"/>
                <a:ea typeface="Aptos" pitchFamily="34" charset="-122"/>
                <a:cs typeface="Aptos" pitchFamily="34" charset="-120"/>
              </a:rPr>
              <a:t>Execution time ↓</a:t>
            </a:r>
            <a:endParaRPr lang="en-US" sz="1500" dirty="0"/>
          </a:p>
        </p:txBody>
      </p:sp>
      <p:graphicFrame>
        <p:nvGraphicFramePr>
          <p:cNvPr id="9" name="Chart 1"/>
          <p:cNvGraphicFramePr/>
          <p:nvPr/>
        </p:nvGraphicFramePr>
        <p:xfrm>
          <a:off x="6446520" y="1417320"/>
          <a:ext cx="4800600" cy="278892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 6"/>
          <p:cNvSpPr/>
          <p:nvPr/>
        </p:nvSpPr>
        <p:spPr>
          <a:xfrm>
            <a:off x="7571232" y="4315968"/>
            <a:ext cx="2743200" cy="256032"/>
          </a:xfrm>
          <a:prstGeom prst="rect">
            <a:avLst/>
          </a:prstGeom>
          <a:noFill/>
          <a:ln/>
        </p:spPr>
        <p:txBody>
          <a:bodyPr wrap="square" lIns="635" tIns="635" rIns="635" bIns="635" rtlCol="0" anchor="ctr">
            <a:normAutofit/>
          </a:bodyPr>
          <a:lstStyle/>
          <a:p>
            <a:pPr marL="0" indent="0" algn="ctr">
              <a:buNone/>
            </a:pPr>
            <a:r>
              <a:rPr lang="en-US" sz="1500" b="1" dirty="0">
                <a:solidFill>
                  <a:srgbClr val="14213D"/>
                </a:solidFill>
                <a:latin typeface="Aptos" pitchFamily="34" charset="0"/>
                <a:ea typeface="Aptos" pitchFamily="34" charset="-122"/>
                <a:cs typeface="Aptos" pitchFamily="34" charset="-120"/>
              </a:rPr>
              <a:t>Measured vs. ideal speedup</a:t>
            </a:r>
            <a:endParaRPr lang="en-US" sz="1500" dirty="0"/>
          </a:p>
        </p:txBody>
      </p:sp>
      <p:sp>
        <p:nvSpPr>
          <p:cNvPr id="25" name="Shape 2">
            <a:extLst>
              <a:ext uri="{FF2B5EF4-FFF2-40B4-BE49-F238E27FC236}">
                <a16:creationId xmlns:a16="http://schemas.microsoft.com/office/drawing/2014/main" id="{880BB7FF-4EE6-3733-397C-D50D0C4E1F72}"/>
              </a:ext>
            </a:extLst>
          </p:cNvPr>
          <p:cNvSpPr/>
          <p:nvPr/>
        </p:nvSpPr>
        <p:spPr>
          <a:xfrm>
            <a:off x="2846949" y="4839286"/>
            <a:ext cx="1346982" cy="1214042"/>
          </a:xfrm>
          <a:prstGeom prst="roundRect">
            <a:avLst>
              <a:gd name="adj" fmla="val 7742"/>
            </a:avLst>
          </a:prstGeom>
          <a:solidFill>
            <a:srgbClr val="0F2044"/>
          </a:solidFill>
          <a:ln w="12700">
            <a:solidFill>
              <a:srgbClr val="0F2044"/>
            </a:solidFill>
            <a:prstDash val="solid"/>
          </a:ln>
          <a:effectLst>
            <a:outerShdw blurRad="101600" dist="38100" dir="2700000" algn="bl" rotWithShape="0">
              <a:srgbClr val="000000">
                <a:alpha val="10000"/>
              </a:srgbClr>
            </a:outerShdw>
          </a:effectLst>
        </p:spPr>
        <p:txBody>
          <a:bodyPr/>
          <a:lstStyle/>
          <a:p>
            <a:endParaRPr lang="en-DE"/>
          </a:p>
        </p:txBody>
      </p:sp>
      <p:sp>
        <p:nvSpPr>
          <p:cNvPr id="26" name="Text 3">
            <a:extLst>
              <a:ext uri="{FF2B5EF4-FFF2-40B4-BE49-F238E27FC236}">
                <a16:creationId xmlns:a16="http://schemas.microsoft.com/office/drawing/2014/main" id="{F720A6AE-3293-C40F-DCCF-32AC71F40966}"/>
              </a:ext>
            </a:extLst>
          </p:cNvPr>
          <p:cNvSpPr/>
          <p:nvPr/>
        </p:nvSpPr>
        <p:spPr>
          <a:xfrm>
            <a:off x="2846949" y="4930726"/>
            <a:ext cx="1346982" cy="58744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1.00×</a:t>
            </a:r>
            <a:endParaRPr lang="en-US" sz="3400" dirty="0"/>
          </a:p>
        </p:txBody>
      </p:sp>
      <p:sp>
        <p:nvSpPr>
          <p:cNvPr id="27" name="Text 4">
            <a:extLst>
              <a:ext uri="{FF2B5EF4-FFF2-40B4-BE49-F238E27FC236}">
                <a16:creationId xmlns:a16="http://schemas.microsoft.com/office/drawing/2014/main" id="{726D1EFE-EBF1-18E1-1AA2-4B3C3882BC63}"/>
              </a:ext>
            </a:extLst>
          </p:cNvPr>
          <p:cNvSpPr/>
          <p:nvPr/>
        </p:nvSpPr>
        <p:spPr>
          <a:xfrm>
            <a:off x="2846949" y="5525086"/>
            <a:ext cx="1346982" cy="234976"/>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K=1 (baseline)</a:t>
            </a:r>
            <a:endParaRPr lang="en-US" sz="1100" dirty="0"/>
          </a:p>
        </p:txBody>
      </p:sp>
      <p:sp>
        <p:nvSpPr>
          <p:cNvPr id="28" name="Text 5">
            <a:extLst>
              <a:ext uri="{FF2B5EF4-FFF2-40B4-BE49-F238E27FC236}">
                <a16:creationId xmlns:a16="http://schemas.microsoft.com/office/drawing/2014/main" id="{5EE4FF1D-C9C1-BE94-5B01-680728E60581}"/>
              </a:ext>
            </a:extLst>
          </p:cNvPr>
          <p:cNvSpPr/>
          <p:nvPr/>
        </p:nvSpPr>
        <p:spPr>
          <a:xfrm>
            <a:off x="2846949" y="5753686"/>
            <a:ext cx="1346982" cy="219311"/>
          </a:xfrm>
          <a:prstGeom prst="rect">
            <a:avLst/>
          </a:prstGeom>
          <a:noFill/>
          <a:ln/>
        </p:spPr>
        <p:txBody>
          <a:bodyPr wrap="square" rtlCol="0" anchor="ctr"/>
          <a:lstStyle/>
          <a:p>
            <a:pPr marL="0" indent="0" algn="ctr">
              <a:buNone/>
            </a:pPr>
            <a:r>
              <a:rPr lang="en-US" sz="950" i="1" dirty="0">
                <a:solidFill>
                  <a:srgbClr val="FFFFFF"/>
                </a:solidFill>
                <a:latin typeface="Calibri" pitchFamily="34" charset="0"/>
                <a:ea typeface="Calibri" pitchFamily="34" charset="-122"/>
                <a:cs typeface="Calibri" pitchFamily="34" charset="-120"/>
              </a:rPr>
              <a:t>T₁ = 0.002286 s</a:t>
            </a:r>
            <a:endParaRPr lang="en-US" sz="950" dirty="0"/>
          </a:p>
        </p:txBody>
      </p:sp>
      <p:sp>
        <p:nvSpPr>
          <p:cNvPr id="29" name="Shape 6">
            <a:extLst>
              <a:ext uri="{FF2B5EF4-FFF2-40B4-BE49-F238E27FC236}">
                <a16:creationId xmlns:a16="http://schemas.microsoft.com/office/drawing/2014/main" id="{45E81261-FD53-C4CD-2B11-44D3E71F132C}"/>
              </a:ext>
            </a:extLst>
          </p:cNvPr>
          <p:cNvSpPr/>
          <p:nvPr/>
        </p:nvSpPr>
        <p:spPr>
          <a:xfrm>
            <a:off x="4995789" y="4839286"/>
            <a:ext cx="1346982" cy="1214042"/>
          </a:xfrm>
          <a:prstGeom prst="roundRect">
            <a:avLst>
              <a:gd name="adj" fmla="val 7742"/>
            </a:avLst>
          </a:prstGeom>
          <a:solidFill>
            <a:srgbClr val="0D7377"/>
          </a:solidFill>
          <a:ln w="12700">
            <a:solidFill>
              <a:srgbClr val="0D7377"/>
            </a:solidFill>
            <a:prstDash val="solid"/>
          </a:ln>
          <a:effectLst>
            <a:outerShdw blurRad="101600" dist="38100" dir="2700000" algn="bl" rotWithShape="0">
              <a:srgbClr val="000000">
                <a:alpha val="10000"/>
              </a:srgbClr>
            </a:outerShdw>
          </a:effectLst>
        </p:spPr>
        <p:txBody>
          <a:bodyPr/>
          <a:lstStyle/>
          <a:p>
            <a:endParaRPr lang="en-DE"/>
          </a:p>
        </p:txBody>
      </p:sp>
      <p:sp>
        <p:nvSpPr>
          <p:cNvPr id="30" name="Text 7">
            <a:extLst>
              <a:ext uri="{FF2B5EF4-FFF2-40B4-BE49-F238E27FC236}">
                <a16:creationId xmlns:a16="http://schemas.microsoft.com/office/drawing/2014/main" id="{85322CDF-EA26-712A-0AA3-64599E32E13D}"/>
              </a:ext>
            </a:extLst>
          </p:cNvPr>
          <p:cNvSpPr/>
          <p:nvPr/>
        </p:nvSpPr>
        <p:spPr>
          <a:xfrm>
            <a:off x="4995789" y="4930726"/>
            <a:ext cx="1346982" cy="58744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1.70×</a:t>
            </a:r>
            <a:endParaRPr lang="en-US" sz="3400" dirty="0"/>
          </a:p>
        </p:txBody>
      </p:sp>
      <p:sp>
        <p:nvSpPr>
          <p:cNvPr id="31" name="Text 8">
            <a:extLst>
              <a:ext uri="{FF2B5EF4-FFF2-40B4-BE49-F238E27FC236}">
                <a16:creationId xmlns:a16="http://schemas.microsoft.com/office/drawing/2014/main" id="{75B6D434-D776-9DA2-711F-AC0D732658F6}"/>
              </a:ext>
            </a:extLst>
          </p:cNvPr>
          <p:cNvSpPr/>
          <p:nvPr/>
        </p:nvSpPr>
        <p:spPr>
          <a:xfrm>
            <a:off x="4995789" y="5525086"/>
            <a:ext cx="1346982" cy="234976"/>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K=2 (two PEs)</a:t>
            </a:r>
            <a:endParaRPr lang="en-US" sz="1100" dirty="0"/>
          </a:p>
        </p:txBody>
      </p:sp>
      <p:sp>
        <p:nvSpPr>
          <p:cNvPr id="32" name="Text 9">
            <a:extLst>
              <a:ext uri="{FF2B5EF4-FFF2-40B4-BE49-F238E27FC236}">
                <a16:creationId xmlns:a16="http://schemas.microsoft.com/office/drawing/2014/main" id="{0D77E73C-33D9-D2AC-ACE4-C8C7FCE9846E}"/>
              </a:ext>
            </a:extLst>
          </p:cNvPr>
          <p:cNvSpPr/>
          <p:nvPr/>
        </p:nvSpPr>
        <p:spPr>
          <a:xfrm>
            <a:off x="4995789" y="5753686"/>
            <a:ext cx="1346982" cy="219311"/>
          </a:xfrm>
          <a:prstGeom prst="rect">
            <a:avLst/>
          </a:prstGeom>
          <a:noFill/>
          <a:ln/>
        </p:spPr>
        <p:txBody>
          <a:bodyPr wrap="square" rtlCol="0" anchor="ctr"/>
          <a:lstStyle/>
          <a:p>
            <a:pPr marL="0" indent="0" algn="ctr">
              <a:buNone/>
            </a:pPr>
            <a:r>
              <a:rPr lang="en-US" sz="950" i="1" dirty="0">
                <a:solidFill>
                  <a:srgbClr val="FFFFFF"/>
                </a:solidFill>
                <a:latin typeface="Calibri" pitchFamily="34" charset="0"/>
                <a:ea typeface="Calibri" pitchFamily="34" charset="-122"/>
                <a:cs typeface="Calibri" pitchFamily="34" charset="-120"/>
              </a:rPr>
              <a:t>T₂ = 0.001346 s</a:t>
            </a:r>
            <a:endParaRPr lang="en-US" sz="950" dirty="0"/>
          </a:p>
        </p:txBody>
      </p:sp>
      <p:sp>
        <p:nvSpPr>
          <p:cNvPr id="33" name="Shape 10">
            <a:extLst>
              <a:ext uri="{FF2B5EF4-FFF2-40B4-BE49-F238E27FC236}">
                <a16:creationId xmlns:a16="http://schemas.microsoft.com/office/drawing/2014/main" id="{11B563E7-9E37-8B0D-C012-A12D6C699B28}"/>
              </a:ext>
            </a:extLst>
          </p:cNvPr>
          <p:cNvSpPr/>
          <p:nvPr/>
        </p:nvSpPr>
        <p:spPr>
          <a:xfrm>
            <a:off x="7144629" y="4839286"/>
            <a:ext cx="1346982" cy="1214042"/>
          </a:xfrm>
          <a:prstGeom prst="roundRect">
            <a:avLst>
              <a:gd name="adj" fmla="val 7742"/>
            </a:avLst>
          </a:prstGeom>
          <a:solidFill>
            <a:srgbClr val="00897B"/>
          </a:solidFill>
          <a:ln w="12700">
            <a:solidFill>
              <a:srgbClr val="00897B"/>
            </a:solidFill>
            <a:prstDash val="solid"/>
          </a:ln>
          <a:effectLst>
            <a:outerShdw blurRad="101600" dist="38100" dir="2700000" algn="bl" rotWithShape="0">
              <a:srgbClr val="000000">
                <a:alpha val="10000"/>
              </a:srgbClr>
            </a:outerShdw>
          </a:effectLst>
        </p:spPr>
        <p:txBody>
          <a:bodyPr/>
          <a:lstStyle/>
          <a:p>
            <a:endParaRPr lang="en-DE"/>
          </a:p>
        </p:txBody>
      </p:sp>
      <p:sp>
        <p:nvSpPr>
          <p:cNvPr id="34" name="Text 11">
            <a:extLst>
              <a:ext uri="{FF2B5EF4-FFF2-40B4-BE49-F238E27FC236}">
                <a16:creationId xmlns:a16="http://schemas.microsoft.com/office/drawing/2014/main" id="{5A8BD72C-21A4-57DB-13D0-B57167ECD26A}"/>
              </a:ext>
            </a:extLst>
          </p:cNvPr>
          <p:cNvSpPr/>
          <p:nvPr/>
        </p:nvSpPr>
        <p:spPr>
          <a:xfrm>
            <a:off x="7144629" y="4930726"/>
            <a:ext cx="1346982" cy="58744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2.31×</a:t>
            </a:r>
            <a:endParaRPr lang="en-US" sz="3400" dirty="0"/>
          </a:p>
        </p:txBody>
      </p:sp>
      <p:sp>
        <p:nvSpPr>
          <p:cNvPr id="35" name="Text 12">
            <a:extLst>
              <a:ext uri="{FF2B5EF4-FFF2-40B4-BE49-F238E27FC236}">
                <a16:creationId xmlns:a16="http://schemas.microsoft.com/office/drawing/2014/main" id="{02F13A8E-1C4F-9BDF-EEAD-6BE40584FB97}"/>
              </a:ext>
            </a:extLst>
          </p:cNvPr>
          <p:cNvSpPr/>
          <p:nvPr/>
        </p:nvSpPr>
        <p:spPr>
          <a:xfrm>
            <a:off x="7144629" y="5525086"/>
            <a:ext cx="1346982" cy="234976"/>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K=4 (four PEs)</a:t>
            </a:r>
            <a:endParaRPr lang="en-US" sz="1100" dirty="0"/>
          </a:p>
        </p:txBody>
      </p:sp>
      <p:sp>
        <p:nvSpPr>
          <p:cNvPr id="36" name="Text 13">
            <a:extLst>
              <a:ext uri="{FF2B5EF4-FFF2-40B4-BE49-F238E27FC236}">
                <a16:creationId xmlns:a16="http://schemas.microsoft.com/office/drawing/2014/main" id="{103ECBC4-5744-DF20-4E5E-9F48FA47299C}"/>
              </a:ext>
            </a:extLst>
          </p:cNvPr>
          <p:cNvSpPr/>
          <p:nvPr/>
        </p:nvSpPr>
        <p:spPr>
          <a:xfrm>
            <a:off x="7144629" y="5753686"/>
            <a:ext cx="1346982" cy="219311"/>
          </a:xfrm>
          <a:prstGeom prst="rect">
            <a:avLst/>
          </a:prstGeom>
          <a:noFill/>
          <a:ln/>
        </p:spPr>
        <p:txBody>
          <a:bodyPr wrap="square" rtlCol="0" anchor="ctr"/>
          <a:lstStyle/>
          <a:p>
            <a:pPr marL="0" indent="0" algn="ctr">
              <a:buNone/>
            </a:pPr>
            <a:r>
              <a:rPr lang="en-US" sz="950" i="1" dirty="0">
                <a:solidFill>
                  <a:srgbClr val="FFFFFF"/>
                </a:solidFill>
                <a:latin typeface="Calibri" pitchFamily="34" charset="0"/>
                <a:ea typeface="Calibri" pitchFamily="34" charset="-122"/>
                <a:cs typeface="Calibri" pitchFamily="34" charset="-120"/>
              </a:rPr>
              <a:t>T₄ = 0.000992 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19343" y="0"/>
            <a:ext cx="12191695" cy="6858000"/>
          </a:xfrm>
          <a:prstGeom prst="rect">
            <a:avLst/>
          </a:prstGeom>
          <a:solidFill>
            <a:srgbClr val="F7FAFC"/>
          </a:solidFill>
          <a:ln w="12700">
            <a:solidFill>
              <a:srgbClr val="F7FAFC">
                <a:alpha val="0"/>
              </a:srgbClr>
            </a:solidFill>
            <a:prstDash val="solid"/>
          </a:ln>
        </p:spPr>
        <p:txBody>
          <a:bodyPr/>
          <a:lstStyle/>
          <a:p>
            <a:endParaRPr lang="en-DE"/>
          </a:p>
        </p:txBody>
      </p:sp>
      <p:sp>
        <p:nvSpPr>
          <p:cNvPr id="3" name="Text 1"/>
          <p:cNvSpPr/>
          <p:nvPr/>
        </p:nvSpPr>
        <p:spPr>
          <a:xfrm>
            <a:off x="502920" y="310896"/>
            <a:ext cx="7863840" cy="438912"/>
          </a:xfrm>
          <a:prstGeom prst="rect">
            <a:avLst/>
          </a:prstGeom>
          <a:noFill/>
          <a:ln/>
        </p:spPr>
        <p:txBody>
          <a:bodyPr wrap="square" lIns="0" tIns="0" rIns="0" bIns="0" rtlCol="0" anchor="ctr"/>
          <a:lstStyle/>
          <a:p>
            <a:pPr marL="0" indent="0">
              <a:buNone/>
            </a:pPr>
            <a:r>
              <a:rPr lang="en-US" sz="2500" b="1" dirty="0">
                <a:solidFill>
                  <a:srgbClr val="14213D"/>
                </a:solidFill>
                <a:latin typeface="Aptos Display" pitchFamily="34" charset="0"/>
                <a:ea typeface="Aptos Display" pitchFamily="34" charset="-122"/>
                <a:cs typeface="Aptos Display" pitchFamily="34" charset="-120"/>
              </a:rPr>
              <a:t>FPGA Resource-Sharing Experiment</a:t>
            </a:r>
            <a:endParaRPr lang="en-US" sz="2500" dirty="0"/>
          </a:p>
        </p:txBody>
      </p:sp>
      <p:sp>
        <p:nvSpPr>
          <p:cNvPr id="4" name="Text 2"/>
          <p:cNvSpPr/>
          <p:nvPr/>
        </p:nvSpPr>
        <p:spPr>
          <a:xfrm>
            <a:off x="512064" y="804672"/>
            <a:ext cx="10789920" cy="274320"/>
          </a:xfrm>
          <a:prstGeom prst="rect">
            <a:avLst/>
          </a:prstGeom>
          <a:noFill/>
          <a:ln/>
        </p:spPr>
        <p:txBody>
          <a:bodyPr wrap="square" lIns="0" tIns="0" rIns="0" bIns="0" rtlCol="0" anchor="ctr"/>
          <a:lstStyle/>
          <a:p>
            <a:pPr marL="0" indent="0">
              <a:buNone/>
            </a:pPr>
            <a:r>
              <a:rPr lang="en-US" sz="1050" dirty="0">
                <a:solidFill>
                  <a:srgbClr val="6B7280"/>
                </a:solidFill>
              </a:rPr>
              <a:t>Same interface, different internal datapath: duplicated hardware vs. shared hardware.</a:t>
            </a:r>
            <a:endParaRPr lang="en-US" sz="1050" dirty="0"/>
          </a:p>
        </p:txBody>
      </p:sp>
      <p:sp>
        <p:nvSpPr>
          <p:cNvPr id="5" name="Text 3"/>
          <p:cNvSpPr/>
          <p:nvPr/>
        </p:nvSpPr>
        <p:spPr>
          <a:xfrm>
            <a:off x="512064" y="6537960"/>
            <a:ext cx="4846320" cy="164592"/>
          </a:xfrm>
          <a:prstGeom prst="rect">
            <a:avLst/>
          </a:prstGeom>
          <a:noFill/>
          <a:ln/>
        </p:spPr>
        <p:txBody>
          <a:bodyPr wrap="square" lIns="0" tIns="0" rIns="0" bIns="0" rtlCol="0" anchor="ctr"/>
          <a:lstStyle/>
          <a:p>
            <a:pPr marL="0" indent="0">
              <a:buNone/>
            </a:pPr>
            <a:r>
              <a:rPr lang="en-US" sz="850" dirty="0">
                <a:solidFill>
                  <a:srgbClr val="6B7280"/>
                </a:solidFill>
              </a:rPr>
              <a:t>High-Level Synthesis for Multi-Core Systems</a:t>
            </a:r>
            <a:endParaRPr lang="en-US" sz="850" dirty="0"/>
          </a:p>
        </p:txBody>
      </p:sp>
      <p:sp>
        <p:nvSpPr>
          <p:cNvPr id="6" name="Text 4"/>
          <p:cNvSpPr/>
          <p:nvPr/>
        </p:nvSpPr>
        <p:spPr>
          <a:xfrm>
            <a:off x="11183112" y="6473952"/>
            <a:ext cx="502920" cy="256032"/>
          </a:xfrm>
          <a:prstGeom prst="rect">
            <a:avLst/>
          </a:prstGeom>
          <a:noFill/>
          <a:ln/>
        </p:spPr>
        <p:txBody>
          <a:bodyPr wrap="square" lIns="0" tIns="0" rIns="0" bIns="0" rtlCol="0" anchor="ctr"/>
          <a:lstStyle/>
          <a:p>
            <a:pPr marL="0" indent="0" algn="r">
              <a:buNone/>
            </a:pPr>
            <a:r>
              <a:rPr lang="en-US" sz="1100" b="1" dirty="0">
                <a:solidFill>
                  <a:srgbClr val="2563EB"/>
                </a:solidFill>
              </a:rPr>
              <a:t>12</a:t>
            </a:r>
            <a:endParaRPr lang="en-US" sz="1100" dirty="0"/>
          </a:p>
        </p:txBody>
      </p:sp>
      <p:sp>
        <p:nvSpPr>
          <p:cNvPr id="7" name="Text 5"/>
          <p:cNvSpPr/>
          <p:nvPr/>
        </p:nvSpPr>
        <p:spPr>
          <a:xfrm>
            <a:off x="960120" y="1325880"/>
            <a:ext cx="1920240" cy="237744"/>
          </a:xfrm>
          <a:prstGeom prst="rect">
            <a:avLst/>
          </a:prstGeom>
          <a:noFill/>
          <a:ln/>
        </p:spPr>
        <p:txBody>
          <a:bodyPr wrap="square" lIns="635" tIns="635" rIns="635" bIns="635" rtlCol="0" anchor="ctr">
            <a:normAutofit lnSpcReduction="10000"/>
          </a:bodyPr>
          <a:lstStyle/>
          <a:p>
            <a:pPr marL="0" indent="0" algn="l">
              <a:buNone/>
            </a:pPr>
            <a:r>
              <a:rPr lang="en-US" sz="1600" b="1" dirty="0">
                <a:solidFill>
                  <a:srgbClr val="14213D"/>
                </a:solidFill>
                <a:latin typeface="Aptos" pitchFamily="34" charset="0"/>
                <a:ea typeface="Aptos" pitchFamily="34" charset="-122"/>
                <a:cs typeface="Aptos" pitchFamily="34" charset="-120"/>
              </a:rPr>
              <a:t>Separate datapath</a:t>
            </a:r>
            <a:endParaRPr lang="en-US" sz="1600" dirty="0"/>
          </a:p>
        </p:txBody>
      </p:sp>
      <p:sp>
        <p:nvSpPr>
          <p:cNvPr id="8" name="Shape 6"/>
          <p:cNvSpPr/>
          <p:nvPr/>
        </p:nvSpPr>
        <p:spPr>
          <a:xfrm>
            <a:off x="868680" y="1737360"/>
            <a:ext cx="3703320" cy="2331720"/>
          </a:xfrm>
          <a:prstGeom prst="roundRect">
            <a:avLst>
              <a:gd name="adj" fmla="val 3137"/>
            </a:avLst>
          </a:prstGeom>
          <a:solidFill>
            <a:srgbClr val="FFFFFF"/>
          </a:solidFill>
          <a:ln w="12700">
            <a:solidFill>
              <a:srgbClr val="D6DEE9"/>
            </a:solidFill>
            <a:prstDash val="solid"/>
          </a:ln>
        </p:spPr>
        <p:txBody>
          <a:bodyPr/>
          <a:lstStyle/>
          <a:p>
            <a:endParaRPr lang="en-DE" dirty="0"/>
          </a:p>
        </p:txBody>
      </p:sp>
      <p:sp>
        <p:nvSpPr>
          <p:cNvPr id="9" name="Shape 7"/>
          <p:cNvSpPr/>
          <p:nvPr/>
        </p:nvSpPr>
        <p:spPr>
          <a:xfrm>
            <a:off x="1234440" y="2103120"/>
            <a:ext cx="475488" cy="475488"/>
          </a:xfrm>
          <a:prstGeom prst="ellipse">
            <a:avLst/>
          </a:prstGeom>
          <a:solidFill>
            <a:srgbClr val="DBEAFE"/>
          </a:solidFill>
          <a:ln w="13970">
            <a:solidFill>
              <a:srgbClr val="2563EB"/>
            </a:solidFill>
            <a:prstDash val="solid"/>
          </a:ln>
        </p:spPr>
        <p:txBody>
          <a:bodyPr/>
          <a:lstStyle/>
          <a:p>
            <a:endParaRPr lang="en-DE"/>
          </a:p>
        </p:txBody>
      </p:sp>
      <p:sp>
        <p:nvSpPr>
          <p:cNvPr id="10" name="Text 8"/>
          <p:cNvSpPr/>
          <p:nvPr/>
        </p:nvSpPr>
        <p:spPr>
          <a:xfrm>
            <a:off x="1353312" y="2212848"/>
            <a:ext cx="237744" cy="146304"/>
          </a:xfrm>
          <a:prstGeom prst="rect">
            <a:avLst/>
          </a:prstGeom>
          <a:noFill/>
          <a:ln/>
        </p:spPr>
        <p:txBody>
          <a:bodyPr wrap="square" lIns="635" tIns="635" rIns="635" bIns="635" rtlCol="0" anchor="ctr">
            <a:normAutofit fontScale="70000" lnSpcReduction="20000"/>
          </a:bodyPr>
          <a:lstStyle/>
          <a:p>
            <a:pPr marL="0" indent="0" algn="ctr">
              <a:buNone/>
            </a:pPr>
            <a:r>
              <a:rPr lang="en-US" sz="1500" b="1" dirty="0">
                <a:solidFill>
                  <a:srgbClr val="1F2937"/>
                </a:solidFill>
                <a:latin typeface="Aptos" pitchFamily="34" charset="0"/>
                <a:ea typeface="Aptos" pitchFamily="34" charset="-122"/>
                <a:cs typeface="Aptos" pitchFamily="34" charset="-120"/>
              </a:rPr>
              <a:t>×</a:t>
            </a:r>
            <a:endParaRPr lang="en-US" sz="1500" dirty="0"/>
          </a:p>
        </p:txBody>
      </p:sp>
      <p:sp>
        <p:nvSpPr>
          <p:cNvPr id="11" name="Shape 9"/>
          <p:cNvSpPr/>
          <p:nvPr/>
        </p:nvSpPr>
        <p:spPr>
          <a:xfrm>
            <a:off x="2057400" y="2103120"/>
            <a:ext cx="475488" cy="475488"/>
          </a:xfrm>
          <a:prstGeom prst="ellipse">
            <a:avLst/>
          </a:prstGeom>
          <a:solidFill>
            <a:srgbClr val="DBEAFE"/>
          </a:solidFill>
          <a:ln w="13970">
            <a:solidFill>
              <a:srgbClr val="2563EB"/>
            </a:solidFill>
            <a:prstDash val="solid"/>
          </a:ln>
        </p:spPr>
        <p:txBody>
          <a:bodyPr/>
          <a:lstStyle/>
          <a:p>
            <a:endParaRPr lang="en-DE"/>
          </a:p>
        </p:txBody>
      </p:sp>
      <p:sp>
        <p:nvSpPr>
          <p:cNvPr id="12" name="Text 10"/>
          <p:cNvSpPr/>
          <p:nvPr/>
        </p:nvSpPr>
        <p:spPr>
          <a:xfrm>
            <a:off x="2176272" y="2212848"/>
            <a:ext cx="237744" cy="146304"/>
          </a:xfrm>
          <a:prstGeom prst="rect">
            <a:avLst/>
          </a:prstGeom>
          <a:noFill/>
          <a:ln/>
        </p:spPr>
        <p:txBody>
          <a:bodyPr wrap="square" lIns="635" tIns="635" rIns="635" bIns="635" rtlCol="0" anchor="ctr">
            <a:normAutofit fontScale="70000" lnSpcReduction="20000"/>
          </a:bodyPr>
          <a:lstStyle/>
          <a:p>
            <a:pPr marL="0" indent="0" algn="ctr">
              <a:buNone/>
            </a:pPr>
            <a:r>
              <a:rPr lang="en-US" sz="1500" b="1" dirty="0">
                <a:solidFill>
                  <a:srgbClr val="1F2937"/>
                </a:solidFill>
                <a:latin typeface="Aptos" pitchFamily="34" charset="0"/>
                <a:ea typeface="Aptos" pitchFamily="34" charset="-122"/>
                <a:cs typeface="Aptos" pitchFamily="34" charset="-120"/>
              </a:rPr>
              <a:t>×</a:t>
            </a:r>
            <a:endParaRPr lang="en-US" sz="1500" dirty="0"/>
          </a:p>
        </p:txBody>
      </p:sp>
      <p:sp>
        <p:nvSpPr>
          <p:cNvPr id="13" name="Shape 11"/>
          <p:cNvSpPr/>
          <p:nvPr/>
        </p:nvSpPr>
        <p:spPr>
          <a:xfrm>
            <a:off x="2880360" y="2103120"/>
            <a:ext cx="475488" cy="475488"/>
          </a:xfrm>
          <a:prstGeom prst="ellipse">
            <a:avLst/>
          </a:prstGeom>
          <a:solidFill>
            <a:srgbClr val="DBEAFE"/>
          </a:solidFill>
          <a:ln w="13970">
            <a:solidFill>
              <a:srgbClr val="2563EB"/>
            </a:solidFill>
            <a:prstDash val="solid"/>
          </a:ln>
        </p:spPr>
        <p:txBody>
          <a:bodyPr/>
          <a:lstStyle/>
          <a:p>
            <a:endParaRPr lang="en-DE"/>
          </a:p>
        </p:txBody>
      </p:sp>
      <p:sp>
        <p:nvSpPr>
          <p:cNvPr id="14" name="Text 12"/>
          <p:cNvSpPr/>
          <p:nvPr/>
        </p:nvSpPr>
        <p:spPr>
          <a:xfrm>
            <a:off x="2999232" y="2212848"/>
            <a:ext cx="237744" cy="146304"/>
          </a:xfrm>
          <a:prstGeom prst="rect">
            <a:avLst/>
          </a:prstGeom>
          <a:noFill/>
          <a:ln/>
        </p:spPr>
        <p:txBody>
          <a:bodyPr wrap="square" lIns="635" tIns="635" rIns="635" bIns="635" rtlCol="0" anchor="ctr">
            <a:normAutofit fontScale="70000" lnSpcReduction="20000"/>
          </a:bodyPr>
          <a:lstStyle/>
          <a:p>
            <a:pPr marL="0" indent="0" algn="ctr">
              <a:buNone/>
            </a:pPr>
            <a:r>
              <a:rPr lang="en-US" sz="1500" b="1" dirty="0">
                <a:solidFill>
                  <a:srgbClr val="1F2937"/>
                </a:solidFill>
                <a:latin typeface="Aptos" pitchFamily="34" charset="0"/>
                <a:ea typeface="Aptos" pitchFamily="34" charset="-122"/>
                <a:cs typeface="Aptos" pitchFamily="34" charset="-120"/>
              </a:rPr>
              <a:t>+</a:t>
            </a:r>
            <a:endParaRPr lang="en-US" sz="1500" dirty="0"/>
          </a:p>
        </p:txBody>
      </p:sp>
      <p:sp>
        <p:nvSpPr>
          <p:cNvPr id="15" name="Shape 13"/>
          <p:cNvSpPr/>
          <p:nvPr/>
        </p:nvSpPr>
        <p:spPr>
          <a:xfrm>
            <a:off x="1645920" y="3017520"/>
            <a:ext cx="475488" cy="475488"/>
          </a:xfrm>
          <a:prstGeom prst="ellipse">
            <a:avLst/>
          </a:prstGeom>
          <a:solidFill>
            <a:srgbClr val="DBEAFE"/>
          </a:solidFill>
          <a:ln w="13970">
            <a:solidFill>
              <a:srgbClr val="2563EB"/>
            </a:solidFill>
            <a:prstDash val="solid"/>
          </a:ln>
        </p:spPr>
        <p:txBody>
          <a:bodyPr/>
          <a:lstStyle/>
          <a:p>
            <a:endParaRPr lang="en-DE"/>
          </a:p>
        </p:txBody>
      </p:sp>
      <p:sp>
        <p:nvSpPr>
          <p:cNvPr id="16" name="Text 14"/>
          <p:cNvSpPr/>
          <p:nvPr/>
        </p:nvSpPr>
        <p:spPr>
          <a:xfrm>
            <a:off x="1764792" y="3127248"/>
            <a:ext cx="237744" cy="146304"/>
          </a:xfrm>
          <a:prstGeom prst="rect">
            <a:avLst/>
          </a:prstGeom>
          <a:noFill/>
          <a:ln/>
        </p:spPr>
        <p:txBody>
          <a:bodyPr wrap="square" lIns="635" tIns="635" rIns="635" bIns="635" rtlCol="0" anchor="ctr">
            <a:normAutofit fontScale="70000" lnSpcReduction="20000"/>
          </a:bodyPr>
          <a:lstStyle/>
          <a:p>
            <a:pPr marL="0" indent="0" algn="ctr">
              <a:buNone/>
            </a:pPr>
            <a:r>
              <a:rPr lang="en-US" sz="1500" b="1" dirty="0">
                <a:solidFill>
                  <a:srgbClr val="1F2937"/>
                </a:solidFill>
                <a:latin typeface="Aptos" pitchFamily="34" charset="0"/>
                <a:ea typeface="Aptos" pitchFamily="34" charset="-122"/>
                <a:cs typeface="Aptos" pitchFamily="34" charset="-120"/>
              </a:rPr>
              <a:t>+</a:t>
            </a:r>
            <a:endParaRPr lang="en-US" sz="1500" dirty="0"/>
          </a:p>
        </p:txBody>
      </p:sp>
      <p:sp>
        <p:nvSpPr>
          <p:cNvPr id="17" name="Shape 15"/>
          <p:cNvSpPr/>
          <p:nvPr/>
        </p:nvSpPr>
        <p:spPr>
          <a:xfrm>
            <a:off x="2468880" y="3017520"/>
            <a:ext cx="475488" cy="475488"/>
          </a:xfrm>
          <a:prstGeom prst="ellipse">
            <a:avLst/>
          </a:prstGeom>
          <a:solidFill>
            <a:srgbClr val="DBEAFE"/>
          </a:solidFill>
          <a:ln w="13970">
            <a:solidFill>
              <a:srgbClr val="2563EB"/>
            </a:solidFill>
            <a:prstDash val="solid"/>
          </a:ln>
        </p:spPr>
        <p:txBody>
          <a:bodyPr/>
          <a:lstStyle/>
          <a:p>
            <a:endParaRPr lang="en-DE"/>
          </a:p>
        </p:txBody>
      </p:sp>
      <p:sp>
        <p:nvSpPr>
          <p:cNvPr id="18" name="Text 16"/>
          <p:cNvSpPr/>
          <p:nvPr/>
        </p:nvSpPr>
        <p:spPr>
          <a:xfrm>
            <a:off x="2587752" y="3127248"/>
            <a:ext cx="237744" cy="146304"/>
          </a:xfrm>
          <a:prstGeom prst="rect">
            <a:avLst/>
          </a:prstGeom>
          <a:noFill/>
          <a:ln/>
        </p:spPr>
        <p:txBody>
          <a:bodyPr wrap="square" lIns="635" tIns="635" rIns="635" bIns="635" rtlCol="0" anchor="ctr">
            <a:normAutofit fontScale="70000" lnSpcReduction="20000"/>
          </a:bodyPr>
          <a:lstStyle/>
          <a:p>
            <a:pPr marL="0" indent="0" algn="ctr">
              <a:buNone/>
            </a:pPr>
            <a:r>
              <a:rPr lang="en-US" sz="1500" b="1" dirty="0">
                <a:solidFill>
                  <a:srgbClr val="1F2937"/>
                </a:solidFill>
                <a:latin typeface="Aptos" pitchFamily="34" charset="0"/>
                <a:ea typeface="Aptos" pitchFamily="34" charset="-122"/>
                <a:cs typeface="Aptos" pitchFamily="34" charset="-120"/>
              </a:rPr>
              <a:t>+</a:t>
            </a:r>
            <a:endParaRPr lang="en-US" sz="1500" dirty="0"/>
          </a:p>
        </p:txBody>
      </p:sp>
      <p:sp>
        <p:nvSpPr>
          <p:cNvPr id="19" name="Shape 17"/>
          <p:cNvSpPr/>
          <p:nvPr/>
        </p:nvSpPr>
        <p:spPr>
          <a:xfrm>
            <a:off x="3291840" y="3017520"/>
            <a:ext cx="475488" cy="475488"/>
          </a:xfrm>
          <a:prstGeom prst="ellipse">
            <a:avLst/>
          </a:prstGeom>
          <a:solidFill>
            <a:srgbClr val="DBEAFE"/>
          </a:solidFill>
          <a:ln w="13970">
            <a:solidFill>
              <a:srgbClr val="2563EB"/>
            </a:solidFill>
            <a:prstDash val="solid"/>
          </a:ln>
        </p:spPr>
        <p:txBody>
          <a:bodyPr/>
          <a:lstStyle/>
          <a:p>
            <a:endParaRPr lang="en-DE"/>
          </a:p>
        </p:txBody>
      </p:sp>
      <p:sp>
        <p:nvSpPr>
          <p:cNvPr id="20" name="Text 18"/>
          <p:cNvSpPr/>
          <p:nvPr/>
        </p:nvSpPr>
        <p:spPr>
          <a:xfrm>
            <a:off x="3410712" y="3127248"/>
            <a:ext cx="237744" cy="146304"/>
          </a:xfrm>
          <a:prstGeom prst="rect">
            <a:avLst/>
          </a:prstGeom>
          <a:noFill/>
          <a:ln/>
        </p:spPr>
        <p:txBody>
          <a:bodyPr wrap="square" lIns="635" tIns="635" rIns="635" bIns="635" rtlCol="0" anchor="ctr">
            <a:normAutofit fontScale="70000" lnSpcReduction="20000"/>
          </a:bodyPr>
          <a:lstStyle/>
          <a:p>
            <a:pPr marL="0" indent="0" algn="ctr">
              <a:buNone/>
            </a:pPr>
            <a:r>
              <a:rPr lang="en-US" sz="1500" b="1" dirty="0">
                <a:solidFill>
                  <a:srgbClr val="1F2937"/>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554480" y="3703320"/>
            <a:ext cx="2240280" cy="164592"/>
          </a:xfrm>
          <a:prstGeom prst="rect">
            <a:avLst/>
          </a:prstGeom>
          <a:noFill/>
          <a:ln/>
        </p:spPr>
        <p:txBody>
          <a:bodyPr wrap="square" lIns="635" tIns="635" rIns="635" bIns="635" rtlCol="0" anchor="ctr">
            <a:normAutofit/>
          </a:bodyPr>
          <a:lstStyle/>
          <a:p>
            <a:pPr marL="0" indent="0" algn="ctr">
              <a:buNone/>
            </a:pPr>
            <a:r>
              <a:rPr lang="en-US" sz="1050" dirty="0">
                <a:solidFill>
                  <a:srgbClr val="6B7280"/>
                </a:solidFill>
                <a:latin typeface="Aptos" pitchFamily="34" charset="0"/>
                <a:ea typeface="Aptos" pitchFamily="34" charset="-122"/>
                <a:cs typeface="Aptos" pitchFamily="34" charset="-120"/>
              </a:rPr>
              <a:t>mode selects output</a:t>
            </a:r>
            <a:endParaRPr lang="en-US" sz="1050" dirty="0"/>
          </a:p>
        </p:txBody>
      </p:sp>
      <p:sp>
        <p:nvSpPr>
          <p:cNvPr id="22" name="Text 20"/>
          <p:cNvSpPr/>
          <p:nvPr/>
        </p:nvSpPr>
        <p:spPr>
          <a:xfrm>
            <a:off x="6172200" y="1325880"/>
            <a:ext cx="2286000" cy="237744"/>
          </a:xfrm>
          <a:prstGeom prst="rect">
            <a:avLst/>
          </a:prstGeom>
          <a:noFill/>
          <a:ln/>
        </p:spPr>
        <p:txBody>
          <a:bodyPr wrap="square" lIns="635" tIns="635" rIns="635" bIns="635" rtlCol="0" anchor="ctr">
            <a:normAutofit lnSpcReduction="10000"/>
          </a:bodyPr>
          <a:lstStyle/>
          <a:p>
            <a:pPr marL="0" indent="0" algn="l">
              <a:buNone/>
            </a:pPr>
            <a:r>
              <a:rPr lang="en-US" sz="1600" b="1" dirty="0">
                <a:solidFill>
                  <a:srgbClr val="14213D"/>
                </a:solidFill>
                <a:latin typeface="Aptos" pitchFamily="34" charset="0"/>
                <a:ea typeface="Aptos" pitchFamily="34" charset="-122"/>
                <a:cs typeface="Aptos" pitchFamily="34" charset="-120"/>
              </a:rPr>
              <a:t>Shared-resource design</a:t>
            </a:r>
            <a:endParaRPr lang="en-US" sz="1600" dirty="0"/>
          </a:p>
        </p:txBody>
      </p:sp>
      <p:sp>
        <p:nvSpPr>
          <p:cNvPr id="23" name="Shape 21"/>
          <p:cNvSpPr/>
          <p:nvPr/>
        </p:nvSpPr>
        <p:spPr>
          <a:xfrm>
            <a:off x="5806440" y="1737360"/>
            <a:ext cx="4069080" cy="2331720"/>
          </a:xfrm>
          <a:prstGeom prst="roundRect">
            <a:avLst>
              <a:gd name="adj" fmla="val 3137"/>
            </a:avLst>
          </a:prstGeom>
          <a:solidFill>
            <a:srgbClr val="FFFFFF"/>
          </a:solidFill>
          <a:ln w="12700">
            <a:solidFill>
              <a:srgbClr val="D6DEE9"/>
            </a:solidFill>
            <a:prstDash val="solid"/>
          </a:ln>
        </p:spPr>
        <p:txBody>
          <a:bodyPr/>
          <a:lstStyle/>
          <a:p>
            <a:endParaRPr lang="en-US" dirty="0">
              <a:solidFill>
                <a:srgbClr val="00BFA5"/>
              </a:solidFill>
              <a:latin typeface="Courier New" pitchFamily="34" charset="0"/>
              <a:ea typeface="Courier New" pitchFamily="34" charset="-122"/>
              <a:cs typeface="Courier New" pitchFamily="34" charset="-120"/>
            </a:endParaRPr>
          </a:p>
          <a:p>
            <a:endParaRPr lang="en-US" dirty="0">
              <a:solidFill>
                <a:srgbClr val="00BFA5"/>
              </a:solidFill>
              <a:latin typeface="Courier New" pitchFamily="34" charset="0"/>
              <a:ea typeface="Courier New" pitchFamily="34" charset="-122"/>
              <a:cs typeface="Courier New" pitchFamily="34" charset="-120"/>
            </a:endParaRPr>
          </a:p>
          <a:p>
            <a:endParaRPr lang="en-US" dirty="0">
              <a:solidFill>
                <a:srgbClr val="00BFA5"/>
              </a:solidFill>
              <a:latin typeface="Courier New" pitchFamily="34" charset="0"/>
              <a:ea typeface="Courier New" pitchFamily="34" charset="-122"/>
              <a:cs typeface="Courier New" pitchFamily="34" charset="-120"/>
            </a:endParaRPr>
          </a:p>
          <a:p>
            <a:endParaRPr lang="en-US" dirty="0">
              <a:solidFill>
                <a:srgbClr val="00BFA5"/>
              </a:solidFill>
              <a:latin typeface="Courier New" pitchFamily="34" charset="0"/>
              <a:ea typeface="Courier New" pitchFamily="34" charset="-122"/>
              <a:cs typeface="Courier New" pitchFamily="34" charset="-120"/>
            </a:endParaRPr>
          </a:p>
          <a:p>
            <a:endParaRPr lang="en-US" dirty="0">
              <a:solidFill>
                <a:srgbClr val="00BFA5"/>
              </a:solidFill>
              <a:latin typeface="Courier New" pitchFamily="34" charset="0"/>
              <a:ea typeface="Courier New" pitchFamily="34" charset="-122"/>
              <a:cs typeface="Courier New" pitchFamily="34" charset="-120"/>
            </a:endParaRPr>
          </a:p>
          <a:p>
            <a:endParaRPr lang="en-US" dirty="0">
              <a:solidFill>
                <a:srgbClr val="00BFA5"/>
              </a:solidFill>
              <a:latin typeface="Courier New" pitchFamily="34" charset="0"/>
              <a:ea typeface="Courier New" pitchFamily="34" charset="-122"/>
              <a:cs typeface="Courier New" pitchFamily="34" charset="-120"/>
            </a:endParaRPr>
          </a:p>
          <a:p>
            <a:pPr algn="ctr"/>
            <a:r>
              <a:rPr lang="en-US" sz="1200" dirty="0" err="1">
                <a:latin typeface="Courier New" pitchFamily="34" charset="0"/>
                <a:ea typeface="Courier New" pitchFamily="34" charset="-122"/>
                <a:cs typeface="Courier New" pitchFamily="34" charset="-120"/>
              </a:rPr>
              <a:t>shared_mult</a:t>
            </a:r>
            <a:r>
              <a:rPr lang="en-US" sz="1200" dirty="0">
                <a:latin typeface="Courier New" pitchFamily="34" charset="0"/>
                <a:ea typeface="Courier New" pitchFamily="34" charset="-122"/>
                <a:cs typeface="Courier New" pitchFamily="34" charset="-120"/>
              </a:rPr>
              <a:t> &lt;= op1 * op2</a:t>
            </a:r>
            <a:r>
              <a:rPr lang="en-US" dirty="0">
                <a:latin typeface="Courier New" pitchFamily="34" charset="0"/>
                <a:ea typeface="Courier New" pitchFamily="34" charset="-122"/>
                <a:cs typeface="Courier New" pitchFamily="34" charset="-120"/>
              </a:rPr>
              <a:t>;</a:t>
            </a:r>
            <a:endParaRPr lang="en-US" dirty="0"/>
          </a:p>
        </p:txBody>
      </p:sp>
      <p:sp>
        <p:nvSpPr>
          <p:cNvPr id="24" name="Shape 22"/>
          <p:cNvSpPr/>
          <p:nvPr/>
        </p:nvSpPr>
        <p:spPr>
          <a:xfrm>
            <a:off x="6126480" y="2057400"/>
            <a:ext cx="658368" cy="438912"/>
          </a:xfrm>
          <a:prstGeom prst="roundRect">
            <a:avLst>
              <a:gd name="adj" fmla="val 16667"/>
            </a:avLst>
          </a:prstGeom>
          <a:solidFill>
            <a:srgbClr val="EDE9FE"/>
          </a:solidFill>
          <a:ln w="12700">
            <a:solidFill>
              <a:srgbClr val="7C3AED"/>
            </a:solidFill>
            <a:prstDash val="solid"/>
          </a:ln>
        </p:spPr>
        <p:txBody>
          <a:bodyPr/>
          <a:lstStyle/>
          <a:p>
            <a:endParaRPr lang="en-DE"/>
          </a:p>
        </p:txBody>
      </p:sp>
      <p:sp>
        <p:nvSpPr>
          <p:cNvPr id="25" name="Text 23"/>
          <p:cNvSpPr/>
          <p:nvPr/>
        </p:nvSpPr>
        <p:spPr>
          <a:xfrm>
            <a:off x="6236208" y="2194560"/>
            <a:ext cx="438912" cy="109728"/>
          </a:xfrm>
          <a:prstGeom prst="rect">
            <a:avLst/>
          </a:prstGeom>
          <a:noFill/>
          <a:ln/>
        </p:spPr>
        <p:txBody>
          <a:bodyPr wrap="square" lIns="635" tIns="635" rIns="635" bIns="635" rtlCol="0" anchor="ctr">
            <a:normAutofit fontScale="85000" lnSpcReduction="20000"/>
          </a:bodyPr>
          <a:lstStyle/>
          <a:p>
            <a:pPr marL="0" indent="0" algn="ctr">
              <a:buNone/>
            </a:pPr>
            <a:r>
              <a:rPr lang="en-US" sz="950" b="1" dirty="0">
                <a:solidFill>
                  <a:srgbClr val="7C3AED"/>
                </a:solidFill>
                <a:latin typeface="Aptos" pitchFamily="34" charset="0"/>
                <a:ea typeface="Aptos" pitchFamily="34" charset="-122"/>
                <a:cs typeface="Aptos" pitchFamily="34" charset="-120"/>
              </a:rPr>
              <a:t>MUX</a:t>
            </a:r>
            <a:endParaRPr lang="en-US" sz="950" dirty="0"/>
          </a:p>
        </p:txBody>
      </p:sp>
      <p:sp>
        <p:nvSpPr>
          <p:cNvPr id="26" name="Shape 24"/>
          <p:cNvSpPr/>
          <p:nvPr/>
        </p:nvSpPr>
        <p:spPr>
          <a:xfrm>
            <a:off x="6126480" y="2907792"/>
            <a:ext cx="658368" cy="438912"/>
          </a:xfrm>
          <a:prstGeom prst="roundRect">
            <a:avLst>
              <a:gd name="adj" fmla="val 16667"/>
            </a:avLst>
          </a:prstGeom>
          <a:solidFill>
            <a:srgbClr val="EDE9FE"/>
          </a:solidFill>
          <a:ln w="12700">
            <a:solidFill>
              <a:srgbClr val="7C3AED"/>
            </a:solidFill>
            <a:prstDash val="solid"/>
          </a:ln>
        </p:spPr>
        <p:txBody>
          <a:bodyPr/>
          <a:lstStyle/>
          <a:p>
            <a:endParaRPr lang="en-DE"/>
          </a:p>
        </p:txBody>
      </p:sp>
      <p:sp>
        <p:nvSpPr>
          <p:cNvPr id="27" name="Text 25"/>
          <p:cNvSpPr/>
          <p:nvPr/>
        </p:nvSpPr>
        <p:spPr>
          <a:xfrm>
            <a:off x="6236208" y="3044952"/>
            <a:ext cx="438912" cy="109728"/>
          </a:xfrm>
          <a:prstGeom prst="rect">
            <a:avLst/>
          </a:prstGeom>
          <a:noFill/>
          <a:ln/>
        </p:spPr>
        <p:txBody>
          <a:bodyPr wrap="square" lIns="635" tIns="635" rIns="635" bIns="635" rtlCol="0" anchor="ctr">
            <a:normAutofit fontScale="85000" lnSpcReduction="20000"/>
          </a:bodyPr>
          <a:lstStyle/>
          <a:p>
            <a:pPr marL="0" indent="0" algn="ctr">
              <a:buNone/>
            </a:pPr>
            <a:r>
              <a:rPr lang="en-US" sz="950" b="1" dirty="0">
                <a:solidFill>
                  <a:srgbClr val="7C3AED"/>
                </a:solidFill>
                <a:latin typeface="Aptos" pitchFamily="34" charset="0"/>
                <a:ea typeface="Aptos" pitchFamily="34" charset="-122"/>
                <a:cs typeface="Aptos" pitchFamily="34" charset="-120"/>
              </a:rPr>
              <a:t>MUX</a:t>
            </a:r>
            <a:endParaRPr lang="en-US" sz="950" dirty="0"/>
          </a:p>
        </p:txBody>
      </p:sp>
      <p:sp>
        <p:nvSpPr>
          <p:cNvPr id="28" name="Shape 26"/>
          <p:cNvSpPr/>
          <p:nvPr/>
        </p:nvSpPr>
        <p:spPr>
          <a:xfrm>
            <a:off x="6903720" y="2267712"/>
            <a:ext cx="914400" cy="429768"/>
          </a:xfrm>
          <a:prstGeom prst="line">
            <a:avLst/>
          </a:prstGeom>
          <a:noFill/>
          <a:ln w="15240">
            <a:solidFill>
              <a:srgbClr val="D6DEE9"/>
            </a:solidFill>
            <a:prstDash val="solid"/>
            <a:headEnd type="none"/>
            <a:tailEnd type="triangle"/>
          </a:ln>
        </p:spPr>
        <p:txBody>
          <a:bodyPr/>
          <a:lstStyle/>
          <a:p>
            <a:endParaRPr lang="en-DE"/>
          </a:p>
        </p:txBody>
      </p:sp>
      <p:sp>
        <p:nvSpPr>
          <p:cNvPr id="29" name="Shape 27"/>
          <p:cNvSpPr/>
          <p:nvPr/>
        </p:nvSpPr>
        <p:spPr>
          <a:xfrm flipV="1">
            <a:off x="6903720" y="2871216"/>
            <a:ext cx="914400" cy="256032"/>
          </a:xfrm>
          <a:prstGeom prst="line">
            <a:avLst/>
          </a:prstGeom>
          <a:noFill/>
          <a:ln w="15240">
            <a:solidFill>
              <a:srgbClr val="D6DEE9"/>
            </a:solidFill>
            <a:prstDash val="solid"/>
            <a:headEnd type="none"/>
            <a:tailEnd type="triangle"/>
          </a:ln>
        </p:spPr>
        <p:txBody>
          <a:bodyPr/>
          <a:lstStyle/>
          <a:p>
            <a:endParaRPr lang="en-DE"/>
          </a:p>
        </p:txBody>
      </p:sp>
      <p:sp>
        <p:nvSpPr>
          <p:cNvPr id="30" name="Shape 28"/>
          <p:cNvSpPr/>
          <p:nvPr/>
        </p:nvSpPr>
        <p:spPr>
          <a:xfrm>
            <a:off x="7909560" y="2475562"/>
            <a:ext cx="566928" cy="566928"/>
          </a:xfrm>
          <a:prstGeom prst="ellipse">
            <a:avLst/>
          </a:prstGeom>
          <a:solidFill>
            <a:srgbClr val="FEF3C7"/>
          </a:solidFill>
          <a:ln w="15240">
            <a:solidFill>
              <a:srgbClr val="F59E0B"/>
            </a:solidFill>
            <a:prstDash val="solid"/>
          </a:ln>
        </p:spPr>
        <p:txBody>
          <a:bodyPr/>
          <a:lstStyle/>
          <a:p>
            <a:endParaRPr lang="en-DE"/>
          </a:p>
        </p:txBody>
      </p:sp>
      <p:sp>
        <p:nvSpPr>
          <p:cNvPr id="31" name="Text 29"/>
          <p:cNvSpPr/>
          <p:nvPr/>
        </p:nvSpPr>
        <p:spPr>
          <a:xfrm>
            <a:off x="8037576" y="2724912"/>
            <a:ext cx="274320" cy="146304"/>
          </a:xfrm>
          <a:prstGeom prst="rect">
            <a:avLst/>
          </a:prstGeom>
          <a:noFill/>
          <a:ln/>
        </p:spPr>
        <p:txBody>
          <a:bodyPr wrap="square" lIns="635" tIns="635" rIns="635" bIns="635" rtlCol="0" anchor="ctr">
            <a:normAutofit fontScale="62500" lnSpcReduction="20000"/>
          </a:bodyPr>
          <a:lstStyle/>
          <a:p>
            <a:pPr marL="0" indent="0" algn="ctr">
              <a:buNone/>
            </a:pPr>
            <a:r>
              <a:rPr lang="en-US" sz="1700" b="1" dirty="0">
                <a:solidFill>
                  <a:srgbClr val="1F2937"/>
                </a:solidFill>
                <a:latin typeface="Aptos" pitchFamily="34" charset="0"/>
                <a:ea typeface="Aptos" pitchFamily="34" charset="-122"/>
                <a:cs typeface="Aptos" pitchFamily="34" charset="-120"/>
              </a:rPr>
              <a:t>×</a:t>
            </a:r>
            <a:endParaRPr lang="en-US" sz="1700" dirty="0"/>
          </a:p>
        </p:txBody>
      </p:sp>
      <p:sp>
        <p:nvSpPr>
          <p:cNvPr id="32" name="Shape 30"/>
          <p:cNvSpPr/>
          <p:nvPr/>
        </p:nvSpPr>
        <p:spPr>
          <a:xfrm>
            <a:off x="8567928" y="2798064"/>
            <a:ext cx="740664" cy="0"/>
          </a:xfrm>
          <a:prstGeom prst="line">
            <a:avLst/>
          </a:prstGeom>
          <a:noFill/>
          <a:ln w="15240">
            <a:solidFill>
              <a:srgbClr val="D6DEE9"/>
            </a:solidFill>
            <a:prstDash val="solid"/>
            <a:headEnd type="none"/>
            <a:tailEnd type="triangle"/>
          </a:ln>
        </p:spPr>
        <p:txBody>
          <a:bodyPr/>
          <a:lstStyle/>
          <a:p>
            <a:endParaRPr lang="en-DE"/>
          </a:p>
        </p:txBody>
      </p:sp>
      <p:sp>
        <p:nvSpPr>
          <p:cNvPr id="33" name="Text 31"/>
          <p:cNvSpPr/>
          <p:nvPr/>
        </p:nvSpPr>
        <p:spPr>
          <a:xfrm>
            <a:off x="8842248" y="2304288"/>
            <a:ext cx="868680" cy="457200"/>
          </a:xfrm>
          <a:prstGeom prst="rect">
            <a:avLst/>
          </a:prstGeom>
          <a:noFill/>
          <a:ln/>
        </p:spPr>
        <p:txBody>
          <a:bodyPr wrap="square" lIns="635" tIns="635" rIns="635" bIns="635" rtlCol="0" anchor="ctr">
            <a:normAutofit lnSpcReduction="10000"/>
          </a:bodyPr>
          <a:lstStyle/>
          <a:p>
            <a:pPr marL="0" indent="0" algn="ctr">
              <a:buNone/>
            </a:pPr>
            <a:r>
              <a:rPr lang="en-US" sz="1050" dirty="0">
                <a:solidFill>
                  <a:srgbClr val="6B7280"/>
                </a:solidFill>
                <a:latin typeface="Aptos" pitchFamily="34" charset="0"/>
                <a:ea typeface="Aptos" pitchFamily="34" charset="-122"/>
                <a:cs typeface="Aptos" pitchFamily="34" charset="-120"/>
              </a:rPr>
              <a:t>one multiplier reused</a:t>
            </a:r>
            <a:endParaRPr lang="en-US" sz="1050" dirty="0"/>
          </a:p>
          <a:p>
            <a:pPr marL="0" indent="0" algn="ctr">
              <a:buNone/>
            </a:pPr>
            <a:r>
              <a:rPr lang="en-US" sz="1050" dirty="0">
                <a:solidFill>
                  <a:srgbClr val="6B7280"/>
                </a:solidFill>
                <a:latin typeface="Aptos" pitchFamily="34" charset="0"/>
                <a:ea typeface="Aptos" pitchFamily="34" charset="-122"/>
                <a:cs typeface="Aptos" pitchFamily="34" charset="-120"/>
              </a:rPr>
              <a:t>across modes</a:t>
            </a:r>
            <a:endParaRPr lang="en-US" sz="1050" dirty="0"/>
          </a:p>
        </p:txBody>
      </p:sp>
      <p:graphicFrame>
        <p:nvGraphicFramePr>
          <p:cNvPr id="34" name="Chart 0"/>
          <p:cNvGraphicFramePr/>
          <p:nvPr>
            <p:extLst>
              <p:ext uri="{D42A27DB-BD31-4B8C-83A1-F6EECF244321}">
                <p14:modId xmlns:p14="http://schemas.microsoft.com/office/powerpoint/2010/main" val="4059537334"/>
              </p:ext>
            </p:extLst>
          </p:nvPr>
        </p:nvGraphicFramePr>
        <p:xfrm>
          <a:off x="1234440" y="4590288"/>
          <a:ext cx="4069080" cy="1417320"/>
        </p:xfrm>
        <a:graphic>
          <a:graphicData uri="http://schemas.openxmlformats.org/drawingml/2006/chart">
            <c:chart xmlns:c="http://schemas.openxmlformats.org/drawingml/2006/chart" xmlns:r="http://schemas.openxmlformats.org/officeDocument/2006/relationships" r:id="rId3"/>
          </a:graphicData>
        </a:graphic>
      </p:graphicFrame>
      <p:sp>
        <p:nvSpPr>
          <p:cNvPr id="35" name="Shape 32"/>
          <p:cNvSpPr/>
          <p:nvPr/>
        </p:nvSpPr>
        <p:spPr>
          <a:xfrm>
            <a:off x="6437376" y="4718304"/>
            <a:ext cx="3236976" cy="804672"/>
          </a:xfrm>
          <a:prstGeom prst="rect">
            <a:avLst/>
          </a:prstGeom>
          <a:solidFill>
            <a:srgbClr val="D1FAE5"/>
          </a:solidFill>
          <a:ln w="15240">
            <a:solidFill>
              <a:srgbClr val="10B981"/>
            </a:solidFill>
            <a:prstDash val="solid"/>
          </a:ln>
        </p:spPr>
        <p:txBody>
          <a:bodyPr/>
          <a:lstStyle/>
          <a:p>
            <a:endParaRPr lang="en-DE"/>
          </a:p>
        </p:txBody>
      </p:sp>
      <p:sp>
        <p:nvSpPr>
          <p:cNvPr id="36" name="Text 33"/>
          <p:cNvSpPr/>
          <p:nvPr/>
        </p:nvSpPr>
        <p:spPr>
          <a:xfrm>
            <a:off x="6583680" y="4919472"/>
            <a:ext cx="2926080" cy="246888"/>
          </a:xfrm>
          <a:prstGeom prst="rect">
            <a:avLst/>
          </a:prstGeom>
          <a:noFill/>
          <a:ln/>
        </p:spPr>
        <p:txBody>
          <a:bodyPr wrap="square" lIns="635" tIns="635" rIns="635" bIns="635" rtlCol="0" anchor="ctr">
            <a:normAutofit fontScale="92500" lnSpcReduction="20000"/>
          </a:bodyPr>
          <a:lstStyle/>
          <a:p>
            <a:pPr marL="0" indent="0" algn="ctr">
              <a:buNone/>
            </a:pPr>
            <a:r>
              <a:rPr lang="en-US" sz="2000" b="1" dirty="0">
                <a:solidFill>
                  <a:srgbClr val="14213D"/>
                </a:solidFill>
                <a:latin typeface="Aptos" pitchFamily="34" charset="0"/>
                <a:ea typeface="Aptos" pitchFamily="34" charset="-122"/>
                <a:cs typeface="Aptos" pitchFamily="34" charset="-120"/>
              </a:rPr>
              <a:t>19.1% LUT reduction</a:t>
            </a:r>
            <a:endParaRPr lang="en-US" sz="2000" dirty="0"/>
          </a:p>
        </p:txBody>
      </p:sp>
      <p:sp>
        <p:nvSpPr>
          <p:cNvPr id="37" name="Text 34"/>
          <p:cNvSpPr/>
          <p:nvPr/>
        </p:nvSpPr>
        <p:spPr>
          <a:xfrm>
            <a:off x="6601968" y="5285232"/>
            <a:ext cx="2834640" cy="146304"/>
          </a:xfrm>
          <a:prstGeom prst="rect">
            <a:avLst/>
          </a:prstGeom>
          <a:noFill/>
          <a:ln/>
        </p:spPr>
        <p:txBody>
          <a:bodyPr wrap="square" lIns="635" tIns="635" rIns="635" bIns="635" rtlCol="0" anchor="ctr">
            <a:normAutofit lnSpcReduction="10000"/>
          </a:bodyPr>
          <a:lstStyle/>
          <a:p>
            <a:pPr marL="0" indent="0" algn="ctr">
              <a:buNone/>
            </a:pPr>
            <a:r>
              <a:rPr lang="en-US" sz="1050" dirty="0">
                <a:solidFill>
                  <a:srgbClr val="6B7280"/>
                </a:solidFill>
                <a:latin typeface="Aptos" pitchFamily="34" charset="0"/>
                <a:ea typeface="Aptos" pitchFamily="34" charset="-122"/>
                <a:cs typeface="Aptos" pitchFamily="34" charset="-120"/>
              </a:rPr>
              <a:t>262 → 212 LUTs, same 50 IO pins</a:t>
            </a:r>
            <a:endParaRPr lang="en-US" sz="1050" dirty="0"/>
          </a:p>
        </p:txBody>
      </p:sp>
      <p:sp>
        <p:nvSpPr>
          <p:cNvPr id="38" name="Text 8">
            <a:extLst>
              <a:ext uri="{FF2B5EF4-FFF2-40B4-BE49-F238E27FC236}">
                <a16:creationId xmlns:a16="http://schemas.microsoft.com/office/drawing/2014/main" id="{F942A8CC-D1DF-7A25-1F33-9B02A065D065}"/>
              </a:ext>
            </a:extLst>
          </p:cNvPr>
          <p:cNvSpPr/>
          <p:nvPr/>
        </p:nvSpPr>
        <p:spPr>
          <a:xfrm>
            <a:off x="933391" y="1641348"/>
            <a:ext cx="3474720" cy="438912"/>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Mode 0: y = (a×b) + (c×d)  →  2 multipliers + 1 adder</a:t>
            </a:r>
            <a:endParaRPr lang="en-US" sz="1100" dirty="0"/>
          </a:p>
        </p:txBody>
      </p:sp>
      <p:sp>
        <p:nvSpPr>
          <p:cNvPr id="39" name="Text 9">
            <a:extLst>
              <a:ext uri="{FF2B5EF4-FFF2-40B4-BE49-F238E27FC236}">
                <a16:creationId xmlns:a16="http://schemas.microsoft.com/office/drawing/2014/main" id="{0AD0C897-CDE7-E506-2F91-3D0A457ADF89}"/>
              </a:ext>
            </a:extLst>
          </p:cNvPr>
          <p:cNvSpPr/>
          <p:nvPr/>
        </p:nvSpPr>
        <p:spPr>
          <a:xfrm>
            <a:off x="969264" y="2576498"/>
            <a:ext cx="3474720" cy="438912"/>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Mode 1: y = (a+b) × (c+d)  →  2 adders + 1 multiplier</a:t>
            </a:r>
            <a:endParaRPr lang="en-US" sz="1100" dirty="0"/>
          </a:p>
        </p:txBody>
      </p:sp>
      <p:sp>
        <p:nvSpPr>
          <p:cNvPr id="40" name="Text 10">
            <a:extLst>
              <a:ext uri="{FF2B5EF4-FFF2-40B4-BE49-F238E27FC236}">
                <a16:creationId xmlns:a16="http://schemas.microsoft.com/office/drawing/2014/main" id="{F5A44072-5413-62AB-0D50-4B69C1543739}"/>
              </a:ext>
            </a:extLst>
          </p:cNvPr>
          <p:cNvSpPr/>
          <p:nvPr/>
        </p:nvSpPr>
        <p:spPr>
          <a:xfrm>
            <a:off x="6455664" y="5532120"/>
            <a:ext cx="3474720" cy="438912"/>
          </a:xfrm>
          <a:prstGeom prst="rect">
            <a:avLst/>
          </a:prstGeom>
          <a:noFill/>
          <a:ln/>
        </p:spPr>
        <p:txBody>
          <a:bodyPr wrap="square" rtlCol="0" anchor="ctr"/>
          <a:lstStyle/>
          <a:p>
            <a:pPr marL="171450" indent="-171450">
              <a:buFont typeface="Wingdings" panose="05000000000000000000" pitchFamily="2" charset="2"/>
              <a:buChar char="q"/>
            </a:pPr>
            <a:r>
              <a:rPr lang="en-US" sz="1100" dirty="0">
                <a:solidFill>
                  <a:srgbClr val="334155"/>
                </a:solidFill>
                <a:latin typeface="Calibri" pitchFamily="34" charset="0"/>
                <a:ea typeface="Calibri" pitchFamily="34" charset="-122"/>
                <a:cs typeface="Calibri" pitchFamily="34" charset="-120"/>
              </a:rPr>
              <a:t>All 6 functional units always present in the netlist</a:t>
            </a:r>
            <a:endParaRPr lang="en-US" sz="1100" dirty="0"/>
          </a:p>
        </p:txBody>
      </p:sp>
      <p:sp>
        <p:nvSpPr>
          <p:cNvPr id="41" name="Text 11">
            <a:extLst>
              <a:ext uri="{FF2B5EF4-FFF2-40B4-BE49-F238E27FC236}">
                <a16:creationId xmlns:a16="http://schemas.microsoft.com/office/drawing/2014/main" id="{83F38C06-45AA-76F6-5D21-89555646F206}"/>
              </a:ext>
            </a:extLst>
          </p:cNvPr>
          <p:cNvSpPr/>
          <p:nvPr/>
        </p:nvSpPr>
        <p:spPr>
          <a:xfrm>
            <a:off x="6437376" y="5788152"/>
            <a:ext cx="3474720" cy="438912"/>
          </a:xfrm>
          <a:prstGeom prst="rect">
            <a:avLst/>
          </a:prstGeom>
          <a:noFill/>
          <a:ln/>
        </p:spPr>
        <p:txBody>
          <a:bodyPr wrap="square" rtlCol="0" anchor="ctr"/>
          <a:lstStyle/>
          <a:p>
            <a:pPr marL="171450" indent="-171450">
              <a:buFont typeface="Wingdings" panose="05000000000000000000" pitchFamily="2" charset="2"/>
              <a:buChar char="q"/>
            </a:pPr>
            <a:r>
              <a:rPr lang="en-US" sz="1100" dirty="0">
                <a:solidFill>
                  <a:srgbClr val="334155"/>
                </a:solidFill>
                <a:latin typeface="Calibri" pitchFamily="34" charset="0"/>
                <a:ea typeface="Calibri" pitchFamily="34" charset="-122"/>
                <a:cs typeface="Calibri" pitchFamily="34" charset="-120"/>
              </a:rPr>
              <a:t>No sharing — operations use dedicated hardware</a:t>
            </a:r>
            <a:endParaRPr lang="en-US" sz="1100" dirty="0"/>
          </a:p>
        </p:txBody>
      </p:sp>
      <p:sp>
        <p:nvSpPr>
          <p:cNvPr id="42" name="Text 13">
            <a:extLst>
              <a:ext uri="{FF2B5EF4-FFF2-40B4-BE49-F238E27FC236}">
                <a16:creationId xmlns:a16="http://schemas.microsoft.com/office/drawing/2014/main" id="{9C82C0F0-9C21-C248-AA54-636D081E1F0D}"/>
              </a:ext>
            </a:extLst>
          </p:cNvPr>
          <p:cNvSpPr/>
          <p:nvPr/>
        </p:nvSpPr>
        <p:spPr>
          <a:xfrm>
            <a:off x="1460578" y="4096512"/>
            <a:ext cx="3383280" cy="182880"/>
          </a:xfrm>
          <a:prstGeom prst="rect">
            <a:avLst/>
          </a:prstGeom>
          <a:noFill/>
          <a:ln/>
        </p:spPr>
        <p:txBody>
          <a:bodyPr wrap="square" lIns="0" tIns="0" rIns="0" bIns="0" rtlCol="0" anchor="ctr"/>
          <a:lstStyle/>
          <a:p>
            <a:pPr marL="0" indent="0">
              <a:buNone/>
            </a:pPr>
            <a:r>
              <a:rPr lang="en-US" sz="1020" b="1" dirty="0">
                <a:solidFill>
                  <a:srgbClr val="FF6B6B"/>
                </a:solidFill>
              </a:rPr>
              <a:t>Higher area, more independent logic</a:t>
            </a:r>
            <a:endParaRPr lang="en-US" sz="1020" dirty="0"/>
          </a:p>
        </p:txBody>
      </p:sp>
      <p:sp>
        <p:nvSpPr>
          <p:cNvPr id="43" name="Text 22">
            <a:extLst>
              <a:ext uri="{FF2B5EF4-FFF2-40B4-BE49-F238E27FC236}">
                <a16:creationId xmlns:a16="http://schemas.microsoft.com/office/drawing/2014/main" id="{64F818B0-E78E-62CC-F05F-E1BE320C553D}"/>
              </a:ext>
            </a:extLst>
          </p:cNvPr>
          <p:cNvSpPr/>
          <p:nvPr/>
        </p:nvSpPr>
        <p:spPr>
          <a:xfrm>
            <a:off x="6931152" y="4087368"/>
            <a:ext cx="3383280" cy="182880"/>
          </a:xfrm>
          <a:prstGeom prst="rect">
            <a:avLst/>
          </a:prstGeom>
          <a:noFill/>
          <a:ln/>
        </p:spPr>
        <p:txBody>
          <a:bodyPr wrap="square" lIns="0" tIns="0" rIns="0" bIns="0" rtlCol="0" anchor="ctr"/>
          <a:lstStyle/>
          <a:p>
            <a:pPr marL="0" indent="0">
              <a:buNone/>
            </a:pPr>
            <a:r>
              <a:rPr lang="en-US" sz="1020" b="1" dirty="0">
                <a:solidFill>
                  <a:srgbClr val="2DD4BF"/>
                </a:solidFill>
              </a:rPr>
              <a:t>Lower area, resource sharing</a:t>
            </a:r>
            <a:endParaRPr lang="en-US" sz="10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C"/>
          </a:solidFill>
          <a:ln w="12700">
            <a:solidFill>
              <a:srgbClr val="F7FAFC">
                <a:alpha val="0"/>
              </a:srgbClr>
            </a:solidFill>
            <a:prstDash val="solid"/>
          </a:ln>
        </p:spPr>
        <p:txBody>
          <a:bodyPr/>
          <a:lstStyle/>
          <a:p>
            <a:endParaRPr lang="en-DE"/>
          </a:p>
        </p:txBody>
      </p:sp>
      <p:sp>
        <p:nvSpPr>
          <p:cNvPr id="3" name="Text 1"/>
          <p:cNvSpPr/>
          <p:nvPr/>
        </p:nvSpPr>
        <p:spPr>
          <a:xfrm>
            <a:off x="502920" y="310896"/>
            <a:ext cx="7863840" cy="438912"/>
          </a:xfrm>
          <a:prstGeom prst="rect">
            <a:avLst/>
          </a:prstGeom>
          <a:noFill/>
          <a:ln/>
        </p:spPr>
        <p:txBody>
          <a:bodyPr wrap="square" lIns="0" tIns="0" rIns="0" bIns="0" rtlCol="0" anchor="ctr"/>
          <a:lstStyle/>
          <a:p>
            <a:pPr marL="0" indent="0">
              <a:buNone/>
            </a:pPr>
            <a:r>
              <a:rPr lang="en-US" sz="2500" b="1" dirty="0">
                <a:solidFill>
                  <a:srgbClr val="14213D"/>
                </a:solidFill>
                <a:latin typeface="Aptos Display" pitchFamily="34" charset="0"/>
                <a:ea typeface="Aptos Display" pitchFamily="34" charset="-122"/>
                <a:cs typeface="Aptos Display" pitchFamily="34" charset="-120"/>
              </a:rPr>
              <a:t>RTL Output and Practical Limits</a:t>
            </a:r>
            <a:endParaRPr lang="en-US" sz="2500" dirty="0"/>
          </a:p>
        </p:txBody>
      </p:sp>
      <p:sp>
        <p:nvSpPr>
          <p:cNvPr id="5" name="Text 3"/>
          <p:cNvSpPr/>
          <p:nvPr/>
        </p:nvSpPr>
        <p:spPr>
          <a:xfrm>
            <a:off x="512064" y="6537960"/>
            <a:ext cx="4846320" cy="164592"/>
          </a:xfrm>
          <a:prstGeom prst="rect">
            <a:avLst/>
          </a:prstGeom>
          <a:noFill/>
          <a:ln/>
        </p:spPr>
        <p:txBody>
          <a:bodyPr wrap="square" lIns="0" tIns="0" rIns="0" bIns="0" rtlCol="0" anchor="ctr"/>
          <a:lstStyle/>
          <a:p>
            <a:pPr marL="0" indent="0">
              <a:buNone/>
            </a:pPr>
            <a:r>
              <a:rPr lang="en-US" sz="850" dirty="0">
                <a:solidFill>
                  <a:srgbClr val="6B7280"/>
                </a:solidFill>
              </a:rPr>
              <a:t>High-Level Synthesis for Multi-Core Systems</a:t>
            </a:r>
            <a:endParaRPr lang="en-US" sz="850" dirty="0"/>
          </a:p>
        </p:txBody>
      </p:sp>
      <p:sp>
        <p:nvSpPr>
          <p:cNvPr id="6" name="Text 4"/>
          <p:cNvSpPr/>
          <p:nvPr/>
        </p:nvSpPr>
        <p:spPr>
          <a:xfrm>
            <a:off x="11183112" y="6473952"/>
            <a:ext cx="502920" cy="256032"/>
          </a:xfrm>
          <a:prstGeom prst="rect">
            <a:avLst/>
          </a:prstGeom>
          <a:noFill/>
          <a:ln/>
        </p:spPr>
        <p:txBody>
          <a:bodyPr wrap="square" lIns="0" tIns="0" rIns="0" bIns="0" rtlCol="0" anchor="ctr"/>
          <a:lstStyle/>
          <a:p>
            <a:pPr marL="0" indent="0" algn="r">
              <a:buNone/>
            </a:pPr>
            <a:r>
              <a:rPr lang="en-US" sz="1100" b="1" dirty="0">
                <a:solidFill>
                  <a:srgbClr val="2563EB"/>
                </a:solidFill>
              </a:rPr>
              <a:t>13</a:t>
            </a:r>
            <a:endParaRPr lang="en-US" sz="1100" dirty="0"/>
          </a:p>
        </p:txBody>
      </p:sp>
      <p:sp>
        <p:nvSpPr>
          <p:cNvPr id="7" name="Shape 5"/>
          <p:cNvSpPr/>
          <p:nvPr/>
        </p:nvSpPr>
        <p:spPr>
          <a:xfrm>
            <a:off x="1600200" y="2926080"/>
            <a:ext cx="914400" cy="0"/>
          </a:xfrm>
          <a:prstGeom prst="line">
            <a:avLst/>
          </a:prstGeom>
          <a:noFill/>
          <a:ln w="15240">
            <a:solidFill>
              <a:srgbClr val="D6DEE9"/>
            </a:solidFill>
            <a:prstDash val="solid"/>
            <a:headEnd type="none"/>
            <a:tailEnd type="triangle"/>
          </a:ln>
        </p:spPr>
        <p:txBody>
          <a:bodyPr/>
          <a:lstStyle/>
          <a:p>
            <a:endParaRPr lang="en-DE"/>
          </a:p>
        </p:txBody>
      </p:sp>
      <p:sp>
        <p:nvSpPr>
          <p:cNvPr id="8" name="Shape 6"/>
          <p:cNvSpPr/>
          <p:nvPr/>
        </p:nvSpPr>
        <p:spPr>
          <a:xfrm>
            <a:off x="3520440" y="2926080"/>
            <a:ext cx="777240" cy="0"/>
          </a:xfrm>
          <a:prstGeom prst="line">
            <a:avLst/>
          </a:prstGeom>
          <a:noFill/>
          <a:ln w="15240">
            <a:solidFill>
              <a:srgbClr val="D6DEE9"/>
            </a:solidFill>
            <a:prstDash val="solid"/>
            <a:headEnd type="none"/>
            <a:tailEnd type="triangle"/>
          </a:ln>
        </p:spPr>
        <p:txBody>
          <a:bodyPr/>
          <a:lstStyle/>
          <a:p>
            <a:endParaRPr lang="en-DE"/>
          </a:p>
        </p:txBody>
      </p:sp>
      <p:sp>
        <p:nvSpPr>
          <p:cNvPr id="9" name="Shape 7"/>
          <p:cNvSpPr/>
          <p:nvPr/>
        </p:nvSpPr>
        <p:spPr>
          <a:xfrm>
            <a:off x="5303520" y="2926080"/>
            <a:ext cx="731520" cy="0"/>
          </a:xfrm>
          <a:prstGeom prst="line">
            <a:avLst/>
          </a:prstGeom>
          <a:noFill/>
          <a:ln w="15240">
            <a:solidFill>
              <a:srgbClr val="D6DEE9"/>
            </a:solidFill>
            <a:prstDash val="solid"/>
            <a:headEnd type="none"/>
            <a:tailEnd type="triangle"/>
          </a:ln>
        </p:spPr>
        <p:txBody>
          <a:bodyPr/>
          <a:lstStyle/>
          <a:p>
            <a:endParaRPr lang="en-DE"/>
          </a:p>
        </p:txBody>
      </p:sp>
      <p:sp>
        <p:nvSpPr>
          <p:cNvPr id="10" name="Shape 8"/>
          <p:cNvSpPr/>
          <p:nvPr/>
        </p:nvSpPr>
        <p:spPr>
          <a:xfrm>
            <a:off x="7040880" y="2926080"/>
            <a:ext cx="731520" cy="0"/>
          </a:xfrm>
          <a:prstGeom prst="line">
            <a:avLst/>
          </a:prstGeom>
          <a:noFill/>
          <a:ln w="15240">
            <a:solidFill>
              <a:srgbClr val="D6DEE9"/>
            </a:solidFill>
            <a:prstDash val="solid"/>
            <a:headEnd type="none"/>
            <a:tailEnd type="triangle"/>
          </a:ln>
        </p:spPr>
        <p:txBody>
          <a:bodyPr/>
          <a:lstStyle/>
          <a:p>
            <a:endParaRPr lang="en-DE"/>
          </a:p>
        </p:txBody>
      </p:sp>
      <p:sp>
        <p:nvSpPr>
          <p:cNvPr id="11" name="Shape 9"/>
          <p:cNvSpPr/>
          <p:nvPr/>
        </p:nvSpPr>
        <p:spPr>
          <a:xfrm>
            <a:off x="685800" y="2487168"/>
            <a:ext cx="1078992" cy="877824"/>
          </a:xfrm>
          <a:prstGeom prst="roundRect">
            <a:avLst>
              <a:gd name="adj" fmla="val 8333"/>
            </a:avLst>
          </a:prstGeom>
          <a:solidFill>
            <a:srgbClr val="DBEAFE"/>
          </a:solidFill>
          <a:ln w="12700">
            <a:solidFill>
              <a:srgbClr val="2563EB"/>
            </a:solidFill>
            <a:prstDash val="solid"/>
          </a:ln>
        </p:spPr>
        <p:txBody>
          <a:bodyPr/>
          <a:lstStyle/>
          <a:p>
            <a:endParaRPr lang="en-DE"/>
          </a:p>
        </p:txBody>
      </p:sp>
      <p:sp>
        <p:nvSpPr>
          <p:cNvPr id="12" name="Text 10"/>
          <p:cNvSpPr/>
          <p:nvPr/>
        </p:nvSpPr>
        <p:spPr>
          <a:xfrm>
            <a:off x="758952" y="2761488"/>
            <a:ext cx="932688" cy="182880"/>
          </a:xfrm>
          <a:prstGeom prst="rect">
            <a:avLst/>
          </a:prstGeom>
          <a:noFill/>
          <a:ln/>
        </p:spPr>
        <p:txBody>
          <a:bodyPr wrap="square" lIns="635" tIns="635" rIns="635" bIns="635" rtlCol="0" anchor="ctr">
            <a:normAutofit/>
          </a:bodyPr>
          <a:lstStyle/>
          <a:p>
            <a:pPr marL="0" indent="0" algn="ctr">
              <a:buNone/>
            </a:pPr>
            <a:r>
              <a:rPr lang="en-US" sz="1120" b="1" dirty="0">
                <a:solidFill>
                  <a:srgbClr val="14213D"/>
                </a:solidFill>
                <a:latin typeface="Aptos" pitchFamily="34" charset="0"/>
                <a:ea typeface="Aptos" pitchFamily="34" charset="-122"/>
                <a:cs typeface="Aptos" pitchFamily="34" charset="-120"/>
              </a:rPr>
              <a:t>Input regs</a:t>
            </a:r>
            <a:endParaRPr lang="en-US" sz="1120" dirty="0"/>
          </a:p>
        </p:txBody>
      </p:sp>
      <p:sp>
        <p:nvSpPr>
          <p:cNvPr id="13" name="Shape 11"/>
          <p:cNvSpPr/>
          <p:nvPr/>
        </p:nvSpPr>
        <p:spPr>
          <a:xfrm>
            <a:off x="2606040" y="2487168"/>
            <a:ext cx="1078992" cy="877824"/>
          </a:xfrm>
          <a:prstGeom prst="roundRect">
            <a:avLst>
              <a:gd name="adj" fmla="val 8333"/>
            </a:avLst>
          </a:prstGeom>
          <a:solidFill>
            <a:srgbClr val="EDE9FE"/>
          </a:solidFill>
          <a:ln w="12700">
            <a:solidFill>
              <a:srgbClr val="7C3AED"/>
            </a:solidFill>
            <a:prstDash val="solid"/>
          </a:ln>
        </p:spPr>
        <p:txBody>
          <a:bodyPr/>
          <a:lstStyle/>
          <a:p>
            <a:endParaRPr lang="en-DE"/>
          </a:p>
        </p:txBody>
      </p:sp>
      <p:sp>
        <p:nvSpPr>
          <p:cNvPr id="14" name="Text 12"/>
          <p:cNvSpPr/>
          <p:nvPr/>
        </p:nvSpPr>
        <p:spPr>
          <a:xfrm>
            <a:off x="2679192" y="2761488"/>
            <a:ext cx="932688" cy="182880"/>
          </a:xfrm>
          <a:prstGeom prst="rect">
            <a:avLst/>
          </a:prstGeom>
          <a:noFill/>
          <a:ln/>
        </p:spPr>
        <p:txBody>
          <a:bodyPr wrap="square" lIns="635" tIns="635" rIns="635" bIns="635" rtlCol="0" anchor="ctr">
            <a:normAutofit/>
          </a:bodyPr>
          <a:lstStyle/>
          <a:p>
            <a:pPr marL="0" indent="0" algn="ctr">
              <a:buNone/>
            </a:pPr>
            <a:r>
              <a:rPr lang="en-US" sz="1120" b="1" dirty="0">
                <a:solidFill>
                  <a:srgbClr val="14213D"/>
                </a:solidFill>
                <a:latin typeface="Aptos" pitchFamily="34" charset="0"/>
                <a:ea typeface="Aptos" pitchFamily="34" charset="-122"/>
                <a:cs typeface="Aptos" pitchFamily="34" charset="-120"/>
              </a:rPr>
              <a:t>MUX tree</a:t>
            </a:r>
            <a:endParaRPr lang="en-US" sz="1120" dirty="0"/>
          </a:p>
        </p:txBody>
      </p:sp>
      <p:sp>
        <p:nvSpPr>
          <p:cNvPr id="15" name="Shape 13"/>
          <p:cNvSpPr/>
          <p:nvPr/>
        </p:nvSpPr>
        <p:spPr>
          <a:xfrm>
            <a:off x="4370832" y="2487168"/>
            <a:ext cx="1078992" cy="877824"/>
          </a:xfrm>
          <a:prstGeom prst="roundRect">
            <a:avLst>
              <a:gd name="adj" fmla="val 8333"/>
            </a:avLst>
          </a:prstGeom>
          <a:solidFill>
            <a:srgbClr val="FEF3C7"/>
          </a:solidFill>
          <a:ln w="12700">
            <a:solidFill>
              <a:srgbClr val="F59E0B"/>
            </a:solidFill>
            <a:prstDash val="solid"/>
          </a:ln>
        </p:spPr>
        <p:txBody>
          <a:bodyPr/>
          <a:lstStyle/>
          <a:p>
            <a:endParaRPr lang="en-DE"/>
          </a:p>
        </p:txBody>
      </p:sp>
      <p:sp>
        <p:nvSpPr>
          <p:cNvPr id="16" name="Text 14"/>
          <p:cNvSpPr/>
          <p:nvPr/>
        </p:nvSpPr>
        <p:spPr>
          <a:xfrm>
            <a:off x="4443984" y="2761488"/>
            <a:ext cx="932688" cy="182880"/>
          </a:xfrm>
          <a:prstGeom prst="rect">
            <a:avLst/>
          </a:prstGeom>
          <a:noFill/>
          <a:ln/>
        </p:spPr>
        <p:txBody>
          <a:bodyPr wrap="square" lIns="635" tIns="635" rIns="635" bIns="635" rtlCol="0" anchor="ctr">
            <a:normAutofit fontScale="77500" lnSpcReduction="20000"/>
          </a:bodyPr>
          <a:lstStyle/>
          <a:p>
            <a:pPr marL="0" indent="0" algn="ctr">
              <a:buNone/>
            </a:pPr>
            <a:r>
              <a:rPr lang="en-US" sz="1120" b="1" dirty="0">
                <a:solidFill>
                  <a:srgbClr val="14213D"/>
                </a:solidFill>
                <a:latin typeface="Aptos" pitchFamily="34" charset="0"/>
                <a:ea typeface="Aptos" pitchFamily="34" charset="-122"/>
                <a:cs typeface="Aptos" pitchFamily="34" charset="-120"/>
              </a:rPr>
              <a:t>Functional units</a:t>
            </a:r>
            <a:endParaRPr lang="en-US" sz="1120" dirty="0"/>
          </a:p>
        </p:txBody>
      </p:sp>
      <p:sp>
        <p:nvSpPr>
          <p:cNvPr id="17" name="Shape 15"/>
          <p:cNvSpPr/>
          <p:nvPr/>
        </p:nvSpPr>
        <p:spPr>
          <a:xfrm>
            <a:off x="6108192" y="2487168"/>
            <a:ext cx="1078992" cy="877824"/>
          </a:xfrm>
          <a:prstGeom prst="roundRect">
            <a:avLst>
              <a:gd name="adj" fmla="val 8333"/>
            </a:avLst>
          </a:prstGeom>
          <a:solidFill>
            <a:srgbClr val="D1FAE5"/>
          </a:solidFill>
          <a:ln w="12700">
            <a:solidFill>
              <a:srgbClr val="10B981"/>
            </a:solidFill>
            <a:prstDash val="solid"/>
          </a:ln>
        </p:spPr>
        <p:txBody>
          <a:bodyPr/>
          <a:lstStyle/>
          <a:p>
            <a:endParaRPr lang="en-DE"/>
          </a:p>
        </p:txBody>
      </p:sp>
      <p:sp>
        <p:nvSpPr>
          <p:cNvPr id="18" name="Text 16"/>
          <p:cNvSpPr/>
          <p:nvPr/>
        </p:nvSpPr>
        <p:spPr>
          <a:xfrm>
            <a:off x="6181344" y="2761488"/>
            <a:ext cx="932688" cy="182880"/>
          </a:xfrm>
          <a:prstGeom prst="rect">
            <a:avLst/>
          </a:prstGeom>
          <a:noFill/>
          <a:ln/>
        </p:spPr>
        <p:txBody>
          <a:bodyPr wrap="square" lIns="635" tIns="635" rIns="635" bIns="635" rtlCol="0" anchor="ctr">
            <a:normAutofit/>
          </a:bodyPr>
          <a:lstStyle/>
          <a:p>
            <a:pPr marL="0" indent="0" algn="ctr">
              <a:buNone/>
            </a:pPr>
            <a:r>
              <a:rPr lang="en-US" sz="1120" b="1" dirty="0">
                <a:solidFill>
                  <a:srgbClr val="14213D"/>
                </a:solidFill>
                <a:latin typeface="Aptos" pitchFamily="34" charset="0"/>
                <a:ea typeface="Aptos" pitchFamily="34" charset="-122"/>
                <a:cs typeface="Aptos" pitchFamily="34" charset="-120"/>
              </a:rPr>
              <a:t>Register file</a:t>
            </a:r>
            <a:endParaRPr lang="en-US" sz="1120" dirty="0"/>
          </a:p>
        </p:txBody>
      </p:sp>
      <p:sp>
        <p:nvSpPr>
          <p:cNvPr id="19" name="Shape 17"/>
          <p:cNvSpPr/>
          <p:nvPr/>
        </p:nvSpPr>
        <p:spPr>
          <a:xfrm>
            <a:off x="7845552" y="2487168"/>
            <a:ext cx="1078992" cy="877824"/>
          </a:xfrm>
          <a:prstGeom prst="roundRect">
            <a:avLst>
              <a:gd name="adj" fmla="val 8333"/>
            </a:avLst>
          </a:prstGeom>
          <a:solidFill>
            <a:srgbClr val="FFFFFF"/>
          </a:solidFill>
          <a:ln w="12700">
            <a:solidFill>
              <a:srgbClr val="D6DEE9"/>
            </a:solidFill>
            <a:prstDash val="solid"/>
          </a:ln>
        </p:spPr>
        <p:txBody>
          <a:bodyPr/>
          <a:lstStyle/>
          <a:p>
            <a:endParaRPr lang="en-DE"/>
          </a:p>
        </p:txBody>
      </p:sp>
      <p:sp>
        <p:nvSpPr>
          <p:cNvPr id="20" name="Text 18"/>
          <p:cNvSpPr/>
          <p:nvPr/>
        </p:nvSpPr>
        <p:spPr>
          <a:xfrm>
            <a:off x="7918704" y="2761488"/>
            <a:ext cx="932688" cy="182880"/>
          </a:xfrm>
          <a:prstGeom prst="rect">
            <a:avLst/>
          </a:prstGeom>
          <a:noFill/>
          <a:ln/>
        </p:spPr>
        <p:txBody>
          <a:bodyPr wrap="square" lIns="635" tIns="635" rIns="635" bIns="635" rtlCol="0" anchor="ctr">
            <a:normAutofit fontScale="92500"/>
          </a:bodyPr>
          <a:lstStyle/>
          <a:p>
            <a:pPr marL="0" indent="0" algn="ctr">
              <a:buNone/>
            </a:pPr>
            <a:r>
              <a:rPr lang="en-US" sz="1120" b="1" dirty="0">
                <a:solidFill>
                  <a:srgbClr val="14213D"/>
                </a:solidFill>
                <a:latin typeface="Aptos" pitchFamily="34" charset="0"/>
                <a:ea typeface="Aptos" pitchFamily="34" charset="-122"/>
                <a:cs typeface="Aptos" pitchFamily="34" charset="-120"/>
              </a:rPr>
              <a:t>FSM controller</a:t>
            </a:r>
            <a:endParaRPr lang="en-US" sz="1120" dirty="0"/>
          </a:p>
        </p:txBody>
      </p:sp>
      <p:sp>
        <p:nvSpPr>
          <p:cNvPr id="21" name="Text 19"/>
          <p:cNvSpPr/>
          <p:nvPr/>
        </p:nvSpPr>
        <p:spPr>
          <a:xfrm>
            <a:off x="914400" y="1600200"/>
            <a:ext cx="2468880" cy="256032"/>
          </a:xfrm>
          <a:prstGeom prst="rect">
            <a:avLst/>
          </a:prstGeom>
          <a:noFill/>
          <a:ln/>
        </p:spPr>
        <p:txBody>
          <a:bodyPr wrap="square" lIns="635" tIns="635" rIns="635" bIns="635" rtlCol="0" anchor="ctr">
            <a:normAutofit/>
          </a:bodyPr>
          <a:lstStyle/>
          <a:p>
            <a:pPr marL="0" indent="0" algn="l">
              <a:buNone/>
            </a:pPr>
            <a:r>
              <a:rPr lang="en-US" sz="1600" b="1" dirty="0">
                <a:solidFill>
                  <a:srgbClr val="14213D"/>
                </a:solidFill>
                <a:latin typeface="Aptos" pitchFamily="34" charset="0"/>
                <a:ea typeface="Aptos" pitchFamily="34" charset="-122"/>
                <a:cs typeface="Aptos" pitchFamily="34" charset="-120"/>
              </a:rPr>
              <a:t>Per-PE RTL structure</a:t>
            </a:r>
            <a:endParaRPr lang="en-US" sz="1600" dirty="0"/>
          </a:p>
        </p:txBody>
      </p:sp>
      <p:sp>
        <p:nvSpPr>
          <p:cNvPr id="22" name="Text 20"/>
          <p:cNvSpPr/>
          <p:nvPr/>
        </p:nvSpPr>
        <p:spPr>
          <a:xfrm>
            <a:off x="704088" y="3813048"/>
            <a:ext cx="8595360" cy="219456"/>
          </a:xfrm>
          <a:prstGeom prst="rect">
            <a:avLst/>
          </a:prstGeom>
          <a:noFill/>
          <a:ln/>
        </p:spPr>
        <p:txBody>
          <a:bodyPr wrap="square" lIns="635" tIns="635" rIns="635" bIns="635" rtlCol="0" anchor="ctr">
            <a:normAutofit/>
          </a:bodyPr>
          <a:lstStyle/>
          <a:p>
            <a:pPr marL="0" indent="0" algn="l">
              <a:buNone/>
            </a:pPr>
            <a:r>
              <a:rPr lang="en-US" sz="1270" dirty="0">
                <a:solidFill>
                  <a:srgbClr val="1F2937"/>
                </a:solidFill>
                <a:latin typeface="Aptos" pitchFamily="34" charset="0"/>
                <a:ea typeface="Aptos" pitchFamily="34" charset="-122"/>
                <a:cs typeface="Aptos" pitchFamily="34" charset="-120"/>
              </a:rPr>
              <a:t>Operators + registers + MUXes + FSM control signals become VHDL/Verilog hardware.</a:t>
            </a:r>
            <a:endParaRPr lang="en-US" sz="1270" dirty="0"/>
          </a:p>
        </p:txBody>
      </p:sp>
      <p:sp>
        <p:nvSpPr>
          <p:cNvPr id="23" name="Text 21"/>
          <p:cNvSpPr/>
          <p:nvPr/>
        </p:nvSpPr>
        <p:spPr>
          <a:xfrm>
            <a:off x="914400" y="4617720"/>
            <a:ext cx="2743200" cy="237744"/>
          </a:xfrm>
          <a:prstGeom prst="rect">
            <a:avLst/>
          </a:prstGeom>
          <a:noFill/>
          <a:ln/>
        </p:spPr>
        <p:txBody>
          <a:bodyPr wrap="square" lIns="635" tIns="635" rIns="635" bIns="635" rtlCol="0" anchor="ctr">
            <a:normAutofit lnSpcReduction="10000"/>
          </a:bodyPr>
          <a:lstStyle/>
          <a:p>
            <a:pPr marL="0" indent="0" algn="l">
              <a:buNone/>
            </a:pPr>
            <a:r>
              <a:rPr lang="en-US" sz="1600" b="1" dirty="0">
                <a:solidFill>
                  <a:srgbClr val="14213D"/>
                </a:solidFill>
                <a:latin typeface="Aptos" pitchFamily="34" charset="0"/>
                <a:ea typeface="Aptos" pitchFamily="34" charset="-122"/>
                <a:cs typeface="Aptos" pitchFamily="34" charset="-120"/>
              </a:rPr>
              <a:t>Limitations / open challenges</a:t>
            </a:r>
            <a:endParaRPr lang="en-US" sz="1600" dirty="0"/>
          </a:p>
        </p:txBody>
      </p:sp>
      <p:sp>
        <p:nvSpPr>
          <p:cNvPr id="24" name="Shape 22"/>
          <p:cNvSpPr/>
          <p:nvPr/>
        </p:nvSpPr>
        <p:spPr>
          <a:xfrm>
            <a:off x="960120" y="5074920"/>
            <a:ext cx="2148840" cy="658368"/>
          </a:xfrm>
          <a:prstGeom prst="roundRect">
            <a:avLst>
              <a:gd name="adj" fmla="val 11111"/>
            </a:avLst>
          </a:prstGeom>
          <a:solidFill>
            <a:srgbClr val="DBEAFE"/>
          </a:solidFill>
          <a:ln w="12700">
            <a:solidFill>
              <a:srgbClr val="2563EB"/>
            </a:solidFill>
            <a:prstDash val="solid"/>
          </a:ln>
        </p:spPr>
        <p:txBody>
          <a:bodyPr/>
          <a:lstStyle/>
          <a:p>
            <a:endParaRPr lang="en-DE"/>
          </a:p>
        </p:txBody>
      </p:sp>
      <p:sp>
        <p:nvSpPr>
          <p:cNvPr id="25" name="Text 23"/>
          <p:cNvSpPr/>
          <p:nvPr/>
        </p:nvSpPr>
        <p:spPr>
          <a:xfrm>
            <a:off x="1069848" y="5230368"/>
            <a:ext cx="1920240" cy="164592"/>
          </a:xfrm>
          <a:prstGeom prst="rect">
            <a:avLst/>
          </a:prstGeom>
          <a:noFill/>
          <a:ln/>
        </p:spPr>
        <p:txBody>
          <a:bodyPr wrap="square" lIns="635" tIns="635" rIns="635" bIns="635" rtlCol="0" anchor="ctr">
            <a:normAutofit lnSpcReduction="10000"/>
          </a:bodyPr>
          <a:lstStyle/>
          <a:p>
            <a:pPr marL="0" indent="0" algn="ctr">
              <a:buNone/>
            </a:pPr>
            <a:r>
              <a:rPr lang="en-US" sz="1150" b="1" dirty="0">
                <a:solidFill>
                  <a:srgbClr val="1F2937"/>
                </a:solidFill>
                <a:latin typeface="Aptos" pitchFamily="34" charset="0"/>
                <a:ea typeface="Aptos" pitchFamily="34" charset="-122"/>
                <a:cs typeface="Aptos" pitchFamily="34" charset="-120"/>
              </a:rPr>
              <a:t>Exact ILP</a:t>
            </a:r>
            <a:endParaRPr lang="en-US" sz="1150" dirty="0"/>
          </a:p>
        </p:txBody>
      </p:sp>
      <p:sp>
        <p:nvSpPr>
          <p:cNvPr id="26" name="Text 24"/>
          <p:cNvSpPr/>
          <p:nvPr/>
        </p:nvSpPr>
        <p:spPr>
          <a:xfrm>
            <a:off x="1069848" y="5458968"/>
            <a:ext cx="1920240" cy="128016"/>
          </a:xfrm>
          <a:prstGeom prst="rect">
            <a:avLst/>
          </a:prstGeom>
          <a:noFill/>
          <a:ln/>
        </p:spPr>
        <p:txBody>
          <a:bodyPr wrap="square" lIns="635" tIns="635" rIns="635" bIns="635" rtlCol="0" anchor="ctr">
            <a:normAutofit lnSpcReduction="10000"/>
          </a:bodyPr>
          <a:lstStyle/>
          <a:p>
            <a:pPr marL="0" indent="0" algn="ctr">
              <a:buNone/>
            </a:pPr>
            <a:r>
              <a:rPr lang="en-US" sz="870" dirty="0">
                <a:solidFill>
                  <a:srgbClr val="6B7280"/>
                </a:solidFill>
                <a:latin typeface="Aptos" pitchFamily="34" charset="0"/>
                <a:ea typeface="Aptos" pitchFamily="34" charset="-122"/>
                <a:cs typeface="Aptos" pitchFamily="34" charset="-120"/>
              </a:rPr>
              <a:t>optimal but exponential</a:t>
            </a:r>
            <a:endParaRPr lang="en-US" sz="870" dirty="0"/>
          </a:p>
        </p:txBody>
      </p:sp>
      <p:sp>
        <p:nvSpPr>
          <p:cNvPr id="27" name="Shape 25"/>
          <p:cNvSpPr/>
          <p:nvPr/>
        </p:nvSpPr>
        <p:spPr>
          <a:xfrm>
            <a:off x="3703320" y="5074920"/>
            <a:ext cx="2148840" cy="658368"/>
          </a:xfrm>
          <a:prstGeom prst="roundRect">
            <a:avLst>
              <a:gd name="adj" fmla="val 11111"/>
            </a:avLst>
          </a:prstGeom>
          <a:solidFill>
            <a:srgbClr val="D1FAE5"/>
          </a:solidFill>
          <a:ln w="12700">
            <a:solidFill>
              <a:srgbClr val="10B981"/>
            </a:solidFill>
            <a:prstDash val="solid"/>
          </a:ln>
        </p:spPr>
        <p:txBody>
          <a:bodyPr/>
          <a:lstStyle/>
          <a:p>
            <a:endParaRPr lang="en-DE"/>
          </a:p>
        </p:txBody>
      </p:sp>
      <p:sp>
        <p:nvSpPr>
          <p:cNvPr id="28" name="Text 26"/>
          <p:cNvSpPr/>
          <p:nvPr/>
        </p:nvSpPr>
        <p:spPr>
          <a:xfrm>
            <a:off x="3813048" y="5230368"/>
            <a:ext cx="1920240" cy="164592"/>
          </a:xfrm>
          <a:prstGeom prst="rect">
            <a:avLst/>
          </a:prstGeom>
          <a:noFill/>
          <a:ln/>
        </p:spPr>
        <p:txBody>
          <a:bodyPr wrap="square" lIns="635" tIns="635" rIns="635" bIns="635" rtlCol="0" anchor="ctr">
            <a:normAutofit lnSpcReduction="10000"/>
          </a:bodyPr>
          <a:lstStyle/>
          <a:p>
            <a:pPr marL="0" indent="0" algn="ctr">
              <a:buNone/>
            </a:pPr>
            <a:r>
              <a:rPr lang="en-US" sz="1150" b="1" dirty="0">
                <a:solidFill>
                  <a:srgbClr val="1F2937"/>
                </a:solidFill>
                <a:latin typeface="Aptos" pitchFamily="34" charset="0"/>
                <a:ea typeface="Aptos" pitchFamily="34" charset="-122"/>
                <a:cs typeface="Aptos" pitchFamily="34" charset="-120"/>
              </a:rPr>
              <a:t>NoC modeling</a:t>
            </a:r>
            <a:endParaRPr lang="en-US" sz="1150" dirty="0"/>
          </a:p>
        </p:txBody>
      </p:sp>
      <p:sp>
        <p:nvSpPr>
          <p:cNvPr id="29" name="Text 27"/>
          <p:cNvSpPr/>
          <p:nvPr/>
        </p:nvSpPr>
        <p:spPr>
          <a:xfrm>
            <a:off x="3813048" y="5458968"/>
            <a:ext cx="1920240" cy="128016"/>
          </a:xfrm>
          <a:prstGeom prst="rect">
            <a:avLst/>
          </a:prstGeom>
          <a:noFill/>
          <a:ln/>
        </p:spPr>
        <p:txBody>
          <a:bodyPr wrap="square" lIns="635" tIns="635" rIns="635" bIns="635" rtlCol="0" anchor="ctr">
            <a:normAutofit lnSpcReduction="10000"/>
          </a:bodyPr>
          <a:lstStyle/>
          <a:p>
            <a:pPr marL="0" indent="0" algn="ctr">
              <a:buNone/>
            </a:pPr>
            <a:r>
              <a:rPr lang="en-US" sz="870" dirty="0">
                <a:solidFill>
                  <a:srgbClr val="6B7280"/>
                </a:solidFill>
                <a:latin typeface="Aptos" pitchFamily="34" charset="0"/>
                <a:ea typeface="Aptos" pitchFamily="34" charset="-122"/>
                <a:cs typeface="Aptos" pitchFamily="34" charset="-120"/>
              </a:rPr>
              <a:t>routing adds variable delay</a:t>
            </a:r>
            <a:endParaRPr lang="en-US" sz="870" dirty="0"/>
          </a:p>
        </p:txBody>
      </p:sp>
      <p:sp>
        <p:nvSpPr>
          <p:cNvPr id="30" name="Shape 28"/>
          <p:cNvSpPr/>
          <p:nvPr/>
        </p:nvSpPr>
        <p:spPr>
          <a:xfrm>
            <a:off x="6446520" y="5074920"/>
            <a:ext cx="2148840" cy="658368"/>
          </a:xfrm>
          <a:prstGeom prst="roundRect">
            <a:avLst>
              <a:gd name="adj" fmla="val 11111"/>
            </a:avLst>
          </a:prstGeom>
          <a:solidFill>
            <a:srgbClr val="DBEAFE"/>
          </a:solidFill>
          <a:ln w="12700">
            <a:solidFill>
              <a:srgbClr val="2563EB"/>
            </a:solidFill>
            <a:prstDash val="solid"/>
          </a:ln>
        </p:spPr>
        <p:txBody>
          <a:bodyPr/>
          <a:lstStyle/>
          <a:p>
            <a:endParaRPr lang="en-DE"/>
          </a:p>
        </p:txBody>
      </p:sp>
      <p:sp>
        <p:nvSpPr>
          <p:cNvPr id="31" name="Text 29"/>
          <p:cNvSpPr/>
          <p:nvPr/>
        </p:nvSpPr>
        <p:spPr>
          <a:xfrm>
            <a:off x="6556248" y="5230368"/>
            <a:ext cx="1920240" cy="164592"/>
          </a:xfrm>
          <a:prstGeom prst="rect">
            <a:avLst/>
          </a:prstGeom>
          <a:noFill/>
          <a:ln/>
        </p:spPr>
        <p:txBody>
          <a:bodyPr wrap="square" lIns="635" tIns="635" rIns="635" bIns="635" rtlCol="0" anchor="ctr">
            <a:normAutofit lnSpcReduction="10000"/>
          </a:bodyPr>
          <a:lstStyle/>
          <a:p>
            <a:pPr marL="0" indent="0" algn="ctr">
              <a:buNone/>
            </a:pPr>
            <a:r>
              <a:rPr lang="en-US" sz="1150" b="1" dirty="0">
                <a:solidFill>
                  <a:srgbClr val="1F2937"/>
                </a:solidFill>
                <a:latin typeface="Aptos" pitchFamily="34" charset="0"/>
                <a:ea typeface="Aptos" pitchFamily="34" charset="-122"/>
                <a:cs typeface="Aptos" pitchFamily="34" charset="-120"/>
              </a:rPr>
              <a:t>Heterogeneity</a:t>
            </a:r>
            <a:endParaRPr lang="en-US" sz="1150" dirty="0"/>
          </a:p>
        </p:txBody>
      </p:sp>
      <p:sp>
        <p:nvSpPr>
          <p:cNvPr id="32" name="Text 30"/>
          <p:cNvSpPr/>
          <p:nvPr/>
        </p:nvSpPr>
        <p:spPr>
          <a:xfrm>
            <a:off x="6556248" y="5458968"/>
            <a:ext cx="1920240" cy="128016"/>
          </a:xfrm>
          <a:prstGeom prst="rect">
            <a:avLst/>
          </a:prstGeom>
          <a:noFill/>
          <a:ln/>
        </p:spPr>
        <p:txBody>
          <a:bodyPr wrap="square" lIns="635" tIns="635" rIns="635" bIns="635" rtlCol="0" anchor="ctr">
            <a:normAutofit lnSpcReduction="10000"/>
          </a:bodyPr>
          <a:lstStyle/>
          <a:p>
            <a:pPr marL="0" indent="0" algn="ctr">
              <a:buNone/>
            </a:pPr>
            <a:r>
              <a:rPr lang="en-US" sz="870" dirty="0">
                <a:solidFill>
                  <a:srgbClr val="6B7280"/>
                </a:solidFill>
                <a:latin typeface="Aptos" pitchFamily="34" charset="0"/>
                <a:ea typeface="Aptos" pitchFamily="34" charset="-122"/>
                <a:cs typeface="Aptos" pitchFamily="34" charset="-120"/>
              </a:rPr>
              <a:t>CPU/DSP/GPU/accelerator costs differ</a:t>
            </a:r>
            <a:endParaRPr lang="en-US" sz="870" dirty="0"/>
          </a:p>
        </p:txBody>
      </p:sp>
      <p:sp>
        <p:nvSpPr>
          <p:cNvPr id="33" name="Shape 31"/>
          <p:cNvSpPr/>
          <p:nvPr/>
        </p:nvSpPr>
        <p:spPr>
          <a:xfrm>
            <a:off x="9189720" y="5074920"/>
            <a:ext cx="2148840" cy="658368"/>
          </a:xfrm>
          <a:prstGeom prst="roundRect">
            <a:avLst>
              <a:gd name="adj" fmla="val 11111"/>
            </a:avLst>
          </a:prstGeom>
          <a:solidFill>
            <a:srgbClr val="D1FAE5"/>
          </a:solidFill>
          <a:ln w="12700">
            <a:solidFill>
              <a:srgbClr val="10B981"/>
            </a:solidFill>
            <a:prstDash val="solid"/>
          </a:ln>
        </p:spPr>
        <p:txBody>
          <a:bodyPr/>
          <a:lstStyle/>
          <a:p>
            <a:endParaRPr lang="en-DE"/>
          </a:p>
        </p:txBody>
      </p:sp>
      <p:sp>
        <p:nvSpPr>
          <p:cNvPr id="34" name="Text 32"/>
          <p:cNvSpPr/>
          <p:nvPr/>
        </p:nvSpPr>
        <p:spPr>
          <a:xfrm>
            <a:off x="9299448" y="5230368"/>
            <a:ext cx="1920240" cy="164592"/>
          </a:xfrm>
          <a:prstGeom prst="rect">
            <a:avLst/>
          </a:prstGeom>
          <a:noFill/>
          <a:ln/>
        </p:spPr>
        <p:txBody>
          <a:bodyPr wrap="square" lIns="635" tIns="635" rIns="635" bIns="635" rtlCol="0" anchor="ctr">
            <a:normAutofit lnSpcReduction="10000"/>
          </a:bodyPr>
          <a:lstStyle/>
          <a:p>
            <a:pPr marL="0" indent="0" algn="ctr">
              <a:buNone/>
            </a:pPr>
            <a:r>
              <a:rPr lang="en-US" sz="1150" b="1" dirty="0">
                <a:solidFill>
                  <a:srgbClr val="1F2937"/>
                </a:solidFill>
                <a:latin typeface="Aptos" pitchFamily="34" charset="0"/>
                <a:ea typeface="Aptos" pitchFamily="34" charset="-122"/>
                <a:cs typeface="Aptos" pitchFamily="34" charset="-120"/>
              </a:rPr>
              <a:t>Memory bottlenecks</a:t>
            </a:r>
            <a:endParaRPr lang="en-US" sz="1150" dirty="0"/>
          </a:p>
        </p:txBody>
      </p:sp>
      <p:sp>
        <p:nvSpPr>
          <p:cNvPr id="35" name="Text 33"/>
          <p:cNvSpPr/>
          <p:nvPr/>
        </p:nvSpPr>
        <p:spPr>
          <a:xfrm>
            <a:off x="9299448" y="5458968"/>
            <a:ext cx="1920240" cy="128016"/>
          </a:xfrm>
          <a:prstGeom prst="rect">
            <a:avLst/>
          </a:prstGeom>
          <a:noFill/>
          <a:ln/>
        </p:spPr>
        <p:txBody>
          <a:bodyPr wrap="square" lIns="635" tIns="635" rIns="635" bIns="635" rtlCol="0" anchor="ctr">
            <a:normAutofit lnSpcReduction="10000"/>
          </a:bodyPr>
          <a:lstStyle/>
          <a:p>
            <a:pPr marL="0" indent="0" algn="ctr">
              <a:buNone/>
            </a:pPr>
            <a:r>
              <a:rPr lang="en-US" sz="870" dirty="0">
                <a:solidFill>
                  <a:srgbClr val="6B7280"/>
                </a:solidFill>
                <a:latin typeface="Aptos" pitchFamily="34" charset="0"/>
                <a:ea typeface="Aptos" pitchFamily="34" charset="-122"/>
                <a:cs typeface="Aptos" pitchFamily="34" charset="-120"/>
              </a:rPr>
              <a:t>parallel cores compete for bandwidth</a:t>
            </a:r>
            <a:endParaRPr lang="en-US" sz="87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1524"/>
            <a:ext cx="12191695" cy="6858000"/>
          </a:xfrm>
          <a:prstGeom prst="rect">
            <a:avLst/>
          </a:prstGeom>
          <a:solidFill>
            <a:srgbClr val="F7FAFC"/>
          </a:solidFill>
          <a:ln w="12700">
            <a:solidFill>
              <a:srgbClr val="F7FAFC">
                <a:alpha val="0"/>
              </a:srgbClr>
            </a:solidFill>
            <a:prstDash val="solid"/>
          </a:ln>
        </p:spPr>
        <p:txBody>
          <a:bodyPr/>
          <a:lstStyle/>
          <a:p>
            <a:endParaRPr lang="en-DE" dirty="0"/>
          </a:p>
        </p:txBody>
      </p:sp>
      <p:sp>
        <p:nvSpPr>
          <p:cNvPr id="3" name="Text 1"/>
          <p:cNvSpPr/>
          <p:nvPr/>
        </p:nvSpPr>
        <p:spPr>
          <a:xfrm>
            <a:off x="502920" y="310896"/>
            <a:ext cx="7863840" cy="438912"/>
          </a:xfrm>
          <a:prstGeom prst="rect">
            <a:avLst/>
          </a:prstGeom>
          <a:noFill/>
          <a:ln/>
        </p:spPr>
        <p:txBody>
          <a:bodyPr wrap="square" lIns="0" tIns="0" rIns="0" bIns="0" rtlCol="0" anchor="ctr"/>
          <a:lstStyle/>
          <a:p>
            <a:pPr marL="0" indent="0">
              <a:buNone/>
            </a:pPr>
            <a:r>
              <a:rPr lang="en-US" sz="2500" b="1" dirty="0">
                <a:solidFill>
                  <a:srgbClr val="14213D"/>
                </a:solidFill>
                <a:latin typeface="Aptos Display" pitchFamily="34" charset="0"/>
                <a:ea typeface="Aptos Display" pitchFamily="34" charset="-122"/>
                <a:cs typeface="Aptos Display" pitchFamily="34" charset="-120"/>
              </a:rPr>
              <a:t>Conclusion</a:t>
            </a:r>
            <a:endParaRPr lang="en-US" sz="2500" dirty="0"/>
          </a:p>
        </p:txBody>
      </p:sp>
      <p:sp>
        <p:nvSpPr>
          <p:cNvPr id="5" name="Text 3"/>
          <p:cNvSpPr/>
          <p:nvPr/>
        </p:nvSpPr>
        <p:spPr>
          <a:xfrm>
            <a:off x="512064" y="6537960"/>
            <a:ext cx="4846320" cy="164592"/>
          </a:xfrm>
          <a:prstGeom prst="rect">
            <a:avLst/>
          </a:prstGeom>
          <a:noFill/>
          <a:ln/>
        </p:spPr>
        <p:txBody>
          <a:bodyPr wrap="square" lIns="0" tIns="0" rIns="0" bIns="0" rtlCol="0" anchor="ctr"/>
          <a:lstStyle/>
          <a:p>
            <a:pPr marL="0" indent="0">
              <a:buNone/>
            </a:pPr>
            <a:r>
              <a:rPr lang="en-US" sz="850" dirty="0">
                <a:solidFill>
                  <a:srgbClr val="6B7280"/>
                </a:solidFill>
              </a:rPr>
              <a:t>High-Level Synthesis for Multi-Core Systems</a:t>
            </a:r>
            <a:endParaRPr lang="en-US" sz="850" dirty="0"/>
          </a:p>
        </p:txBody>
      </p:sp>
      <p:sp>
        <p:nvSpPr>
          <p:cNvPr id="6" name="Text 4"/>
          <p:cNvSpPr/>
          <p:nvPr/>
        </p:nvSpPr>
        <p:spPr>
          <a:xfrm>
            <a:off x="11193272" y="6473952"/>
            <a:ext cx="502920" cy="256032"/>
          </a:xfrm>
          <a:prstGeom prst="rect">
            <a:avLst/>
          </a:prstGeom>
          <a:noFill/>
          <a:ln/>
        </p:spPr>
        <p:txBody>
          <a:bodyPr wrap="square" lIns="0" tIns="0" rIns="0" bIns="0" rtlCol="0" anchor="ctr"/>
          <a:lstStyle/>
          <a:p>
            <a:pPr marL="0" indent="0" algn="r">
              <a:buNone/>
            </a:pPr>
            <a:r>
              <a:rPr lang="en-US" sz="1100" b="1" dirty="0">
                <a:solidFill>
                  <a:srgbClr val="2563EB"/>
                </a:solidFill>
              </a:rPr>
              <a:t>14</a:t>
            </a:r>
            <a:endParaRPr lang="en-US" sz="1100" dirty="0"/>
          </a:p>
        </p:txBody>
      </p:sp>
      <p:sp>
        <p:nvSpPr>
          <p:cNvPr id="9" name="Shape 7"/>
          <p:cNvSpPr/>
          <p:nvPr/>
        </p:nvSpPr>
        <p:spPr>
          <a:xfrm>
            <a:off x="512064" y="1435608"/>
            <a:ext cx="2414016" cy="695960"/>
          </a:xfrm>
          <a:prstGeom prst="roundRect">
            <a:avLst>
              <a:gd name="adj" fmla="val 8889"/>
            </a:avLst>
          </a:prstGeom>
          <a:solidFill>
            <a:srgbClr val="DBEAFE"/>
          </a:solidFill>
          <a:ln w="12700">
            <a:solidFill>
              <a:srgbClr val="2563EB"/>
            </a:solidFill>
            <a:prstDash val="solid"/>
          </a:ln>
        </p:spPr>
        <p:txBody>
          <a:bodyPr/>
          <a:lstStyle/>
          <a:p>
            <a:endParaRPr lang="en-DE"/>
          </a:p>
        </p:txBody>
      </p:sp>
      <p:sp>
        <p:nvSpPr>
          <p:cNvPr id="10" name="Text 8"/>
          <p:cNvSpPr/>
          <p:nvPr/>
        </p:nvSpPr>
        <p:spPr>
          <a:xfrm>
            <a:off x="512064" y="1600200"/>
            <a:ext cx="2414016" cy="182880"/>
          </a:xfrm>
          <a:prstGeom prst="rect">
            <a:avLst/>
          </a:prstGeom>
          <a:noFill/>
          <a:ln/>
        </p:spPr>
        <p:txBody>
          <a:bodyPr wrap="square" lIns="635" tIns="635" rIns="635" bIns="635" rtlCol="0" anchor="ctr">
            <a:normAutofit fontScale="92500" lnSpcReduction="10000"/>
          </a:bodyPr>
          <a:lstStyle/>
          <a:p>
            <a:pPr marL="0" indent="0" algn="ctr">
              <a:buNone/>
            </a:pPr>
            <a:r>
              <a:rPr lang="en-US" sz="1350" b="1" dirty="0">
                <a:solidFill>
                  <a:srgbClr val="14213D"/>
                </a:solidFill>
                <a:latin typeface="Aptos" pitchFamily="34" charset="0"/>
                <a:ea typeface="Aptos" pitchFamily="34" charset="-122"/>
                <a:cs typeface="Aptos" pitchFamily="34" charset="-120"/>
              </a:rPr>
              <a:t>C++ scheduler</a:t>
            </a:r>
            <a:endParaRPr lang="en-US" sz="1350" dirty="0"/>
          </a:p>
        </p:txBody>
      </p:sp>
      <p:sp>
        <p:nvSpPr>
          <p:cNvPr id="11" name="Text 9"/>
          <p:cNvSpPr/>
          <p:nvPr/>
        </p:nvSpPr>
        <p:spPr>
          <a:xfrm>
            <a:off x="512064" y="1874520"/>
            <a:ext cx="2414016" cy="146304"/>
          </a:xfrm>
          <a:prstGeom prst="rect">
            <a:avLst/>
          </a:prstGeom>
          <a:noFill/>
          <a:ln/>
        </p:spPr>
        <p:txBody>
          <a:bodyPr wrap="square" lIns="635" tIns="635" rIns="635" bIns="635" rtlCol="0" anchor="ctr">
            <a:normAutofit/>
          </a:bodyPr>
          <a:lstStyle/>
          <a:p>
            <a:pPr algn="ctr"/>
            <a:r>
              <a:rPr lang="en-US" sz="930" dirty="0">
                <a:latin typeface="Aptos" pitchFamily="34" charset="0"/>
                <a:ea typeface="Aptos" pitchFamily="34" charset="-122"/>
                <a:cs typeface="Aptos" pitchFamily="34" charset="-120"/>
              </a:rPr>
              <a:t>DFG operations map to </a:t>
            </a:r>
            <a:r>
              <a:rPr lang="en-US" sz="800" dirty="0"/>
              <a:t>logical PE mapping</a:t>
            </a:r>
          </a:p>
          <a:p>
            <a:pPr marL="0" indent="0" algn="ctr">
              <a:buNone/>
            </a:pPr>
            <a:endParaRPr lang="en-US" sz="930" dirty="0"/>
          </a:p>
        </p:txBody>
      </p:sp>
      <p:sp>
        <p:nvSpPr>
          <p:cNvPr id="12" name="Shape 10"/>
          <p:cNvSpPr/>
          <p:nvPr/>
        </p:nvSpPr>
        <p:spPr>
          <a:xfrm>
            <a:off x="3607308" y="1434592"/>
            <a:ext cx="1464564" cy="695960"/>
          </a:xfrm>
          <a:prstGeom prst="roundRect">
            <a:avLst>
              <a:gd name="adj" fmla="val 8889"/>
            </a:avLst>
          </a:prstGeom>
          <a:solidFill>
            <a:srgbClr val="D1FAE5"/>
          </a:solidFill>
          <a:ln w="12700">
            <a:solidFill>
              <a:srgbClr val="10B981"/>
            </a:solidFill>
            <a:prstDash val="solid"/>
          </a:ln>
        </p:spPr>
        <p:txBody>
          <a:bodyPr/>
          <a:lstStyle/>
          <a:p>
            <a:endParaRPr lang="en-DE"/>
          </a:p>
        </p:txBody>
      </p:sp>
      <p:sp>
        <p:nvSpPr>
          <p:cNvPr id="13" name="Text 11"/>
          <p:cNvSpPr/>
          <p:nvPr/>
        </p:nvSpPr>
        <p:spPr>
          <a:xfrm>
            <a:off x="3116580" y="1599184"/>
            <a:ext cx="2414016" cy="182880"/>
          </a:xfrm>
          <a:prstGeom prst="rect">
            <a:avLst/>
          </a:prstGeom>
          <a:noFill/>
          <a:ln/>
        </p:spPr>
        <p:txBody>
          <a:bodyPr wrap="square" lIns="635" tIns="635" rIns="635" bIns="635" rtlCol="0" anchor="ctr">
            <a:normAutofit fontScale="92500" lnSpcReduction="10000"/>
          </a:bodyPr>
          <a:lstStyle/>
          <a:p>
            <a:pPr marL="0" indent="0" algn="ctr">
              <a:buNone/>
            </a:pPr>
            <a:r>
              <a:rPr lang="en-US" sz="1350" b="1" dirty="0">
                <a:solidFill>
                  <a:srgbClr val="14213D"/>
                </a:solidFill>
                <a:latin typeface="Aptos" pitchFamily="34" charset="0"/>
                <a:ea typeface="Aptos" pitchFamily="34" charset="-122"/>
                <a:cs typeface="Aptos" pitchFamily="34" charset="-120"/>
              </a:rPr>
              <a:t>POSIX threads</a:t>
            </a:r>
            <a:endParaRPr lang="en-US" sz="1350" dirty="0"/>
          </a:p>
        </p:txBody>
      </p:sp>
      <p:sp>
        <p:nvSpPr>
          <p:cNvPr id="14" name="Text 12"/>
          <p:cNvSpPr/>
          <p:nvPr/>
        </p:nvSpPr>
        <p:spPr>
          <a:xfrm>
            <a:off x="3116580" y="1873504"/>
            <a:ext cx="2414016" cy="146304"/>
          </a:xfrm>
          <a:prstGeom prst="rect">
            <a:avLst/>
          </a:prstGeom>
          <a:noFill/>
          <a:ln/>
        </p:spPr>
        <p:txBody>
          <a:bodyPr wrap="square" lIns="635" tIns="635" rIns="635" bIns="635" rtlCol="0" anchor="ctr">
            <a:normAutofit/>
          </a:bodyPr>
          <a:lstStyle/>
          <a:p>
            <a:pPr algn="ctr"/>
            <a:r>
              <a:rPr lang="en-US" sz="800" dirty="0"/>
              <a:t>real multi-core speedup</a:t>
            </a:r>
          </a:p>
        </p:txBody>
      </p:sp>
      <p:sp>
        <p:nvSpPr>
          <p:cNvPr id="15" name="Shape 13"/>
          <p:cNvSpPr/>
          <p:nvPr/>
        </p:nvSpPr>
        <p:spPr>
          <a:xfrm>
            <a:off x="5817108" y="1435100"/>
            <a:ext cx="1866900" cy="695960"/>
          </a:xfrm>
          <a:prstGeom prst="roundRect">
            <a:avLst>
              <a:gd name="adj" fmla="val 8889"/>
            </a:avLst>
          </a:prstGeom>
          <a:solidFill>
            <a:srgbClr val="FEF3C7"/>
          </a:solidFill>
          <a:ln w="12700">
            <a:solidFill>
              <a:srgbClr val="F59E0B"/>
            </a:solidFill>
            <a:prstDash val="solid"/>
          </a:ln>
        </p:spPr>
        <p:txBody>
          <a:bodyPr/>
          <a:lstStyle/>
          <a:p>
            <a:endParaRPr lang="en-DE"/>
          </a:p>
        </p:txBody>
      </p:sp>
      <p:sp>
        <p:nvSpPr>
          <p:cNvPr id="16" name="Text 14"/>
          <p:cNvSpPr/>
          <p:nvPr/>
        </p:nvSpPr>
        <p:spPr>
          <a:xfrm>
            <a:off x="5553303" y="1599692"/>
            <a:ext cx="2414016" cy="182880"/>
          </a:xfrm>
          <a:prstGeom prst="rect">
            <a:avLst/>
          </a:prstGeom>
          <a:noFill/>
          <a:ln/>
        </p:spPr>
        <p:txBody>
          <a:bodyPr wrap="square" lIns="635" tIns="635" rIns="635" bIns="635" rtlCol="0" anchor="ctr">
            <a:normAutofit fontScale="92500" lnSpcReduction="10000"/>
          </a:bodyPr>
          <a:lstStyle/>
          <a:p>
            <a:pPr marL="0" indent="0" algn="ctr">
              <a:buNone/>
            </a:pPr>
            <a:r>
              <a:rPr lang="en-US" sz="1350" b="1" dirty="0">
                <a:solidFill>
                  <a:srgbClr val="14213D"/>
                </a:solidFill>
                <a:latin typeface="Aptos" pitchFamily="34" charset="0"/>
                <a:ea typeface="Aptos" pitchFamily="34" charset="-122"/>
                <a:cs typeface="Aptos" pitchFamily="34" charset="-120"/>
              </a:rPr>
              <a:t>Vivado synthesis</a:t>
            </a:r>
            <a:endParaRPr lang="en-US" sz="1350" dirty="0"/>
          </a:p>
        </p:txBody>
      </p:sp>
      <p:sp>
        <p:nvSpPr>
          <p:cNvPr id="17" name="Text 15"/>
          <p:cNvSpPr/>
          <p:nvPr/>
        </p:nvSpPr>
        <p:spPr>
          <a:xfrm>
            <a:off x="5553303" y="1874012"/>
            <a:ext cx="2414016" cy="146304"/>
          </a:xfrm>
          <a:prstGeom prst="rect">
            <a:avLst/>
          </a:prstGeom>
          <a:noFill/>
          <a:ln/>
        </p:spPr>
        <p:txBody>
          <a:bodyPr wrap="square" lIns="635" tIns="635" rIns="635" bIns="635" rtlCol="0" anchor="ctr">
            <a:normAutofit/>
          </a:bodyPr>
          <a:lstStyle/>
          <a:p>
            <a:pPr marL="0" indent="0" algn="ctr">
              <a:buNone/>
            </a:pPr>
            <a:r>
              <a:rPr lang="en-US" sz="930" dirty="0">
                <a:solidFill>
                  <a:srgbClr val="6B7280"/>
                </a:solidFill>
                <a:latin typeface="Aptos" pitchFamily="34" charset="0"/>
                <a:ea typeface="Aptos" pitchFamily="34" charset="-122"/>
                <a:cs typeface="Aptos" pitchFamily="34" charset="-120"/>
              </a:rPr>
              <a:t>19.1% LUT reduction by sharing</a:t>
            </a:r>
            <a:endParaRPr lang="en-US" sz="930" dirty="0"/>
          </a:p>
        </p:txBody>
      </p:sp>
      <p:sp>
        <p:nvSpPr>
          <p:cNvPr id="18" name="Shape 16"/>
          <p:cNvSpPr/>
          <p:nvPr/>
        </p:nvSpPr>
        <p:spPr>
          <a:xfrm>
            <a:off x="2872740" y="4866513"/>
            <a:ext cx="6446520" cy="530352"/>
          </a:xfrm>
          <a:prstGeom prst="rect">
            <a:avLst/>
          </a:prstGeom>
          <a:solidFill>
            <a:srgbClr val="EDE9FE"/>
          </a:solidFill>
          <a:ln w="13970">
            <a:solidFill>
              <a:srgbClr val="7C3AED"/>
            </a:solidFill>
            <a:prstDash val="solid"/>
          </a:ln>
        </p:spPr>
        <p:txBody>
          <a:bodyPr/>
          <a:lstStyle/>
          <a:p>
            <a:endParaRPr lang="en-DE"/>
          </a:p>
        </p:txBody>
      </p:sp>
      <p:sp>
        <p:nvSpPr>
          <p:cNvPr id="19" name="Text 17"/>
          <p:cNvSpPr/>
          <p:nvPr/>
        </p:nvSpPr>
        <p:spPr>
          <a:xfrm>
            <a:off x="3055620" y="5031105"/>
            <a:ext cx="6080760" cy="164592"/>
          </a:xfrm>
          <a:prstGeom prst="rect">
            <a:avLst/>
          </a:prstGeom>
          <a:noFill/>
          <a:ln/>
        </p:spPr>
        <p:txBody>
          <a:bodyPr wrap="square" lIns="635" tIns="635" rIns="635" bIns="635" rtlCol="0" anchor="ctr">
            <a:normAutofit fontScale="62500" lnSpcReduction="20000"/>
          </a:bodyPr>
          <a:lstStyle/>
          <a:p>
            <a:pPr marL="0" indent="0" algn="ctr">
              <a:buNone/>
            </a:pPr>
            <a:r>
              <a:rPr lang="en-US" sz="1260" b="1" dirty="0">
                <a:solidFill>
                  <a:srgbClr val="14213D"/>
                </a:solidFill>
                <a:latin typeface="Aptos" pitchFamily="34" charset="0"/>
                <a:ea typeface="Aptos" pitchFamily="34" charset="-122"/>
                <a:cs typeface="Aptos" pitchFamily="34" charset="-120"/>
              </a:rPr>
              <a:t>Final Decision: Parallelism improves speed, but communication and resource sharing decide whether the hardware is efficient.</a:t>
            </a:r>
            <a:endParaRPr lang="en-US" sz="1260" dirty="0"/>
          </a:p>
        </p:txBody>
      </p:sp>
      <p:cxnSp>
        <p:nvCxnSpPr>
          <p:cNvPr id="21" name="Straight Arrow Connector 20">
            <a:extLst>
              <a:ext uri="{FF2B5EF4-FFF2-40B4-BE49-F238E27FC236}">
                <a16:creationId xmlns:a16="http://schemas.microsoft.com/office/drawing/2014/main" id="{CEB1BCBB-6243-21D4-17F1-4F054E566AAA}"/>
              </a:ext>
            </a:extLst>
          </p:cNvPr>
          <p:cNvCxnSpPr/>
          <p:nvPr/>
        </p:nvCxnSpPr>
        <p:spPr>
          <a:xfrm>
            <a:off x="2935224" y="1782064"/>
            <a:ext cx="6720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86F8CB9-EF44-0432-6D6F-CDFCA84B40A7}"/>
              </a:ext>
            </a:extLst>
          </p:cNvPr>
          <p:cNvCxnSpPr>
            <a:endCxn id="15" idx="1"/>
          </p:cNvCxnSpPr>
          <p:nvPr/>
        </p:nvCxnSpPr>
        <p:spPr>
          <a:xfrm>
            <a:off x="5071872" y="1782064"/>
            <a:ext cx="7452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 17">
            <a:extLst>
              <a:ext uri="{FF2B5EF4-FFF2-40B4-BE49-F238E27FC236}">
                <a16:creationId xmlns:a16="http://schemas.microsoft.com/office/drawing/2014/main" id="{C2D3D507-5127-332A-0405-FC590A18D9B4}"/>
              </a:ext>
            </a:extLst>
          </p:cNvPr>
          <p:cNvSpPr/>
          <p:nvPr/>
        </p:nvSpPr>
        <p:spPr>
          <a:xfrm>
            <a:off x="547483" y="2847594"/>
            <a:ext cx="8961120" cy="201168"/>
          </a:xfrm>
          <a:prstGeom prst="rect">
            <a:avLst/>
          </a:prstGeom>
          <a:noFill/>
          <a:ln/>
        </p:spPr>
        <p:txBody>
          <a:bodyPr wrap="square" lIns="0" tIns="0" rIns="0" bIns="0" rtlCol="0" anchor="ctr">
            <a:normAutofit/>
          </a:bodyPr>
          <a:lstStyle/>
          <a:p>
            <a:pPr marL="285750" indent="-285750">
              <a:buFont typeface="Wingdings" panose="05000000000000000000" pitchFamily="2" charset="2"/>
              <a:buChar char="ü"/>
            </a:pPr>
            <a:r>
              <a:rPr lang="en-US" sz="1250" dirty="0"/>
              <a:t>DFG scheduling maps operations to cycles and PEs.</a:t>
            </a:r>
          </a:p>
        </p:txBody>
      </p:sp>
      <p:sp>
        <p:nvSpPr>
          <p:cNvPr id="25" name="Text 19">
            <a:extLst>
              <a:ext uri="{FF2B5EF4-FFF2-40B4-BE49-F238E27FC236}">
                <a16:creationId xmlns:a16="http://schemas.microsoft.com/office/drawing/2014/main" id="{D4A1754C-02CD-3104-BB60-3988AEEB26AA}"/>
              </a:ext>
            </a:extLst>
          </p:cNvPr>
          <p:cNvSpPr/>
          <p:nvPr/>
        </p:nvSpPr>
        <p:spPr>
          <a:xfrm>
            <a:off x="547483" y="3249930"/>
            <a:ext cx="8961120" cy="201168"/>
          </a:xfrm>
          <a:prstGeom prst="rect">
            <a:avLst/>
          </a:prstGeom>
          <a:noFill/>
          <a:ln/>
        </p:spPr>
        <p:txBody>
          <a:bodyPr wrap="square" lIns="0" tIns="0" rIns="0" bIns="0" rtlCol="0" anchor="ctr">
            <a:normAutofit/>
          </a:bodyPr>
          <a:lstStyle/>
          <a:p>
            <a:pPr marL="285750" indent="-285750">
              <a:buFont typeface="Wingdings" panose="05000000000000000000" pitchFamily="2" charset="2"/>
              <a:buChar char="ü"/>
            </a:pPr>
            <a:r>
              <a:rPr lang="en-US" sz="1250" dirty="0"/>
              <a:t>Pthread experiment shows real speedup, but not ideal scaling.</a:t>
            </a:r>
          </a:p>
        </p:txBody>
      </p:sp>
      <p:sp>
        <p:nvSpPr>
          <p:cNvPr id="26" name="Text 21">
            <a:extLst>
              <a:ext uri="{FF2B5EF4-FFF2-40B4-BE49-F238E27FC236}">
                <a16:creationId xmlns:a16="http://schemas.microsoft.com/office/drawing/2014/main" id="{B3C1EA68-26F1-2CE6-5092-1025978CF5D5}"/>
              </a:ext>
            </a:extLst>
          </p:cNvPr>
          <p:cNvSpPr/>
          <p:nvPr/>
        </p:nvSpPr>
        <p:spPr>
          <a:xfrm>
            <a:off x="547483" y="3652266"/>
            <a:ext cx="8961120" cy="201168"/>
          </a:xfrm>
          <a:prstGeom prst="rect">
            <a:avLst/>
          </a:prstGeom>
          <a:noFill/>
          <a:ln/>
        </p:spPr>
        <p:txBody>
          <a:bodyPr wrap="square" lIns="0" tIns="0" rIns="0" bIns="0" rtlCol="0" anchor="ctr">
            <a:normAutofit/>
          </a:bodyPr>
          <a:lstStyle/>
          <a:p>
            <a:pPr marL="285750" indent="-285750">
              <a:buFont typeface="Wingdings" panose="05000000000000000000" pitchFamily="2" charset="2"/>
              <a:buChar char="ü"/>
            </a:pPr>
            <a:r>
              <a:rPr lang="en-US" sz="1250" dirty="0"/>
              <a:t>Vivado experiment shows 19.1% LUT reduction from sharing.</a:t>
            </a:r>
          </a:p>
        </p:txBody>
      </p:sp>
      <p:sp>
        <p:nvSpPr>
          <p:cNvPr id="27" name="Text 23">
            <a:extLst>
              <a:ext uri="{FF2B5EF4-FFF2-40B4-BE49-F238E27FC236}">
                <a16:creationId xmlns:a16="http://schemas.microsoft.com/office/drawing/2014/main" id="{3E7471DE-1A1E-6D15-9D70-6014D50907F5}"/>
              </a:ext>
            </a:extLst>
          </p:cNvPr>
          <p:cNvSpPr/>
          <p:nvPr/>
        </p:nvSpPr>
        <p:spPr>
          <a:xfrm>
            <a:off x="547483" y="4054602"/>
            <a:ext cx="8961120" cy="201168"/>
          </a:xfrm>
          <a:prstGeom prst="rect">
            <a:avLst/>
          </a:prstGeom>
          <a:noFill/>
          <a:ln/>
        </p:spPr>
        <p:txBody>
          <a:bodyPr wrap="square" lIns="0" tIns="0" rIns="0" bIns="0" rtlCol="0" anchor="ctr">
            <a:normAutofit/>
          </a:bodyPr>
          <a:lstStyle/>
          <a:p>
            <a:pPr marL="285750" indent="-285750">
              <a:buFont typeface="Wingdings" panose="05000000000000000000" pitchFamily="2" charset="2"/>
              <a:buChar char="ü"/>
            </a:pPr>
            <a:r>
              <a:rPr lang="en-US" sz="1250" dirty="0"/>
              <a:t>Best HLS designs balance parallelism, communication, and area.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C"/>
          </a:solidFill>
          <a:ln w="12700">
            <a:solidFill>
              <a:srgbClr val="F7FAFC">
                <a:alpha val="0"/>
              </a:srgbClr>
            </a:solidFill>
            <a:prstDash val="solid"/>
          </a:ln>
        </p:spPr>
        <p:txBody>
          <a:bodyPr/>
          <a:lstStyle/>
          <a:p>
            <a:endParaRPr lang="en-DE" dirty="0"/>
          </a:p>
        </p:txBody>
      </p:sp>
      <p:sp>
        <p:nvSpPr>
          <p:cNvPr id="3" name="Text 1"/>
          <p:cNvSpPr/>
          <p:nvPr/>
        </p:nvSpPr>
        <p:spPr>
          <a:xfrm>
            <a:off x="502920" y="310896"/>
            <a:ext cx="7863840" cy="438912"/>
          </a:xfrm>
          <a:prstGeom prst="rect">
            <a:avLst/>
          </a:prstGeom>
          <a:noFill/>
          <a:ln/>
        </p:spPr>
        <p:txBody>
          <a:bodyPr wrap="square" lIns="0" tIns="0" rIns="0" bIns="0" rtlCol="0" anchor="ctr"/>
          <a:lstStyle/>
          <a:p>
            <a:pPr marL="0" indent="0">
              <a:buNone/>
            </a:pPr>
            <a:r>
              <a:rPr lang="en-US" sz="2500" b="1" dirty="0">
                <a:solidFill>
                  <a:srgbClr val="14213D"/>
                </a:solidFill>
                <a:latin typeface="Aptos Display" pitchFamily="34" charset="0"/>
                <a:ea typeface="Aptos Display" pitchFamily="34" charset="-122"/>
                <a:cs typeface="Aptos Display" pitchFamily="34" charset="-120"/>
              </a:rPr>
              <a:t>References and Questions</a:t>
            </a:r>
            <a:endParaRPr lang="en-US" sz="2500" dirty="0"/>
          </a:p>
        </p:txBody>
      </p:sp>
      <p:sp>
        <p:nvSpPr>
          <p:cNvPr id="4" name="Text 2"/>
          <p:cNvSpPr/>
          <p:nvPr/>
        </p:nvSpPr>
        <p:spPr>
          <a:xfrm>
            <a:off x="512064" y="804672"/>
            <a:ext cx="10789920" cy="274320"/>
          </a:xfrm>
          <a:prstGeom prst="rect">
            <a:avLst/>
          </a:prstGeom>
          <a:noFill/>
          <a:ln/>
        </p:spPr>
        <p:txBody>
          <a:bodyPr wrap="square" lIns="0" tIns="0" rIns="0" bIns="0" rtlCol="0" anchor="ctr"/>
          <a:lstStyle/>
          <a:p>
            <a:pPr marL="0" indent="0">
              <a:buNone/>
            </a:pPr>
            <a:r>
              <a:rPr lang="en-US" sz="1050" dirty="0">
                <a:solidFill>
                  <a:srgbClr val="6B7280"/>
                </a:solidFill>
              </a:rPr>
              <a:t>.</a:t>
            </a:r>
            <a:endParaRPr lang="en-US" sz="1050" dirty="0"/>
          </a:p>
        </p:txBody>
      </p:sp>
      <p:sp>
        <p:nvSpPr>
          <p:cNvPr id="5" name="Text 3"/>
          <p:cNvSpPr/>
          <p:nvPr/>
        </p:nvSpPr>
        <p:spPr>
          <a:xfrm>
            <a:off x="512064" y="6537960"/>
            <a:ext cx="4846320" cy="164592"/>
          </a:xfrm>
          <a:prstGeom prst="rect">
            <a:avLst/>
          </a:prstGeom>
          <a:noFill/>
          <a:ln/>
        </p:spPr>
        <p:txBody>
          <a:bodyPr wrap="square" lIns="0" tIns="0" rIns="0" bIns="0" rtlCol="0" anchor="ctr"/>
          <a:lstStyle/>
          <a:p>
            <a:pPr marL="0" indent="0">
              <a:buNone/>
            </a:pPr>
            <a:r>
              <a:rPr lang="en-US" sz="850" dirty="0">
                <a:solidFill>
                  <a:srgbClr val="6B7280"/>
                </a:solidFill>
              </a:rPr>
              <a:t>High-Level Synthesis for Multi-Core Systems</a:t>
            </a:r>
            <a:endParaRPr lang="en-US" sz="850" dirty="0"/>
          </a:p>
        </p:txBody>
      </p:sp>
      <p:sp>
        <p:nvSpPr>
          <p:cNvPr id="6" name="Text 4"/>
          <p:cNvSpPr/>
          <p:nvPr/>
        </p:nvSpPr>
        <p:spPr>
          <a:xfrm>
            <a:off x="11183112" y="6473952"/>
            <a:ext cx="502920" cy="256032"/>
          </a:xfrm>
          <a:prstGeom prst="rect">
            <a:avLst/>
          </a:prstGeom>
          <a:noFill/>
          <a:ln/>
        </p:spPr>
        <p:txBody>
          <a:bodyPr wrap="square" lIns="0" tIns="0" rIns="0" bIns="0" rtlCol="0" anchor="ctr"/>
          <a:lstStyle/>
          <a:p>
            <a:pPr marL="0" indent="0" algn="r">
              <a:buNone/>
            </a:pPr>
            <a:r>
              <a:rPr lang="en-US" sz="1100" b="1" dirty="0">
                <a:solidFill>
                  <a:srgbClr val="2563EB"/>
                </a:solidFill>
              </a:rPr>
              <a:t>15</a:t>
            </a:r>
            <a:endParaRPr lang="en-US" sz="1100" dirty="0"/>
          </a:p>
        </p:txBody>
      </p:sp>
      <p:sp>
        <p:nvSpPr>
          <p:cNvPr id="7" name="Text 5"/>
          <p:cNvSpPr/>
          <p:nvPr/>
        </p:nvSpPr>
        <p:spPr>
          <a:xfrm>
            <a:off x="685800" y="1298448"/>
            <a:ext cx="7772400" cy="3383280"/>
          </a:xfrm>
          <a:prstGeom prst="rect">
            <a:avLst/>
          </a:prstGeom>
          <a:noFill/>
          <a:ln/>
        </p:spPr>
        <p:txBody>
          <a:bodyPr wrap="square" lIns="635" tIns="635" rIns="635" bIns="635" rtlCol="0" anchor="ctr">
            <a:normAutofit/>
          </a:bodyPr>
          <a:lstStyle/>
          <a:p>
            <a:pPr marL="0" indent="0">
              <a:buNone/>
            </a:pPr>
            <a:r>
              <a:rPr lang="en-US" sz="960" dirty="0">
                <a:solidFill>
                  <a:srgbClr val="1F2937"/>
                </a:solidFill>
              </a:rPr>
              <a:t>[1] J. P. Elliott, Understanding Behavioral Synthesis, Kluwer, 2000.</a:t>
            </a:r>
            <a:endParaRPr lang="en-US" sz="960" dirty="0"/>
          </a:p>
          <a:p>
            <a:pPr marL="0" indent="0">
              <a:buNone/>
            </a:pPr>
            <a:r>
              <a:rPr lang="en-US" sz="960" dirty="0">
                <a:solidFill>
                  <a:srgbClr val="1F2937"/>
                </a:solidFill>
              </a:rPr>
              <a:t>[2] P. Coussy and A. Morawiec, High-Level Synthesis: From Algorithm to Digital Circuit, Springer, 2008.</a:t>
            </a:r>
            <a:endParaRPr lang="en-US" sz="960" dirty="0"/>
          </a:p>
          <a:p>
            <a:pPr marL="0" indent="0">
              <a:buNone/>
            </a:pPr>
            <a:r>
              <a:rPr lang="en-US" sz="960" dirty="0">
                <a:solidFill>
                  <a:srgbClr val="1F2937"/>
                </a:solidFill>
              </a:rPr>
              <a:t>[3] S. Gupta et al., SPARK: A Parallelizing Approach to HLS of Digital Circuits, Springer, 2004.</a:t>
            </a:r>
            <a:endParaRPr lang="en-US" sz="960" dirty="0"/>
          </a:p>
          <a:p>
            <a:pPr marL="0" indent="0">
              <a:buNone/>
            </a:pPr>
            <a:r>
              <a:rPr lang="en-US" sz="960" dirty="0">
                <a:solidFill>
                  <a:srgbClr val="1F2937"/>
                </a:solidFill>
              </a:rPr>
              <a:t>[4] G. De Micheli, Synthesis and Optimization of Digital Circuits, McGraw-Hill, 1994.</a:t>
            </a:r>
            <a:endParaRPr lang="en-US" sz="960" dirty="0"/>
          </a:p>
          <a:p>
            <a:pPr marL="0" indent="0">
              <a:buNone/>
            </a:pPr>
            <a:r>
              <a:rPr lang="en-US" sz="960" dirty="0">
                <a:solidFill>
                  <a:srgbClr val="1F2937"/>
                </a:solidFill>
              </a:rPr>
              <a:t>[5] E. Casseau and B. Le Gal, Multi-mode application-specific cores based on HLS, VLSI Journal, 2012.</a:t>
            </a:r>
            <a:endParaRPr lang="en-US" sz="960" dirty="0"/>
          </a:p>
          <a:p>
            <a:pPr marL="0" indent="0">
              <a:buNone/>
            </a:pPr>
            <a:r>
              <a:rPr lang="en-US" sz="960" dirty="0">
                <a:solidFill>
                  <a:srgbClr val="1F2937"/>
                </a:solidFill>
              </a:rPr>
              <a:t>[6] P. G. Paulin and J. P. Knight, Force-Directed Scheduling, IEEE TCAD, 1989.</a:t>
            </a:r>
            <a:endParaRPr lang="en-US" sz="960" dirty="0"/>
          </a:p>
          <a:p>
            <a:pPr marL="0" indent="0">
              <a:buNone/>
            </a:pPr>
            <a:r>
              <a:rPr lang="en-US" sz="960" dirty="0">
                <a:solidFill>
                  <a:srgbClr val="1F2937"/>
                </a:solidFill>
              </a:rPr>
              <a:t>[7] A. M. Sllame and V. Drabek, List-based scheduling for HLS, DSD, 2002.</a:t>
            </a:r>
            <a:endParaRPr lang="en-US" sz="960" dirty="0"/>
          </a:p>
          <a:p>
            <a:pPr marL="0" indent="0">
              <a:buNone/>
            </a:pPr>
            <a:r>
              <a:rPr lang="en-US" sz="960" dirty="0">
                <a:solidFill>
                  <a:srgbClr val="1F2937"/>
                </a:solidFill>
              </a:rPr>
              <a:t>[8] M. Stephenson et al., Bitwidth analysis, PLDI, 2000.</a:t>
            </a:r>
            <a:endParaRPr lang="en-US" sz="960" dirty="0"/>
          </a:p>
          <a:p>
            <a:pPr marL="0" indent="0">
              <a:buNone/>
            </a:pPr>
            <a:r>
              <a:rPr lang="en-US" sz="960" dirty="0">
                <a:solidFill>
                  <a:srgbClr val="1F2937"/>
                </a:solidFill>
              </a:rPr>
              <a:t>[9] R. Nane et al., Survey and evaluation of FPGA HLS tools, IEEE TCAD, 2016.</a:t>
            </a:r>
            <a:endParaRPr lang="en-US" sz="960" dirty="0"/>
          </a:p>
          <a:p>
            <a:pPr marL="0" indent="0">
              <a:buNone/>
            </a:pPr>
            <a:r>
              <a:rPr lang="en-US" sz="960" dirty="0">
                <a:solidFill>
                  <a:srgbClr val="1F2937"/>
                </a:solidFill>
              </a:rPr>
              <a:t>[10] H. Ye et al., ScaleHLS, HPCA, 2022.</a:t>
            </a:r>
            <a:endParaRPr lang="en-US" sz="960" dirty="0"/>
          </a:p>
        </p:txBody>
      </p:sp>
      <p:sp>
        <p:nvSpPr>
          <p:cNvPr id="8" name="Shape 6"/>
          <p:cNvSpPr/>
          <p:nvPr/>
        </p:nvSpPr>
        <p:spPr>
          <a:xfrm>
            <a:off x="8979408" y="1920240"/>
            <a:ext cx="2304288" cy="2304288"/>
          </a:xfrm>
          <a:prstGeom prst="rect">
            <a:avLst/>
          </a:prstGeom>
          <a:solidFill>
            <a:srgbClr val="14213D"/>
          </a:solidFill>
          <a:ln w="12700">
            <a:solidFill>
              <a:srgbClr val="14213D">
                <a:alpha val="0"/>
              </a:srgbClr>
            </a:solidFill>
            <a:prstDash val="solid"/>
          </a:ln>
        </p:spPr>
        <p:txBody>
          <a:bodyPr/>
          <a:lstStyle/>
          <a:p>
            <a:endParaRPr lang="en-DE"/>
          </a:p>
        </p:txBody>
      </p:sp>
      <p:sp>
        <p:nvSpPr>
          <p:cNvPr id="9" name="Text 7"/>
          <p:cNvSpPr/>
          <p:nvPr/>
        </p:nvSpPr>
        <p:spPr>
          <a:xfrm>
            <a:off x="9253728" y="2615184"/>
            <a:ext cx="1755648" cy="694944"/>
          </a:xfrm>
          <a:prstGeom prst="rect">
            <a:avLst/>
          </a:prstGeom>
          <a:noFill/>
          <a:ln/>
        </p:spPr>
        <p:txBody>
          <a:bodyPr wrap="square" lIns="0" tIns="0" rIns="0" bIns="0" rtlCol="0" anchor="ctr">
            <a:normAutofit lnSpcReduction="10000"/>
          </a:bodyPr>
          <a:lstStyle/>
          <a:p>
            <a:pPr marL="0" indent="0" algn="ctr">
              <a:buNone/>
            </a:pPr>
            <a:r>
              <a:rPr lang="en-US" sz="2400" b="1" dirty="0">
                <a:solidFill>
                  <a:srgbClr val="FFFFFF"/>
                </a:solidFill>
              </a:rPr>
              <a:t>Thank you</a:t>
            </a:r>
            <a:endParaRPr lang="en-US" sz="2400" dirty="0"/>
          </a:p>
          <a:p>
            <a:pPr marL="0" indent="0" algn="ctr">
              <a:buNone/>
            </a:pPr>
            <a:r>
              <a:rPr lang="en-US" sz="2400" b="1" dirty="0">
                <a:solidFill>
                  <a:srgbClr val="FFFFFF"/>
                </a:solidFill>
              </a:rPr>
              <a:t>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301</TotalTime>
  <Words>2326</Words>
  <Application>Microsoft Office PowerPoint</Application>
  <PresentationFormat>Widescreen</PresentationFormat>
  <Paragraphs>394</Paragraphs>
  <Slides>15</Slides>
  <Notes>15</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15</vt:i4>
      </vt:variant>
    </vt:vector>
  </HeadingPairs>
  <TitlesOfParts>
    <vt:vector size="24" baseType="lpstr">
      <vt:lpstr>Aptos</vt:lpstr>
      <vt:lpstr>Aptos Display</vt:lpstr>
      <vt:lpstr>Arial</vt:lpstr>
      <vt:lpstr>Calibri</vt:lpstr>
      <vt:lpstr>Cambria</vt:lpstr>
      <vt:lpstr>Courier New</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Hochschule Hamm-Lippstadt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High-Level Synthesis for Multi-Core Systems</dc:title>
  <dc:subject>Updated seminar presentation aligned with final paper</dc:subject>
  <dc:creator>OpenAI</dc:creator>
  <cp:lastModifiedBy>M R Sohan</cp:lastModifiedBy>
  <cp:revision>6</cp:revision>
  <dcterms:created xsi:type="dcterms:W3CDTF">2026-06-28T12:44:11Z</dcterms:created>
  <dcterms:modified xsi:type="dcterms:W3CDTF">2026-06-28T18:30:42Z</dcterms:modified>
</cp:coreProperties>
</file>