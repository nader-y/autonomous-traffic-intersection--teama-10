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Poppins"/>
      <p:regular r:id="rId21"/>
      <p:bold r:id="rId22"/>
      <p:italic r:id="rId23"/>
      <p:boldItalic r:id="rId24"/>
    </p:embeddedFont>
    <p:embeddedFont>
      <p:font typeface="Oswald"/>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oppins-bold.fntdata"/><Relationship Id="rId21" Type="http://schemas.openxmlformats.org/officeDocument/2006/relationships/font" Target="fonts/Poppins-regular.fntdata"/><Relationship Id="rId24" Type="http://schemas.openxmlformats.org/officeDocument/2006/relationships/font" Target="fonts/Poppins-boldItalic.fntdata"/><Relationship Id="rId23" Type="http://schemas.openxmlformats.org/officeDocument/2006/relationships/font" Target="fonts/Poppi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Oswald-bold.fntdata"/><Relationship Id="rId25" Type="http://schemas.openxmlformats.org/officeDocument/2006/relationships/font" Target="fonts/Oswald-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1a7ebe273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f1a7ebe273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1a7ebe273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f1a7ebe273_2_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1a7ebe273_2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f1a7ebe273_2_9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fac15313c_9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efac15313c_9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1a7ebe273_2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f1a7ebe273_2_10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1a7ebe273_2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f1a7ebe273_2_1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1a7ebe273_2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f1a7ebe273_2_1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efcd3a56b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efcd3a56b9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1a7ebe273_2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f1a7ebe273_2_1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fcd3a56b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efcd3a56b9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efcd3a56b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3efcd3a56b9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1a7ebe273_4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f1a7ebe273_4_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ee3ae7f5d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3ee3ae7f5d8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1a7ebe273_2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3f1a7ebe273_2_1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hyperlink" Target="https://www.vlsi-expert.com/2021/05/high-level-synthesis-intro.html"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28" name="Shape 128"/>
        <p:cNvGrpSpPr/>
        <p:nvPr/>
      </p:nvGrpSpPr>
      <p:grpSpPr>
        <a:xfrm>
          <a:off x="0" y="0"/>
          <a:ext cx="0" cy="0"/>
          <a:chOff x="0" y="0"/>
          <a:chExt cx="0" cy="0"/>
        </a:xfrm>
      </p:grpSpPr>
      <p:sp>
        <p:nvSpPr>
          <p:cNvPr id="129" name="Google Shape;129;p25"/>
          <p:cNvSpPr/>
          <p:nvPr/>
        </p:nvSpPr>
        <p:spPr>
          <a:xfrm>
            <a:off x="-1040004" y="-759864"/>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130" name="Google Shape;130;p25"/>
          <p:cNvSpPr/>
          <p:nvPr/>
        </p:nvSpPr>
        <p:spPr>
          <a:xfrm>
            <a:off x="7347727" y="3413125"/>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131" name="Google Shape;131;p25"/>
          <p:cNvSpPr txBox="1"/>
          <p:nvPr/>
        </p:nvSpPr>
        <p:spPr>
          <a:xfrm>
            <a:off x="661017" y="3882595"/>
            <a:ext cx="4582200" cy="8865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 u="none" cap="none" strike="noStrike">
                <a:solidFill>
                  <a:srgbClr val="000000"/>
                </a:solidFill>
                <a:latin typeface="Poppins"/>
                <a:ea typeface="Poppins"/>
                <a:cs typeface="Poppins"/>
                <a:sym typeface="Poppins"/>
              </a:rPr>
              <a:t>Ikramul Hassan Sazid</a:t>
            </a:r>
            <a:endParaRPr sz="900"/>
          </a:p>
          <a:p>
            <a:pPr indent="0" lvl="0" marL="0" marR="0" rtl="0" algn="just">
              <a:lnSpc>
                <a:spcPct val="140000"/>
              </a:lnSpc>
              <a:spcBef>
                <a:spcPts val="0"/>
              </a:spcBef>
              <a:spcAft>
                <a:spcPts val="0"/>
              </a:spcAft>
              <a:buNone/>
            </a:pPr>
            <a:r>
              <a:rPr b="0" i="0" lang="en" sz="1000" u="none" cap="none" strike="noStrike">
                <a:solidFill>
                  <a:srgbClr val="000000"/>
                </a:solidFill>
                <a:latin typeface="Poppins"/>
                <a:ea typeface="Poppins"/>
                <a:cs typeface="Poppins"/>
                <a:sym typeface="Poppins"/>
              </a:rPr>
              <a:t>Hamm-Lippstadt University of Applied Sciences</a:t>
            </a:r>
            <a:endParaRPr b="0" i="0" sz="1000" u="none" cap="none" strike="noStrike">
              <a:solidFill>
                <a:srgbClr val="000000"/>
              </a:solidFill>
              <a:latin typeface="Poppins"/>
              <a:ea typeface="Poppins"/>
              <a:cs typeface="Poppins"/>
              <a:sym typeface="Poppins"/>
            </a:endParaRPr>
          </a:p>
          <a:p>
            <a:pPr indent="0" lvl="0" marL="0" marR="0" rtl="0" algn="just">
              <a:lnSpc>
                <a:spcPct val="140000"/>
              </a:lnSpc>
              <a:spcBef>
                <a:spcPts val="0"/>
              </a:spcBef>
              <a:spcAft>
                <a:spcPts val="0"/>
              </a:spcAft>
              <a:buNone/>
            </a:pPr>
            <a:r>
              <a:rPr lang="en" sz="1000">
                <a:latin typeface="Poppins"/>
                <a:ea typeface="Poppins"/>
                <a:cs typeface="Poppins"/>
                <a:sym typeface="Poppins"/>
              </a:rPr>
              <a:t>Hardware / Software Codesign - SS26</a:t>
            </a:r>
            <a:endParaRPr sz="1000">
              <a:latin typeface="Poppins"/>
              <a:ea typeface="Poppins"/>
              <a:cs typeface="Poppins"/>
              <a:sym typeface="Poppins"/>
            </a:endParaRPr>
          </a:p>
          <a:p>
            <a:pPr indent="0" lvl="0" marL="0" marR="0" rtl="0" algn="just">
              <a:lnSpc>
                <a:spcPct val="140000"/>
              </a:lnSpc>
              <a:spcBef>
                <a:spcPts val="0"/>
              </a:spcBef>
              <a:spcAft>
                <a:spcPts val="0"/>
              </a:spcAft>
              <a:buNone/>
            </a:pPr>
            <a:r>
              <a:rPr i="1" lang="en" sz="1000">
                <a:latin typeface="Poppins"/>
                <a:ea typeface="Poppins"/>
                <a:cs typeface="Poppins"/>
                <a:sym typeface="Poppins"/>
              </a:rPr>
              <a:t>Prof. Dr. Achim Rettberg </a:t>
            </a:r>
            <a:endParaRPr i="1" sz="1000">
              <a:latin typeface="Poppins"/>
              <a:ea typeface="Poppins"/>
              <a:cs typeface="Poppins"/>
              <a:sym typeface="Poppins"/>
            </a:endParaRPr>
          </a:p>
        </p:txBody>
      </p:sp>
      <p:cxnSp>
        <p:nvCxnSpPr>
          <p:cNvPr id="132" name="Google Shape;132;p25"/>
          <p:cNvCxnSpPr/>
          <p:nvPr/>
        </p:nvCxnSpPr>
        <p:spPr>
          <a:xfrm>
            <a:off x="661017" y="3649686"/>
            <a:ext cx="3246120" cy="0"/>
          </a:xfrm>
          <a:prstGeom prst="straightConnector1">
            <a:avLst/>
          </a:prstGeom>
          <a:noFill/>
          <a:ln cap="flat" cmpd="sng" w="66675">
            <a:solidFill>
              <a:srgbClr val="000000"/>
            </a:solidFill>
            <a:prstDash val="solid"/>
            <a:round/>
            <a:headEnd len="sm" w="sm" type="none"/>
            <a:tailEnd len="sm" w="sm" type="none"/>
          </a:ln>
        </p:spPr>
      </p:cxnSp>
      <p:sp>
        <p:nvSpPr>
          <p:cNvPr id="133" name="Google Shape;133;p25"/>
          <p:cNvSpPr/>
          <p:nvPr/>
        </p:nvSpPr>
        <p:spPr>
          <a:xfrm>
            <a:off x="4200813" y="1605585"/>
            <a:ext cx="4282171" cy="1932330"/>
          </a:xfrm>
          <a:custGeom>
            <a:rect b="b" l="l" r="r" t="t"/>
            <a:pathLst>
              <a:path extrusionOk="0" h="3864659" w="8564342">
                <a:moveTo>
                  <a:pt x="0" y="0"/>
                </a:moveTo>
                <a:lnTo>
                  <a:pt x="8564341" y="0"/>
                </a:lnTo>
                <a:lnTo>
                  <a:pt x="8564341" y="3864660"/>
                </a:lnTo>
                <a:lnTo>
                  <a:pt x="0" y="3864660"/>
                </a:lnTo>
                <a:lnTo>
                  <a:pt x="0" y="0"/>
                </a:lnTo>
                <a:close/>
              </a:path>
            </a:pathLst>
          </a:custGeom>
          <a:blipFill rotWithShape="1">
            <a:blip r:embed="rId4">
              <a:alphaModFix/>
            </a:blip>
            <a:stretch>
              <a:fillRect b="0" l="0" r="0" t="0"/>
            </a:stretch>
          </a:blipFill>
          <a:ln>
            <a:noFill/>
          </a:ln>
        </p:spPr>
      </p:sp>
      <p:sp>
        <p:nvSpPr>
          <p:cNvPr id="134" name="Google Shape;134;p25"/>
          <p:cNvSpPr txBox="1"/>
          <p:nvPr/>
        </p:nvSpPr>
        <p:spPr>
          <a:xfrm>
            <a:off x="661025" y="1442375"/>
            <a:ext cx="3294300" cy="1911000"/>
          </a:xfrm>
          <a:prstGeom prst="rect">
            <a:avLst/>
          </a:prstGeom>
          <a:noFill/>
          <a:ln>
            <a:noFill/>
          </a:ln>
        </p:spPr>
        <p:txBody>
          <a:bodyPr anchorCtr="0" anchor="t" bIns="0" lIns="0" spcFirstLastPara="1" rIns="0" wrap="square" tIns="0">
            <a:spAutoFit/>
          </a:bodyPr>
          <a:lstStyle/>
          <a:p>
            <a:pPr indent="0" lvl="0" marL="0" marR="0" rtl="0" algn="l">
              <a:lnSpc>
                <a:spcPct val="96999"/>
              </a:lnSpc>
              <a:spcBef>
                <a:spcPts val="0"/>
              </a:spcBef>
              <a:spcAft>
                <a:spcPts val="0"/>
              </a:spcAft>
              <a:buClr>
                <a:srgbClr val="000000"/>
              </a:buClr>
              <a:buFont typeface="Arial"/>
              <a:buNone/>
            </a:pPr>
            <a:r>
              <a:rPr lang="en" sz="3200">
                <a:latin typeface="Oswald"/>
                <a:ea typeface="Oswald"/>
                <a:cs typeface="Oswald"/>
                <a:sym typeface="Oswald"/>
              </a:rPr>
              <a:t>High Level Synthesis for FPGA:Bridging Software and Hardware</a:t>
            </a:r>
            <a:endParaRPr sz="1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38" name="Shape 138"/>
        <p:cNvGrpSpPr/>
        <p:nvPr/>
      </p:nvGrpSpPr>
      <p:grpSpPr>
        <a:xfrm>
          <a:off x="0" y="0"/>
          <a:ext cx="0" cy="0"/>
          <a:chOff x="0" y="0"/>
          <a:chExt cx="0" cy="0"/>
        </a:xfrm>
      </p:grpSpPr>
      <p:sp>
        <p:nvSpPr>
          <p:cNvPr id="139" name="Google Shape;139;p26"/>
          <p:cNvSpPr/>
          <p:nvPr/>
        </p:nvSpPr>
        <p:spPr>
          <a:xfrm flipH="1">
            <a:off x="6798849" y="-884960"/>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3">
              <a:alphaModFix/>
            </a:blip>
            <a:stretch>
              <a:fillRect b="0" l="0" r="0" t="0"/>
            </a:stretch>
          </a:blipFill>
          <a:ln>
            <a:noFill/>
          </a:ln>
        </p:spPr>
      </p:sp>
      <p:sp>
        <p:nvSpPr>
          <p:cNvPr id="140" name="Google Shape;140;p26"/>
          <p:cNvSpPr/>
          <p:nvPr/>
        </p:nvSpPr>
        <p:spPr>
          <a:xfrm flipH="1">
            <a:off x="-1554354" y="3506788"/>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3">
              <a:alphaModFix/>
            </a:blip>
            <a:stretch>
              <a:fillRect b="0" l="0" r="0" t="0"/>
            </a:stretch>
          </a:blipFill>
          <a:ln>
            <a:noFill/>
          </a:ln>
        </p:spPr>
      </p:sp>
      <p:sp>
        <p:nvSpPr>
          <p:cNvPr id="141" name="Google Shape;141;p26"/>
          <p:cNvSpPr txBox="1"/>
          <p:nvPr/>
        </p:nvSpPr>
        <p:spPr>
          <a:xfrm>
            <a:off x="514350" y="557213"/>
            <a:ext cx="6429600" cy="597300"/>
          </a:xfrm>
          <a:prstGeom prst="rect">
            <a:avLst/>
          </a:prstGeom>
          <a:noFill/>
          <a:ln>
            <a:noFill/>
          </a:ln>
        </p:spPr>
        <p:txBody>
          <a:bodyPr anchorCtr="0" anchor="t" bIns="0" lIns="0" spcFirstLastPara="1" rIns="0" wrap="square" tIns="0">
            <a:spAutoFit/>
          </a:bodyPr>
          <a:lstStyle/>
          <a:p>
            <a:pPr indent="0" lvl="0" marL="0" marR="0" rtl="0" algn="l">
              <a:lnSpc>
                <a:spcPct val="96999"/>
              </a:lnSpc>
              <a:spcBef>
                <a:spcPts val="0"/>
              </a:spcBef>
              <a:spcAft>
                <a:spcPts val="0"/>
              </a:spcAft>
              <a:buNone/>
            </a:pPr>
            <a:r>
              <a:rPr b="1" i="0" lang="en" sz="2000" u="none" cap="none" strike="noStrike">
                <a:solidFill>
                  <a:srgbClr val="000000"/>
                </a:solidFill>
                <a:latin typeface="Oswald"/>
                <a:ea typeface="Oswald"/>
                <a:cs typeface="Oswald"/>
                <a:sym typeface="Oswald"/>
              </a:rPr>
              <a:t>INTRODUCTION: </a:t>
            </a:r>
            <a:r>
              <a:rPr b="1" lang="en" sz="2000">
                <a:latin typeface="Oswald"/>
                <a:ea typeface="Oswald"/>
                <a:cs typeface="Oswald"/>
                <a:sym typeface="Oswald"/>
              </a:rPr>
              <a:t>High-Level Synthesis (HLS)</a:t>
            </a:r>
            <a:endParaRPr sz="700"/>
          </a:p>
          <a:p>
            <a:pPr indent="0" lvl="0" marL="0" marR="0" rtl="0" algn="l">
              <a:lnSpc>
                <a:spcPct val="96999"/>
              </a:lnSpc>
              <a:spcBef>
                <a:spcPts val="0"/>
              </a:spcBef>
              <a:spcAft>
                <a:spcPts val="0"/>
              </a:spcAft>
              <a:buNone/>
            </a:pPr>
            <a:r>
              <a:t/>
            </a:r>
            <a:endParaRPr b="1" i="0" sz="2000" u="none" cap="none" strike="noStrike">
              <a:solidFill>
                <a:srgbClr val="000000"/>
              </a:solidFill>
              <a:latin typeface="Oswald"/>
              <a:ea typeface="Oswald"/>
              <a:cs typeface="Oswald"/>
              <a:sym typeface="Oswald"/>
            </a:endParaRPr>
          </a:p>
        </p:txBody>
      </p:sp>
      <p:sp>
        <p:nvSpPr>
          <p:cNvPr id="142" name="Google Shape;142;p26"/>
          <p:cNvSpPr txBox="1"/>
          <p:nvPr/>
        </p:nvSpPr>
        <p:spPr>
          <a:xfrm>
            <a:off x="514350" y="1316550"/>
            <a:ext cx="4057500" cy="2302200"/>
          </a:xfrm>
          <a:prstGeom prst="rect">
            <a:avLst/>
          </a:prstGeom>
          <a:noFill/>
          <a:ln>
            <a:noFill/>
          </a:ln>
        </p:spPr>
        <p:txBody>
          <a:bodyPr anchorCtr="0" anchor="t" bIns="0" lIns="0" spcFirstLastPara="1" rIns="0" wrap="square" tIns="0">
            <a:spAutoFit/>
          </a:bodyPr>
          <a:lstStyle/>
          <a:p>
            <a:pPr indent="0" lvl="0" marL="0" rtl="0" algn="l">
              <a:lnSpc>
                <a:spcPct val="139958"/>
              </a:lnSpc>
              <a:spcBef>
                <a:spcPts val="0"/>
              </a:spcBef>
              <a:spcAft>
                <a:spcPts val="0"/>
              </a:spcAft>
              <a:buClr>
                <a:schemeClr val="dk1"/>
              </a:buClr>
              <a:buSzPts val="1100"/>
              <a:buFont typeface="Arial"/>
              <a:buNone/>
            </a:pPr>
            <a:r>
              <a:rPr b="1" lang="en" sz="1100">
                <a:solidFill>
                  <a:schemeClr val="dk1"/>
                </a:solidFill>
              </a:rPr>
              <a:t>The Driving Motivation:</a:t>
            </a:r>
            <a:r>
              <a:rPr lang="en" sz="1100">
                <a:solidFill>
                  <a:schemeClr val="dk1"/>
                </a:solidFill>
              </a:rPr>
              <a:t> The complexity of System-on-Chip (SoC). High level coding to significantly improve developer productivity.</a:t>
            </a:r>
            <a:endParaRPr sz="1100">
              <a:solidFill>
                <a:schemeClr val="dk1"/>
              </a:solidFill>
            </a:endParaRPr>
          </a:p>
          <a:p>
            <a:pPr indent="0" lvl="0" marL="0" rtl="0" algn="l">
              <a:lnSpc>
                <a:spcPct val="139958"/>
              </a:lnSpc>
              <a:spcBef>
                <a:spcPts val="0"/>
              </a:spcBef>
              <a:spcAft>
                <a:spcPts val="0"/>
              </a:spcAft>
              <a:buClr>
                <a:schemeClr val="dk1"/>
              </a:buClr>
              <a:buSzPts val="1100"/>
              <a:buFont typeface="Arial"/>
              <a:buNone/>
            </a:pPr>
            <a:r>
              <a:rPr b="1" lang="en" sz="1100">
                <a:solidFill>
                  <a:schemeClr val="dk1"/>
                </a:solidFill>
              </a:rPr>
              <a:t>Core Concept Defined:</a:t>
            </a:r>
            <a:r>
              <a:rPr lang="en" sz="1100">
                <a:solidFill>
                  <a:schemeClr val="dk1"/>
                </a:solidFill>
              </a:rPr>
              <a:t> HLS is the automated process that translates untimed or partially timed high-level specifications (like C, C++, or SystemC) into a low-level, cycle-accurate RTL representation.</a:t>
            </a:r>
            <a:endParaRPr sz="1100">
              <a:solidFill>
                <a:schemeClr val="dk1"/>
              </a:solidFill>
            </a:endParaRPr>
          </a:p>
          <a:p>
            <a:pPr indent="0" lvl="0" marL="0" rtl="0" algn="l">
              <a:lnSpc>
                <a:spcPct val="139958"/>
              </a:lnSpc>
              <a:spcBef>
                <a:spcPts val="0"/>
              </a:spcBef>
              <a:spcAft>
                <a:spcPts val="0"/>
              </a:spcAft>
              <a:buClr>
                <a:schemeClr val="dk1"/>
              </a:buClr>
              <a:buSzPts val="1100"/>
              <a:buFont typeface="Arial"/>
              <a:buNone/>
            </a:pPr>
            <a:r>
              <a:rPr b="1" lang="en" sz="1100">
                <a:solidFill>
                  <a:schemeClr val="dk1"/>
                </a:solidFill>
              </a:rPr>
              <a:t>Output Definition:</a:t>
            </a:r>
            <a:r>
              <a:rPr lang="en" sz="1100">
                <a:solidFill>
                  <a:schemeClr val="dk1"/>
                </a:solidFill>
              </a:rPr>
              <a:t> The final output of the HLS compilation process is a synthesizable RTL netlist.</a:t>
            </a:r>
            <a:endParaRPr sz="1100">
              <a:solidFill>
                <a:schemeClr val="dk1"/>
              </a:solidFill>
            </a:endParaRPr>
          </a:p>
          <a:p>
            <a:pPr indent="0" lvl="0" marL="0" rtl="0" algn="l">
              <a:lnSpc>
                <a:spcPct val="139958"/>
              </a:lnSpc>
              <a:spcBef>
                <a:spcPts val="0"/>
              </a:spcBef>
              <a:spcAft>
                <a:spcPts val="0"/>
              </a:spcAft>
              <a:buSzPts val="1100"/>
              <a:buNone/>
            </a:pPr>
            <a:r>
              <a:rPr b="1" lang="en" sz="1100">
                <a:solidFill>
                  <a:schemeClr val="dk1"/>
                </a:solidFill>
              </a:rPr>
              <a:t>Target Implementation:</a:t>
            </a:r>
            <a:r>
              <a:rPr lang="en" sz="1100">
                <a:solidFill>
                  <a:schemeClr val="dk1"/>
                </a:solidFill>
              </a:rPr>
              <a:t> On FPGA similar to RTL netlist</a:t>
            </a:r>
            <a:endParaRPr sz="1200">
              <a:latin typeface="Poppins"/>
              <a:ea typeface="Poppins"/>
              <a:cs typeface="Poppins"/>
              <a:sym typeface="Poppins"/>
            </a:endParaRPr>
          </a:p>
        </p:txBody>
      </p:sp>
      <p:sp>
        <p:nvSpPr>
          <p:cNvPr id="143" name="Google Shape;143;p26"/>
          <p:cNvSpPr txBox="1"/>
          <p:nvPr/>
        </p:nvSpPr>
        <p:spPr>
          <a:xfrm>
            <a:off x="7699890" y="4081424"/>
            <a:ext cx="223800" cy="123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800" u="none" cap="none" strike="noStrike">
                <a:solidFill>
                  <a:srgbClr val="000000"/>
                </a:solidFill>
                <a:latin typeface="Poppins"/>
                <a:ea typeface="Poppins"/>
                <a:cs typeface="Poppins"/>
                <a:sym typeface="Poppins"/>
              </a:rPr>
              <a:t>[1]</a:t>
            </a:r>
            <a:endParaRPr sz="700"/>
          </a:p>
        </p:txBody>
      </p:sp>
      <p:pic>
        <p:nvPicPr>
          <p:cNvPr id="144" name="Google Shape;144;p26"/>
          <p:cNvPicPr preferRelativeResize="0"/>
          <p:nvPr/>
        </p:nvPicPr>
        <p:blipFill>
          <a:blip r:embed="rId4">
            <a:alphaModFix/>
          </a:blip>
          <a:stretch>
            <a:fillRect/>
          </a:stretch>
        </p:blipFill>
        <p:spPr>
          <a:xfrm>
            <a:off x="5829602" y="1316548"/>
            <a:ext cx="1870300" cy="2887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48" name="Shape 148"/>
        <p:cNvGrpSpPr/>
        <p:nvPr/>
      </p:nvGrpSpPr>
      <p:grpSpPr>
        <a:xfrm>
          <a:off x="0" y="0"/>
          <a:ext cx="0" cy="0"/>
          <a:chOff x="0" y="0"/>
          <a:chExt cx="0" cy="0"/>
        </a:xfrm>
      </p:grpSpPr>
      <p:sp>
        <p:nvSpPr>
          <p:cNvPr id="149" name="Google Shape;149;p27"/>
          <p:cNvSpPr txBox="1"/>
          <p:nvPr/>
        </p:nvSpPr>
        <p:spPr>
          <a:xfrm>
            <a:off x="2607447" y="567875"/>
            <a:ext cx="3929100" cy="292500"/>
          </a:xfrm>
          <a:prstGeom prst="rect">
            <a:avLst/>
          </a:prstGeom>
          <a:noFill/>
          <a:ln>
            <a:noFill/>
          </a:ln>
        </p:spPr>
        <p:txBody>
          <a:bodyPr anchorCtr="0" anchor="t" bIns="0" lIns="0" spcFirstLastPara="1" rIns="0" wrap="square" tIns="0">
            <a:spAutoFit/>
          </a:bodyPr>
          <a:lstStyle/>
          <a:p>
            <a:pPr indent="0" lvl="0" marL="0" marR="0" rtl="0" algn="l">
              <a:lnSpc>
                <a:spcPct val="102078"/>
              </a:lnSpc>
              <a:spcBef>
                <a:spcPts val="0"/>
              </a:spcBef>
              <a:spcAft>
                <a:spcPts val="0"/>
              </a:spcAft>
              <a:buNone/>
            </a:pPr>
            <a:r>
              <a:rPr b="1" lang="en" sz="1900">
                <a:latin typeface="Oswald"/>
                <a:ea typeface="Oswald"/>
                <a:cs typeface="Oswald"/>
                <a:sym typeface="Oswald"/>
              </a:rPr>
              <a:t>History and Previous Limitations of HLS </a:t>
            </a:r>
            <a:endParaRPr b="1" i="0" sz="1900" u="none" cap="none" strike="noStrike">
              <a:solidFill>
                <a:srgbClr val="000000"/>
              </a:solidFill>
              <a:latin typeface="Oswald"/>
              <a:ea typeface="Oswald"/>
              <a:cs typeface="Oswald"/>
              <a:sym typeface="Oswald"/>
            </a:endParaRPr>
          </a:p>
        </p:txBody>
      </p:sp>
      <p:sp>
        <p:nvSpPr>
          <p:cNvPr id="150" name="Google Shape;150;p27"/>
          <p:cNvSpPr/>
          <p:nvPr/>
        </p:nvSpPr>
        <p:spPr>
          <a:xfrm>
            <a:off x="-1040004" y="-759864"/>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151" name="Google Shape;151;p27"/>
          <p:cNvSpPr/>
          <p:nvPr/>
        </p:nvSpPr>
        <p:spPr>
          <a:xfrm>
            <a:off x="7347727" y="3413125"/>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152" name="Google Shape;152;p27"/>
          <p:cNvSpPr txBox="1"/>
          <p:nvPr/>
        </p:nvSpPr>
        <p:spPr>
          <a:xfrm>
            <a:off x="1069650" y="1297525"/>
            <a:ext cx="7004700" cy="55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 sz="1100">
                <a:solidFill>
                  <a:schemeClr val="dk1"/>
                </a:solidFill>
              </a:rPr>
              <a:t>Early Origins (1980s–1990s):</a:t>
            </a:r>
            <a:r>
              <a:rPr lang="en" sz="1100">
                <a:solidFill>
                  <a:schemeClr val="dk1"/>
                </a:solidFill>
              </a:rPr>
              <a:t> Early HLS initiatives (often called behavioral compilers) attempted to raise the abstraction level. However, first-generation tools primarily used hardware description languages (HDLs) as inputs rather than software languages. </a:t>
            </a:r>
            <a:endParaRPr b="0" i="0" sz="1000" u="none" cap="none" strike="noStrike">
              <a:solidFill>
                <a:srgbClr val="000000"/>
              </a:solidFill>
              <a:latin typeface="Poppins"/>
              <a:ea typeface="Poppins"/>
              <a:cs typeface="Poppins"/>
              <a:sym typeface="Poppins"/>
            </a:endParaRPr>
          </a:p>
        </p:txBody>
      </p:sp>
      <p:sp>
        <p:nvSpPr>
          <p:cNvPr id="153" name="Google Shape;153;p27"/>
          <p:cNvSpPr txBox="1"/>
          <p:nvPr/>
        </p:nvSpPr>
        <p:spPr>
          <a:xfrm>
            <a:off x="1069650" y="2293275"/>
            <a:ext cx="7004700" cy="1727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 sz="1100">
                <a:solidFill>
                  <a:schemeClr val="dk1"/>
                </a:solidFill>
                <a:latin typeface="Poppins"/>
                <a:ea typeface="Poppins"/>
                <a:cs typeface="Poppins"/>
                <a:sym typeface="Poppins"/>
              </a:rPr>
              <a:t>Key Limitations of Early Tools:</a:t>
            </a:r>
            <a:endParaRPr b="1" sz="1100">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chemeClr val="dk1"/>
              </a:buClr>
              <a:buSzPts val="1100"/>
              <a:buFont typeface="Poppins"/>
              <a:buChar char="●"/>
            </a:pPr>
            <a:r>
              <a:rPr i="1" lang="en" sz="1100">
                <a:solidFill>
                  <a:schemeClr val="dk1"/>
                </a:solidFill>
                <a:latin typeface="Poppins"/>
                <a:ea typeface="Poppins"/>
                <a:cs typeface="Poppins"/>
                <a:sym typeface="Poppins"/>
              </a:rPr>
              <a:t>Poor Quality of Results (QoR):</a:t>
            </a:r>
            <a:r>
              <a:rPr lang="en" sz="1100">
                <a:solidFill>
                  <a:schemeClr val="dk1"/>
                </a:solidFill>
                <a:latin typeface="Poppins"/>
                <a:ea typeface="Poppins"/>
                <a:cs typeface="Poppins"/>
                <a:sym typeface="Poppins"/>
              </a:rPr>
              <a:t> highly variable and unpredictable RTL, inefficient resource allocation.</a:t>
            </a:r>
            <a:endParaRPr sz="1100">
              <a:solidFill>
                <a:schemeClr val="dk1"/>
              </a:solidFill>
              <a:latin typeface="Poppins"/>
              <a:ea typeface="Poppins"/>
              <a:cs typeface="Poppins"/>
              <a:sym typeface="Poppins"/>
            </a:endParaRPr>
          </a:p>
          <a:p>
            <a:pPr indent="0" lvl="0" marL="457200" marR="0" rtl="0" algn="l">
              <a:lnSpc>
                <a:spcPct val="115000"/>
              </a:lnSpc>
              <a:spcBef>
                <a:spcPts val="0"/>
              </a:spcBef>
              <a:spcAft>
                <a:spcPts val="0"/>
              </a:spcAft>
              <a:buNone/>
            </a:pPr>
            <a:r>
              <a:t/>
            </a:r>
            <a:endParaRPr sz="1100">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chemeClr val="dk1"/>
              </a:buClr>
              <a:buSzPts val="1100"/>
              <a:buFont typeface="Poppins"/>
              <a:buChar char="●"/>
            </a:pPr>
            <a:r>
              <a:rPr i="1" lang="en" sz="1100">
                <a:solidFill>
                  <a:schemeClr val="dk1"/>
                </a:solidFill>
                <a:latin typeface="Poppins"/>
                <a:ea typeface="Poppins"/>
                <a:cs typeface="Poppins"/>
                <a:sym typeface="Poppins"/>
              </a:rPr>
              <a:t>Misaligned Target Audience:</a:t>
            </a:r>
            <a:r>
              <a:rPr lang="en" sz="1100">
                <a:solidFill>
                  <a:schemeClr val="dk1"/>
                </a:solidFill>
                <a:latin typeface="Poppins"/>
                <a:ea typeface="Poppins"/>
                <a:cs typeface="Poppins"/>
                <a:sym typeface="Poppins"/>
              </a:rPr>
              <a:t> RTL designers (resisted paradigm shift) instead of empowering software and algorithm engineers.</a:t>
            </a:r>
            <a:endParaRPr sz="1100">
              <a:solidFill>
                <a:schemeClr val="dk1"/>
              </a:solidFill>
              <a:latin typeface="Poppins"/>
              <a:ea typeface="Poppins"/>
              <a:cs typeface="Poppins"/>
              <a:sym typeface="Poppins"/>
            </a:endParaRPr>
          </a:p>
          <a:p>
            <a:pPr indent="0" lvl="0" marL="457200" marR="0" rtl="0" algn="l">
              <a:lnSpc>
                <a:spcPct val="115000"/>
              </a:lnSpc>
              <a:spcBef>
                <a:spcPts val="0"/>
              </a:spcBef>
              <a:spcAft>
                <a:spcPts val="0"/>
              </a:spcAft>
              <a:buNone/>
            </a:pPr>
            <a:r>
              <a:t/>
            </a:r>
            <a:endParaRPr sz="1100">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Validation Challenges: Unreliable timing behaviors in the generated RTL,  design verification extremely difficult.</a:t>
            </a:r>
            <a:endParaRPr sz="1100">
              <a:solidFill>
                <a:schemeClr val="dk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57" name="Shape 157"/>
        <p:cNvGrpSpPr/>
        <p:nvPr/>
      </p:nvGrpSpPr>
      <p:grpSpPr>
        <a:xfrm>
          <a:off x="0" y="0"/>
          <a:ext cx="0" cy="0"/>
          <a:chOff x="0" y="0"/>
          <a:chExt cx="0" cy="0"/>
        </a:xfrm>
      </p:grpSpPr>
      <p:sp>
        <p:nvSpPr>
          <p:cNvPr id="158" name="Google Shape;158;p28"/>
          <p:cNvSpPr txBox="1"/>
          <p:nvPr/>
        </p:nvSpPr>
        <p:spPr>
          <a:xfrm>
            <a:off x="2039850" y="567875"/>
            <a:ext cx="5064300" cy="292500"/>
          </a:xfrm>
          <a:prstGeom prst="rect">
            <a:avLst/>
          </a:prstGeom>
          <a:noFill/>
          <a:ln>
            <a:noFill/>
          </a:ln>
        </p:spPr>
        <p:txBody>
          <a:bodyPr anchorCtr="0" anchor="t" bIns="0" lIns="0" spcFirstLastPara="1" rIns="0" wrap="square" tIns="0">
            <a:spAutoFit/>
          </a:bodyPr>
          <a:lstStyle/>
          <a:p>
            <a:pPr indent="0" lvl="0" marL="0" marR="0" rtl="0" algn="ctr">
              <a:lnSpc>
                <a:spcPct val="102079"/>
              </a:lnSpc>
              <a:spcBef>
                <a:spcPts val="0"/>
              </a:spcBef>
              <a:spcAft>
                <a:spcPts val="0"/>
              </a:spcAft>
              <a:buNone/>
            </a:pPr>
            <a:r>
              <a:rPr b="1" lang="en" sz="1900">
                <a:latin typeface="Oswald"/>
                <a:ea typeface="Oswald"/>
                <a:cs typeface="Oswald"/>
                <a:sym typeface="Oswald"/>
              </a:rPr>
              <a:t>The FPGA Perspective</a:t>
            </a:r>
            <a:endParaRPr b="1" i="0" sz="1900" u="none" cap="none" strike="noStrike">
              <a:solidFill>
                <a:srgbClr val="000000"/>
              </a:solidFill>
              <a:latin typeface="Oswald"/>
              <a:ea typeface="Oswald"/>
              <a:cs typeface="Oswald"/>
              <a:sym typeface="Oswald"/>
            </a:endParaRPr>
          </a:p>
        </p:txBody>
      </p:sp>
      <p:sp>
        <p:nvSpPr>
          <p:cNvPr id="159" name="Google Shape;159;p28"/>
          <p:cNvSpPr/>
          <p:nvPr/>
        </p:nvSpPr>
        <p:spPr>
          <a:xfrm>
            <a:off x="-1040004" y="-759864"/>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160" name="Google Shape;160;p28"/>
          <p:cNvSpPr/>
          <p:nvPr/>
        </p:nvSpPr>
        <p:spPr>
          <a:xfrm>
            <a:off x="7347727" y="3413125"/>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161" name="Google Shape;161;p28"/>
          <p:cNvSpPr txBox="1"/>
          <p:nvPr/>
        </p:nvSpPr>
        <p:spPr>
          <a:xfrm>
            <a:off x="1137475" y="1309050"/>
            <a:ext cx="7114800" cy="26445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Generates RTL specifically optimized to map onto a fixed, discrete fabric ie. LUTs, Flip-Flops (FFs), Hardened DSP slices, and Block RAMs)</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Unlike GCC, FPGA HLS compilers like Vitis HLS is “Target-Aware”</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Contains internal databases of the exact routing delays, multiplexer structures, and resource counts of specific FPGA </a:t>
            </a:r>
            <a:endParaRPr sz="1100">
              <a:solidFill>
                <a:schemeClr val="dk1"/>
              </a:solidFill>
              <a:latin typeface="Calibri"/>
              <a:ea typeface="Calibri"/>
              <a:cs typeface="Calibri"/>
              <a:sym typeface="Calibri"/>
            </a:endParaRPr>
          </a:p>
          <a:p>
            <a:pPr indent="-298450" lvl="0" marL="457200" rtl="0" algn="l">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Maps data to BRAM for high memory bandwidth</a:t>
            </a:r>
            <a:endParaRPr sz="1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65" name="Shape 165"/>
        <p:cNvGrpSpPr/>
        <p:nvPr/>
      </p:nvGrpSpPr>
      <p:grpSpPr>
        <a:xfrm>
          <a:off x="0" y="0"/>
          <a:ext cx="0" cy="0"/>
          <a:chOff x="0" y="0"/>
          <a:chExt cx="0" cy="0"/>
        </a:xfrm>
      </p:grpSpPr>
      <p:sp>
        <p:nvSpPr>
          <p:cNvPr id="166" name="Google Shape;166;p29"/>
          <p:cNvSpPr/>
          <p:nvPr/>
        </p:nvSpPr>
        <p:spPr>
          <a:xfrm flipH="1">
            <a:off x="6798849" y="-884960"/>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3">
              <a:alphaModFix/>
            </a:blip>
            <a:stretch>
              <a:fillRect b="0" l="0" r="0" t="0"/>
            </a:stretch>
          </a:blipFill>
          <a:ln>
            <a:noFill/>
          </a:ln>
        </p:spPr>
      </p:sp>
      <p:sp>
        <p:nvSpPr>
          <p:cNvPr id="167" name="Google Shape;167;p29"/>
          <p:cNvSpPr/>
          <p:nvPr/>
        </p:nvSpPr>
        <p:spPr>
          <a:xfrm flipH="1">
            <a:off x="-1554354" y="3506788"/>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3">
              <a:alphaModFix/>
            </a:blip>
            <a:stretch>
              <a:fillRect b="0" l="0" r="0" t="0"/>
            </a:stretch>
          </a:blipFill>
          <a:ln>
            <a:noFill/>
          </a:ln>
        </p:spPr>
      </p:sp>
      <p:sp>
        <p:nvSpPr>
          <p:cNvPr id="168" name="Google Shape;168;p29"/>
          <p:cNvSpPr txBox="1"/>
          <p:nvPr/>
        </p:nvSpPr>
        <p:spPr>
          <a:xfrm>
            <a:off x="697150" y="1143875"/>
            <a:ext cx="7539000" cy="3561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1200">
                <a:solidFill>
                  <a:schemeClr val="dk1"/>
                </a:solidFill>
                <a:latin typeface="Poppins"/>
                <a:ea typeface="Poppins"/>
                <a:cs typeface="Poppins"/>
                <a:sym typeface="Poppins"/>
              </a:rPr>
              <a:t>The SDC Framework (</a:t>
            </a:r>
            <a:r>
              <a:rPr i="1" lang="en" sz="1200">
                <a:solidFill>
                  <a:schemeClr val="dk1"/>
                </a:solidFill>
                <a:latin typeface="Poppins"/>
                <a:ea typeface="Poppins"/>
                <a:cs typeface="Poppins"/>
                <a:sym typeface="Poppins"/>
              </a:rPr>
              <a:t>O(n)</a:t>
            </a:r>
            <a:r>
              <a:rPr b="1" lang="en" sz="1200">
                <a:solidFill>
                  <a:schemeClr val="dk1"/>
                </a:solidFill>
                <a:latin typeface="Poppins"/>
                <a:ea typeface="Poppins"/>
                <a:cs typeface="Poppins"/>
                <a:sym typeface="Poppins"/>
              </a:rPr>
              <a:t> Complexity)</a:t>
            </a:r>
            <a:endParaRPr b="1" sz="1200">
              <a:solidFill>
                <a:schemeClr val="dk1"/>
              </a:solidFill>
              <a:latin typeface="Poppins"/>
              <a:ea typeface="Poppins"/>
              <a:cs typeface="Poppins"/>
              <a:sym typeface="Poppins"/>
            </a:endParaRPr>
          </a:p>
          <a:p>
            <a:pPr indent="-304800" lvl="0" marL="457200" rtl="0" algn="l">
              <a:lnSpc>
                <a:spcPct val="115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Assigns a single continuous variable </a:t>
            </a:r>
            <a:r>
              <a:rPr i="1" lang="en" sz="1200">
                <a:solidFill>
                  <a:schemeClr val="dk1"/>
                </a:solidFill>
                <a:latin typeface="Poppins"/>
                <a:ea typeface="Poppins"/>
                <a:cs typeface="Poppins"/>
                <a:sym typeface="Poppins"/>
              </a:rPr>
              <a:t>(s)</a:t>
            </a:r>
            <a:r>
              <a:rPr lang="en" sz="1200">
                <a:solidFill>
                  <a:schemeClr val="dk1"/>
                </a:solidFill>
                <a:latin typeface="Poppins"/>
                <a:ea typeface="Poppins"/>
                <a:cs typeface="Poppins"/>
                <a:sym typeface="Poppins"/>
              </a:rPr>
              <a:t> to represent the start clock cycle of each operation.</a:t>
            </a:r>
            <a:endParaRPr sz="12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200">
                <a:solidFill>
                  <a:schemeClr val="dk1"/>
                </a:solidFill>
                <a:latin typeface="Poppins"/>
                <a:ea typeface="Poppins"/>
                <a:cs typeface="Poppins"/>
                <a:sym typeface="Poppins"/>
              </a:rPr>
              <a:t>Modeling Data Dependencies</a:t>
            </a:r>
            <a:endParaRPr b="1" sz="1200">
              <a:solidFill>
                <a:schemeClr val="dk1"/>
              </a:solidFill>
              <a:latin typeface="Poppins"/>
              <a:ea typeface="Poppins"/>
              <a:cs typeface="Poppins"/>
              <a:sym typeface="Poppins"/>
            </a:endParaRPr>
          </a:p>
          <a:p>
            <a:pPr indent="-304800" lvl="0" marL="457200" rtl="0" algn="l">
              <a:lnSpc>
                <a:spcPct val="115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Operations are mathematically separated by constant delays </a:t>
            </a:r>
            <a:r>
              <a:rPr i="1" lang="en" sz="1200">
                <a:solidFill>
                  <a:schemeClr val="dk1"/>
                </a:solidFill>
                <a:latin typeface="Poppins"/>
                <a:ea typeface="Poppins"/>
                <a:cs typeface="Poppins"/>
                <a:sym typeface="Poppins"/>
              </a:rPr>
              <a:t>(d)</a:t>
            </a:r>
            <a:r>
              <a:rPr lang="en" sz="1200">
                <a:solidFill>
                  <a:schemeClr val="dk1"/>
                </a:solidFill>
                <a:latin typeface="Poppins"/>
                <a:ea typeface="Poppins"/>
                <a:cs typeface="Poppins"/>
                <a:sym typeface="Poppins"/>
              </a:rPr>
              <a:t>.</a:t>
            </a:r>
            <a:endParaRPr sz="1200">
              <a:solidFill>
                <a:schemeClr val="dk1"/>
              </a:solidFill>
              <a:latin typeface="Poppins"/>
              <a:ea typeface="Poppins"/>
              <a:cs typeface="Poppins"/>
              <a:sym typeface="Poppins"/>
            </a:endParaRPr>
          </a:p>
          <a:p>
            <a:pPr indent="-304800" lvl="0" marL="457200" rtl="0" algn="l">
              <a:lnSpc>
                <a:spcPct val="115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                                (Operation </a:t>
            </a:r>
            <a:r>
              <a:rPr i="1" lang="en" sz="1200">
                <a:solidFill>
                  <a:schemeClr val="dk1"/>
                </a:solidFill>
                <a:latin typeface="Poppins"/>
                <a:ea typeface="Poppins"/>
                <a:cs typeface="Poppins"/>
                <a:sym typeface="Poppins"/>
              </a:rPr>
              <a:t>j</a:t>
            </a:r>
            <a:r>
              <a:rPr lang="en" sz="1200">
                <a:solidFill>
                  <a:schemeClr val="dk1"/>
                </a:solidFill>
                <a:latin typeface="Poppins"/>
                <a:ea typeface="Poppins"/>
                <a:cs typeface="Poppins"/>
                <a:sym typeface="Poppins"/>
              </a:rPr>
              <a:t> must wait for </a:t>
            </a:r>
            <a:r>
              <a:rPr i="1" lang="en" sz="1200">
                <a:solidFill>
                  <a:schemeClr val="dk1"/>
                </a:solidFill>
                <a:latin typeface="Poppins"/>
                <a:ea typeface="Poppins"/>
                <a:cs typeface="Poppins"/>
                <a:sym typeface="Poppins"/>
              </a:rPr>
              <a:t>i </a:t>
            </a:r>
            <a:r>
              <a:rPr lang="en" sz="1200">
                <a:solidFill>
                  <a:schemeClr val="dk1"/>
                </a:solidFill>
                <a:latin typeface="Poppins"/>
                <a:ea typeface="Poppins"/>
                <a:cs typeface="Poppins"/>
                <a:sym typeface="Poppins"/>
              </a:rPr>
              <a:t>to finish)</a:t>
            </a:r>
            <a:endParaRPr sz="12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200">
                <a:solidFill>
                  <a:schemeClr val="dk1"/>
                </a:solidFill>
                <a:latin typeface="Poppins"/>
                <a:ea typeface="Poppins"/>
                <a:cs typeface="Poppins"/>
                <a:sym typeface="Poppins"/>
              </a:rPr>
              <a:t>Modeling FPGA Resource Limits</a:t>
            </a:r>
            <a:endParaRPr b="1" sz="1200">
              <a:solidFill>
                <a:schemeClr val="dk1"/>
              </a:solidFill>
              <a:latin typeface="Poppins"/>
              <a:ea typeface="Poppins"/>
              <a:cs typeface="Poppins"/>
              <a:sym typeface="Poppins"/>
            </a:endParaRPr>
          </a:p>
          <a:p>
            <a:pPr indent="-304800" lvl="0" marL="457200" rtl="0" algn="l">
              <a:lnSpc>
                <a:spcPct val="115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The scheduler cannot exceed the exact physical limits of the target FPGA fabric (DSPs, LUTs, BRAMs).</a:t>
            </a:r>
            <a:endParaRPr sz="1200">
              <a:solidFill>
                <a:schemeClr val="dk1"/>
              </a:solidFill>
              <a:latin typeface="Poppins"/>
              <a:ea typeface="Poppins"/>
              <a:cs typeface="Poppins"/>
              <a:sym typeface="Poppins"/>
            </a:endParaRPr>
          </a:p>
          <a:p>
            <a:pPr indent="-304800" lvl="0" marL="457200" rtl="0" algn="l">
              <a:lnSpc>
                <a:spcPct val="115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                  </a:t>
            </a:r>
            <a:r>
              <a:rPr i="1" lang="en" sz="1200">
                <a:solidFill>
                  <a:schemeClr val="dk1"/>
                </a:solidFill>
                <a:latin typeface="Poppins"/>
                <a:ea typeface="Poppins"/>
                <a:cs typeface="Poppins"/>
                <a:sym typeface="Poppins"/>
              </a:rPr>
              <a:t>(Scheduled Resources &lt; Available Chip Resources)</a:t>
            </a:r>
            <a:endParaRPr i="1" sz="12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b="1" lang="en" sz="1200">
                <a:solidFill>
                  <a:schemeClr val="dk1"/>
                </a:solidFill>
                <a:latin typeface="Poppins"/>
                <a:ea typeface="Poppins"/>
                <a:cs typeface="Poppins"/>
                <a:sym typeface="Poppins"/>
              </a:rPr>
              <a:t>The Total Unimodularity Guarantee</a:t>
            </a:r>
            <a:endParaRPr b="1" sz="1200">
              <a:solidFill>
                <a:schemeClr val="dk1"/>
              </a:solidFill>
              <a:latin typeface="Poppins"/>
              <a:ea typeface="Poppins"/>
              <a:cs typeface="Poppins"/>
              <a:sym typeface="Poppins"/>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latin typeface="Poppins"/>
                <a:ea typeface="Poppins"/>
                <a:cs typeface="Poppins"/>
                <a:sym typeface="Poppins"/>
              </a:rPr>
              <a:t>Objective:</a:t>
            </a:r>
            <a:r>
              <a:rPr lang="en" sz="1200">
                <a:solidFill>
                  <a:schemeClr val="dk1"/>
                </a:solidFill>
                <a:latin typeface="Poppins"/>
                <a:ea typeface="Poppins"/>
                <a:cs typeface="Poppins"/>
                <a:sym typeface="Poppins"/>
              </a:rPr>
              <a:t>            (Minimize Latency)</a:t>
            </a:r>
            <a:endParaRPr sz="1200">
              <a:solidFill>
                <a:schemeClr val="dk1"/>
              </a:solidFill>
              <a:latin typeface="Poppins"/>
              <a:ea typeface="Poppins"/>
              <a:cs typeface="Poppins"/>
              <a:sym typeface="Poppins"/>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latin typeface="Poppins"/>
                <a:ea typeface="Poppins"/>
                <a:cs typeface="Poppins"/>
                <a:sym typeface="Poppins"/>
              </a:rPr>
              <a:t>SDC constraint matrix guarantees that the standard LP solver will natively return fast, </a:t>
            </a:r>
            <a:r>
              <a:rPr b="1" lang="en" sz="1200">
                <a:solidFill>
                  <a:schemeClr val="dk1"/>
                </a:solidFill>
                <a:latin typeface="Poppins"/>
                <a:ea typeface="Poppins"/>
                <a:cs typeface="Poppins"/>
                <a:sym typeface="Poppins"/>
              </a:rPr>
              <a:t>whole-integer clock cycles</a:t>
            </a:r>
            <a:r>
              <a:rPr lang="en" sz="1200">
                <a:solidFill>
                  <a:schemeClr val="dk1"/>
                </a:solidFill>
                <a:latin typeface="Poppins"/>
                <a:ea typeface="Poppins"/>
                <a:cs typeface="Poppins"/>
                <a:sym typeface="Poppins"/>
              </a:rPr>
              <a:t> without expensive algorithms.</a:t>
            </a:r>
            <a:endParaRPr sz="1200">
              <a:solidFill>
                <a:schemeClr val="dk1"/>
              </a:solidFill>
              <a:latin typeface="Poppins"/>
              <a:ea typeface="Poppins"/>
              <a:cs typeface="Poppins"/>
              <a:sym typeface="Poppins"/>
            </a:endParaRPr>
          </a:p>
          <a:p>
            <a:pPr indent="0" lvl="0" marL="0" rtl="0" algn="l">
              <a:lnSpc>
                <a:spcPct val="115000"/>
              </a:lnSpc>
              <a:spcBef>
                <a:spcPts val="1200"/>
              </a:spcBef>
              <a:spcAft>
                <a:spcPts val="1200"/>
              </a:spcAft>
              <a:buNone/>
            </a:pPr>
            <a:r>
              <a:t/>
            </a:r>
            <a:endParaRPr sz="1200">
              <a:solidFill>
                <a:schemeClr val="dk1"/>
              </a:solidFill>
              <a:latin typeface="Poppins"/>
              <a:ea typeface="Poppins"/>
              <a:cs typeface="Poppins"/>
              <a:sym typeface="Poppins"/>
            </a:endParaRPr>
          </a:p>
        </p:txBody>
      </p:sp>
      <p:sp>
        <p:nvSpPr>
          <p:cNvPr id="169" name="Google Shape;169;p29"/>
          <p:cNvSpPr txBox="1"/>
          <p:nvPr/>
        </p:nvSpPr>
        <p:spPr>
          <a:xfrm>
            <a:off x="1120607" y="516799"/>
            <a:ext cx="6090900" cy="292500"/>
          </a:xfrm>
          <a:prstGeom prst="rect">
            <a:avLst/>
          </a:prstGeom>
          <a:noFill/>
          <a:ln>
            <a:noFill/>
          </a:ln>
        </p:spPr>
        <p:txBody>
          <a:bodyPr anchorCtr="0" anchor="t" bIns="0" lIns="0" spcFirstLastPara="1" rIns="0" wrap="square" tIns="0">
            <a:spAutoFit/>
          </a:bodyPr>
          <a:lstStyle/>
          <a:p>
            <a:pPr indent="0" lvl="0" marL="0" marR="0" rtl="0" algn="l">
              <a:lnSpc>
                <a:spcPct val="102078"/>
              </a:lnSpc>
              <a:spcBef>
                <a:spcPts val="0"/>
              </a:spcBef>
              <a:spcAft>
                <a:spcPts val="0"/>
              </a:spcAft>
              <a:buNone/>
            </a:pPr>
            <a:r>
              <a:rPr b="1" lang="en" sz="1900">
                <a:latin typeface="Oswald"/>
                <a:ea typeface="Oswald"/>
                <a:cs typeface="Oswald"/>
                <a:sym typeface="Oswald"/>
              </a:rPr>
              <a:t>Mathematical Modeling &amp; Scheduling for FPGAs </a:t>
            </a:r>
            <a:endParaRPr b="1" i="0" sz="1900" u="none" cap="none" strike="noStrike">
              <a:solidFill>
                <a:srgbClr val="000000"/>
              </a:solidFill>
              <a:latin typeface="Oswald"/>
              <a:ea typeface="Oswald"/>
              <a:cs typeface="Oswald"/>
              <a:sym typeface="Oswald"/>
            </a:endParaRPr>
          </a:p>
        </p:txBody>
      </p:sp>
      <p:pic>
        <p:nvPicPr>
          <p:cNvPr id="170" name="Google Shape;170;p29"/>
          <p:cNvPicPr preferRelativeResize="0"/>
          <p:nvPr/>
        </p:nvPicPr>
        <p:blipFill>
          <a:blip r:embed="rId4">
            <a:alphaModFix/>
          </a:blip>
          <a:stretch>
            <a:fillRect/>
          </a:stretch>
        </p:blipFill>
        <p:spPr>
          <a:xfrm>
            <a:off x="1174300" y="2098550"/>
            <a:ext cx="1136240" cy="292500"/>
          </a:xfrm>
          <a:prstGeom prst="rect">
            <a:avLst/>
          </a:prstGeom>
          <a:noFill/>
          <a:ln>
            <a:noFill/>
          </a:ln>
        </p:spPr>
      </p:pic>
      <p:pic>
        <p:nvPicPr>
          <p:cNvPr id="171" name="Google Shape;171;p29"/>
          <p:cNvPicPr preferRelativeResize="0"/>
          <p:nvPr/>
        </p:nvPicPr>
        <p:blipFill>
          <a:blip r:embed="rId5">
            <a:alphaModFix/>
          </a:blip>
          <a:stretch>
            <a:fillRect/>
          </a:stretch>
        </p:blipFill>
        <p:spPr>
          <a:xfrm>
            <a:off x="1174300" y="3116775"/>
            <a:ext cx="593550" cy="269800"/>
          </a:xfrm>
          <a:prstGeom prst="rect">
            <a:avLst/>
          </a:prstGeom>
          <a:noFill/>
          <a:ln>
            <a:noFill/>
          </a:ln>
        </p:spPr>
      </p:pic>
      <p:pic>
        <p:nvPicPr>
          <p:cNvPr id="172" name="Google Shape;172;p29"/>
          <p:cNvPicPr preferRelativeResize="0"/>
          <p:nvPr/>
        </p:nvPicPr>
        <p:blipFill rotWithShape="1">
          <a:blip r:embed="rId6">
            <a:alphaModFix/>
          </a:blip>
          <a:srcRect b="17225" l="0" r="0" t="0"/>
          <a:stretch/>
        </p:blipFill>
        <p:spPr>
          <a:xfrm>
            <a:off x="2041600" y="3680299"/>
            <a:ext cx="345150" cy="242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76" name="Shape 176"/>
        <p:cNvGrpSpPr/>
        <p:nvPr/>
      </p:nvGrpSpPr>
      <p:grpSpPr>
        <a:xfrm>
          <a:off x="0" y="0"/>
          <a:ext cx="0" cy="0"/>
          <a:chOff x="0" y="0"/>
          <a:chExt cx="0" cy="0"/>
        </a:xfrm>
      </p:grpSpPr>
      <p:sp>
        <p:nvSpPr>
          <p:cNvPr id="177" name="Google Shape;177;p30"/>
          <p:cNvSpPr/>
          <p:nvPr/>
        </p:nvSpPr>
        <p:spPr>
          <a:xfrm>
            <a:off x="7347727" y="3413125"/>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178" name="Google Shape;178;p30"/>
          <p:cNvSpPr/>
          <p:nvPr/>
        </p:nvSpPr>
        <p:spPr>
          <a:xfrm>
            <a:off x="-807179" y="-749264"/>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179" name="Google Shape;179;p30"/>
          <p:cNvSpPr txBox="1"/>
          <p:nvPr/>
        </p:nvSpPr>
        <p:spPr>
          <a:xfrm>
            <a:off x="1059750" y="1486125"/>
            <a:ext cx="7024500" cy="2424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Front-End Compilation:</a:t>
            </a:r>
            <a:r>
              <a:rPr lang="en" sz="1100">
                <a:solidFill>
                  <a:schemeClr val="dk1"/>
                </a:solidFill>
              </a:rPr>
              <a:t> Modern tools parse C/C++ code into an Intermediate Representation (IR) utilizing compiler infrastructures such as LLVM.</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Algorithms like Static Single Assignment (SSA) are strictly employed for constant propagation and dead code elimination.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Optimizing Soft Constraints:</a:t>
            </a:r>
            <a:r>
              <a:rPr lang="en" sz="1100">
                <a:solidFill>
                  <a:schemeClr val="dk1"/>
                </a:solidFill>
              </a:rPr>
              <a:t> The scheduler algorithm incorporates "soft" constraints (e.g., pipeline stage preferences) by introducing a violation variable </a:t>
            </a:r>
            <a:r>
              <a:rPr i="1" lang="en" sz="1100">
                <a:solidFill>
                  <a:schemeClr val="dk1"/>
                </a:solidFill>
              </a:rPr>
              <a:t>(v_j)</a:t>
            </a:r>
            <a:r>
              <a:rPr lang="en" sz="1100">
                <a:solidFill>
                  <a:schemeClr val="dk1"/>
                </a:solidFill>
              </a:rPr>
              <a:t> and a penalty term </a:t>
            </a:r>
            <a:r>
              <a:rPr i="1" lang="en" sz="1100">
                <a:solidFill>
                  <a:schemeClr val="dk1"/>
                </a:solidFill>
              </a:rPr>
              <a:t>(φ (v_j))</a:t>
            </a:r>
            <a:r>
              <a:rPr lang="en" sz="1100">
                <a:solidFill>
                  <a:schemeClr val="dk1"/>
                </a:solidFill>
              </a:rPr>
              <a:t> into the objective function.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Modified Objective:</a:t>
            </a:r>
            <a:r>
              <a:rPr lang="en" sz="1100">
                <a:solidFill>
                  <a:schemeClr val="dk1"/>
                </a:solidFill>
              </a:rPr>
              <a:t> Minimize </a:t>
            </a:r>
            <a:r>
              <a:rPr i="1" lang="en" sz="1100">
                <a:solidFill>
                  <a:schemeClr val="dk1"/>
                </a:solidFill>
              </a:rPr>
              <a:t>c^T s + ∑ φ (v_j)</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Subject to:</a:t>
            </a:r>
            <a:r>
              <a:rPr lang="en" sz="1100">
                <a:solidFill>
                  <a:schemeClr val="dk1"/>
                </a:solidFill>
              </a:rPr>
              <a:t>                   and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Datapath Generation:</a:t>
            </a:r>
            <a:r>
              <a:rPr lang="en" sz="1100">
                <a:solidFill>
                  <a:schemeClr val="dk1"/>
                </a:solidFill>
              </a:rPr>
              <a:t> Ultimately, scheduling, allocation, and binding work concurrently to generate RTL from a control-and-datapath flow graph (CDFG).</a:t>
            </a:r>
            <a:endParaRPr sz="1100">
              <a:solidFill>
                <a:schemeClr val="dk1"/>
              </a:solidFill>
            </a:endParaRPr>
          </a:p>
          <a:p>
            <a:pPr indent="0" lvl="0" marL="0" marR="0" rtl="0" algn="l">
              <a:lnSpc>
                <a:spcPct val="140000"/>
              </a:lnSpc>
              <a:spcBef>
                <a:spcPts val="0"/>
              </a:spcBef>
              <a:spcAft>
                <a:spcPts val="0"/>
              </a:spcAft>
              <a:buNone/>
            </a:pPr>
            <a:r>
              <a:t/>
            </a:r>
            <a:endParaRPr i="1" sz="1100">
              <a:latin typeface="Poppins"/>
              <a:ea typeface="Poppins"/>
              <a:cs typeface="Poppins"/>
              <a:sym typeface="Poppins"/>
            </a:endParaRPr>
          </a:p>
        </p:txBody>
      </p:sp>
      <p:sp>
        <p:nvSpPr>
          <p:cNvPr id="180" name="Google Shape;180;p30"/>
          <p:cNvSpPr txBox="1"/>
          <p:nvPr/>
        </p:nvSpPr>
        <p:spPr>
          <a:xfrm>
            <a:off x="2143951" y="400750"/>
            <a:ext cx="4856100" cy="343500"/>
          </a:xfrm>
          <a:prstGeom prst="rect">
            <a:avLst/>
          </a:prstGeom>
          <a:noFill/>
          <a:ln>
            <a:noFill/>
          </a:ln>
        </p:spPr>
        <p:txBody>
          <a:bodyPr anchorCtr="0" anchor="t" bIns="0" lIns="0" spcFirstLastPara="1" rIns="0" wrap="square" tIns="0">
            <a:spAutoFit/>
          </a:bodyPr>
          <a:lstStyle/>
          <a:p>
            <a:pPr indent="0" lvl="0" marL="0" marR="0" rtl="0" algn="just">
              <a:lnSpc>
                <a:spcPct val="97000"/>
              </a:lnSpc>
              <a:spcBef>
                <a:spcPts val="0"/>
              </a:spcBef>
              <a:spcAft>
                <a:spcPts val="0"/>
              </a:spcAft>
              <a:buNone/>
            </a:pPr>
            <a:r>
              <a:rPr b="1" lang="en" sz="2300">
                <a:latin typeface="Oswald"/>
                <a:ea typeface="Oswald"/>
                <a:cs typeface="Oswald"/>
                <a:sym typeface="Oswald"/>
              </a:rPr>
              <a:t>The HLS Algorithm and Compilation Flow </a:t>
            </a:r>
            <a:endParaRPr b="1" i="0" sz="2300" u="none" cap="none" strike="noStrike">
              <a:solidFill>
                <a:srgbClr val="000000"/>
              </a:solidFill>
              <a:latin typeface="Oswald"/>
              <a:ea typeface="Oswald"/>
              <a:cs typeface="Oswald"/>
              <a:sym typeface="Oswald"/>
            </a:endParaRPr>
          </a:p>
        </p:txBody>
      </p:sp>
      <p:sp>
        <p:nvSpPr>
          <p:cNvPr id="181" name="Google Shape;181;p30"/>
          <p:cNvSpPr txBox="1"/>
          <p:nvPr/>
        </p:nvSpPr>
        <p:spPr>
          <a:xfrm>
            <a:off x="4110874" y="4312525"/>
            <a:ext cx="518400" cy="258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700" u="none" cap="none" strike="noStrike">
                <a:solidFill>
                  <a:srgbClr val="000000"/>
                </a:solidFill>
                <a:latin typeface="Oswald"/>
                <a:ea typeface="Oswald"/>
                <a:cs typeface="Oswald"/>
                <a:sym typeface="Oswald"/>
              </a:rPr>
              <a:t>[</a:t>
            </a:r>
            <a:r>
              <a:rPr lang="en" sz="700">
                <a:latin typeface="Oswald"/>
                <a:ea typeface="Oswald"/>
                <a:cs typeface="Oswald"/>
                <a:sym typeface="Oswald"/>
              </a:rPr>
              <a:t>8</a:t>
            </a:r>
            <a:r>
              <a:rPr b="0" i="0" lang="en" sz="700" u="none" cap="none" strike="noStrike">
                <a:solidFill>
                  <a:srgbClr val="000000"/>
                </a:solidFill>
                <a:latin typeface="Oswald"/>
                <a:ea typeface="Oswald"/>
                <a:cs typeface="Oswald"/>
                <a:sym typeface="Oswald"/>
              </a:rPr>
              <a:t>]</a:t>
            </a:r>
            <a:endParaRPr sz="700"/>
          </a:p>
          <a:p>
            <a:pPr indent="0" lvl="0" marL="0" marR="0" rtl="0" algn="ctr">
              <a:lnSpc>
                <a:spcPct val="140000"/>
              </a:lnSpc>
              <a:spcBef>
                <a:spcPts val="0"/>
              </a:spcBef>
              <a:spcAft>
                <a:spcPts val="0"/>
              </a:spcAft>
              <a:buNone/>
            </a:pPr>
            <a:r>
              <a:t/>
            </a:r>
            <a:endParaRPr b="0" i="0" sz="700" u="none" cap="none" strike="noStrike">
              <a:solidFill>
                <a:srgbClr val="000000"/>
              </a:solidFill>
              <a:latin typeface="Oswald"/>
              <a:ea typeface="Oswald"/>
              <a:cs typeface="Oswald"/>
              <a:sym typeface="Oswald"/>
            </a:endParaRPr>
          </a:p>
        </p:txBody>
      </p:sp>
      <p:pic>
        <p:nvPicPr>
          <p:cNvPr id="182" name="Google Shape;182;p30"/>
          <p:cNvPicPr preferRelativeResize="0"/>
          <p:nvPr/>
        </p:nvPicPr>
        <p:blipFill>
          <a:blip r:embed="rId4">
            <a:alphaModFix/>
          </a:blip>
          <a:stretch>
            <a:fillRect/>
          </a:stretch>
        </p:blipFill>
        <p:spPr>
          <a:xfrm>
            <a:off x="2301527" y="2969425"/>
            <a:ext cx="612206" cy="258600"/>
          </a:xfrm>
          <a:prstGeom prst="rect">
            <a:avLst/>
          </a:prstGeom>
          <a:noFill/>
          <a:ln>
            <a:noFill/>
          </a:ln>
        </p:spPr>
      </p:pic>
      <p:pic>
        <p:nvPicPr>
          <p:cNvPr id="183" name="Google Shape;183;p30"/>
          <p:cNvPicPr preferRelativeResize="0"/>
          <p:nvPr/>
        </p:nvPicPr>
        <p:blipFill>
          <a:blip r:embed="rId5">
            <a:alphaModFix/>
          </a:blip>
          <a:stretch>
            <a:fillRect/>
          </a:stretch>
        </p:blipFill>
        <p:spPr>
          <a:xfrm>
            <a:off x="3275400" y="2992088"/>
            <a:ext cx="689025" cy="213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87" name="Shape 187"/>
        <p:cNvGrpSpPr/>
        <p:nvPr/>
      </p:nvGrpSpPr>
      <p:grpSpPr>
        <a:xfrm>
          <a:off x="0" y="0"/>
          <a:ext cx="0" cy="0"/>
          <a:chOff x="0" y="0"/>
          <a:chExt cx="0" cy="0"/>
        </a:xfrm>
      </p:grpSpPr>
      <p:sp>
        <p:nvSpPr>
          <p:cNvPr id="188" name="Google Shape;188;p31"/>
          <p:cNvSpPr/>
          <p:nvPr/>
        </p:nvSpPr>
        <p:spPr>
          <a:xfrm flipH="1">
            <a:off x="6798849" y="-884960"/>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3">
              <a:alphaModFix/>
            </a:blip>
            <a:stretch>
              <a:fillRect b="0" l="0" r="0" t="0"/>
            </a:stretch>
          </a:blipFill>
          <a:ln>
            <a:noFill/>
          </a:ln>
        </p:spPr>
      </p:sp>
      <p:sp>
        <p:nvSpPr>
          <p:cNvPr id="189" name="Google Shape;189;p31"/>
          <p:cNvSpPr/>
          <p:nvPr/>
        </p:nvSpPr>
        <p:spPr>
          <a:xfrm flipH="1">
            <a:off x="-1554354" y="3506788"/>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3">
              <a:alphaModFix/>
            </a:blip>
            <a:stretch>
              <a:fillRect b="0" l="0" r="0" t="0"/>
            </a:stretch>
          </a:blipFill>
          <a:ln>
            <a:noFill/>
          </a:ln>
        </p:spPr>
      </p:sp>
      <p:sp>
        <p:nvSpPr>
          <p:cNvPr id="190" name="Google Shape;190;p31"/>
          <p:cNvSpPr txBox="1"/>
          <p:nvPr/>
        </p:nvSpPr>
        <p:spPr>
          <a:xfrm>
            <a:off x="910950" y="1510475"/>
            <a:ext cx="7492200" cy="19701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None/>
            </a:pPr>
            <a:r>
              <a:rPr b="1" lang="en" sz="1100">
                <a:solidFill>
                  <a:schemeClr val="dk1"/>
                </a:solidFill>
                <a:latin typeface="Poppins"/>
                <a:ea typeface="Poppins"/>
                <a:cs typeface="Poppins"/>
                <a:sym typeface="Poppins"/>
              </a:rPr>
              <a:t>Scalable Compilation (The Power of SDC)</a:t>
            </a:r>
            <a:endParaRPr b="1" sz="1100">
              <a:solidFill>
                <a:schemeClr val="dk1"/>
              </a:solidFill>
              <a:latin typeface="Poppins"/>
              <a:ea typeface="Poppins"/>
              <a:cs typeface="Poppins"/>
              <a:sym typeface="Poppins"/>
            </a:endParaRPr>
          </a:p>
          <a:p>
            <a:pPr indent="-298450" lvl="0" marL="457200" rtl="0" algn="l">
              <a:lnSpc>
                <a:spcPct val="100000"/>
              </a:lnSpc>
              <a:spcBef>
                <a:spcPts val="120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The mathematical "unimodularity" guarantees fast, whole-integer clock cycles.</a:t>
            </a:r>
            <a:endParaRPr sz="1100">
              <a:solidFill>
                <a:schemeClr val="dk1"/>
              </a:solidFill>
              <a:latin typeface="Poppins"/>
              <a:ea typeface="Poppins"/>
              <a:cs typeface="Poppins"/>
              <a:sym typeface="Poppins"/>
            </a:endParaRPr>
          </a:p>
          <a:p>
            <a:pPr indent="-298450" lvl="0" marL="457200" rtl="0" algn="l">
              <a:lnSpc>
                <a:spcPct val="100000"/>
              </a:lnSpc>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Avoids slow, exponential problem-solving, allowing HLS to compile even massive, modern FPGA designs in minutes.</a:t>
            </a:r>
            <a:endParaRPr sz="1100">
              <a:solidFill>
                <a:schemeClr val="dk1"/>
              </a:solidFill>
              <a:latin typeface="Poppins"/>
              <a:ea typeface="Poppins"/>
              <a:cs typeface="Poppins"/>
              <a:sym typeface="Poppins"/>
            </a:endParaRPr>
          </a:p>
          <a:p>
            <a:pPr indent="0" lvl="0" marL="0" rtl="0" algn="l">
              <a:lnSpc>
                <a:spcPct val="100000"/>
              </a:lnSpc>
              <a:spcBef>
                <a:spcPts val="1200"/>
              </a:spcBef>
              <a:spcAft>
                <a:spcPts val="0"/>
              </a:spcAft>
              <a:buNone/>
            </a:pPr>
            <a:r>
              <a:rPr b="1" lang="en" sz="1100">
                <a:solidFill>
                  <a:schemeClr val="dk1"/>
                </a:solidFill>
                <a:latin typeface="Poppins"/>
                <a:ea typeface="Poppins"/>
                <a:cs typeface="Poppins"/>
                <a:sym typeface="Poppins"/>
              </a:rPr>
              <a:t>The Compiler Trade-off</a:t>
            </a:r>
            <a:endParaRPr b="1" sz="1100">
              <a:solidFill>
                <a:schemeClr val="dk1"/>
              </a:solidFill>
              <a:latin typeface="Poppins"/>
              <a:ea typeface="Poppins"/>
              <a:cs typeface="Poppins"/>
              <a:sym typeface="Poppins"/>
            </a:endParaRPr>
          </a:p>
          <a:p>
            <a:pPr indent="-298450" lvl="0" marL="457200" rtl="0" algn="l">
              <a:lnSpc>
                <a:spcPct val="100000"/>
              </a:lnSpc>
              <a:spcBef>
                <a:spcPts val="120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Tools must balance squeezing out the absolute maximum hardware efficiency (lowest LUT/DSP count) against keeping compile times fast and the output RTL readable.</a:t>
            </a:r>
            <a:endParaRPr sz="1100">
              <a:solidFill>
                <a:schemeClr val="dk1"/>
              </a:solidFill>
              <a:latin typeface="Poppins"/>
              <a:ea typeface="Poppins"/>
              <a:cs typeface="Poppins"/>
              <a:sym typeface="Poppins"/>
            </a:endParaRPr>
          </a:p>
          <a:p>
            <a:pPr indent="0" lvl="0" marL="0" marR="0" rtl="0" algn="just">
              <a:lnSpc>
                <a:spcPct val="100000"/>
              </a:lnSpc>
              <a:spcBef>
                <a:spcPts val="1200"/>
              </a:spcBef>
              <a:spcAft>
                <a:spcPts val="0"/>
              </a:spcAft>
              <a:buNone/>
            </a:pPr>
            <a:r>
              <a:t/>
            </a:r>
            <a:endParaRPr b="1" sz="1100">
              <a:solidFill>
                <a:schemeClr val="dk1"/>
              </a:solidFill>
              <a:latin typeface="Poppins"/>
              <a:ea typeface="Poppins"/>
              <a:cs typeface="Poppins"/>
              <a:sym typeface="Poppins"/>
            </a:endParaRPr>
          </a:p>
        </p:txBody>
      </p:sp>
      <p:sp>
        <p:nvSpPr>
          <p:cNvPr id="191" name="Google Shape;191;p31"/>
          <p:cNvSpPr txBox="1"/>
          <p:nvPr/>
        </p:nvSpPr>
        <p:spPr>
          <a:xfrm>
            <a:off x="910956" y="606655"/>
            <a:ext cx="6106800" cy="343500"/>
          </a:xfrm>
          <a:prstGeom prst="rect">
            <a:avLst/>
          </a:prstGeom>
          <a:noFill/>
          <a:ln>
            <a:noFill/>
          </a:ln>
        </p:spPr>
        <p:txBody>
          <a:bodyPr anchorCtr="0" anchor="t" bIns="0" lIns="0" spcFirstLastPara="1" rIns="0" wrap="square" tIns="0">
            <a:spAutoFit/>
          </a:bodyPr>
          <a:lstStyle/>
          <a:p>
            <a:pPr indent="0" lvl="0" marL="0" marR="0" rtl="0" algn="just">
              <a:lnSpc>
                <a:spcPct val="97000"/>
              </a:lnSpc>
              <a:spcBef>
                <a:spcPts val="0"/>
              </a:spcBef>
              <a:spcAft>
                <a:spcPts val="0"/>
              </a:spcAft>
              <a:buNone/>
            </a:pPr>
            <a:r>
              <a:rPr b="1" lang="en" sz="2300">
                <a:latin typeface="Oswald"/>
                <a:ea typeface="Oswald"/>
                <a:cs typeface="Oswald"/>
                <a:sym typeface="Oswald"/>
              </a:rPr>
              <a:t>Runtime, Complexity, and Current Advancements </a:t>
            </a:r>
            <a:endParaRPr b="1" i="0" sz="2300" u="none" cap="none" strike="noStrike">
              <a:solidFill>
                <a:srgbClr val="000000"/>
              </a:solidFill>
              <a:latin typeface="Oswald"/>
              <a:ea typeface="Oswald"/>
              <a:cs typeface="Oswald"/>
              <a:sym typeface="Oswald"/>
            </a:endParaRPr>
          </a:p>
        </p:txBody>
      </p:sp>
      <p:sp>
        <p:nvSpPr>
          <p:cNvPr id="192" name="Google Shape;192;p31"/>
          <p:cNvSpPr txBox="1"/>
          <p:nvPr/>
        </p:nvSpPr>
        <p:spPr>
          <a:xfrm>
            <a:off x="8303123" y="3981534"/>
            <a:ext cx="100162" cy="23939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700" u="none" cap="none" strike="noStrike">
                <a:solidFill>
                  <a:srgbClr val="000000"/>
                </a:solidFill>
                <a:latin typeface="Oswald"/>
                <a:ea typeface="Oswald"/>
                <a:cs typeface="Oswald"/>
                <a:sym typeface="Oswald"/>
              </a:rPr>
              <a:t>[3]</a:t>
            </a:r>
            <a:endParaRPr sz="700"/>
          </a:p>
          <a:p>
            <a:pPr indent="0" lvl="0" marL="0" marR="0" rtl="0" algn="ctr">
              <a:lnSpc>
                <a:spcPct val="140000"/>
              </a:lnSpc>
              <a:spcBef>
                <a:spcPts val="0"/>
              </a:spcBef>
              <a:spcAft>
                <a:spcPts val="0"/>
              </a:spcAft>
              <a:buNone/>
            </a:pPr>
            <a:r>
              <a:t/>
            </a:r>
            <a:endParaRPr b="0" i="0" sz="700" u="none" cap="none" strike="noStrike">
              <a:solidFill>
                <a:srgbClr val="000000"/>
              </a:solidFill>
              <a:latin typeface="Oswald"/>
              <a:ea typeface="Oswald"/>
              <a:cs typeface="Oswald"/>
              <a:sym typeface="Oswa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96" name="Shape 196"/>
        <p:cNvGrpSpPr/>
        <p:nvPr/>
      </p:nvGrpSpPr>
      <p:grpSpPr>
        <a:xfrm>
          <a:off x="0" y="0"/>
          <a:ext cx="0" cy="0"/>
          <a:chOff x="0" y="0"/>
          <a:chExt cx="0" cy="0"/>
        </a:xfrm>
      </p:grpSpPr>
      <p:sp>
        <p:nvSpPr>
          <p:cNvPr id="197" name="Google Shape;197;p32"/>
          <p:cNvSpPr/>
          <p:nvPr/>
        </p:nvSpPr>
        <p:spPr>
          <a:xfrm flipH="1">
            <a:off x="6798849" y="-884960"/>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3">
              <a:alphaModFix/>
            </a:blip>
            <a:stretch>
              <a:fillRect b="0" l="0" r="0" t="0"/>
            </a:stretch>
          </a:blipFill>
          <a:ln>
            <a:noFill/>
          </a:ln>
        </p:spPr>
      </p:sp>
      <p:sp>
        <p:nvSpPr>
          <p:cNvPr id="198" name="Google Shape;198;p32"/>
          <p:cNvSpPr/>
          <p:nvPr/>
        </p:nvSpPr>
        <p:spPr>
          <a:xfrm flipH="1">
            <a:off x="-1554354" y="3506788"/>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3">
              <a:alphaModFix/>
            </a:blip>
            <a:stretch>
              <a:fillRect b="0" l="0" r="0" t="0"/>
            </a:stretch>
          </a:blipFill>
          <a:ln>
            <a:noFill/>
          </a:ln>
        </p:spPr>
      </p:sp>
      <p:sp>
        <p:nvSpPr>
          <p:cNvPr id="199" name="Google Shape;199;p32"/>
          <p:cNvSpPr txBox="1"/>
          <p:nvPr/>
        </p:nvSpPr>
        <p:spPr>
          <a:xfrm>
            <a:off x="910950" y="1510475"/>
            <a:ext cx="7492200" cy="2616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200"/>
              </a:spcBef>
              <a:spcAft>
                <a:spcPts val="0"/>
              </a:spcAft>
              <a:buClr>
                <a:schemeClr val="dk1"/>
              </a:buClr>
              <a:buSzPts val="1100"/>
              <a:buFont typeface="Arial"/>
              <a:buNone/>
            </a:pPr>
            <a:r>
              <a:rPr b="1" lang="en" sz="1100">
                <a:solidFill>
                  <a:schemeClr val="dk1"/>
                </a:solidFill>
                <a:latin typeface="Poppins"/>
                <a:ea typeface="Poppins"/>
                <a:cs typeface="Poppins"/>
                <a:sym typeface="Poppins"/>
              </a:rPr>
              <a:t>Modern FPGA Advancements</a:t>
            </a:r>
            <a:endParaRPr b="1" sz="1100">
              <a:solidFill>
                <a:schemeClr val="dk1"/>
              </a:solidFill>
              <a:latin typeface="Poppins"/>
              <a:ea typeface="Poppins"/>
              <a:cs typeface="Poppins"/>
              <a:sym typeface="Poppins"/>
            </a:endParaRPr>
          </a:p>
          <a:p>
            <a:pPr indent="-298450" lvl="0" marL="457200" rtl="0" algn="l">
              <a:lnSpc>
                <a:spcPct val="100000"/>
              </a:lnSpc>
              <a:spcBef>
                <a:spcPts val="1200"/>
              </a:spcBef>
              <a:spcAft>
                <a:spcPts val="0"/>
              </a:spcAft>
              <a:buClr>
                <a:schemeClr val="dk1"/>
              </a:buClr>
              <a:buSzPts val="1100"/>
              <a:buChar char="●"/>
            </a:pPr>
            <a:r>
              <a:rPr b="1" lang="en" sz="1100">
                <a:solidFill>
                  <a:schemeClr val="dk1"/>
                </a:solidFill>
                <a:latin typeface="Poppins"/>
                <a:ea typeface="Poppins"/>
                <a:cs typeface="Poppins"/>
                <a:sym typeface="Poppins"/>
              </a:rPr>
              <a:t>Task-Parallelism:</a:t>
            </a:r>
            <a:r>
              <a:rPr lang="en" sz="1100">
                <a:solidFill>
                  <a:schemeClr val="dk1"/>
                </a:solidFill>
                <a:latin typeface="Poppins"/>
                <a:ea typeface="Poppins"/>
                <a:cs typeface="Poppins"/>
                <a:sym typeface="Poppins"/>
              </a:rPr>
              <a:t> Moving beyond simple </a:t>
            </a:r>
            <a:r>
              <a:rPr lang="en" sz="1100">
                <a:solidFill>
                  <a:srgbClr val="188038"/>
                </a:solidFill>
                <a:latin typeface="Poppins"/>
                <a:ea typeface="Poppins"/>
                <a:cs typeface="Poppins"/>
                <a:sym typeface="Poppins"/>
              </a:rPr>
              <a:t>for</a:t>
            </a:r>
            <a:r>
              <a:rPr lang="en" sz="1100">
                <a:solidFill>
                  <a:schemeClr val="dk1"/>
                </a:solidFill>
                <a:latin typeface="Poppins"/>
                <a:ea typeface="Poppins"/>
                <a:cs typeface="Poppins"/>
                <a:sym typeface="Poppins"/>
              </a:rPr>
              <a:t> loops to design complex, concurrent streaming </a:t>
            </a:r>
            <a:r>
              <a:rPr lang="en" sz="1100">
                <a:solidFill>
                  <a:schemeClr val="dk1"/>
                </a:solidFill>
                <a:latin typeface="Poppins"/>
                <a:ea typeface="Poppins"/>
                <a:cs typeface="Poppins"/>
                <a:sym typeface="Poppins"/>
              </a:rPr>
              <a:t>data paths</a:t>
            </a:r>
            <a:r>
              <a:rPr lang="en" sz="1100">
                <a:solidFill>
                  <a:schemeClr val="dk1"/>
                </a:solidFill>
                <a:latin typeface="Poppins"/>
                <a:ea typeface="Poppins"/>
                <a:cs typeface="Poppins"/>
                <a:sym typeface="Poppins"/>
              </a:rPr>
              <a:t> directly in C++.</a:t>
            </a:r>
            <a:endParaRPr sz="1100">
              <a:solidFill>
                <a:schemeClr val="dk1"/>
              </a:solidFill>
              <a:latin typeface="Poppins"/>
              <a:ea typeface="Poppins"/>
              <a:cs typeface="Poppins"/>
              <a:sym typeface="Poppins"/>
            </a:endParaRPr>
          </a:p>
          <a:p>
            <a:pPr indent="0" lvl="0" marL="457200" rtl="0" algn="l">
              <a:lnSpc>
                <a:spcPct val="100000"/>
              </a:lnSpc>
              <a:spcBef>
                <a:spcPts val="1200"/>
              </a:spcBef>
              <a:spcAft>
                <a:spcPts val="0"/>
              </a:spcAft>
              <a:buNone/>
            </a:pPr>
            <a:r>
              <a:t/>
            </a:r>
            <a:endParaRPr sz="1100">
              <a:solidFill>
                <a:schemeClr val="dk1"/>
              </a:solidFill>
              <a:latin typeface="Poppins"/>
              <a:ea typeface="Poppins"/>
              <a:cs typeface="Poppins"/>
              <a:sym typeface="Poppins"/>
            </a:endParaRPr>
          </a:p>
          <a:p>
            <a:pPr indent="-298450" lvl="0" marL="457200" rtl="0" algn="l">
              <a:lnSpc>
                <a:spcPct val="100000"/>
              </a:lnSpc>
              <a:spcBef>
                <a:spcPts val="1200"/>
              </a:spcBef>
              <a:spcAft>
                <a:spcPts val="0"/>
              </a:spcAft>
              <a:buClr>
                <a:schemeClr val="dk1"/>
              </a:buClr>
              <a:buSzPts val="1100"/>
              <a:buChar char="●"/>
            </a:pPr>
            <a:r>
              <a:rPr b="1" lang="en" sz="1100">
                <a:solidFill>
                  <a:schemeClr val="dk1"/>
                </a:solidFill>
                <a:latin typeface="Poppins"/>
                <a:ea typeface="Poppins"/>
                <a:cs typeface="Poppins"/>
                <a:sym typeface="Poppins"/>
              </a:rPr>
              <a:t>Rapid Debugging:</a:t>
            </a:r>
            <a:r>
              <a:rPr lang="en" sz="1100">
                <a:solidFill>
                  <a:schemeClr val="dk1"/>
                </a:solidFill>
                <a:latin typeface="Poppins"/>
                <a:ea typeface="Poppins"/>
                <a:cs typeface="Poppins"/>
                <a:sym typeface="Poppins"/>
              </a:rPr>
              <a:t> Verifying logic using instantaneous C++ software simulation instead of agonizingly slow RTL waveform simulators.</a:t>
            </a:r>
            <a:endParaRPr sz="1100">
              <a:solidFill>
                <a:schemeClr val="dk1"/>
              </a:solidFill>
              <a:latin typeface="Poppins"/>
              <a:ea typeface="Poppins"/>
              <a:cs typeface="Poppins"/>
              <a:sym typeface="Poppins"/>
            </a:endParaRPr>
          </a:p>
          <a:p>
            <a:pPr indent="0" lvl="0" marL="457200" rtl="0" algn="l">
              <a:lnSpc>
                <a:spcPct val="100000"/>
              </a:lnSpc>
              <a:spcBef>
                <a:spcPts val="1200"/>
              </a:spcBef>
              <a:spcAft>
                <a:spcPts val="0"/>
              </a:spcAft>
              <a:buNone/>
            </a:pPr>
            <a:r>
              <a:t/>
            </a:r>
            <a:endParaRPr sz="1100">
              <a:solidFill>
                <a:schemeClr val="dk1"/>
              </a:solidFill>
              <a:latin typeface="Poppins"/>
              <a:ea typeface="Poppins"/>
              <a:cs typeface="Poppins"/>
              <a:sym typeface="Poppins"/>
            </a:endParaRPr>
          </a:p>
          <a:p>
            <a:pPr indent="-298450" lvl="0" marL="457200" rtl="0" algn="l">
              <a:lnSpc>
                <a:spcPct val="100000"/>
              </a:lnSpc>
              <a:spcBef>
                <a:spcPts val="1200"/>
              </a:spcBef>
              <a:spcAft>
                <a:spcPts val="0"/>
              </a:spcAft>
              <a:buClr>
                <a:schemeClr val="dk1"/>
              </a:buClr>
              <a:buSzPts val="1100"/>
              <a:buChar char="●"/>
            </a:pPr>
            <a:r>
              <a:rPr b="1" lang="en" sz="1100">
                <a:solidFill>
                  <a:schemeClr val="dk1"/>
                </a:solidFill>
                <a:latin typeface="Poppins"/>
                <a:ea typeface="Poppins"/>
                <a:cs typeface="Poppins"/>
                <a:sym typeface="Poppins"/>
              </a:rPr>
              <a:t>AI/ML Integration:</a:t>
            </a:r>
            <a:r>
              <a:rPr lang="en" sz="1100">
                <a:solidFill>
                  <a:schemeClr val="dk1"/>
                </a:solidFill>
                <a:latin typeface="Poppins"/>
                <a:ea typeface="Poppins"/>
                <a:cs typeface="Poppins"/>
                <a:sym typeface="Poppins"/>
              </a:rPr>
              <a:t> Tools now use Machine Learning to predict physical routing congestion on the FPGA silicon </a:t>
            </a:r>
            <a:r>
              <a:rPr i="1" lang="en" sz="1100">
                <a:solidFill>
                  <a:schemeClr val="dk1"/>
                </a:solidFill>
                <a:latin typeface="Poppins"/>
                <a:ea typeface="Poppins"/>
                <a:cs typeface="Poppins"/>
                <a:sym typeface="Poppins"/>
              </a:rPr>
              <a:t>before</a:t>
            </a:r>
            <a:r>
              <a:rPr lang="en" sz="1100">
                <a:solidFill>
                  <a:schemeClr val="dk1"/>
                </a:solidFill>
                <a:latin typeface="Poppins"/>
                <a:ea typeface="Poppins"/>
                <a:cs typeface="Poppins"/>
                <a:sym typeface="Poppins"/>
              </a:rPr>
              <a:t> standard synthesis even begins.</a:t>
            </a:r>
            <a:endParaRPr sz="1100">
              <a:solidFill>
                <a:schemeClr val="dk1"/>
              </a:solidFill>
              <a:latin typeface="Poppins"/>
              <a:ea typeface="Poppins"/>
              <a:cs typeface="Poppins"/>
              <a:sym typeface="Poppins"/>
            </a:endParaRPr>
          </a:p>
          <a:p>
            <a:pPr indent="0" lvl="0" marL="0" marR="0" rtl="0" algn="just">
              <a:lnSpc>
                <a:spcPct val="100000"/>
              </a:lnSpc>
              <a:spcBef>
                <a:spcPts val="1200"/>
              </a:spcBef>
              <a:spcAft>
                <a:spcPts val="0"/>
              </a:spcAft>
              <a:buNone/>
            </a:pPr>
            <a:r>
              <a:t/>
            </a:r>
            <a:endParaRPr b="1" sz="1100">
              <a:solidFill>
                <a:schemeClr val="dk1"/>
              </a:solidFill>
              <a:latin typeface="Poppins"/>
              <a:ea typeface="Poppins"/>
              <a:cs typeface="Poppins"/>
              <a:sym typeface="Poppins"/>
            </a:endParaRPr>
          </a:p>
        </p:txBody>
      </p:sp>
      <p:sp>
        <p:nvSpPr>
          <p:cNvPr id="200" name="Google Shape;200;p32"/>
          <p:cNvSpPr txBox="1"/>
          <p:nvPr/>
        </p:nvSpPr>
        <p:spPr>
          <a:xfrm>
            <a:off x="910956" y="606655"/>
            <a:ext cx="6106800" cy="343500"/>
          </a:xfrm>
          <a:prstGeom prst="rect">
            <a:avLst/>
          </a:prstGeom>
          <a:noFill/>
          <a:ln>
            <a:noFill/>
          </a:ln>
        </p:spPr>
        <p:txBody>
          <a:bodyPr anchorCtr="0" anchor="t" bIns="0" lIns="0" spcFirstLastPara="1" rIns="0" wrap="square" tIns="0">
            <a:spAutoFit/>
          </a:bodyPr>
          <a:lstStyle/>
          <a:p>
            <a:pPr indent="0" lvl="0" marL="0" marR="0" rtl="0" algn="just">
              <a:lnSpc>
                <a:spcPct val="97000"/>
              </a:lnSpc>
              <a:spcBef>
                <a:spcPts val="0"/>
              </a:spcBef>
              <a:spcAft>
                <a:spcPts val="0"/>
              </a:spcAft>
              <a:buNone/>
            </a:pPr>
            <a:r>
              <a:rPr b="1" lang="en" sz="2300">
                <a:latin typeface="Oswald"/>
                <a:ea typeface="Oswald"/>
                <a:cs typeface="Oswald"/>
                <a:sym typeface="Oswald"/>
              </a:rPr>
              <a:t>Runtime, Complexity, and Current Advancements </a:t>
            </a:r>
            <a:endParaRPr b="1" i="0" sz="2300" u="none" cap="none" strike="noStrike">
              <a:solidFill>
                <a:srgbClr val="000000"/>
              </a:solidFill>
              <a:latin typeface="Oswald"/>
              <a:ea typeface="Oswald"/>
              <a:cs typeface="Oswald"/>
              <a:sym typeface="Oswald"/>
            </a:endParaRPr>
          </a:p>
        </p:txBody>
      </p:sp>
      <p:sp>
        <p:nvSpPr>
          <p:cNvPr id="201" name="Google Shape;201;p32"/>
          <p:cNvSpPr txBox="1"/>
          <p:nvPr/>
        </p:nvSpPr>
        <p:spPr>
          <a:xfrm>
            <a:off x="8303123" y="3981534"/>
            <a:ext cx="100200" cy="258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700" u="none" cap="none" strike="noStrike">
                <a:solidFill>
                  <a:srgbClr val="000000"/>
                </a:solidFill>
                <a:latin typeface="Oswald"/>
                <a:ea typeface="Oswald"/>
                <a:cs typeface="Oswald"/>
                <a:sym typeface="Oswald"/>
              </a:rPr>
              <a:t>[3]</a:t>
            </a:r>
            <a:endParaRPr sz="700"/>
          </a:p>
          <a:p>
            <a:pPr indent="0" lvl="0" marL="0" marR="0" rtl="0" algn="ctr">
              <a:lnSpc>
                <a:spcPct val="140000"/>
              </a:lnSpc>
              <a:spcBef>
                <a:spcPts val="0"/>
              </a:spcBef>
              <a:spcAft>
                <a:spcPts val="0"/>
              </a:spcAft>
              <a:buNone/>
            </a:pPr>
            <a:r>
              <a:t/>
            </a:r>
            <a:endParaRPr b="0" i="0" sz="700" u="none" cap="none" strike="noStrike">
              <a:solidFill>
                <a:srgbClr val="000000"/>
              </a:solidFill>
              <a:latin typeface="Oswald"/>
              <a:ea typeface="Oswald"/>
              <a:cs typeface="Oswald"/>
              <a:sym typeface="Oswa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05" name="Shape 205"/>
        <p:cNvGrpSpPr/>
        <p:nvPr/>
      </p:nvGrpSpPr>
      <p:grpSpPr>
        <a:xfrm>
          <a:off x="0" y="0"/>
          <a:ext cx="0" cy="0"/>
          <a:chOff x="0" y="0"/>
          <a:chExt cx="0" cy="0"/>
        </a:xfrm>
      </p:grpSpPr>
      <p:sp>
        <p:nvSpPr>
          <p:cNvPr id="206" name="Google Shape;206;p33"/>
          <p:cNvSpPr/>
          <p:nvPr/>
        </p:nvSpPr>
        <p:spPr>
          <a:xfrm>
            <a:off x="7347727" y="3413125"/>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207" name="Google Shape;207;p33"/>
          <p:cNvSpPr/>
          <p:nvPr/>
        </p:nvSpPr>
        <p:spPr>
          <a:xfrm>
            <a:off x="-1040004" y="-759864"/>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208" name="Google Shape;208;p33"/>
          <p:cNvSpPr txBox="1"/>
          <p:nvPr/>
        </p:nvSpPr>
        <p:spPr>
          <a:xfrm>
            <a:off x="1518660" y="586113"/>
            <a:ext cx="6106800" cy="343500"/>
          </a:xfrm>
          <a:prstGeom prst="rect">
            <a:avLst/>
          </a:prstGeom>
          <a:noFill/>
          <a:ln>
            <a:noFill/>
          </a:ln>
        </p:spPr>
        <p:txBody>
          <a:bodyPr anchorCtr="0" anchor="t" bIns="0" lIns="0" spcFirstLastPara="1" rIns="0" wrap="square" tIns="0">
            <a:spAutoFit/>
          </a:bodyPr>
          <a:lstStyle/>
          <a:p>
            <a:pPr indent="0" lvl="0" marL="0" marR="0" rtl="0" algn="ctr">
              <a:lnSpc>
                <a:spcPct val="97000"/>
              </a:lnSpc>
              <a:spcBef>
                <a:spcPts val="0"/>
              </a:spcBef>
              <a:spcAft>
                <a:spcPts val="0"/>
              </a:spcAft>
              <a:buNone/>
            </a:pPr>
            <a:r>
              <a:rPr b="1" lang="en" sz="2300">
                <a:latin typeface="Oswald"/>
                <a:ea typeface="Oswald"/>
                <a:cs typeface="Oswald"/>
                <a:sym typeface="Oswald"/>
              </a:rPr>
              <a:t>Unwinding </a:t>
            </a:r>
            <a:r>
              <a:rPr b="1" lang="en" sz="2300">
                <a:latin typeface="Oswald"/>
                <a:ea typeface="Oswald"/>
                <a:cs typeface="Oswald"/>
                <a:sym typeface="Oswald"/>
              </a:rPr>
              <a:t>Effects</a:t>
            </a:r>
            <a:r>
              <a:rPr b="1" lang="en" sz="2300">
                <a:latin typeface="Oswald"/>
                <a:ea typeface="Oswald"/>
                <a:cs typeface="Oswald"/>
                <a:sym typeface="Oswald"/>
              </a:rPr>
              <a:t> on the hardware area of an FPGA</a:t>
            </a:r>
            <a:endParaRPr b="1" i="0" sz="2300" u="none" cap="none" strike="noStrike">
              <a:solidFill>
                <a:srgbClr val="000000"/>
              </a:solidFill>
              <a:latin typeface="Oswald"/>
              <a:ea typeface="Oswald"/>
              <a:cs typeface="Oswald"/>
              <a:sym typeface="Oswald"/>
            </a:endParaRPr>
          </a:p>
        </p:txBody>
      </p:sp>
      <p:sp>
        <p:nvSpPr>
          <p:cNvPr id="209" name="Google Shape;209;p33"/>
          <p:cNvSpPr txBox="1"/>
          <p:nvPr/>
        </p:nvSpPr>
        <p:spPr>
          <a:xfrm>
            <a:off x="1196400" y="1293000"/>
            <a:ext cx="3969600" cy="1396800"/>
          </a:xfrm>
          <a:prstGeom prst="rect">
            <a:avLst/>
          </a:prstGeom>
          <a:noFill/>
          <a:ln>
            <a:noFill/>
          </a:ln>
        </p:spPr>
        <p:txBody>
          <a:bodyPr anchorCtr="0" anchor="t" bIns="91425" lIns="91425" spcFirstLastPara="1" rIns="91425" wrap="square" tIns="91425">
            <a:noAutofit/>
          </a:bodyPr>
          <a:lstStyle/>
          <a:p>
            <a:pPr indent="0" lvl="0" marL="0" marR="0" rtl="0" algn="l">
              <a:lnSpc>
                <a:spcPct val="120000"/>
              </a:lnSpc>
              <a:spcBef>
                <a:spcPts val="0"/>
              </a:spcBef>
              <a:spcAft>
                <a:spcPts val="0"/>
              </a:spcAft>
              <a:buNone/>
            </a:pPr>
            <a:r>
              <a:rPr b="1" lang="en" sz="1200">
                <a:solidFill>
                  <a:srgbClr val="303030"/>
                </a:solidFill>
                <a:highlight>
                  <a:srgbClr val="FFFFFF"/>
                </a:highlight>
              </a:rPr>
              <a:t>Multiplying Hardware Components:</a:t>
            </a:r>
            <a:r>
              <a:rPr lang="en" sz="1200">
                <a:solidFill>
                  <a:srgbClr val="303030"/>
                </a:solidFill>
                <a:highlight>
                  <a:srgbClr val="FFFFFF"/>
                </a:highlight>
              </a:rPr>
              <a:t> Degree of parallelism , </a:t>
            </a:r>
            <a:r>
              <a:rPr i="1" lang="en" sz="1450">
                <a:solidFill>
                  <a:srgbClr val="303030"/>
                </a:solidFill>
                <a:highlight>
                  <a:srgbClr val="FFFFFF"/>
                </a:highlight>
                <a:latin typeface="Times New Roman"/>
                <a:ea typeface="Times New Roman"/>
                <a:cs typeface="Times New Roman"/>
                <a:sym typeface="Times New Roman"/>
              </a:rPr>
              <a:t>DOP</a:t>
            </a:r>
            <a:r>
              <a:rPr i="1" lang="en" sz="1000">
                <a:solidFill>
                  <a:srgbClr val="303030"/>
                </a:solidFill>
                <a:highlight>
                  <a:srgbClr val="FFFFFF"/>
                </a:highlight>
                <a:latin typeface="Times New Roman"/>
                <a:ea typeface="Times New Roman"/>
                <a:cs typeface="Times New Roman"/>
                <a:sym typeface="Times New Roman"/>
              </a:rPr>
              <a:t>k </a:t>
            </a:r>
            <a:endParaRPr i="1" sz="1000">
              <a:solidFill>
                <a:srgbClr val="303030"/>
              </a:solidFill>
              <a:highlight>
                <a:srgbClr val="FFFFFF"/>
              </a:highlight>
              <a:latin typeface="Times New Roman"/>
              <a:ea typeface="Times New Roman"/>
              <a:cs typeface="Times New Roman"/>
              <a:sym typeface="Times New Roman"/>
            </a:endParaRPr>
          </a:p>
          <a:p>
            <a:pPr indent="0" lvl="0" marL="0" marR="0" rtl="0" algn="l">
              <a:lnSpc>
                <a:spcPct val="120000"/>
              </a:lnSpc>
              <a:spcBef>
                <a:spcPts val="0"/>
              </a:spcBef>
              <a:spcAft>
                <a:spcPts val="0"/>
              </a:spcAft>
              <a:buNone/>
            </a:pPr>
            <a:r>
              <a:rPr b="1" lang="en" sz="1200">
                <a:solidFill>
                  <a:srgbClr val="303030"/>
                </a:solidFill>
                <a:highlight>
                  <a:srgbClr val="FFFFFF"/>
                </a:highlight>
              </a:rPr>
              <a:t>The Physical Area Constraint (</a:t>
            </a:r>
            <a:r>
              <a:rPr i="1" lang="en" sz="1450">
                <a:solidFill>
                  <a:srgbClr val="303030"/>
                </a:solidFill>
                <a:highlight>
                  <a:srgbClr val="FFFFFF"/>
                </a:highlight>
                <a:latin typeface="Times New Roman"/>
                <a:ea typeface="Times New Roman"/>
                <a:cs typeface="Times New Roman"/>
                <a:sym typeface="Times New Roman"/>
              </a:rPr>
              <a:t>A</a:t>
            </a:r>
            <a:r>
              <a:rPr b="1" lang="en" sz="1200">
                <a:solidFill>
                  <a:srgbClr val="303030"/>
                </a:solidFill>
                <a:highlight>
                  <a:srgbClr val="FFFFFF"/>
                </a:highlight>
              </a:rPr>
              <a:t>):</a:t>
            </a:r>
            <a:r>
              <a:rPr lang="en" sz="1100">
                <a:solidFill>
                  <a:schemeClr val="dk1"/>
                </a:solidFill>
              </a:rPr>
              <a:t> </a:t>
            </a:r>
            <a:r>
              <a:rPr lang="en" sz="1200">
                <a:solidFill>
                  <a:srgbClr val="303030"/>
                </a:solidFill>
                <a:highlight>
                  <a:srgbClr val="FFFFFF"/>
                </a:highlight>
              </a:rPr>
              <a:t>optimized area must strictly remain less than the total available device area: </a:t>
            </a:r>
            <a:r>
              <a:rPr i="1" lang="en" sz="1450">
                <a:solidFill>
                  <a:srgbClr val="303030"/>
                </a:solidFill>
                <a:highlight>
                  <a:srgbClr val="FFFFFF"/>
                </a:highlight>
                <a:latin typeface="Times New Roman"/>
                <a:ea typeface="Times New Roman"/>
                <a:cs typeface="Times New Roman"/>
                <a:sym typeface="Times New Roman"/>
              </a:rPr>
              <a:t>A</a:t>
            </a:r>
            <a:r>
              <a:rPr i="1" lang="en" sz="1000">
                <a:solidFill>
                  <a:srgbClr val="303030"/>
                </a:solidFill>
                <a:highlight>
                  <a:srgbClr val="FFFFFF"/>
                </a:highlight>
                <a:latin typeface="Times New Roman"/>
                <a:ea typeface="Times New Roman"/>
                <a:cs typeface="Times New Roman"/>
                <a:sym typeface="Times New Roman"/>
              </a:rPr>
              <a:t>lu </a:t>
            </a:r>
            <a:r>
              <a:rPr lang="en" sz="1450">
                <a:solidFill>
                  <a:srgbClr val="303030"/>
                </a:solidFill>
                <a:highlight>
                  <a:srgbClr val="FFFFFF"/>
                </a:highlight>
                <a:latin typeface="Times New Roman"/>
                <a:ea typeface="Times New Roman"/>
                <a:cs typeface="Times New Roman"/>
                <a:sym typeface="Times New Roman"/>
              </a:rPr>
              <a:t>&lt;</a:t>
            </a:r>
            <a:r>
              <a:rPr i="1" lang="en" sz="1450">
                <a:solidFill>
                  <a:srgbClr val="303030"/>
                </a:solidFill>
                <a:highlight>
                  <a:srgbClr val="FFFFFF"/>
                </a:highlight>
                <a:latin typeface="Times New Roman"/>
                <a:ea typeface="Times New Roman"/>
                <a:cs typeface="Times New Roman"/>
                <a:sym typeface="Times New Roman"/>
              </a:rPr>
              <a:t>A</a:t>
            </a:r>
            <a:endParaRPr i="1" sz="1450">
              <a:solidFill>
                <a:srgbClr val="303030"/>
              </a:solidFill>
              <a:highlight>
                <a:srgbClr val="FFFFFF"/>
              </a:highlight>
              <a:latin typeface="Times New Roman"/>
              <a:ea typeface="Times New Roman"/>
              <a:cs typeface="Times New Roman"/>
              <a:sym typeface="Times New Roman"/>
            </a:endParaRPr>
          </a:p>
          <a:p>
            <a:pPr indent="0" lvl="0" marL="0" marR="0" rtl="0" algn="l">
              <a:lnSpc>
                <a:spcPct val="120000"/>
              </a:lnSpc>
              <a:spcBef>
                <a:spcPts val="0"/>
              </a:spcBef>
              <a:spcAft>
                <a:spcPts val="0"/>
              </a:spcAft>
              <a:buClr>
                <a:schemeClr val="dk1"/>
              </a:buClr>
              <a:buSzPts val="1100"/>
              <a:buFont typeface="Arial"/>
              <a:buNone/>
            </a:pPr>
            <a:r>
              <a:t/>
            </a:r>
            <a:endParaRPr b="1" sz="1200">
              <a:solidFill>
                <a:srgbClr val="303030"/>
              </a:solidFill>
              <a:highlight>
                <a:srgbClr val="FFFFFF"/>
              </a:highlight>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pic>
        <p:nvPicPr>
          <p:cNvPr id="210" name="Google Shape;210;p33"/>
          <p:cNvPicPr preferRelativeResize="0"/>
          <p:nvPr/>
        </p:nvPicPr>
        <p:blipFill>
          <a:blip r:embed="rId4">
            <a:alphaModFix/>
          </a:blip>
          <a:stretch>
            <a:fillRect/>
          </a:stretch>
        </p:blipFill>
        <p:spPr>
          <a:xfrm>
            <a:off x="5620275" y="1297525"/>
            <a:ext cx="2892649" cy="686575"/>
          </a:xfrm>
          <a:prstGeom prst="rect">
            <a:avLst/>
          </a:prstGeom>
          <a:noFill/>
          <a:ln>
            <a:noFill/>
          </a:ln>
        </p:spPr>
      </p:pic>
      <p:pic>
        <p:nvPicPr>
          <p:cNvPr id="211" name="Google Shape;211;p33" title="FPGA_DSP_Reality_Check.png"/>
          <p:cNvPicPr preferRelativeResize="0"/>
          <p:nvPr/>
        </p:nvPicPr>
        <p:blipFill>
          <a:blip r:embed="rId5">
            <a:alphaModFix/>
          </a:blip>
          <a:stretch>
            <a:fillRect/>
          </a:stretch>
        </p:blipFill>
        <p:spPr>
          <a:xfrm>
            <a:off x="2208938" y="2505775"/>
            <a:ext cx="4726226" cy="2637724"/>
          </a:xfrm>
          <a:prstGeom prst="rect">
            <a:avLst/>
          </a:prstGeom>
          <a:noFill/>
          <a:ln>
            <a:noFill/>
          </a:ln>
        </p:spPr>
      </p:pic>
      <p:sp>
        <p:nvSpPr>
          <p:cNvPr id="212" name="Google Shape;212;p33"/>
          <p:cNvSpPr txBox="1"/>
          <p:nvPr/>
        </p:nvSpPr>
        <p:spPr>
          <a:xfrm>
            <a:off x="1949525" y="4806225"/>
            <a:ext cx="6528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[8]</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16" name="Shape 216"/>
        <p:cNvGrpSpPr/>
        <p:nvPr/>
      </p:nvGrpSpPr>
      <p:grpSpPr>
        <a:xfrm>
          <a:off x="0" y="0"/>
          <a:ext cx="0" cy="0"/>
          <a:chOff x="0" y="0"/>
          <a:chExt cx="0" cy="0"/>
        </a:xfrm>
      </p:grpSpPr>
      <p:sp>
        <p:nvSpPr>
          <p:cNvPr id="217" name="Google Shape;217;p34"/>
          <p:cNvSpPr/>
          <p:nvPr/>
        </p:nvSpPr>
        <p:spPr>
          <a:xfrm>
            <a:off x="7347727" y="3413125"/>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218" name="Google Shape;218;p34"/>
          <p:cNvSpPr/>
          <p:nvPr/>
        </p:nvSpPr>
        <p:spPr>
          <a:xfrm>
            <a:off x="-1040004" y="-759864"/>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219" name="Google Shape;219;p34"/>
          <p:cNvSpPr txBox="1"/>
          <p:nvPr/>
        </p:nvSpPr>
        <p:spPr>
          <a:xfrm>
            <a:off x="1518660" y="586113"/>
            <a:ext cx="6106800" cy="343500"/>
          </a:xfrm>
          <a:prstGeom prst="rect">
            <a:avLst/>
          </a:prstGeom>
          <a:noFill/>
          <a:ln>
            <a:noFill/>
          </a:ln>
        </p:spPr>
        <p:txBody>
          <a:bodyPr anchorCtr="0" anchor="t" bIns="0" lIns="0" spcFirstLastPara="1" rIns="0" wrap="square" tIns="0">
            <a:spAutoFit/>
          </a:bodyPr>
          <a:lstStyle/>
          <a:p>
            <a:pPr indent="0" lvl="0" marL="0" marR="0" rtl="0" algn="ctr">
              <a:lnSpc>
                <a:spcPct val="97000"/>
              </a:lnSpc>
              <a:spcBef>
                <a:spcPts val="0"/>
              </a:spcBef>
              <a:spcAft>
                <a:spcPts val="0"/>
              </a:spcAft>
              <a:buNone/>
            </a:pPr>
            <a:r>
              <a:rPr b="1" lang="en" sz="2300">
                <a:latin typeface="Oswald"/>
                <a:ea typeface="Oswald"/>
                <a:cs typeface="Oswald"/>
                <a:sym typeface="Oswald"/>
              </a:rPr>
              <a:t>Simulated Results: Code Optimization in Practice </a:t>
            </a:r>
            <a:endParaRPr b="1" i="0" sz="2300" u="none" cap="none" strike="noStrike">
              <a:solidFill>
                <a:srgbClr val="000000"/>
              </a:solidFill>
              <a:latin typeface="Oswald"/>
              <a:ea typeface="Oswald"/>
              <a:cs typeface="Oswald"/>
              <a:sym typeface="Oswald"/>
            </a:endParaRPr>
          </a:p>
        </p:txBody>
      </p:sp>
      <p:sp>
        <p:nvSpPr>
          <p:cNvPr id="220" name="Google Shape;220;p34"/>
          <p:cNvSpPr txBox="1"/>
          <p:nvPr/>
        </p:nvSpPr>
        <p:spPr>
          <a:xfrm>
            <a:off x="1214950" y="1364675"/>
            <a:ext cx="3723300" cy="3019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100">
                <a:solidFill>
                  <a:schemeClr val="dk1"/>
                </a:solidFill>
                <a:latin typeface="Poppins"/>
                <a:ea typeface="Poppins"/>
                <a:cs typeface="Poppins"/>
                <a:sym typeface="Poppins"/>
              </a:rPr>
              <a:t>The Benchmarks</a:t>
            </a:r>
            <a:endParaRPr b="1" sz="1100">
              <a:solidFill>
                <a:schemeClr val="dk1"/>
              </a:solidFill>
              <a:latin typeface="Poppins"/>
              <a:ea typeface="Poppins"/>
              <a:cs typeface="Poppins"/>
              <a:sym typeface="Poppins"/>
            </a:endParaRPr>
          </a:p>
          <a:p>
            <a:pPr indent="-298450" lvl="0" marL="457200" rtl="0" algn="l">
              <a:lnSpc>
                <a:spcPct val="100000"/>
              </a:lnSpc>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Evaluated across two real-time image processing algorithms ( 3 X 3 Filter, Stereo Matching).</a:t>
            </a:r>
            <a:endParaRPr sz="1100">
              <a:solidFill>
                <a:schemeClr val="dk1"/>
              </a:solidFill>
              <a:latin typeface="Poppins"/>
              <a:ea typeface="Poppins"/>
              <a:cs typeface="Poppins"/>
              <a:sym typeface="Poppins"/>
            </a:endParaRPr>
          </a:p>
          <a:p>
            <a:pPr indent="0" lvl="0" marL="0" rtl="0" algn="l">
              <a:lnSpc>
                <a:spcPct val="100000"/>
              </a:lnSpc>
              <a:spcBef>
                <a:spcPts val="1200"/>
              </a:spcBef>
              <a:spcAft>
                <a:spcPts val="0"/>
              </a:spcAft>
              <a:buClr>
                <a:schemeClr val="dk1"/>
              </a:buClr>
              <a:buSzPts val="1100"/>
              <a:buFont typeface="Arial"/>
              <a:buNone/>
            </a:pPr>
            <a:r>
              <a:rPr b="1" lang="en" sz="1100">
                <a:solidFill>
                  <a:schemeClr val="dk1"/>
                </a:solidFill>
                <a:latin typeface="Poppins"/>
                <a:ea typeface="Poppins"/>
                <a:cs typeface="Poppins"/>
                <a:sym typeface="Poppins"/>
              </a:rPr>
              <a:t>Reduced Latency (Faster Execution)</a:t>
            </a:r>
            <a:endParaRPr b="1" sz="1100">
              <a:solidFill>
                <a:schemeClr val="dk1"/>
              </a:solidFill>
              <a:latin typeface="Poppins"/>
              <a:ea typeface="Poppins"/>
              <a:cs typeface="Poppins"/>
              <a:sym typeface="Poppins"/>
            </a:endParaRPr>
          </a:p>
          <a:p>
            <a:pPr indent="-298450" lvl="0" marL="457200" rtl="0" algn="l">
              <a:lnSpc>
                <a:spcPct val="100000"/>
              </a:lnSpc>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Simplifying the C/C++ loop hierarchies exposed deeper instruction-level pipelining opportunities for the HLS scheduler.</a:t>
            </a:r>
            <a:endParaRPr sz="1100">
              <a:solidFill>
                <a:schemeClr val="dk1"/>
              </a:solidFill>
              <a:latin typeface="Poppins"/>
              <a:ea typeface="Poppins"/>
              <a:cs typeface="Poppins"/>
              <a:sym typeface="Poppins"/>
            </a:endParaRPr>
          </a:p>
          <a:p>
            <a:pPr indent="0" lvl="0" marL="0" rtl="0" algn="l">
              <a:lnSpc>
                <a:spcPct val="100000"/>
              </a:lnSpc>
              <a:spcBef>
                <a:spcPts val="1200"/>
              </a:spcBef>
              <a:spcAft>
                <a:spcPts val="0"/>
              </a:spcAft>
              <a:buNone/>
            </a:pPr>
            <a:r>
              <a:t/>
            </a:r>
            <a:endParaRPr sz="1100">
              <a:solidFill>
                <a:schemeClr val="dk1"/>
              </a:solidFill>
              <a:latin typeface="Poppins"/>
              <a:ea typeface="Poppins"/>
              <a:cs typeface="Poppins"/>
              <a:sym typeface="Poppins"/>
            </a:endParaRPr>
          </a:p>
        </p:txBody>
      </p:sp>
      <p:pic>
        <p:nvPicPr>
          <p:cNvPr id="221" name="Google Shape;221;p34"/>
          <p:cNvPicPr preferRelativeResize="0"/>
          <p:nvPr/>
        </p:nvPicPr>
        <p:blipFill>
          <a:blip r:embed="rId4">
            <a:alphaModFix/>
          </a:blip>
          <a:stretch>
            <a:fillRect/>
          </a:stretch>
        </p:blipFill>
        <p:spPr>
          <a:xfrm>
            <a:off x="5308399" y="1364675"/>
            <a:ext cx="3386451" cy="2948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25" name="Shape 225"/>
        <p:cNvGrpSpPr/>
        <p:nvPr/>
      </p:nvGrpSpPr>
      <p:grpSpPr>
        <a:xfrm>
          <a:off x="0" y="0"/>
          <a:ext cx="0" cy="0"/>
          <a:chOff x="0" y="0"/>
          <a:chExt cx="0" cy="0"/>
        </a:xfrm>
      </p:grpSpPr>
      <p:sp>
        <p:nvSpPr>
          <p:cNvPr id="226" name="Google Shape;226;p35"/>
          <p:cNvSpPr/>
          <p:nvPr/>
        </p:nvSpPr>
        <p:spPr>
          <a:xfrm>
            <a:off x="7347727" y="3413125"/>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227" name="Google Shape;227;p35"/>
          <p:cNvSpPr/>
          <p:nvPr/>
        </p:nvSpPr>
        <p:spPr>
          <a:xfrm>
            <a:off x="-1040004" y="-759864"/>
            <a:ext cx="3108709" cy="20574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3">
              <a:alphaModFix/>
            </a:blip>
            <a:stretch>
              <a:fillRect b="0" l="0" r="0" t="0"/>
            </a:stretch>
          </a:blipFill>
          <a:ln>
            <a:noFill/>
          </a:ln>
        </p:spPr>
      </p:sp>
      <p:sp>
        <p:nvSpPr>
          <p:cNvPr id="228" name="Google Shape;228;p35"/>
          <p:cNvSpPr txBox="1"/>
          <p:nvPr/>
        </p:nvSpPr>
        <p:spPr>
          <a:xfrm>
            <a:off x="1518660" y="586113"/>
            <a:ext cx="6106800" cy="343500"/>
          </a:xfrm>
          <a:prstGeom prst="rect">
            <a:avLst/>
          </a:prstGeom>
          <a:noFill/>
          <a:ln>
            <a:noFill/>
          </a:ln>
        </p:spPr>
        <p:txBody>
          <a:bodyPr anchorCtr="0" anchor="t" bIns="0" lIns="0" spcFirstLastPara="1" rIns="0" wrap="square" tIns="0">
            <a:spAutoFit/>
          </a:bodyPr>
          <a:lstStyle/>
          <a:p>
            <a:pPr indent="0" lvl="0" marL="0" marR="0" rtl="0" algn="ctr">
              <a:lnSpc>
                <a:spcPct val="97000"/>
              </a:lnSpc>
              <a:spcBef>
                <a:spcPts val="0"/>
              </a:spcBef>
              <a:spcAft>
                <a:spcPts val="0"/>
              </a:spcAft>
              <a:buNone/>
            </a:pPr>
            <a:r>
              <a:rPr b="1" lang="en" sz="2300">
                <a:latin typeface="Oswald"/>
                <a:ea typeface="Oswald"/>
                <a:cs typeface="Oswald"/>
                <a:sym typeface="Oswald"/>
              </a:rPr>
              <a:t>Simulated Results: Code Optimization in Practice </a:t>
            </a:r>
            <a:endParaRPr b="1" i="0" sz="2300" u="none" cap="none" strike="noStrike">
              <a:solidFill>
                <a:srgbClr val="000000"/>
              </a:solidFill>
              <a:latin typeface="Oswald"/>
              <a:ea typeface="Oswald"/>
              <a:cs typeface="Oswald"/>
              <a:sym typeface="Oswald"/>
            </a:endParaRPr>
          </a:p>
        </p:txBody>
      </p:sp>
      <p:sp>
        <p:nvSpPr>
          <p:cNvPr id="229" name="Google Shape;229;p35"/>
          <p:cNvSpPr txBox="1"/>
          <p:nvPr/>
        </p:nvSpPr>
        <p:spPr>
          <a:xfrm>
            <a:off x="1225650" y="1585025"/>
            <a:ext cx="3723300" cy="25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Poppins"/>
                <a:ea typeface="Poppins"/>
                <a:cs typeface="Poppins"/>
                <a:sym typeface="Poppins"/>
              </a:rPr>
              <a:t>Reduced Hardware Area (Fewer Resources)</a:t>
            </a:r>
            <a:endParaRPr b="1" sz="1100">
              <a:solidFill>
                <a:schemeClr val="dk1"/>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Cleaner mathematical representation of the code required significantly less complex control logic (fewer LUTs/Registers) during synthesis.</a:t>
            </a:r>
            <a:endParaRPr sz="1100">
              <a:solidFill>
                <a:schemeClr val="dk1"/>
              </a:solidFill>
              <a:latin typeface="Poppins"/>
              <a:ea typeface="Poppins"/>
              <a:cs typeface="Poppins"/>
              <a:sym typeface="Poppins"/>
            </a:endParaRPr>
          </a:p>
          <a:p>
            <a:pPr indent="0" lvl="0" marL="0" rtl="0" algn="l">
              <a:spcBef>
                <a:spcPts val="1200"/>
              </a:spcBef>
              <a:spcAft>
                <a:spcPts val="0"/>
              </a:spcAft>
              <a:buNone/>
            </a:pPr>
            <a:r>
              <a:rPr b="1" lang="en" sz="1100">
                <a:solidFill>
                  <a:schemeClr val="dk1"/>
                </a:solidFill>
                <a:latin typeface="Poppins"/>
                <a:ea typeface="Poppins"/>
                <a:cs typeface="Poppins"/>
                <a:sym typeface="Poppins"/>
              </a:rPr>
              <a:t>Proposed Method</a:t>
            </a:r>
            <a:endParaRPr b="1" sz="1100">
              <a:solidFill>
                <a:schemeClr val="dk1"/>
              </a:solidFill>
              <a:latin typeface="Poppins"/>
              <a:ea typeface="Poppins"/>
              <a:cs typeface="Poppins"/>
              <a:sym typeface="Poppins"/>
            </a:endParaRPr>
          </a:p>
          <a:p>
            <a:pPr indent="-298450" lvl="0" marL="457200" rtl="0" algn="l">
              <a:spcBef>
                <a:spcPts val="0"/>
              </a:spcBef>
              <a:spcAft>
                <a:spcPts val="1200"/>
              </a:spcAft>
              <a:buClr>
                <a:schemeClr val="dk1"/>
              </a:buClr>
              <a:buSzPts val="1100"/>
              <a:buFont typeface="Poppins"/>
              <a:buChar char="●"/>
            </a:pPr>
            <a:r>
              <a:rPr lang="en" sz="1100">
                <a:solidFill>
                  <a:schemeClr val="dk1"/>
                </a:solidFill>
                <a:latin typeface="Poppins"/>
                <a:ea typeface="Poppins"/>
                <a:cs typeface="Poppins"/>
                <a:sym typeface="Poppins"/>
              </a:rPr>
              <a:t>Combining intelligent source-code restructuring </a:t>
            </a:r>
            <a:r>
              <a:rPr i="1" lang="en" sz="1100">
                <a:solidFill>
                  <a:schemeClr val="dk1"/>
                </a:solidFill>
                <a:latin typeface="Poppins"/>
                <a:ea typeface="Poppins"/>
                <a:cs typeface="Poppins"/>
                <a:sym typeface="Poppins"/>
              </a:rPr>
              <a:t>with</a:t>
            </a:r>
            <a:r>
              <a:rPr lang="en" sz="1100">
                <a:solidFill>
                  <a:schemeClr val="dk1"/>
                </a:solidFill>
                <a:latin typeface="Poppins"/>
                <a:ea typeface="Poppins"/>
                <a:cs typeface="Poppins"/>
                <a:sym typeface="Poppins"/>
              </a:rPr>
              <a:t> standard HLS pragmas yields much higher efficiency than relying on the compiler alone.</a:t>
            </a:r>
            <a:endParaRPr b="1" sz="1100">
              <a:solidFill>
                <a:schemeClr val="dk1"/>
              </a:solidFill>
              <a:latin typeface="Poppins"/>
              <a:ea typeface="Poppins"/>
              <a:cs typeface="Poppins"/>
              <a:sym typeface="Poppins"/>
            </a:endParaRPr>
          </a:p>
        </p:txBody>
      </p:sp>
      <p:pic>
        <p:nvPicPr>
          <p:cNvPr id="230" name="Google Shape;230;p35"/>
          <p:cNvPicPr preferRelativeResize="0"/>
          <p:nvPr/>
        </p:nvPicPr>
        <p:blipFill>
          <a:blip r:embed="rId4">
            <a:alphaModFix/>
          </a:blip>
          <a:stretch>
            <a:fillRect/>
          </a:stretch>
        </p:blipFill>
        <p:spPr>
          <a:xfrm>
            <a:off x="5079925" y="1585028"/>
            <a:ext cx="3392837" cy="2755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34" name="Shape 234"/>
        <p:cNvGrpSpPr/>
        <p:nvPr/>
      </p:nvGrpSpPr>
      <p:grpSpPr>
        <a:xfrm>
          <a:off x="0" y="0"/>
          <a:ext cx="0" cy="0"/>
          <a:chOff x="0" y="0"/>
          <a:chExt cx="0" cy="0"/>
        </a:xfrm>
      </p:grpSpPr>
      <p:sp>
        <p:nvSpPr>
          <p:cNvPr id="235" name="Google Shape;235;p36"/>
          <p:cNvSpPr/>
          <p:nvPr/>
        </p:nvSpPr>
        <p:spPr>
          <a:xfrm flipH="1">
            <a:off x="6798849" y="-884960"/>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3">
              <a:alphaModFix/>
            </a:blip>
            <a:stretch>
              <a:fillRect b="0" l="0" r="0" t="0"/>
            </a:stretch>
          </a:blipFill>
          <a:ln>
            <a:noFill/>
          </a:ln>
        </p:spPr>
      </p:sp>
      <p:sp>
        <p:nvSpPr>
          <p:cNvPr id="236" name="Google Shape;236;p36"/>
          <p:cNvSpPr/>
          <p:nvPr/>
        </p:nvSpPr>
        <p:spPr>
          <a:xfrm flipH="1">
            <a:off x="-1099280" y="3527963"/>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3">
              <a:alphaModFix/>
            </a:blip>
            <a:stretch>
              <a:fillRect b="0" l="0" r="0" t="0"/>
            </a:stretch>
          </a:blipFill>
          <a:ln>
            <a:noFill/>
          </a:ln>
        </p:spPr>
      </p:sp>
      <p:sp>
        <p:nvSpPr>
          <p:cNvPr id="237" name="Google Shape;237;p36"/>
          <p:cNvSpPr txBox="1"/>
          <p:nvPr/>
        </p:nvSpPr>
        <p:spPr>
          <a:xfrm>
            <a:off x="2197200" y="864650"/>
            <a:ext cx="4749600" cy="3078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lang="en" sz="2000">
                <a:latin typeface="Poppins"/>
                <a:ea typeface="Poppins"/>
                <a:cs typeface="Poppins"/>
                <a:sym typeface="Poppins"/>
              </a:rPr>
              <a:t>Realization of Application Examples</a:t>
            </a:r>
            <a:endParaRPr b="1" sz="2000">
              <a:latin typeface="Poppins"/>
              <a:ea typeface="Poppins"/>
              <a:cs typeface="Poppins"/>
              <a:sym typeface="Poppins"/>
            </a:endParaRPr>
          </a:p>
        </p:txBody>
      </p:sp>
      <p:sp>
        <p:nvSpPr>
          <p:cNvPr id="238" name="Google Shape;238;p36"/>
          <p:cNvSpPr txBox="1"/>
          <p:nvPr/>
        </p:nvSpPr>
        <p:spPr>
          <a:xfrm>
            <a:off x="4432850" y="1659451"/>
            <a:ext cx="3856200" cy="2034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Case Study 1: MIMO Sphere Decoder:</a:t>
            </a:r>
            <a:r>
              <a:rPr lang="en" sz="1100">
                <a:solidFill>
                  <a:schemeClr val="dk1"/>
                </a:solidFill>
              </a:rPr>
              <a:t> A multi-input multi-output wireless system application.</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i="1" lang="en" sz="1100">
                <a:solidFill>
                  <a:schemeClr val="dk1"/>
                </a:solidFill>
              </a:rPr>
              <a:t>Architecture:</a:t>
            </a:r>
            <a:r>
              <a:rPr lang="en" sz="1100">
                <a:solidFill>
                  <a:schemeClr val="dk1"/>
                </a:solidFill>
              </a:rPr>
              <a:t> HLS achieves a highly parallel streaming dataflow architecture.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i="1" lang="en" sz="1100">
                <a:solidFill>
                  <a:schemeClr val="dk1"/>
                </a:solidFill>
              </a:rPr>
              <a:t>Results:</a:t>
            </a:r>
            <a:r>
              <a:rPr lang="en" sz="1100">
                <a:solidFill>
                  <a:schemeClr val="dk1"/>
                </a:solidFill>
              </a:rPr>
              <a:t> Yielded an 11% reduction in Look-Up Tables (LUTs) and a 31% reduction in registers compared to hand-coded RTL, in roughly the same or less development time.</a:t>
            </a:r>
            <a:endParaRPr sz="1100">
              <a:solidFill>
                <a:schemeClr val="dk1"/>
              </a:solidFill>
            </a:endParaRPr>
          </a:p>
          <a:p>
            <a:pPr indent="0" lvl="0" marL="0" marR="0" rtl="0" algn="just">
              <a:lnSpc>
                <a:spcPct val="140018"/>
              </a:lnSpc>
              <a:spcBef>
                <a:spcPts val="1200"/>
              </a:spcBef>
              <a:spcAft>
                <a:spcPts val="0"/>
              </a:spcAft>
              <a:buNone/>
            </a:pPr>
            <a:r>
              <a:t/>
            </a:r>
            <a:endParaRPr b="1" sz="1100">
              <a:latin typeface="Poppins"/>
              <a:ea typeface="Poppins"/>
              <a:cs typeface="Poppins"/>
              <a:sym typeface="Poppins"/>
            </a:endParaRPr>
          </a:p>
        </p:txBody>
      </p:sp>
      <p:pic>
        <p:nvPicPr>
          <p:cNvPr id="239" name="Google Shape;239;p36"/>
          <p:cNvPicPr preferRelativeResize="0"/>
          <p:nvPr/>
        </p:nvPicPr>
        <p:blipFill>
          <a:blip r:embed="rId4">
            <a:alphaModFix/>
          </a:blip>
          <a:stretch>
            <a:fillRect/>
          </a:stretch>
        </p:blipFill>
        <p:spPr>
          <a:xfrm>
            <a:off x="1716950" y="1659452"/>
            <a:ext cx="2149975" cy="2938101"/>
          </a:xfrm>
          <a:prstGeom prst="rect">
            <a:avLst/>
          </a:prstGeom>
          <a:noFill/>
          <a:ln>
            <a:noFill/>
          </a:ln>
        </p:spPr>
      </p:pic>
      <p:sp>
        <p:nvSpPr>
          <p:cNvPr id="240" name="Google Shape;240;p36"/>
          <p:cNvSpPr txBox="1"/>
          <p:nvPr/>
        </p:nvSpPr>
        <p:spPr>
          <a:xfrm>
            <a:off x="3866925" y="4461300"/>
            <a:ext cx="6528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[8]</a:t>
            </a:r>
            <a:endParaRPr sz="9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44" name="Shape 244"/>
        <p:cNvGrpSpPr/>
        <p:nvPr/>
      </p:nvGrpSpPr>
      <p:grpSpPr>
        <a:xfrm>
          <a:off x="0" y="0"/>
          <a:ext cx="0" cy="0"/>
          <a:chOff x="0" y="0"/>
          <a:chExt cx="0" cy="0"/>
        </a:xfrm>
      </p:grpSpPr>
      <p:sp>
        <p:nvSpPr>
          <p:cNvPr id="245" name="Google Shape;245;p37"/>
          <p:cNvSpPr/>
          <p:nvPr/>
        </p:nvSpPr>
        <p:spPr>
          <a:xfrm flipH="1">
            <a:off x="6798849" y="-884960"/>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3">
              <a:alphaModFix/>
            </a:blip>
            <a:stretch>
              <a:fillRect b="0" l="0" r="0" t="0"/>
            </a:stretch>
          </a:blipFill>
          <a:ln>
            <a:noFill/>
          </a:ln>
        </p:spPr>
      </p:sp>
      <p:sp>
        <p:nvSpPr>
          <p:cNvPr id="246" name="Google Shape;246;p37"/>
          <p:cNvSpPr/>
          <p:nvPr/>
        </p:nvSpPr>
        <p:spPr>
          <a:xfrm flipH="1">
            <a:off x="-1099280" y="3527963"/>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3">
              <a:alphaModFix/>
            </a:blip>
            <a:stretch>
              <a:fillRect b="0" l="0" r="0" t="0"/>
            </a:stretch>
          </a:blipFill>
          <a:ln>
            <a:noFill/>
          </a:ln>
        </p:spPr>
      </p:sp>
      <p:sp>
        <p:nvSpPr>
          <p:cNvPr id="247" name="Google Shape;247;p37"/>
          <p:cNvSpPr txBox="1"/>
          <p:nvPr/>
        </p:nvSpPr>
        <p:spPr>
          <a:xfrm>
            <a:off x="2701213" y="631000"/>
            <a:ext cx="3655800" cy="323100"/>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b="1" lang="en" sz="2100">
                <a:latin typeface="Poppins"/>
                <a:ea typeface="Poppins"/>
                <a:cs typeface="Poppins"/>
                <a:sym typeface="Poppins"/>
              </a:rPr>
              <a:t>Conclusion</a:t>
            </a:r>
            <a:endParaRPr sz="2300"/>
          </a:p>
        </p:txBody>
      </p:sp>
      <p:sp>
        <p:nvSpPr>
          <p:cNvPr id="248" name="Google Shape;248;p37"/>
          <p:cNvSpPr txBox="1"/>
          <p:nvPr/>
        </p:nvSpPr>
        <p:spPr>
          <a:xfrm>
            <a:off x="868536" y="1416575"/>
            <a:ext cx="7321200" cy="643500"/>
          </a:xfrm>
          <a:prstGeom prst="rect">
            <a:avLst/>
          </a:prstGeom>
          <a:noFill/>
          <a:ln>
            <a:noFill/>
          </a:ln>
        </p:spPr>
        <p:txBody>
          <a:bodyPr anchorCtr="0" anchor="t" bIns="0" lIns="0" spcFirstLastPara="1" rIns="0" wrap="square" tIns="0">
            <a:spAutoFit/>
          </a:bodyPr>
          <a:lstStyle/>
          <a:p>
            <a:pPr indent="0" lvl="0" marL="0" marR="0" rtl="0" algn="just">
              <a:lnSpc>
                <a:spcPct val="140018"/>
              </a:lnSpc>
              <a:spcBef>
                <a:spcPts val="0"/>
              </a:spcBef>
              <a:spcAft>
                <a:spcPts val="0"/>
              </a:spcAft>
              <a:buNone/>
            </a:pPr>
            <a:r>
              <a:rPr lang="en" sz="1100">
                <a:latin typeface="Poppins"/>
                <a:ea typeface="Poppins"/>
                <a:cs typeface="Poppins"/>
                <a:sym typeface="Poppins"/>
              </a:rPr>
              <a:t>Continual algorithmic advancements have made HLS fiercely competitive with manual RTL. Modern tools provide excellent quality of results (QoR) and resource utilization, genuinely saving time and effort compared to writing VHDL or Verilog manually. </a:t>
            </a:r>
            <a:endParaRPr b="0" i="0" sz="1100" u="none" cap="none" strike="noStrike">
              <a:solidFill>
                <a:srgbClr val="000000"/>
              </a:solidFill>
              <a:latin typeface="Poppins"/>
              <a:ea typeface="Poppins"/>
              <a:cs typeface="Poppins"/>
              <a:sym typeface="Poppins"/>
            </a:endParaRPr>
          </a:p>
        </p:txBody>
      </p:sp>
      <p:sp>
        <p:nvSpPr>
          <p:cNvPr id="249" name="Google Shape;249;p37"/>
          <p:cNvSpPr txBox="1"/>
          <p:nvPr/>
        </p:nvSpPr>
        <p:spPr>
          <a:xfrm>
            <a:off x="801575" y="3305725"/>
            <a:ext cx="453000" cy="5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Calibri"/>
                <a:ea typeface="Calibri"/>
                <a:cs typeface="Calibri"/>
                <a:sym typeface="Calibri"/>
              </a:rPr>
              <a:t>[8]</a:t>
            </a:r>
            <a:endParaRPr sz="900">
              <a:solidFill>
                <a:schemeClr val="dk1"/>
              </a:solidFill>
              <a:latin typeface="Calibri"/>
              <a:ea typeface="Calibri"/>
              <a:cs typeface="Calibri"/>
              <a:sym typeface="Calibri"/>
            </a:endParaRPr>
          </a:p>
        </p:txBody>
      </p:sp>
      <p:sp>
        <p:nvSpPr>
          <p:cNvPr id="250" name="Google Shape;250;p37"/>
          <p:cNvSpPr txBox="1"/>
          <p:nvPr/>
        </p:nvSpPr>
        <p:spPr>
          <a:xfrm>
            <a:off x="1475713" y="3492993"/>
            <a:ext cx="6106800" cy="1030200"/>
          </a:xfrm>
          <a:prstGeom prst="rect">
            <a:avLst/>
          </a:prstGeom>
          <a:noFill/>
          <a:ln>
            <a:noFill/>
          </a:ln>
        </p:spPr>
        <p:txBody>
          <a:bodyPr anchorCtr="0" anchor="t" bIns="0" lIns="0" spcFirstLastPara="1" rIns="0" wrap="square" tIns="0">
            <a:spAutoFit/>
          </a:bodyPr>
          <a:lstStyle/>
          <a:p>
            <a:pPr indent="0" lvl="0" marL="0" marR="0" rtl="0" algn="ctr">
              <a:lnSpc>
                <a:spcPct val="97000"/>
              </a:lnSpc>
              <a:spcBef>
                <a:spcPts val="0"/>
              </a:spcBef>
              <a:spcAft>
                <a:spcPts val="0"/>
              </a:spcAft>
              <a:buNone/>
            </a:pPr>
            <a:r>
              <a:rPr b="1" lang="en" sz="2300">
                <a:latin typeface="Oswald"/>
                <a:ea typeface="Oswald"/>
                <a:cs typeface="Oswald"/>
                <a:sym typeface="Oswald"/>
              </a:rPr>
              <a:t>…</a:t>
            </a:r>
            <a:endParaRPr b="1" sz="2300">
              <a:latin typeface="Oswald"/>
              <a:ea typeface="Oswald"/>
              <a:cs typeface="Oswald"/>
              <a:sym typeface="Oswald"/>
            </a:endParaRPr>
          </a:p>
          <a:p>
            <a:pPr indent="0" lvl="0" marL="0" marR="0" rtl="0" algn="ctr">
              <a:lnSpc>
                <a:spcPct val="97000"/>
              </a:lnSpc>
              <a:spcBef>
                <a:spcPts val="0"/>
              </a:spcBef>
              <a:spcAft>
                <a:spcPts val="0"/>
              </a:spcAft>
              <a:buNone/>
            </a:pPr>
            <a:r>
              <a:t/>
            </a:r>
            <a:endParaRPr b="1" sz="2300">
              <a:latin typeface="Oswald"/>
              <a:ea typeface="Oswald"/>
              <a:cs typeface="Oswald"/>
              <a:sym typeface="Oswald"/>
            </a:endParaRPr>
          </a:p>
          <a:p>
            <a:pPr indent="0" lvl="0" marL="0" marR="0" rtl="0" algn="ctr">
              <a:lnSpc>
                <a:spcPct val="97000"/>
              </a:lnSpc>
              <a:spcBef>
                <a:spcPts val="0"/>
              </a:spcBef>
              <a:spcAft>
                <a:spcPts val="0"/>
              </a:spcAft>
              <a:buNone/>
            </a:pPr>
            <a:r>
              <a:rPr b="1" lang="en" sz="2300">
                <a:latin typeface="Oswald"/>
                <a:ea typeface="Oswald"/>
                <a:cs typeface="Oswald"/>
                <a:sym typeface="Oswald"/>
              </a:rPr>
              <a:t>Questions?</a:t>
            </a:r>
            <a:endParaRPr b="1" i="0" sz="2300" u="none" cap="none" strike="noStrike">
              <a:solidFill>
                <a:srgbClr val="000000"/>
              </a:solidFill>
              <a:latin typeface="Oswald"/>
              <a:ea typeface="Oswald"/>
              <a:cs typeface="Oswald"/>
              <a:sym typeface="Oswa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54" name="Shape 254"/>
        <p:cNvGrpSpPr/>
        <p:nvPr/>
      </p:nvGrpSpPr>
      <p:grpSpPr>
        <a:xfrm>
          <a:off x="0" y="0"/>
          <a:ext cx="0" cy="0"/>
          <a:chOff x="0" y="0"/>
          <a:chExt cx="0" cy="0"/>
        </a:xfrm>
      </p:grpSpPr>
      <p:sp>
        <p:nvSpPr>
          <p:cNvPr id="255" name="Google Shape;255;p38"/>
          <p:cNvSpPr txBox="1"/>
          <p:nvPr/>
        </p:nvSpPr>
        <p:spPr>
          <a:xfrm>
            <a:off x="898291" y="981518"/>
            <a:ext cx="7253100" cy="3201600"/>
          </a:xfrm>
          <a:prstGeom prst="rect">
            <a:avLst/>
          </a:prstGeom>
          <a:noFill/>
          <a:ln>
            <a:noFill/>
          </a:ln>
        </p:spPr>
        <p:txBody>
          <a:bodyPr anchorCtr="0" anchor="t" bIns="0" lIns="0" spcFirstLastPara="1" rIns="0" wrap="square" tIns="0">
            <a:spAutoFit/>
          </a:bodyPr>
          <a:lstStyle/>
          <a:p>
            <a:pPr indent="-298450" lvl="0" marL="457200" rtl="0" algn="l">
              <a:lnSpc>
                <a:spcPct val="100000"/>
              </a:lnSpc>
              <a:spcBef>
                <a:spcPts val="1200"/>
              </a:spcBef>
              <a:spcAft>
                <a:spcPts val="0"/>
              </a:spcAft>
              <a:buSzPts val="1100"/>
              <a:buAutoNum type="arabicPeriod"/>
            </a:pPr>
            <a:r>
              <a:rPr lang="en" sz="1100" u="sng">
                <a:solidFill>
                  <a:schemeClr val="hlink"/>
                </a:solidFill>
                <a:hlinkClick r:id="rId3"/>
              </a:rPr>
              <a:t>https://www.vlsi-expert.com/2021/05/high-level-synthesis-intro.html</a:t>
            </a:r>
            <a:r>
              <a:rPr lang="en" sz="1100">
                <a:solidFill>
                  <a:schemeClr val="dk1"/>
                </a:solidFill>
              </a:rPr>
              <a:t> [Accessed: Jun. 22, 2026].</a:t>
            </a: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lang="en" sz="1100">
                <a:solidFill>
                  <a:schemeClr val="dk1"/>
                </a:solidFill>
              </a:rPr>
              <a:t>Y. Chi, L. Guo, J. Lau, Y. Choi, J. Wang, and J. Cong, "Extending High-Level Synthesis for Task-Parallel Programs," in 2021 IEEE 29th Annual International Symposium on Field-Programmable Custom Computing Machines (FCCM), 2021, pp. 204-213, doi: 10.1109/fccm51124.2021.00032</a:t>
            </a: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lang="en" sz="1100">
                <a:solidFill>
                  <a:schemeClr val="dk1"/>
                </a:solidFill>
              </a:rPr>
              <a:t>C. Li, Y. Bi, Y. Benezeth, D. Ginhac, and F. Yang, "High-level synthesis for FPGAs: code optimization strategies for real-time image processing," Journal of Real-Time Image Processing, vol. 14, pp. 701-712, 2018, doi: 10.1007/s11554-017-0722-3.</a:t>
            </a: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lang="en" sz="1100">
                <a:solidFill>
                  <a:schemeClr val="dk1"/>
                </a:solidFill>
              </a:rPr>
              <a:t>Z. Kou et al., "High-Level Synthesis Design of Scalable Ultrafast Ultrasound Beamformer With Single FPGA," IEEE Transactions on Biomedical Circuits and Systems, vol. 17, pp. 446-457, 2023, doi: 10.1109/TBCAS.2023.3267614.</a:t>
            </a: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lang="en" sz="1100">
                <a:solidFill>
                  <a:schemeClr val="dk1"/>
                </a:solidFill>
              </a:rPr>
              <a:t>J. Cong, B. Liu, S. Neuendorffer, J. Noguera, K. Vissers, and Z. Zhang, "High-Level Synthesis for FPGAs: From Prototyping to Deployment," IEEE Transactions on Computer-Aided Design of Integrated Circuits and Systems, vol. 30, no. 4, pp. 473-491, Apr. 2011, doi: 0.1109/TCAD.2011.2110592</a:t>
            </a: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lang="en" sz="1100">
                <a:solidFill>
                  <a:schemeClr val="dk1"/>
                </a:solidFill>
              </a:rPr>
              <a:t>.</a:t>
            </a: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lang="en" sz="1100">
                <a:solidFill>
                  <a:schemeClr val="dk1"/>
                </a:solidFill>
              </a:rPr>
              <a:t>S. Lahti and T. D. Hämäläinen, "High-Level Synthesis for FPGAs—A Hardware Engineer’s Perspective," IEEE Access, vol. 13, pp. 28574-28593, 2025, doi: 10.1109/ACCESS.2025.3540320</a:t>
            </a:r>
            <a:endParaRPr sz="1100">
              <a:solidFill>
                <a:schemeClr val="dk1"/>
              </a:solidFill>
            </a:endParaRPr>
          </a:p>
          <a:p>
            <a:pPr indent="-298450" lvl="0" marL="457200" rtl="0" algn="l">
              <a:lnSpc>
                <a:spcPct val="100000"/>
              </a:lnSpc>
              <a:spcBef>
                <a:spcPts val="0"/>
              </a:spcBef>
              <a:spcAft>
                <a:spcPts val="0"/>
              </a:spcAft>
              <a:buClr>
                <a:schemeClr val="dk1"/>
              </a:buClr>
              <a:buSzPts val="1100"/>
              <a:buAutoNum type="arabicPeriod"/>
            </a:pPr>
            <a:r>
              <a:rPr lang="en" sz="1100">
                <a:solidFill>
                  <a:schemeClr val="dk1"/>
                </a:solidFill>
              </a:rPr>
              <a:t>LLM generated image</a:t>
            </a:r>
            <a:endParaRPr sz="1100">
              <a:solidFill>
                <a:schemeClr val="dk1"/>
              </a:solidFill>
            </a:endParaRPr>
          </a:p>
          <a:p>
            <a:pPr indent="0" lvl="0" marL="457200" rtl="0" algn="l">
              <a:lnSpc>
                <a:spcPct val="100000"/>
              </a:lnSpc>
              <a:spcBef>
                <a:spcPts val="1200"/>
              </a:spcBef>
              <a:spcAft>
                <a:spcPts val="1200"/>
              </a:spcAft>
              <a:buNone/>
            </a:pPr>
            <a:r>
              <a:t/>
            </a:r>
            <a:endParaRPr b="0" i="0" sz="1100" u="none" cap="none" strike="noStrike">
              <a:solidFill>
                <a:srgbClr val="000000"/>
              </a:solidFill>
              <a:latin typeface="Poppins"/>
              <a:ea typeface="Poppins"/>
              <a:cs typeface="Poppins"/>
              <a:sym typeface="Poppins"/>
            </a:endParaRPr>
          </a:p>
        </p:txBody>
      </p:sp>
      <p:sp>
        <p:nvSpPr>
          <p:cNvPr id="256" name="Google Shape;256;p38"/>
          <p:cNvSpPr/>
          <p:nvPr/>
        </p:nvSpPr>
        <p:spPr>
          <a:xfrm flipH="1">
            <a:off x="6741962" y="-964310"/>
            <a:ext cx="4612730" cy="3052788"/>
          </a:xfrm>
          <a:custGeom>
            <a:rect b="b" l="l" r="r" t="t"/>
            <a:pathLst>
              <a:path extrusionOk="0" h="6105576" w="9225459">
                <a:moveTo>
                  <a:pt x="9225459" y="0"/>
                </a:moveTo>
                <a:lnTo>
                  <a:pt x="0" y="0"/>
                </a:lnTo>
                <a:lnTo>
                  <a:pt x="0" y="6105577"/>
                </a:lnTo>
                <a:lnTo>
                  <a:pt x="9225459" y="6105577"/>
                </a:lnTo>
                <a:lnTo>
                  <a:pt x="9225459" y="0"/>
                </a:lnTo>
                <a:close/>
              </a:path>
            </a:pathLst>
          </a:custGeom>
          <a:blipFill rotWithShape="1">
            <a:blip r:embed="rId4">
              <a:alphaModFix/>
            </a:blip>
            <a:stretch>
              <a:fillRect b="0" l="0" r="0" t="0"/>
            </a:stretch>
          </a:blipFill>
          <a:ln>
            <a:noFill/>
          </a:ln>
        </p:spPr>
      </p:sp>
      <p:sp>
        <p:nvSpPr>
          <p:cNvPr id="257" name="Google Shape;257;p38"/>
          <p:cNvSpPr/>
          <p:nvPr/>
        </p:nvSpPr>
        <p:spPr>
          <a:xfrm flipH="1">
            <a:off x="-1349760" y="3523263"/>
            <a:ext cx="3108709" cy="2057400"/>
          </a:xfrm>
          <a:custGeom>
            <a:rect b="b" l="l" r="r" t="t"/>
            <a:pathLst>
              <a:path extrusionOk="0" h="4114800" w="6217418">
                <a:moveTo>
                  <a:pt x="6217418" y="0"/>
                </a:moveTo>
                <a:lnTo>
                  <a:pt x="0" y="0"/>
                </a:lnTo>
                <a:lnTo>
                  <a:pt x="0" y="4114800"/>
                </a:lnTo>
                <a:lnTo>
                  <a:pt x="6217418" y="4114800"/>
                </a:lnTo>
                <a:lnTo>
                  <a:pt x="6217418" y="0"/>
                </a:lnTo>
                <a:close/>
              </a:path>
            </a:pathLst>
          </a:custGeom>
          <a:blipFill rotWithShape="1">
            <a:blip r:embed="rId4">
              <a:alphaModFix/>
            </a:blip>
            <a:stretch>
              <a:fillRect b="0" l="0" r="0" t="0"/>
            </a:stretch>
          </a:blipFill>
          <a:ln>
            <a:noFill/>
          </a:ln>
        </p:spPr>
      </p:sp>
      <p:sp>
        <p:nvSpPr>
          <p:cNvPr id="258" name="Google Shape;258;p38"/>
          <p:cNvSpPr txBox="1"/>
          <p:nvPr/>
        </p:nvSpPr>
        <p:spPr>
          <a:xfrm>
            <a:off x="898291" y="606532"/>
            <a:ext cx="1281900" cy="2310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 sz="1500" u="none" cap="none" strike="noStrike">
                <a:solidFill>
                  <a:srgbClr val="000000"/>
                </a:solidFill>
                <a:latin typeface="Poppins"/>
                <a:ea typeface="Poppins"/>
                <a:cs typeface="Poppins"/>
                <a:sym typeface="Poppins"/>
              </a:rPr>
              <a:t>References</a:t>
            </a:r>
            <a:r>
              <a:rPr b="0" i="0" lang="en" sz="1200" u="none" cap="none" strike="noStrike">
                <a:solidFill>
                  <a:srgbClr val="000000"/>
                </a:solidFill>
                <a:latin typeface="Poppins"/>
                <a:ea typeface="Poppins"/>
                <a:cs typeface="Poppins"/>
                <a:sym typeface="Poppins"/>
              </a:rPr>
              <a:t>:</a:t>
            </a:r>
            <a:endParaRPr sz="7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