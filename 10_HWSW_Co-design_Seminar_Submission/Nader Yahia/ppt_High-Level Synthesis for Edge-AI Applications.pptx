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60" r:id="rId3"/>
    <p:sldId id="279" r:id="rId4"/>
    <p:sldId id="256" r:id="rId5"/>
    <p:sldId id="258" r:id="rId6"/>
    <p:sldId id="276" r:id="rId7"/>
    <p:sldId id="263" r:id="rId8"/>
    <p:sldId id="277" r:id="rId9"/>
    <p:sldId id="278" r:id="rId10"/>
    <p:sldId id="281" r:id="rId11"/>
    <p:sldId id="273" r:id="rId12"/>
    <p:sldId id="272" r:id="rId13"/>
    <p:sldId id="271" r:id="rId14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250A4E-CA67-4111-B302-543F83E4B5F3}">
          <p14:sldIdLst>
            <p14:sldId id="260"/>
          </p14:sldIdLst>
        </p14:section>
        <p14:section name="Step_1" id="{2CD44FC8-0DEE-4F99-B151-D201DFC3E862}">
          <p14:sldIdLst>
            <p14:sldId id="279"/>
            <p14:sldId id="256"/>
            <p14:sldId id="258"/>
            <p14:sldId id="276"/>
            <p14:sldId id="263"/>
            <p14:sldId id="277"/>
            <p14:sldId id="278"/>
            <p14:sldId id="281"/>
            <p14:sldId id="273"/>
            <p14:sldId id="272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E3E3E3"/>
    <a:srgbClr val="D9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82353" autoAdjust="0"/>
  </p:normalViewPr>
  <p:slideViewPr>
    <p:cSldViewPr snapToGrid="0" snapToObjects="1">
      <p:cViewPr varScale="1">
        <p:scale>
          <a:sx n="91" d="100"/>
          <a:sy n="91" d="100"/>
        </p:scale>
        <p:origin x="38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817F0-84FC-C145-AFC3-FA42D1D21F8E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16E92-7EF2-5A47-8774-75AC8D7375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198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FA3C8-DE25-7348-A1F7-D749F91943C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E6540-DBC8-1449-A578-CCAD6D2991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266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942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803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7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713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10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66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120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4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078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937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8001" y="1438812"/>
            <a:ext cx="7520410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8001" y="3176700"/>
            <a:ext cx="7520410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12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26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FB14-23E0-1F4C-A6C5-95691F2AB521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6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EEAD-2E33-CB41-913B-6235DD169CF5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9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645A-B693-BB43-8646-3B1C1BAD48BE}" type="datetime1">
              <a:rPr lang="de-DE" smtClean="0"/>
              <a:t>13.07.2026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13.07.2026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8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CBFB4-2031-A542-A2EF-20BD4D9E5256}" type="datetime1">
              <a:rPr lang="de-DE" smtClean="0"/>
              <a:t>13.07.2026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4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8818-9833-2C4A-8849-8268EC11202B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6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4BE1-0C38-F948-9EB8-8FC2670177F0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75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3445-959C-4840-857B-0726FC3AABF6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6519-39B1-594B-9118-53EDDEBB1F38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69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4C4A-08B8-CA46-0EF6-D7018790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CD060-1EA1-1311-5D33-C80E8D03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1788-833C-90E4-F59D-EAFFF424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D61C-3C80-4EA8-A27E-9CD1D207D77F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5698-1062-D596-6992-BB008620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5934-C7AD-F4A3-9AB0-E03FD9C8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11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0AEA-5376-0590-10F2-E8929766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1DBE-BFFF-BC1C-5E5E-A7548B64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7359-446F-80C9-F7AB-90DB5540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0078-9CCF-4C16-92D6-6E9B93F11347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9DCC-93E7-3679-1DC8-BB43B4DE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D5285-D699-DCA6-BDC7-1F1B5673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6955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9914-727C-23CE-A41A-AA8C17EC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2AF17-859B-1884-10B8-A5D83435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D882-96F7-2F4F-62B3-CF8865B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1E47-6574-4F86-BA8B-C94091E6F9D2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9AF6-37DB-A302-7418-7DD9144E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8122-48CE-DB49-13E8-654A39E7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349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BEE-6A1F-95BE-AAF2-25F1CB3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3BDE-F217-4AD6-2404-671CEBC25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3E6EB-06AA-6220-138F-FC9C3C437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816AB-B2CA-3BF7-8B0B-17E9C5F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4A53-A4D4-4376-95B1-719F0246BE79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7AD68-AE43-8F58-FB00-55564394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4057-A30C-2AC5-F4FD-94F88106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3659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9EBF-62DC-1EB5-64E9-93117D01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92348-2103-7E67-26A2-62047FEC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896E-AF3A-A885-006F-6BEEA6A42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DFA14-4D11-2BCA-E108-E99225DBA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46532-3570-60AB-3EFB-E10014582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329D2-4869-907C-4C3B-9149F5F8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4820-0881-4401-9A72-0BCBA9BEB800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DD4CE-8D97-F3BE-3571-FE153571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9C99A-A049-0377-31BD-236F4C5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3938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9658-5FE5-B518-CC8D-2E984548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6A41A-4A7F-4A5B-D63E-AA9BD3C8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4821-A5EB-4A54-BE98-35A3DF170623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B191-0CB9-9EA7-A490-0324437C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44D3-8EE9-97FB-429C-37FE4FC4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2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13B90-1915-3F00-DD2A-989B2583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D19-845C-4384-B4F0-D0D435BCA582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58BFE-13EA-79B0-3573-B104C185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031-0675-9B57-78A1-09F572A2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8741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736-8B5D-C696-95D5-CB996DCE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950C-F5D3-FCE8-0498-38257239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6F44A-B5F0-505A-DE7D-B95275F47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81B3F-7D6E-E7B9-0EF9-FEC9D9AF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1FEC-79CE-48E4-88EC-2C13E108C158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CF0BC-3359-1DC1-911C-E59A9C3A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548A-291A-E749-DC47-B969F8A8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096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7961-4CE8-91F3-1040-EE49FC1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BAED-69FB-60AB-10AE-398A88A27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6F11-BD5B-1C88-0F0D-7D60A31D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9286-2966-C3D9-6785-7190DB3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528F-0EE2-4849-BB92-A6247EFDDFA4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DBFA-6F84-350C-7020-F54AE3CC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007D-B99A-711F-B898-A1A7F92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6422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243C-BBC7-DDC7-23D1-7F0C9E69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E32E3-41C0-D9B4-A1B7-1EDACDAA5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9B9-B11A-1238-D81A-61A672B1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BCA4-4CAE-4290-9174-2B78584E53B2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0606-0902-1FAB-9C51-9F995563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B34F-165F-0B27-F90D-2F124BE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5452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90C93-26A8-1A30-719F-5432D6A1D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9A52-4173-E8E4-E8D1-F3B55373C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729C-4CC9-81CE-F907-1DCB119B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EAF5-409D-43ED-A902-770470952D56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57FE-E9B6-0094-BF07-64F63267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0672-574E-020A-B659-D1DFEFE9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638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648000"/>
            <a:ext cx="8532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8000" y="745650"/>
            <a:ext cx="7675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48000" y="2021180"/>
            <a:ext cx="7675432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Bild 6" descr="HSHL_Logo_horizontal_RGB_Sequenz_Animation.gi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000" y="223200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754D0-7FAE-A45D-4023-B24D3BAC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14D1-BCFC-5234-4EC4-84313D4D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EFB6-8CFB-9150-70AF-A80F0BCDD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EA34B-BED5-4074-9B60-8930CF6913B9}" type="datetime8">
              <a:rPr lang="en-DE" smtClean="0"/>
              <a:t>13/07/2026 19:31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69B1E-1609-392C-A752-1BB9E6EC7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0697-C8AD-7E67-0C34-DE073697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700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510.0014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white cross&#10;&#10;AI-generated content may be incorrect.">
            <a:extLst>
              <a:ext uri="{FF2B5EF4-FFF2-40B4-BE49-F238E27FC236}">
                <a16:creationId xmlns:a16="http://schemas.microsoft.com/office/drawing/2014/main" id="{0BB7B5BA-86D7-C0E5-6A11-4CEBB6B5C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39" y="1036416"/>
            <a:ext cx="2635321" cy="2283666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96EB83-6722-CE7C-988C-44614FD75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738059"/>
              </p:ext>
            </p:extLst>
          </p:nvPr>
        </p:nvGraphicFramePr>
        <p:xfrm>
          <a:off x="1523998" y="5049356"/>
          <a:ext cx="6096000" cy="8458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94356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8738267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dirty="0">
                          <a:solidFill>
                            <a:schemeClr val="bg1"/>
                          </a:solidFill>
                        </a:rPr>
                        <a:t>Name </a:t>
                      </a:r>
                      <a:endParaRPr lang="de-DE" altLang="zh-CN" sz="1400" b="1" dirty="0">
                        <a:solidFill>
                          <a:schemeClr val="bg1"/>
                        </a:solidFill>
                        <a:latin typeface="Open Sans" panose="020B0606030504020204" charset="0"/>
                        <a:ea typeface="Open Sans" panose="020B0606030504020204" charset="0"/>
                        <a:cs typeface="Open Sans" panose="020B0606030504020204" charset="0"/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sz="1400" b="1" dirty="0">
                          <a:solidFill>
                            <a:schemeClr val="bg1"/>
                          </a:solidFill>
                        </a:rPr>
                        <a:t>Nader Yahia</a:t>
                      </a:r>
                      <a:endParaRPr lang="en-DE" sz="10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3606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de-DE" altLang="zh-CN" sz="1400" b="1" dirty="0">
                          <a:solidFill>
                            <a:schemeClr val="tx1"/>
                          </a:solidFill>
                        </a:rPr>
                        <a:t>Matriculation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</a:t>
                      </a:r>
                      <a:r>
                        <a:rPr kumimoji="0" lang="en-DE" altLang="zh-CN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21002</a:t>
                      </a:r>
                      <a:r>
                        <a:rPr kumimoji="0" lang="en-US" altLang="zh-CN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7672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kumimoji="0" lang="de-DE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Supervisor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tx1"/>
                          </a:solidFill>
                        </a:rPr>
                        <a:t>Prof. Dr.</a:t>
                      </a:r>
                      <a:r>
                        <a:rPr lang="en-DE" sz="1400" b="1" dirty="0" err="1">
                          <a:solidFill>
                            <a:schemeClr val="tx1"/>
                          </a:solidFill>
                        </a:rPr>
                        <a:t>rer.nat</a:t>
                      </a:r>
                      <a:r>
                        <a:rPr lang="de-DE" sz="1400" b="1" dirty="0">
                          <a:solidFill>
                            <a:schemeClr val="tx1"/>
                          </a:solidFill>
                        </a:rPr>
                        <a:t>. Achim Rettberg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933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3EE8098-2323-3112-5497-DA1F20BDDB76}"/>
              </a:ext>
            </a:extLst>
          </p:cNvPr>
          <p:cNvSpPr txBox="1"/>
          <p:nvPr/>
        </p:nvSpPr>
        <p:spPr>
          <a:xfrm>
            <a:off x="1024125" y="3408007"/>
            <a:ext cx="70957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World"/>
                <a:ea typeface="Helvetica World"/>
                <a:cs typeface="Helvetica World"/>
                <a:sym typeface="Helvetica World"/>
              </a:rPr>
              <a:t>High-Level Synthesis for Edge-AI Applications</a:t>
            </a:r>
            <a:endParaRPr lang="en-US" sz="4000" b="1" dirty="0"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384997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C0D0-AEAB-8C89-F987-E135F611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720000"/>
            <a:ext cx="4027065" cy="684000"/>
          </a:xfrm>
        </p:spPr>
        <p:txBody>
          <a:bodyPr>
            <a:noAutofit/>
          </a:bodyPr>
          <a:lstStyle/>
          <a:p>
            <a:r>
              <a:rPr lang="en-US" i="1" dirty="0"/>
              <a:t>Introduction</a:t>
            </a:r>
            <a:endParaRPr lang="en-DE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B57A-0710-29FB-7381-25F63971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02" y="1692000"/>
            <a:ext cx="7417778" cy="685655"/>
          </a:xfrm>
        </p:spPr>
        <p:txBody>
          <a:bodyPr>
            <a:normAutofit/>
          </a:bodyPr>
          <a:lstStyle/>
          <a:p>
            <a:pPr marL="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latin typeface="+mn-lt"/>
                <a:ea typeface="+mj-ea"/>
                <a:cs typeface="+mn-cs"/>
              </a:rPr>
              <a:t>Execution of artificial intelligence models directly on edge devices (e.g., sensors, embedded systems, FPGA/SoC), close to the data source [1].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3178-3710-8B8F-C0A0-D68F8284BE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83B76-74F4-C488-DCF1-7EFF666AC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3BE6D-B6D2-88E0-E4C2-C5FA613865F9}"/>
              </a:ext>
            </a:extLst>
          </p:cNvPr>
          <p:cNvSpPr txBox="1"/>
          <p:nvPr/>
        </p:nvSpPr>
        <p:spPr>
          <a:xfrm>
            <a:off x="643208" y="4306980"/>
            <a:ext cx="5755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j-ea"/>
              </a:rPr>
              <a:t>Very low power budget. 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j-ea"/>
              </a:rPr>
              <a:t>Limited memory (on-chip bottlenecks). 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j-ea"/>
              </a:rPr>
              <a:t>Limited communication bandwidth. 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j-ea"/>
              </a:rPr>
              <a:t>Predictable real-time response requirements.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E1AF5-64CF-4AF3-C28F-F18F628B2F61}"/>
              </a:ext>
            </a:extLst>
          </p:cNvPr>
          <p:cNvSpPr txBox="1"/>
          <p:nvPr/>
        </p:nvSpPr>
        <p:spPr>
          <a:xfrm>
            <a:off x="359999" y="3957559"/>
            <a:ext cx="327936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b="1" dirty="0">
                <a:latin typeface="+mn-lt"/>
                <a:ea typeface="+mj-ea"/>
                <a:cs typeface="+mn-cs"/>
              </a:rPr>
              <a:t>What is Key edge constraints </a:t>
            </a:r>
            <a:r>
              <a:rPr lang="en-US" b="1" dirty="0">
                <a:ea typeface="+mj-ea"/>
              </a:rPr>
              <a:t>?</a:t>
            </a:r>
            <a:endParaRPr lang="en-US" sz="1800" b="1" dirty="0">
              <a:latin typeface="+mn-lt"/>
              <a:ea typeface="+mj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4C63A-8FC1-0930-5E0C-B5B0DD504D31}"/>
              </a:ext>
            </a:extLst>
          </p:cNvPr>
          <p:cNvSpPr txBox="1"/>
          <p:nvPr/>
        </p:nvSpPr>
        <p:spPr>
          <a:xfrm>
            <a:off x="359998" y="2386651"/>
            <a:ext cx="3092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Why Edge AI?</a:t>
            </a:r>
            <a:r>
              <a:rPr lang="en-DE" dirty="0"/>
              <a:t> </a:t>
            </a:r>
            <a:endParaRPr lang="en-DE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BDBB74-CB67-60B3-1A61-76B521F7B67F}"/>
              </a:ext>
            </a:extLst>
          </p:cNvPr>
          <p:cNvSpPr txBox="1"/>
          <p:nvPr/>
        </p:nvSpPr>
        <p:spPr>
          <a:xfrm>
            <a:off x="648000" y="2734815"/>
            <a:ext cx="7197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latency (real-time response required).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bandwidth usage (no continuous cloud communication).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system dependency on cloud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privacy (data stays local).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3C998-F40E-4EA4-F546-40ACD5C85E36}"/>
              </a:ext>
            </a:extLst>
          </p:cNvPr>
          <p:cNvSpPr txBox="1"/>
          <p:nvPr/>
        </p:nvSpPr>
        <p:spPr>
          <a:xfrm>
            <a:off x="360000" y="1332000"/>
            <a:ext cx="1852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Edge AI?</a:t>
            </a:r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9E437-CCBC-E671-DBA2-C16018798CCE}"/>
              </a:ext>
            </a:extLst>
          </p:cNvPr>
          <p:cNvSpPr txBox="1"/>
          <p:nvPr/>
        </p:nvSpPr>
        <p:spPr>
          <a:xfrm>
            <a:off x="227954" y="5587343"/>
            <a:ext cx="8318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FPGAs represent a well-suited platform due to their balance of performance, energy efficiency, and reconfigurability [2].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1692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070FE-F5FB-AA7B-95E6-3377C2DFA3A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9999" y="708057"/>
            <a:ext cx="5481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/>
              <a:t>Motivation For HLS</a:t>
            </a:r>
            <a:endParaRPr lang="en-DE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96476E-314F-2C9A-610B-8735FD24B30A}"/>
              </a:ext>
            </a:extLst>
          </p:cNvPr>
          <p:cNvSpPr txBox="1"/>
          <p:nvPr/>
        </p:nvSpPr>
        <p:spPr>
          <a:xfrm>
            <a:off x="360000" y="1620000"/>
            <a:ext cx="7613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RTL Design Complexity: </a:t>
            </a:r>
            <a:r>
              <a:rPr lang="de-DE" dirty="0"/>
              <a:t>Manual RTL design is time-</a:t>
            </a:r>
            <a:r>
              <a:rPr lang="de-DE" dirty="0" err="1"/>
              <a:t>consuming</a:t>
            </a:r>
            <a:r>
              <a:rPr lang="de-DE" dirty="0"/>
              <a:t> and requires high expertise.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EB198-E277-CC68-80E4-2810A61B2105}"/>
              </a:ext>
            </a:extLst>
          </p:cNvPr>
          <p:cNvSpPr txBox="1"/>
          <p:nvPr/>
        </p:nvSpPr>
        <p:spPr>
          <a:xfrm>
            <a:off x="360000" y="2403005"/>
            <a:ext cx="7368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Low Design Productivity: </a:t>
            </a:r>
            <a:r>
              <a:rPr lang="de-DE" dirty="0"/>
              <a:t>Long development cycles limit fast prototyping and iteration.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C70B34-20EA-B409-CB27-DEE9DBD424C7}"/>
              </a:ext>
            </a:extLst>
          </p:cNvPr>
          <p:cNvSpPr txBox="1"/>
          <p:nvPr/>
        </p:nvSpPr>
        <p:spPr>
          <a:xfrm>
            <a:off x="359999" y="3187991"/>
            <a:ext cx="7865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Need for Design Space Exploration: </a:t>
            </a:r>
            <a:r>
              <a:rPr lang="de-DE" dirty="0"/>
              <a:t>Rapid evaluation of optimizations (PIPELINE, UNROLL, PARTITION)</a:t>
            </a:r>
            <a:r>
              <a:rPr lang="en-DE" dirty="0"/>
              <a:t>.</a:t>
            </a:r>
            <a:endParaRPr lang="de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840FAF-9BD3-638E-ABB2-2A80F8C1A270}"/>
              </a:ext>
            </a:extLst>
          </p:cNvPr>
          <p:cNvSpPr txBox="1"/>
          <p:nvPr/>
        </p:nvSpPr>
        <p:spPr>
          <a:xfrm>
            <a:off x="360001" y="4860917"/>
            <a:ext cx="7613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Faster Time-to-Deployment: </a:t>
            </a:r>
            <a:r>
              <a:rPr lang="en-US" dirty="0"/>
              <a:t>HLS accelerates prototyping and iteration for Edge AI applications.</a:t>
            </a:r>
            <a:endParaRPr lang="en-D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59350-7991-B016-2A2F-78EE6D332943}"/>
              </a:ext>
            </a:extLst>
          </p:cNvPr>
          <p:cNvSpPr txBox="1"/>
          <p:nvPr/>
        </p:nvSpPr>
        <p:spPr>
          <a:xfrm>
            <a:off x="359998" y="4024454"/>
            <a:ext cx="7865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Bridging Software–Hardware Gap: </a:t>
            </a:r>
            <a:r>
              <a:rPr lang="de-DE" dirty="0"/>
              <a:t>HLS </a:t>
            </a:r>
            <a:r>
              <a:rPr lang="de-DE" dirty="0" err="1"/>
              <a:t>bridges</a:t>
            </a:r>
            <a:r>
              <a:rPr lang="de-DE" dirty="0"/>
              <a:t> C/C++ </a:t>
            </a:r>
            <a:r>
              <a:rPr lang="de-DE" dirty="0" err="1"/>
              <a:t>algorithm</a:t>
            </a:r>
            <a:r>
              <a:rPr lang="de-DE" dirty="0"/>
              <a:t> design with FPGA RTL implementation.</a:t>
            </a:r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A0B020-5C3B-2499-D061-7510F2E91DDF}"/>
              </a:ext>
            </a:extLst>
          </p:cNvPr>
          <p:cNvSpPr txBox="1"/>
          <p:nvPr/>
        </p:nvSpPr>
        <p:spPr>
          <a:xfrm>
            <a:off x="8100000" y="5940000"/>
            <a:ext cx="50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[3]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9412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B6727F-A29C-678A-47E0-0D7FE46D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19999"/>
            <a:ext cx="6900336" cy="684000"/>
          </a:xfrm>
        </p:spPr>
        <p:txBody>
          <a:bodyPr>
            <a:noAutofit/>
          </a:bodyPr>
          <a:lstStyle/>
          <a:p>
            <a:r>
              <a:rPr lang="en-US" i="1" dirty="0"/>
              <a:t>Model-to-Deployment Pipeline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0E17-961A-C295-699A-004C2323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</p:spPr>
        <p:txBody>
          <a:bodyPr/>
          <a:lstStyle/>
          <a:p>
            <a:fld id="{C916D949-773C-3845-BFBA-C7D9987445EE}" type="datetime1">
              <a:rPr lang="de-DE" smtClean="0"/>
              <a:pPr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5034-C8F6-54ED-9490-7006CA9DE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</p:spPr>
        <p:txBody>
          <a:bodyPr/>
          <a:lstStyle/>
          <a:p>
            <a:fld id="{E7BE1CCD-89A0-CC45-BF3E-2A331A7F049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D9C33-06F1-742B-6217-990646FC3AB3}"/>
              </a:ext>
            </a:extLst>
          </p:cNvPr>
          <p:cNvSpPr txBox="1"/>
          <p:nvPr/>
        </p:nvSpPr>
        <p:spPr>
          <a:xfrm>
            <a:off x="360000" y="1620000"/>
            <a:ext cx="37724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de-DE" b="1" dirty="0">
                <a:ea typeface="+mj-ea"/>
              </a:rPr>
              <a:t>Stage 1: </a:t>
            </a:r>
            <a:r>
              <a:rPr lang="de-DE" dirty="0">
                <a:ea typeface="+mj-ea"/>
              </a:rPr>
              <a:t>AI Model trained and exported (ONNX, quantized).</a:t>
            </a:r>
          </a:p>
          <a:p>
            <a:pPr defTabSz="914400">
              <a:defRPr/>
            </a:pPr>
            <a:endParaRPr lang="de-DE" dirty="0">
              <a:ea typeface="+mj-ea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de-DE" b="1" dirty="0">
                <a:ea typeface="+mj-ea"/>
              </a:rPr>
              <a:t>Stage 2: </a:t>
            </a:r>
            <a:r>
              <a:rPr lang="de-DE" dirty="0">
                <a:ea typeface="+mj-ea"/>
              </a:rPr>
              <a:t>C/C++ fixed-point model with optimizations.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endParaRPr lang="de-DE" dirty="0">
              <a:ea typeface="+mj-ea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de-DE" b="1" dirty="0">
                <a:ea typeface="+mj-ea"/>
              </a:rPr>
              <a:t>Stage 3: </a:t>
            </a:r>
            <a:r>
              <a:rPr lang="de-DE" dirty="0">
                <a:ea typeface="+mj-ea"/>
              </a:rPr>
              <a:t>HLS converts C/C++ → RTL with scheduling &amp; synthesis. </a:t>
            </a:r>
          </a:p>
          <a:p>
            <a:pPr defTabSz="914400">
              <a:defRPr/>
            </a:pPr>
            <a:endParaRPr lang="de-DE" dirty="0">
              <a:ea typeface="+mj-ea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de-DE" b="1" dirty="0">
                <a:ea typeface="+mj-ea"/>
              </a:rPr>
              <a:t>Stage 4: </a:t>
            </a:r>
            <a:r>
              <a:rPr lang="de-DE" dirty="0">
                <a:ea typeface="+mj-ea"/>
              </a:rPr>
              <a:t>RTL implementation (place &amp; route, timing closure). </a:t>
            </a:r>
          </a:p>
          <a:p>
            <a:pPr defTabSz="914400">
              <a:defRPr/>
            </a:pPr>
            <a:endParaRPr lang="de-DE" dirty="0">
              <a:ea typeface="+mj-ea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de-DE" b="1" dirty="0">
                <a:ea typeface="+mj-ea"/>
              </a:rPr>
              <a:t>Stage 5: </a:t>
            </a:r>
            <a:r>
              <a:rPr lang="en-US" dirty="0">
                <a:ea typeface="+mj-ea"/>
              </a:rPr>
              <a:t>FPGA-based accelerator executes AI inference.</a:t>
            </a:r>
            <a:endParaRPr lang="de-DE" dirty="0">
              <a:ea typeface="+mj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E80739-D7C7-5E03-AA09-B2F910D3E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02" t="13857" r="28113" b="15371"/>
          <a:stretch/>
        </p:blipFill>
        <p:spPr>
          <a:xfrm>
            <a:off x="4271750" y="1731290"/>
            <a:ext cx="4119352" cy="37217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E1487D-D75C-EE74-5397-9758A44EB597}"/>
              </a:ext>
            </a:extLst>
          </p:cNvPr>
          <p:cNvSpPr txBox="1"/>
          <p:nvPr/>
        </p:nvSpPr>
        <p:spPr>
          <a:xfrm>
            <a:off x="4890504" y="5511350"/>
            <a:ext cx="3327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Fig.1 : Model-to-Deployment Pipeline</a:t>
            </a:r>
            <a:endParaRPr lang="en-DE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4F27F-0937-010F-3C15-B10D993019F4}"/>
              </a:ext>
            </a:extLst>
          </p:cNvPr>
          <p:cNvSpPr txBox="1"/>
          <p:nvPr/>
        </p:nvSpPr>
        <p:spPr>
          <a:xfrm>
            <a:off x="7776000" y="5940000"/>
            <a:ext cx="814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dirty="0"/>
              <a:t>[1]</a:t>
            </a:r>
            <a:r>
              <a:rPr lang="de-DE" dirty="0"/>
              <a:t>,</a:t>
            </a:r>
            <a:r>
              <a:rPr lang="en-DE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76948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AF96-A848-CD8D-9187-A4AC675B84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D9973-C521-0335-D9CE-EA95C6639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E5905-08EE-E946-D9C5-7506CEC1D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748" y="720000"/>
            <a:ext cx="1666726" cy="53658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CC585A-E64E-52F4-B567-31463232506A}"/>
              </a:ext>
            </a:extLst>
          </p:cNvPr>
          <p:cNvSpPr txBox="1"/>
          <p:nvPr/>
        </p:nvSpPr>
        <p:spPr>
          <a:xfrm>
            <a:off x="360000" y="1440000"/>
            <a:ext cx="313887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Code </a:t>
            </a:r>
            <a:r>
              <a:rPr lang="de-DE" b="1" dirty="0" err="1"/>
              <a:t>Parsing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5F6B0-1335-97CA-9DCE-190C768D4890}"/>
              </a:ext>
            </a:extLst>
          </p:cNvPr>
          <p:cNvSpPr txBox="1"/>
          <p:nvPr/>
        </p:nvSpPr>
        <p:spPr>
          <a:xfrm>
            <a:off x="360000" y="3361330"/>
            <a:ext cx="14884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3. Scheduling</a:t>
            </a:r>
            <a:endParaRPr lang="en-DE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F8A78-242C-9E54-4039-69C806435A50}"/>
              </a:ext>
            </a:extLst>
          </p:cNvPr>
          <p:cNvSpPr txBox="1"/>
          <p:nvPr/>
        </p:nvSpPr>
        <p:spPr>
          <a:xfrm>
            <a:off x="900000" y="17972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C/C++ → Abstract Syntax Tree (AST).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AA1EE-9C06-8401-EADE-907AB4590D7A}"/>
              </a:ext>
            </a:extLst>
          </p:cNvPr>
          <p:cNvSpPr txBox="1"/>
          <p:nvPr/>
        </p:nvSpPr>
        <p:spPr>
          <a:xfrm>
            <a:off x="360000" y="2163095"/>
            <a:ext cx="318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2. CFG/DFG Graph Construction</a:t>
            </a:r>
            <a:endParaRPr lang="en-DE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862AF9-86C5-1B88-B851-7A2B9030DBCF}"/>
              </a:ext>
            </a:extLst>
          </p:cNvPr>
          <p:cNvSpPr txBox="1"/>
          <p:nvPr/>
        </p:nvSpPr>
        <p:spPr>
          <a:xfrm>
            <a:off x="934085" y="2647317"/>
            <a:ext cx="5267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CFG: describes execution control (loops, branches)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DFG: describes computation dependencies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12B27B-69BC-BE13-06F0-40CBD6843BD4}"/>
              </a:ext>
            </a:extLst>
          </p:cNvPr>
          <p:cNvSpPr txBox="1"/>
          <p:nvPr/>
        </p:nvSpPr>
        <p:spPr>
          <a:xfrm>
            <a:off x="934085" y="37900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DFG → Scheduled DFG.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Assigns each operation to a clock cycle.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A7CEA6-AE6E-2CCE-1BDE-2D8B39C45F69}"/>
              </a:ext>
            </a:extLst>
          </p:cNvPr>
          <p:cNvSpPr txBox="1"/>
          <p:nvPr/>
        </p:nvSpPr>
        <p:spPr>
          <a:xfrm>
            <a:off x="360000" y="4436365"/>
            <a:ext cx="57114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Resource Allocation + Binding (Hardware Mapping)</a:t>
            </a:r>
            <a:endParaRPr lang="en-DE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CE3BF-9A6D-9BF6-1DA4-E2C1132EBBEF}"/>
              </a:ext>
            </a:extLst>
          </p:cNvPr>
          <p:cNvSpPr txBox="1"/>
          <p:nvPr/>
        </p:nvSpPr>
        <p:spPr>
          <a:xfrm>
            <a:off x="924273" y="4864047"/>
            <a:ext cx="54643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Scheduled DFG → Hardware Mapping.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Allocation: number of DSPs, ALUs, memory 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Binding: Assign operations → specific hardware units.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4339D-8229-138C-49D6-1335C0516F84}"/>
              </a:ext>
            </a:extLst>
          </p:cNvPr>
          <p:cNvSpPr txBox="1"/>
          <p:nvPr/>
        </p:nvSpPr>
        <p:spPr>
          <a:xfrm>
            <a:off x="6370756" y="6056196"/>
            <a:ext cx="2265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/>
              <a:t>Fig.2: HLS Compilation Flow</a:t>
            </a:r>
            <a:endParaRPr lang="en-DE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5C552-46AE-7BB4-F3E6-E17B26A29ABA}"/>
              </a:ext>
            </a:extLst>
          </p:cNvPr>
          <p:cNvSpPr txBox="1"/>
          <p:nvPr/>
        </p:nvSpPr>
        <p:spPr>
          <a:xfrm>
            <a:off x="360000" y="720000"/>
            <a:ext cx="5267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j-ea"/>
              </a:rPr>
              <a:t>HLS Compilation Flow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7335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67E7-6A4C-16FD-8C05-E76F8484CA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92F5F-70C6-F2A9-67B5-D6B5C7E0E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5CD321-007E-D371-8A7B-D319478FAB3B}"/>
              </a:ext>
            </a:extLst>
          </p:cNvPr>
          <p:cNvSpPr txBox="1"/>
          <p:nvPr/>
        </p:nvSpPr>
        <p:spPr>
          <a:xfrm>
            <a:off x="360000" y="1440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5. Loop Optimizations (Parallelism Extraction)</a:t>
            </a:r>
            <a:endParaRPr lang="en-DE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762AEA-FFCD-6DB6-1645-419238134E74}"/>
              </a:ext>
            </a:extLst>
          </p:cNvPr>
          <p:cNvSpPr txBox="1"/>
          <p:nvPr/>
        </p:nvSpPr>
        <p:spPr>
          <a:xfrm>
            <a:off x="1114425" y="1839344"/>
            <a:ext cx="5283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II = initiation interval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Pipelining: overlap loop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Unrolling: replicate loop body → spatial parallelism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Dataflow: pipeline entire system into stages</a:t>
            </a:r>
            <a:endParaRPr lang="en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0CA4C-A360-01B3-FA0E-D688070FDD0F}"/>
              </a:ext>
            </a:extLst>
          </p:cNvPr>
          <p:cNvSpPr txBox="1"/>
          <p:nvPr/>
        </p:nvSpPr>
        <p:spPr>
          <a:xfrm>
            <a:off x="360000" y="4104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RTL Generation (Final Hardware)</a:t>
            </a:r>
            <a:endParaRPr lang="en-DE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365B2D-E513-FAC2-EC46-179FB24DF844}"/>
              </a:ext>
            </a:extLst>
          </p:cNvPr>
          <p:cNvSpPr txBox="1"/>
          <p:nvPr/>
        </p:nvSpPr>
        <p:spPr>
          <a:xfrm>
            <a:off x="1114425" y="447333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Mapped Graph → RTL (Verilog/VHDL)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Datapath: DSPs, registers, multiplexers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Control: FSM derived from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Memory: BRAM / DRAM interface logic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6E7CA-01A5-553D-A83E-60E1D652813E}"/>
              </a:ext>
            </a:extLst>
          </p:cNvPr>
          <p:cNvSpPr txBox="1"/>
          <p:nvPr/>
        </p:nvSpPr>
        <p:spPr>
          <a:xfrm>
            <a:off x="5950787" y="5743018"/>
            <a:ext cx="4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[3]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52325-161D-6B78-B51C-03C6AE33106F}"/>
              </a:ext>
            </a:extLst>
          </p:cNvPr>
          <p:cNvSpPr txBox="1"/>
          <p:nvPr/>
        </p:nvSpPr>
        <p:spPr>
          <a:xfrm>
            <a:off x="648000" y="3594352"/>
            <a:ext cx="5586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Latency ↔ Throughput ↔ Area (DSP/LUT/BRAM usage).</a:t>
            </a:r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2B518-47CE-DBA8-A625-44F4DDDF7779}"/>
              </a:ext>
            </a:extLst>
          </p:cNvPr>
          <p:cNvSpPr txBox="1"/>
          <p:nvPr/>
        </p:nvSpPr>
        <p:spPr>
          <a:xfrm>
            <a:off x="608805" y="3144175"/>
            <a:ext cx="1254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Trade-offs </a:t>
            </a:r>
            <a:endParaRPr lang="en-DE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C714AD-DCB0-C0A9-716F-17162955E372}"/>
              </a:ext>
            </a:extLst>
          </p:cNvPr>
          <p:cNvSpPr txBox="1"/>
          <p:nvPr/>
        </p:nvSpPr>
        <p:spPr>
          <a:xfrm>
            <a:off x="608805" y="5743018"/>
            <a:ext cx="6234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Behavioral model → fully synthesizable FPGA architecture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B3AC17-CD75-50DD-778A-AEAD8BB1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748" y="720000"/>
            <a:ext cx="1666726" cy="5365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BC3C69-4558-1223-3BEE-E36278F5C857}"/>
              </a:ext>
            </a:extLst>
          </p:cNvPr>
          <p:cNvSpPr txBox="1"/>
          <p:nvPr/>
        </p:nvSpPr>
        <p:spPr>
          <a:xfrm>
            <a:off x="6370756" y="6056196"/>
            <a:ext cx="2265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/>
              <a:t>Fig.2: HLS Compilation Flow</a:t>
            </a:r>
            <a:endParaRPr lang="en-DE" sz="14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50FD3-DE2D-E011-4623-650E59B4965E}"/>
              </a:ext>
            </a:extLst>
          </p:cNvPr>
          <p:cNvSpPr txBox="1"/>
          <p:nvPr/>
        </p:nvSpPr>
        <p:spPr>
          <a:xfrm>
            <a:off x="360000" y="720000"/>
            <a:ext cx="52839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j-ea"/>
              </a:rPr>
              <a:t>HLS Compilation Flow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5190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7085829" cy="684000"/>
          </a:xfrm>
        </p:spPr>
        <p:txBody>
          <a:bodyPr>
            <a:noAutofit/>
          </a:bodyPr>
          <a:lstStyle/>
          <a:p>
            <a:r>
              <a:rPr lang="en-US" i="1" dirty="0">
                <a:solidFill>
                  <a:prstClr val="black"/>
                </a:solidFill>
              </a:rPr>
              <a:t>Implementation Methodology</a:t>
            </a:r>
            <a:endParaRPr lang="en-DE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B5121-A8BD-C488-15AF-E89D110A727A}"/>
              </a:ext>
            </a:extLst>
          </p:cNvPr>
          <p:cNvSpPr txBox="1"/>
          <p:nvPr/>
        </p:nvSpPr>
        <p:spPr>
          <a:xfrm>
            <a:off x="360000" y="1440000"/>
            <a:ext cx="1107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Objective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6B406-05CA-DD56-3F14-073F1FDF3208}"/>
              </a:ext>
            </a:extLst>
          </p:cNvPr>
          <p:cNvSpPr txBox="1"/>
          <p:nvPr/>
        </p:nvSpPr>
        <p:spPr>
          <a:xfrm>
            <a:off x="360000" y="1864328"/>
            <a:ext cx="499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Accelerate a CNN 2D convolution kernel using HLS.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7644C5-9C2E-2DC6-8A74-5C58096ECBBE}"/>
              </a:ext>
            </a:extLst>
          </p:cNvPr>
          <p:cNvSpPr txBox="1"/>
          <p:nvPr/>
        </p:nvSpPr>
        <p:spPr>
          <a:xfrm>
            <a:off x="360000" y="2294027"/>
            <a:ext cx="1982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Optimization Flow</a:t>
            </a:r>
            <a:endParaRPr lang="en-DE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5306D2-457D-E5BC-9323-1DAED4C1F59D}"/>
              </a:ext>
            </a:extLst>
          </p:cNvPr>
          <p:cNvSpPr>
            <a:spLocks/>
          </p:cNvSpPr>
          <p:nvPr/>
        </p:nvSpPr>
        <p:spPr>
          <a:xfrm>
            <a:off x="1374270" y="3023232"/>
            <a:ext cx="1504950" cy="5478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Baseline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41DA47-9BD3-F864-07F6-E47F69752EF7}"/>
              </a:ext>
            </a:extLst>
          </p:cNvPr>
          <p:cNvSpPr/>
          <p:nvPr/>
        </p:nvSpPr>
        <p:spPr>
          <a:xfrm>
            <a:off x="5451266" y="3023232"/>
            <a:ext cx="1504950" cy="5478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Unroll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F17DE9-2142-241F-061C-EF08B6F86FD4}"/>
              </a:ext>
            </a:extLst>
          </p:cNvPr>
          <p:cNvSpPr/>
          <p:nvPr/>
        </p:nvSpPr>
        <p:spPr>
          <a:xfrm>
            <a:off x="3412768" y="3023232"/>
            <a:ext cx="1504950" cy="5478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Pipeline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5201029-EE8B-8B5F-7DCC-0ED1B478FB4C}"/>
              </a:ext>
            </a:extLst>
          </p:cNvPr>
          <p:cNvSpPr/>
          <p:nvPr/>
        </p:nvSpPr>
        <p:spPr>
          <a:xfrm>
            <a:off x="2879221" y="3160201"/>
            <a:ext cx="525338" cy="27393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C96E22D-6B68-CACC-24B2-1BAD8BC5947F}"/>
              </a:ext>
            </a:extLst>
          </p:cNvPr>
          <p:cNvSpPr/>
          <p:nvPr/>
        </p:nvSpPr>
        <p:spPr>
          <a:xfrm>
            <a:off x="4917718" y="3160201"/>
            <a:ext cx="525338" cy="27393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FD08A5-7D8C-74A0-FB96-B8869BD9B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52700"/>
              </p:ext>
            </p:extLst>
          </p:nvPr>
        </p:nvGraphicFramePr>
        <p:xfrm>
          <a:off x="1272223" y="3877259"/>
          <a:ext cx="5804438" cy="230203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94695">
                  <a:extLst>
                    <a:ext uri="{9D8B030D-6E8A-4147-A177-3AD203B41FA5}">
                      <a16:colId xmlns:a16="http://schemas.microsoft.com/office/drawing/2014/main" val="1457101252"/>
                    </a:ext>
                  </a:extLst>
                </a:gridCol>
                <a:gridCol w="2909743">
                  <a:extLst>
                    <a:ext uri="{9D8B030D-6E8A-4147-A177-3AD203B41FA5}">
                      <a16:colId xmlns:a16="http://schemas.microsoft.com/office/drawing/2014/main" val="825317487"/>
                    </a:ext>
                  </a:extLst>
                </a:gridCol>
              </a:tblGrid>
              <a:tr h="272396"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/>
                        <a:t>Development Environment</a:t>
                      </a:r>
                      <a:endParaRPr lang="de-DE" sz="1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/>
                        <a:t>Evaluation Metrics</a:t>
                      </a:r>
                      <a:endParaRPr lang="de-DE" sz="1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113311"/>
                  </a:ext>
                </a:extLst>
              </a:tr>
              <a:tr h="331262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Artix-7 (xc7a100t-csg324-1)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Clock period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484521"/>
                  </a:ext>
                </a:extLst>
              </a:tr>
              <a:tr h="331262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Vitis HLS 2022.2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678283"/>
                  </a:ext>
                </a:extLst>
              </a:tr>
              <a:tr h="331262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C/C++ HLS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DSP utilization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614681"/>
                  </a:ext>
                </a:extLst>
              </a:tr>
              <a:tr h="33126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 MHz (10 ns constraint)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LUT utilization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25499"/>
                  </a:ext>
                </a:extLst>
              </a:tr>
              <a:tr h="47323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Vivado</a:t>
                      </a:r>
                      <a:r>
                        <a:rPr lang="de-DE" dirty="0"/>
                        <a:t> IP Flow Target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FF utilization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988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727-9B0C-C4BD-E9E7-296C9A0FE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3D7D-33E5-A9C6-A049-1AC0A9A9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C4DEB-9E43-2B65-C4CB-046D8E789F7C}"/>
              </a:ext>
            </a:extLst>
          </p:cNvPr>
          <p:cNvSpPr txBox="1">
            <a:spLocks/>
          </p:cNvSpPr>
          <p:nvPr/>
        </p:nvSpPr>
        <p:spPr>
          <a:xfrm>
            <a:off x="359999" y="720000"/>
            <a:ext cx="2001363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en-US" i="1" dirty="0">
                <a:solidFill>
                  <a:prstClr val="black"/>
                </a:solidFill>
              </a:rPr>
              <a:t>Results</a:t>
            </a:r>
            <a:endParaRPr lang="en-DE" i="1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85932-3FA4-9456-8FE2-DFFD20ABD9C4}"/>
              </a:ext>
            </a:extLst>
          </p:cNvPr>
          <p:cNvSpPr txBox="1"/>
          <p:nvPr/>
        </p:nvSpPr>
        <p:spPr>
          <a:xfrm>
            <a:off x="360000" y="1440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Performance Comparison</a:t>
            </a:r>
            <a:endParaRPr lang="en-DE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2A68E-5ECB-A7CC-1CB8-EE52A7926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142991"/>
              </p:ext>
            </p:extLst>
          </p:nvPr>
        </p:nvGraphicFramePr>
        <p:xfrm>
          <a:off x="1171575" y="1999490"/>
          <a:ext cx="60579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80245087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52985754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56544489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9764575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Metric</a:t>
                      </a:r>
                    </a:p>
                  </a:txBody>
                  <a:tcPr anchor="ctr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Baseline</a:t>
                      </a:r>
                    </a:p>
                  </a:txBody>
                  <a:tcPr anchor="ctr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PIPELINE</a:t>
                      </a:r>
                    </a:p>
                  </a:txBody>
                  <a:tcPr anchor="ctr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UNROLL</a:t>
                      </a:r>
                    </a:p>
                  </a:txBody>
                  <a:tcPr anchor="ctr"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948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Clock (ns)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7.11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7.29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dirty="0"/>
                        <a:t>6.90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384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Latency (ms)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22.176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10.368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dirty="0"/>
                        <a:t>3.600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153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DSP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dirty="0"/>
                        <a:t>36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1345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LUT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7705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dirty="0"/>
                        <a:t>6466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0099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dirty="0"/>
                        <a:t>3123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dirty="0"/>
                        <a:t>5691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028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AC6BD4-E65E-CE58-915C-CAADCD0F987B}"/>
              </a:ext>
            </a:extLst>
          </p:cNvPr>
          <p:cNvSpPr txBox="1"/>
          <p:nvPr/>
        </p:nvSpPr>
        <p:spPr>
          <a:xfrm>
            <a:off x="358259" y="4374293"/>
            <a:ext cx="1885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Key observations</a:t>
            </a:r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55685-85E6-F1A1-A679-48030BD972CD}"/>
              </a:ext>
            </a:extLst>
          </p:cNvPr>
          <p:cNvSpPr txBox="1"/>
          <p:nvPr/>
        </p:nvSpPr>
        <p:spPr>
          <a:xfrm>
            <a:off x="1066800" y="4817835"/>
            <a:ext cx="72021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 reduced latency by approximately 53%.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UNROLL reduced latency by approximately 84%.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optimizations increased hardware resource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UNROLL achieved the best performance-resource balance in this study.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616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727-9B0C-C4BD-E9E7-296C9A0FE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3D7D-33E5-A9C6-A049-1AC0A9A9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C4DEB-9E43-2B65-C4CB-046D8E789F7C}"/>
              </a:ext>
            </a:extLst>
          </p:cNvPr>
          <p:cNvSpPr txBox="1">
            <a:spLocks/>
          </p:cNvSpPr>
          <p:nvPr/>
        </p:nvSpPr>
        <p:spPr>
          <a:xfrm>
            <a:off x="360008" y="720000"/>
            <a:ext cx="2554014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en-US" i="1" dirty="0">
                <a:solidFill>
                  <a:prstClr val="black"/>
                </a:solidFill>
              </a:rPr>
              <a:t>Discussion</a:t>
            </a:r>
            <a:endParaRPr lang="en-DE" i="1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983AD-9407-A905-DB72-BD2E4234C34B}"/>
              </a:ext>
            </a:extLst>
          </p:cNvPr>
          <p:cNvSpPr txBox="1"/>
          <p:nvPr/>
        </p:nvSpPr>
        <p:spPr>
          <a:xfrm>
            <a:off x="359999" y="1440000"/>
            <a:ext cx="3179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457200" rtl="0" eaLnBrk="1" latinLnBrk="0" hangingPunct="1"/>
            <a:r>
              <a:rPr lang="de-DE" sz="1800" b="1" kern="1200" dirty="0">
                <a:solidFill>
                  <a:schemeClr val="tx1"/>
                </a:solidFill>
              </a:rPr>
              <a:t>Baseline Model (Sequential)</a:t>
            </a:r>
            <a:endParaRPr lang="de-DE" sz="18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4ADDB-D9FA-79E3-B7E5-26FB94284E57}"/>
              </a:ext>
            </a:extLst>
          </p:cNvPr>
          <p:cNvSpPr txBox="1"/>
          <p:nvPr/>
        </p:nvSpPr>
        <p:spPr>
          <a:xfrm>
            <a:off x="660211" y="1795589"/>
            <a:ext cx="4638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Each MAC is executed one after another</a:t>
            </a:r>
            <a:r>
              <a:rPr lang="en-DE" sz="1800" kern="1200" dirty="0">
                <a:solidFill>
                  <a:schemeClr val="tx1"/>
                </a:solidFill>
              </a:rPr>
              <a:t>.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one shared multiplier and adder used.</a:t>
            </a: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  <a:ea typeface="+mn-ea"/>
                <a:cs typeface="+mn-cs"/>
              </a:rPr>
              <a:t>Highest latency and least resources</a:t>
            </a:r>
            <a:r>
              <a:rPr lang="de-DE" dirty="0"/>
              <a:t> utilized</a:t>
            </a:r>
            <a:endParaRPr lang="de-DE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CA1BCD-98DD-768C-B19F-AD06289C58FF}"/>
              </a:ext>
            </a:extLst>
          </p:cNvPr>
          <p:cNvSpPr txBox="1"/>
          <p:nvPr/>
        </p:nvSpPr>
        <p:spPr>
          <a:xfrm>
            <a:off x="359999" y="2756200"/>
            <a:ext cx="166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457200" rtl="0" eaLnBrk="1" latinLnBrk="0" hangingPunct="1"/>
            <a:r>
              <a:rPr lang="de-DE" sz="1800" b="1" kern="1200" dirty="0">
                <a:solidFill>
                  <a:schemeClr val="tx1"/>
                </a:solidFill>
              </a:rPr>
              <a:t>Pipeline Model</a:t>
            </a:r>
            <a:endParaRPr lang="de-DE" sz="18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272B1-2A3D-EFE5-9E19-11B00FABCC49}"/>
              </a:ext>
            </a:extLst>
          </p:cNvPr>
          <p:cNvSpPr txBox="1"/>
          <p:nvPr/>
        </p:nvSpPr>
        <p:spPr>
          <a:xfrm>
            <a:off x="632697" y="3151332"/>
            <a:ext cx="4371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Next MAC starts before previous finishes.</a:t>
            </a: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Operations are overlapped in time.</a:t>
            </a: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Latency: 22.17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10.36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(↓ ~53%)</a:t>
            </a: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DSP: 1 → 144 (↑)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7657AB-6ADD-2C2B-A6DF-6AAE65F16F2D}"/>
              </a:ext>
            </a:extLst>
          </p:cNvPr>
          <p:cNvSpPr txBox="1"/>
          <p:nvPr/>
        </p:nvSpPr>
        <p:spPr>
          <a:xfrm>
            <a:off x="359998" y="4377461"/>
            <a:ext cx="166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457200" rtl="0" eaLnBrk="1" latinLnBrk="0" hangingPunct="1"/>
            <a:r>
              <a:rPr lang="de-DE" sz="1800" b="1" kern="1200" dirty="0">
                <a:solidFill>
                  <a:schemeClr val="tx1"/>
                </a:solidFill>
              </a:rPr>
              <a:t>Unroll Model</a:t>
            </a:r>
            <a:endParaRPr lang="de-DE" sz="18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A5A1FB-471E-9F2A-0911-E495E574CE5D}"/>
              </a:ext>
            </a:extLst>
          </p:cNvPr>
          <p:cNvSpPr txBox="1"/>
          <p:nvPr/>
        </p:nvSpPr>
        <p:spPr>
          <a:xfrm>
            <a:off x="632697" y="4782793"/>
            <a:ext cx="48546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All MAC operations inside loop run in parallel</a:t>
            </a:r>
            <a:r>
              <a:rPr lang="en-DE" sz="1800" kern="1200" dirty="0">
                <a:solidFill>
                  <a:schemeClr val="tx1"/>
                </a:solidFill>
              </a:rPr>
              <a:t>.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</a:rPr>
              <a:t>Multiple multipliers (DSPs) are instantiated</a:t>
            </a:r>
            <a:r>
              <a:rPr lang="en-DE" sz="1800" kern="1200" dirty="0">
                <a:solidFill>
                  <a:schemeClr val="tx1"/>
                </a:solidFill>
              </a:rPr>
              <a:t>.</a:t>
            </a:r>
            <a:endParaRPr lang="de-DE" sz="1800" kern="1200" dirty="0">
              <a:solidFill>
                <a:schemeClr val="tx1"/>
              </a:solidFill>
            </a:endParaRP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dirty="0"/>
              <a:t>Latency: 22.17 </a:t>
            </a:r>
            <a:r>
              <a:rPr lang="en-US" dirty="0" err="1"/>
              <a:t>ms</a:t>
            </a:r>
            <a:r>
              <a:rPr lang="en-US" dirty="0"/>
              <a:t> → 3.60 </a:t>
            </a:r>
            <a:r>
              <a:rPr lang="en-US" dirty="0" err="1"/>
              <a:t>ms</a:t>
            </a:r>
            <a:r>
              <a:rPr lang="en-US" dirty="0"/>
              <a:t> (↓ ~84%)</a:t>
            </a: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r>
              <a:rPr lang="de-DE" dirty="0"/>
              <a:t>DSP: 1 → 35 (↑)</a:t>
            </a:r>
            <a:endParaRPr lang="de-DE" sz="1800" kern="1200" dirty="0">
              <a:solidFill>
                <a:schemeClr val="tx1"/>
              </a:solidFill>
            </a:endParaRPr>
          </a:p>
          <a:p>
            <a:pPr marL="285750" indent="-285750" defTabSz="457200" rtl="0" eaLnBrk="1" latinLnBrk="0" hangingPunct="1">
              <a:buFont typeface="Arial" panose="020B0604020202020204" pitchFamily="34" charset="0"/>
              <a:buChar char="•"/>
            </a:pPr>
            <a:endParaRPr lang="de-DE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14A744F-0A76-0800-6CDA-C3BF2DD30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32" y="1955679"/>
            <a:ext cx="3578941" cy="369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7864A0-39DB-CD3D-F8D3-938B4D291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373" y="5049890"/>
            <a:ext cx="2928776" cy="733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96C890D-C972-BA78-AEB1-33C2E1C5D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373" y="3440162"/>
            <a:ext cx="2928777" cy="899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306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8CE0-60CA-57D5-6CD9-A0A030B3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624360" cy="684000"/>
          </a:xfrm>
        </p:spPr>
        <p:txBody>
          <a:bodyPr>
            <a:noAutofit/>
          </a:bodyPr>
          <a:lstStyle/>
          <a:p>
            <a:r>
              <a:rPr lang="de-DE" i="1" dirty="0">
                <a:solidFill>
                  <a:prstClr val="black"/>
                </a:solidFill>
              </a:rPr>
              <a:t>Conclusion</a:t>
            </a:r>
            <a:endParaRPr lang="en-DE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DE7-E8DD-09CD-1199-9440A4F129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177A7CD-68BE-4012-8770-51F719283CF1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74174-ED98-D8A7-A9FE-C932E6666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AEC9B-E4A3-CB37-FCFB-5786F2725E37}"/>
              </a:ext>
            </a:extLst>
          </p:cNvPr>
          <p:cNvSpPr txBox="1"/>
          <p:nvPr/>
        </p:nvSpPr>
        <p:spPr>
          <a:xfrm>
            <a:off x="360000" y="1440000"/>
            <a:ext cx="77721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Edge AI requires hardware accelerators that deliver high performance under strict power, latency, and resource constraints.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High-Level Synthesis provides a practical design methodology fills the gap of RTL complexity, significantly accelerating the edge AI applications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CNN convolution was used as a representative Edge AI workload to demonstrate how HLS directives influence hardware architecture and performance.</a:t>
            </a:r>
            <a:endParaRPr lang="de-DE" dirty="0"/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These obtained results confirm that HLS </a:t>
            </a:r>
            <a:r>
              <a:rPr lang="de-DE" dirty="0"/>
              <a:t>support methodical </a:t>
            </a:r>
            <a:r>
              <a:rPr lang="en-US" dirty="0"/>
              <a:t>hardware design exploration, thereby establishing it as a cornerstone of the Edge AI acceleration FPGA platforms.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73839-CABE-85EA-1B2E-F26F174CA854}"/>
              </a:ext>
            </a:extLst>
          </p:cNvPr>
          <p:cNvSpPr txBox="1"/>
          <p:nvPr/>
        </p:nvSpPr>
        <p:spPr>
          <a:xfrm>
            <a:off x="7776000" y="5940000"/>
            <a:ext cx="904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[1]–[5]</a:t>
            </a:r>
          </a:p>
        </p:txBody>
      </p:sp>
    </p:spTree>
    <p:extLst>
      <p:ext uri="{BB962C8B-B14F-4D97-AF65-F5344CB8AC3E}">
        <p14:creationId xmlns:p14="http://schemas.microsoft.com/office/powerpoint/2010/main" val="117456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37CDA-4CDF-9195-4543-5ECB686DE0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D9B9-B6BC-AEB2-D58E-E48CF4F42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DA15-D0FD-812D-170E-963195BF8DA6}"/>
              </a:ext>
            </a:extLst>
          </p:cNvPr>
          <p:cNvSpPr txBox="1"/>
          <p:nvPr/>
        </p:nvSpPr>
        <p:spPr>
          <a:xfrm>
            <a:off x="360000" y="719999"/>
            <a:ext cx="3016246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i="1" dirty="0">
                <a:solidFill>
                  <a:prstClr val="black"/>
                </a:solidFill>
                <a:latin typeface="Source Sans Pro"/>
                <a:ea typeface="+mj-ea"/>
              </a:rPr>
              <a:t>Refereneces</a:t>
            </a:r>
            <a:endParaRPr lang="en-DE" sz="4000" b="1" i="1" dirty="0">
              <a:solidFill>
                <a:prstClr val="black"/>
              </a:solidFill>
              <a:latin typeface="Source Sans Pro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7E6B2-FB4B-D020-2097-644889E0423C}"/>
              </a:ext>
            </a:extLst>
          </p:cNvPr>
          <p:cNvSpPr txBox="1"/>
          <p:nvPr/>
        </p:nvSpPr>
        <p:spPr>
          <a:xfrm>
            <a:off x="360000" y="1440000"/>
            <a:ext cx="80142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[1] W. Shi, J. Cao, Q. Zhang, Y. Li, and L. </a:t>
            </a:r>
            <a:r>
              <a:rPr lang="de-DE" sz="1600" dirty="0" err="1"/>
              <a:t>Xu</a:t>
            </a:r>
            <a:r>
              <a:rPr lang="de-DE" sz="1600" dirty="0"/>
              <a:t>, “Edge </a:t>
            </a:r>
            <a:r>
              <a:rPr lang="de-DE" sz="1600" dirty="0" err="1"/>
              <a:t>computing</a:t>
            </a:r>
            <a:r>
              <a:rPr lang="de-DE" sz="1600" dirty="0"/>
              <a:t>: Vision and </a:t>
            </a:r>
            <a:r>
              <a:rPr lang="de-DE" sz="1600" dirty="0" err="1"/>
              <a:t>challenges</a:t>
            </a:r>
            <a:r>
              <a:rPr lang="de-DE" sz="1600" dirty="0"/>
              <a:t>,” *IEEE Internet of Things Journal*, vol. 3, </a:t>
            </a:r>
            <a:r>
              <a:rPr lang="de-DE" sz="1600" dirty="0" err="1"/>
              <a:t>no</a:t>
            </a:r>
            <a:r>
              <a:rPr lang="de-DE" sz="1600" dirty="0"/>
              <a:t>. 5, pp. 637–646, 2016, </a:t>
            </a:r>
            <a:r>
              <a:rPr lang="de-DE" sz="1600" dirty="0" err="1"/>
              <a:t>doi</a:t>
            </a:r>
            <a:r>
              <a:rPr lang="de-DE" sz="1600" dirty="0"/>
              <a:t>: 10.1109/JIOT.2016.2579198.</a:t>
            </a:r>
          </a:p>
          <a:p>
            <a:endParaRPr lang="de-DE" sz="1600" dirty="0"/>
          </a:p>
          <a:p>
            <a:r>
              <a:rPr lang="de-DE" sz="1600" dirty="0"/>
              <a:t>[2] E. </a:t>
            </a:r>
            <a:r>
              <a:rPr lang="de-DE" sz="1600" dirty="0" err="1"/>
              <a:t>Nurvitadhi</a:t>
            </a:r>
            <a:r>
              <a:rPr lang="de-DE" sz="1600" dirty="0"/>
              <a:t>, G. Venkatesh, J. Sim, and D. Marr, “Can FPGAs </a:t>
            </a:r>
            <a:r>
              <a:rPr lang="de-DE" sz="1600" dirty="0" err="1"/>
              <a:t>beat</a:t>
            </a:r>
            <a:r>
              <a:rPr lang="de-DE" sz="1600" dirty="0"/>
              <a:t> GPUs in </a:t>
            </a:r>
            <a:r>
              <a:rPr lang="de-DE" sz="1600" dirty="0" err="1"/>
              <a:t>accelerating</a:t>
            </a:r>
            <a:r>
              <a:rPr lang="de-DE" sz="1600" dirty="0"/>
              <a:t> </a:t>
            </a:r>
            <a:r>
              <a:rPr lang="de-DE" sz="1600" dirty="0" err="1"/>
              <a:t>next</a:t>
            </a:r>
            <a:r>
              <a:rPr lang="de-DE" sz="1600" dirty="0"/>
              <a:t>-generation </a:t>
            </a:r>
            <a:r>
              <a:rPr lang="de-DE" sz="1600" dirty="0" err="1"/>
              <a:t>deep</a:t>
            </a:r>
            <a:r>
              <a:rPr lang="de-DE" sz="1600" dirty="0"/>
              <a:t> </a:t>
            </a:r>
            <a:r>
              <a:rPr lang="de-DE" sz="1600" dirty="0" err="1"/>
              <a:t>neural</a:t>
            </a:r>
            <a:r>
              <a:rPr lang="de-DE" sz="1600" dirty="0"/>
              <a:t> </a:t>
            </a:r>
            <a:r>
              <a:rPr lang="de-DE" sz="1600" dirty="0" err="1"/>
              <a:t>networks</a:t>
            </a:r>
            <a:r>
              <a:rPr lang="de-DE" sz="1600" dirty="0"/>
              <a:t>?” in </a:t>
            </a:r>
            <a:r>
              <a:rPr lang="de-DE" sz="1600" i="1" dirty="0" err="1"/>
              <a:t>Proc</a:t>
            </a:r>
            <a:r>
              <a:rPr lang="de-DE" sz="1600" i="1" dirty="0"/>
              <a:t>. ACM/SIGDA Int. </a:t>
            </a:r>
            <a:r>
              <a:rPr lang="de-DE" sz="1600" i="1" dirty="0" err="1"/>
              <a:t>Symp</a:t>
            </a:r>
            <a:r>
              <a:rPr lang="de-DE" sz="1600" i="1" dirty="0"/>
              <a:t>. Field-</a:t>
            </a:r>
            <a:r>
              <a:rPr lang="de-DE" sz="1600" i="1" dirty="0" err="1"/>
              <a:t>Programmable</a:t>
            </a:r>
            <a:r>
              <a:rPr lang="de-DE" sz="1600" i="1" dirty="0"/>
              <a:t> Gate Arrays (FPGA)</a:t>
            </a:r>
            <a:r>
              <a:rPr lang="de-DE" sz="1600" dirty="0"/>
              <a:t>, 2017, </a:t>
            </a:r>
            <a:r>
              <a:rPr lang="de-DE" sz="1600" dirty="0" err="1"/>
              <a:t>doi</a:t>
            </a:r>
            <a:r>
              <a:rPr lang="de-DE" sz="1600" dirty="0"/>
              <a:t>: 10.1145/3020078.3021736.</a:t>
            </a:r>
          </a:p>
          <a:p>
            <a:endParaRPr lang="de-DE" sz="1600" dirty="0"/>
          </a:p>
          <a:p>
            <a:r>
              <a:rPr lang="de-DE" sz="1600" dirty="0"/>
              <a:t>[3] </a:t>
            </a:r>
            <a:r>
              <a:rPr lang="de-DE" sz="1600" dirty="0" err="1"/>
              <a:t>Advanced</a:t>
            </a:r>
            <a:r>
              <a:rPr lang="de-DE" sz="1600" dirty="0"/>
              <a:t> Micro Devices Inc. (AMD), *Vitis High-Level Synthesis User Guide*, 2023. [Online]. </a:t>
            </a:r>
            <a:r>
              <a:rPr lang="de-DE" sz="1600" dirty="0" err="1"/>
              <a:t>Available</a:t>
            </a:r>
            <a:r>
              <a:rPr lang="de-DE" sz="1600" dirty="0"/>
              <a:t>: https://www.amd.com/en/products/software/adaptive-socs-and-fpgas/vitis/vitis-hls.html.</a:t>
            </a:r>
          </a:p>
          <a:p>
            <a:endParaRPr lang="de-DE" sz="1600" dirty="0"/>
          </a:p>
          <a:p>
            <a:r>
              <a:rPr lang="de-DE" sz="1600" dirty="0"/>
              <a:t>[4] S. Han, H. Mao, and W. J. Dally, “Deep </a:t>
            </a:r>
            <a:r>
              <a:rPr lang="de-DE" sz="1600" dirty="0" err="1"/>
              <a:t>compression</a:t>
            </a:r>
            <a:r>
              <a:rPr lang="de-DE" sz="1600" dirty="0"/>
              <a:t>: </a:t>
            </a:r>
            <a:r>
              <a:rPr lang="de-DE" sz="1600" dirty="0" err="1"/>
              <a:t>Compressing</a:t>
            </a:r>
            <a:r>
              <a:rPr lang="de-DE" sz="1600" dirty="0"/>
              <a:t> </a:t>
            </a:r>
            <a:r>
              <a:rPr lang="de-DE" sz="1600" dirty="0" err="1"/>
              <a:t>deep</a:t>
            </a:r>
            <a:r>
              <a:rPr lang="de-DE" sz="1600" dirty="0"/>
              <a:t> </a:t>
            </a:r>
            <a:r>
              <a:rPr lang="de-DE" sz="1600" dirty="0" err="1"/>
              <a:t>neural</a:t>
            </a:r>
            <a:r>
              <a:rPr lang="de-DE" sz="1600" dirty="0"/>
              <a:t> </a:t>
            </a:r>
            <a:r>
              <a:rPr lang="de-DE" sz="1600" dirty="0" err="1"/>
              <a:t>networks</a:t>
            </a:r>
            <a:r>
              <a:rPr lang="de-DE" sz="1600" dirty="0"/>
              <a:t> with </a:t>
            </a:r>
            <a:r>
              <a:rPr lang="de-DE" sz="1600" dirty="0" err="1"/>
              <a:t>pruning</a:t>
            </a:r>
            <a:r>
              <a:rPr lang="de-DE" sz="1600" dirty="0"/>
              <a:t>, trained </a:t>
            </a:r>
            <a:r>
              <a:rPr lang="de-DE" sz="1600" dirty="0" err="1"/>
              <a:t>quantization</a:t>
            </a:r>
            <a:r>
              <a:rPr lang="de-DE" sz="1600" dirty="0"/>
              <a:t> and </a:t>
            </a:r>
            <a:r>
              <a:rPr lang="de-DE" sz="1600" dirty="0" err="1"/>
              <a:t>huffman</a:t>
            </a:r>
            <a:r>
              <a:rPr lang="de-DE" sz="1600" dirty="0"/>
              <a:t> </a:t>
            </a:r>
            <a:r>
              <a:rPr lang="de-DE" sz="1600" dirty="0" err="1"/>
              <a:t>coding</a:t>
            </a:r>
            <a:r>
              <a:rPr lang="de-DE" sz="1600" dirty="0"/>
              <a:t>,” *</a:t>
            </a:r>
            <a:r>
              <a:rPr lang="de-DE" sz="1600" dirty="0" err="1"/>
              <a:t>Proc</a:t>
            </a:r>
            <a:r>
              <a:rPr lang="de-DE" sz="1600" dirty="0"/>
              <a:t>. Int. </a:t>
            </a:r>
            <a:r>
              <a:rPr lang="de-DE" sz="1600" dirty="0" err="1"/>
              <a:t>Conf</a:t>
            </a:r>
            <a:r>
              <a:rPr lang="de-DE" sz="1600" dirty="0"/>
              <a:t>. Learning </a:t>
            </a:r>
            <a:r>
              <a:rPr lang="de-DE" sz="1600" dirty="0" err="1"/>
              <a:t>Representations</a:t>
            </a:r>
            <a:r>
              <a:rPr lang="de-DE" sz="1600" dirty="0"/>
              <a:t> (ICLR)*, 2016. [Online]. </a:t>
            </a:r>
            <a:r>
              <a:rPr lang="de-DE" sz="1600" dirty="0" err="1"/>
              <a:t>Available</a:t>
            </a:r>
            <a:r>
              <a:rPr lang="de-DE" sz="1600" dirty="0"/>
              <a:t>: </a:t>
            </a:r>
            <a:r>
              <a:rPr lang="de-DE" sz="1600" dirty="0">
                <a:hlinkClick r:id="rId2"/>
              </a:rPr>
              <a:t>https://arxiv.org/abs/1510.00149</a:t>
            </a:r>
            <a:r>
              <a:rPr lang="de-DE" sz="1600" dirty="0"/>
              <a:t>.</a:t>
            </a:r>
          </a:p>
          <a:p>
            <a:endParaRPr lang="de-DE" sz="1600" dirty="0"/>
          </a:p>
          <a:p>
            <a:r>
              <a:rPr lang="de-DE" sz="1600" dirty="0"/>
              <a:t>[5] V. </a:t>
            </a:r>
            <a:r>
              <a:rPr lang="de-DE" sz="1600" dirty="0" err="1"/>
              <a:t>Sze</a:t>
            </a:r>
            <a:r>
              <a:rPr lang="de-DE" sz="1600" dirty="0"/>
              <a:t>, Y.-H. Chen, T.-J. Yang, and J. S. Emer, “</a:t>
            </a:r>
            <a:r>
              <a:rPr lang="de-DE" sz="1600" dirty="0" err="1"/>
              <a:t>Efficient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of </a:t>
            </a:r>
            <a:r>
              <a:rPr lang="de-DE" sz="1600" dirty="0" err="1"/>
              <a:t>deep</a:t>
            </a:r>
            <a:r>
              <a:rPr lang="de-DE" sz="1600" dirty="0"/>
              <a:t> </a:t>
            </a:r>
            <a:r>
              <a:rPr lang="de-DE" sz="1600" dirty="0" err="1"/>
              <a:t>neural</a:t>
            </a:r>
            <a:r>
              <a:rPr lang="de-DE" sz="1600" dirty="0"/>
              <a:t> </a:t>
            </a:r>
            <a:r>
              <a:rPr lang="de-DE" sz="1600" dirty="0" err="1"/>
              <a:t>networks</a:t>
            </a:r>
            <a:r>
              <a:rPr lang="de-DE" sz="1600" dirty="0"/>
              <a:t>: A </a:t>
            </a:r>
            <a:r>
              <a:rPr lang="de-DE" sz="1600" dirty="0" err="1"/>
              <a:t>tutorial</a:t>
            </a:r>
            <a:r>
              <a:rPr lang="de-DE" sz="1600" dirty="0"/>
              <a:t> and </a:t>
            </a:r>
            <a:r>
              <a:rPr lang="de-DE" sz="1600" dirty="0" err="1"/>
              <a:t>survey</a:t>
            </a:r>
            <a:r>
              <a:rPr lang="de-DE" sz="1600" dirty="0"/>
              <a:t>,” *Proceedings of </a:t>
            </a:r>
            <a:r>
              <a:rPr lang="de-DE" sz="1600" dirty="0" err="1"/>
              <a:t>the</a:t>
            </a:r>
            <a:r>
              <a:rPr lang="de-DE" sz="1600" dirty="0"/>
              <a:t> IEEE*, vol. 105, </a:t>
            </a:r>
            <a:r>
              <a:rPr lang="de-DE" sz="1600" dirty="0" err="1"/>
              <a:t>no</a:t>
            </a:r>
            <a:r>
              <a:rPr lang="de-DE" sz="1600" dirty="0"/>
              <a:t>. 12, pp. 2295–2329, 2017, </a:t>
            </a:r>
            <a:r>
              <a:rPr lang="de-DE" sz="1600" dirty="0" err="1"/>
              <a:t>doi</a:t>
            </a:r>
            <a:r>
              <a:rPr lang="de-DE" sz="1600" dirty="0"/>
              <a:t>: 10.1109/JPROC.2017.2761740.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1668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CA37-32B3-F8DC-C407-B770EAA17F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E3ED2-7472-DE4C-975C-3FC79575B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1C536-9D42-3D7C-6251-2D6238BDC84F}"/>
              </a:ext>
            </a:extLst>
          </p:cNvPr>
          <p:cNvSpPr/>
          <p:nvPr/>
        </p:nvSpPr>
        <p:spPr>
          <a:xfrm>
            <a:off x="2531806" y="2657167"/>
            <a:ext cx="4080387" cy="1543665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b="1" dirty="0"/>
              <a:t>Q &amp; A</a:t>
            </a:r>
            <a:endParaRPr lang="en-DE" sz="4400" b="1" dirty="0"/>
          </a:p>
        </p:txBody>
      </p:sp>
    </p:spTree>
    <p:extLst>
      <p:ext uri="{BB962C8B-B14F-4D97-AF65-F5344CB8AC3E}">
        <p14:creationId xmlns:p14="http://schemas.microsoft.com/office/powerpoint/2010/main" val="183351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0</TotalTime>
  <Words>1144</Words>
  <Application>Microsoft Office PowerPoint</Application>
  <PresentationFormat>On-screen Show (4:3)</PresentationFormat>
  <Paragraphs>185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Helvetica World</vt:lpstr>
      <vt:lpstr>Open Sans</vt:lpstr>
      <vt:lpstr>Source Sans Pro</vt:lpstr>
      <vt:lpstr>Office-Design</vt:lpstr>
      <vt:lpstr>Office Theme</vt:lpstr>
      <vt:lpstr>PowerPoint Presentation</vt:lpstr>
      <vt:lpstr>Introduction</vt:lpstr>
      <vt:lpstr>Motivation For HLS</vt:lpstr>
      <vt:lpstr>Model-to-Deployment Pipeline</vt:lpstr>
      <vt:lpstr>PowerPoint Presentation</vt:lpstr>
      <vt:lpstr>PowerPoint Presentation</vt:lpstr>
      <vt:lpstr>Implementation Methodology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nader yahia</dc:creator>
  <cp:lastModifiedBy>nader yahia</cp:lastModifiedBy>
  <cp:revision>223</cp:revision>
  <dcterms:created xsi:type="dcterms:W3CDTF">2026-06-13T16:58:24Z</dcterms:created>
  <dcterms:modified xsi:type="dcterms:W3CDTF">2026-07-13T17:31:34Z</dcterms:modified>
</cp:coreProperties>
</file>