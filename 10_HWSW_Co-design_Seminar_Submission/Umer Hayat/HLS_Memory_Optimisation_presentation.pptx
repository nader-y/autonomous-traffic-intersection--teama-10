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11"/>
  </p:notesMasterIdLst>
  <p:sldIdLst>
    <p:sldId id="256" r:id="rId2"/>
    <p:sldId id="257" r:id="rId3"/>
    <p:sldId id="258" r:id="rId4"/>
    <p:sldId id="265" r:id="rId5"/>
    <p:sldId id="266" r:id="rId6"/>
    <p:sldId id="267" r:id="rId7"/>
    <p:sldId id="262" r:id="rId8"/>
    <p:sldId id="263" r:id="rId9"/>
    <p:sldId id="264" r:id="rId10"/>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69" autoAdjust="0"/>
    <p:restoredTop sz="82667" autoAdjust="0"/>
  </p:normalViewPr>
  <p:slideViewPr>
    <p:cSldViewPr snapToGrid="0" snapToObjects="1">
      <p:cViewPr varScale="1">
        <p:scale>
          <a:sx n="88" d="100"/>
          <a:sy n="88" d="100"/>
        </p:scale>
        <p:origin x="1469"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15576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Although arithmetic operations like addition and multiplication are very fast, the processor often has to wait for data to be fetched from memory. When multiple operations try to access the same memory bank at the same time, a memory conflict occurs, increasing the overall execution time. One solution is to add more memory banks so multiple accesses can happen in parallel, but this also increases hardware area, power consumption, and cost. Therefore, memory optimization aims to organize memory accesses efficiently, reducing conflicts while achieving the best balance between performance and hardware complexity.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smtClean="0"/>
              <a:t>This design flow shows how the algorithm is gradually transformed into hardware. The important point is that memory constraints are not handled at the end. They are included during scheduling, so the final RTL already respects both timing and memory access limitations.</a:t>
            </a:r>
            <a:endParaRPr lang="en-US" dirty="0"/>
          </a:p>
        </p:txBody>
      </p:sp>
    </p:spTree>
    <p:extLst>
      <p:ext uri="{BB962C8B-B14F-4D97-AF65-F5344CB8AC3E}">
        <p14:creationId xmlns:p14="http://schemas.microsoft.com/office/powerpoint/2010/main" val="4108868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smtClean="0"/>
              <a:t>The Memory Constraint Graph is the main innovation introduced in this paper. After the variables are assigned to memory banks, the HLS tool builds an MCG that represents possible memory access patterns. It distinguishes between sequential accesses, which are faster, and random accesses, which are less efficient. During scheduling, if two operations compete for the same memory bank, the scheduler consults the MCG and selects the access pattern that minimizes conflicts and favors sequential memory accesses. This improves memory efficiency without increasing hardware complexity</a:t>
            </a:r>
            <a:endParaRPr lang="en-US" dirty="0"/>
          </a:p>
        </p:txBody>
      </p:sp>
    </p:spTree>
    <p:extLst>
      <p:ext uri="{BB962C8B-B14F-4D97-AF65-F5344CB8AC3E}">
        <p14:creationId xmlns:p14="http://schemas.microsoft.com/office/powerpoint/2010/main" val="14308038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dirty="0"/>
          </a:p>
        </p:txBody>
      </p:sp>
    </p:spTree>
    <p:extLst>
      <p:ext uri="{BB962C8B-B14F-4D97-AF65-F5344CB8AC3E}">
        <p14:creationId xmlns:p14="http://schemas.microsoft.com/office/powerpoint/2010/main" val="19749854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9144000" cy="51435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80902" y="950797"/>
            <a:ext cx="7182197" cy="3230963"/>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085851" y="1058711"/>
            <a:ext cx="6972300" cy="3026078"/>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3851910" y="950798"/>
            <a:ext cx="1440180" cy="54864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3937635" y="950798"/>
            <a:ext cx="1268730" cy="483971"/>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71281" y="1568447"/>
            <a:ext cx="6801440" cy="1943100"/>
          </a:xfrm>
        </p:spPr>
        <p:txBody>
          <a:bodyPr tIns="45720" bIns="45720" anchor="ctr">
            <a:noAutofit/>
          </a:bodyPr>
          <a:lstStyle>
            <a:lvl1pPr algn="ctr">
              <a:lnSpc>
                <a:spcPct val="83000"/>
              </a:lnSpc>
              <a:defRPr lang="en-US" sz="5400" b="0" kern="1200" cap="all" spc="-75" baseline="0" dirty="0">
                <a:solidFill>
                  <a:schemeClr val="tx1">
                    <a:lumMod val="85000"/>
                    <a:lumOff val="15000"/>
                  </a:schemeClr>
                </a:solidFill>
                <a:effectLst/>
                <a:latin typeface="+mj-lt"/>
                <a:ea typeface="+mn-ea"/>
                <a:cs typeface="+mn-cs"/>
              </a:defRPr>
            </a:lvl1pPr>
          </a:lstStyle>
          <a:p>
            <a:r>
              <a:rPr lang="en-US" smtClean="0"/>
              <a:t>Click to edit Master title style</a:t>
            </a:r>
            <a:endParaRPr lang="en-US" dirty="0"/>
          </a:p>
        </p:txBody>
      </p:sp>
      <p:sp>
        <p:nvSpPr>
          <p:cNvPr id="3" name="Subtitle 2"/>
          <p:cNvSpPr>
            <a:spLocks noGrp="1"/>
          </p:cNvSpPr>
          <p:nvPr>
            <p:ph type="subTitle" idx="1"/>
          </p:nvPr>
        </p:nvSpPr>
        <p:spPr>
          <a:xfrm>
            <a:off x="1171575" y="3511547"/>
            <a:ext cx="6803136" cy="342901"/>
          </a:xfrm>
        </p:spPr>
        <p:txBody>
          <a:bodyPr>
            <a:normAutofit/>
          </a:bodyPr>
          <a:lstStyle>
            <a:lvl1pPr marL="0" indent="0" algn="ctr">
              <a:spcBef>
                <a:spcPts val="0"/>
              </a:spcBef>
              <a:buNone/>
              <a:defRPr sz="1200" spc="60" baseline="0">
                <a:solidFill>
                  <a:schemeClr val="tx1"/>
                </a:solidFill>
              </a:defRPr>
            </a:lvl1pPr>
            <a:lvl2pPr marL="342900" indent="0" algn="ctr">
              <a:buNone/>
              <a:defRPr sz="1200"/>
            </a:lvl2pPr>
            <a:lvl3pPr marL="685800" indent="0" algn="ctr">
              <a:buNone/>
              <a:defRPr sz="12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dirty="0"/>
          </a:p>
        </p:txBody>
      </p:sp>
      <p:sp>
        <p:nvSpPr>
          <p:cNvPr id="20" name="Date Placeholder 19"/>
          <p:cNvSpPr>
            <a:spLocks noGrp="1"/>
          </p:cNvSpPr>
          <p:nvPr>
            <p:ph type="dt" sz="half" idx="10"/>
          </p:nvPr>
        </p:nvSpPr>
        <p:spPr>
          <a:xfrm>
            <a:off x="3989070" y="1005942"/>
            <a:ext cx="1165860" cy="395410"/>
          </a:xfrm>
        </p:spPr>
        <p:txBody>
          <a:bodyPr/>
          <a:lstStyle>
            <a:lvl1pPr algn="ctr">
              <a:defRPr sz="975" spc="0" baseline="0">
                <a:solidFill>
                  <a:schemeClr val="tx1"/>
                </a:solidFill>
                <a:latin typeface="+mn-lt"/>
              </a:defRPr>
            </a:lvl1pPr>
          </a:lstStyle>
          <a:p>
            <a:fld id="{DDA51639-B2D6-4652-B8C3-1B4C224A7BAF}" type="datetimeFigureOut">
              <a:rPr lang="en-US" dirty="0"/>
              <a:t>6/29/2026</a:t>
            </a:fld>
            <a:endParaRPr lang="en-US" dirty="0"/>
          </a:p>
        </p:txBody>
      </p:sp>
      <p:sp>
        <p:nvSpPr>
          <p:cNvPr id="21" name="Footer Placeholder 20"/>
          <p:cNvSpPr>
            <a:spLocks noGrp="1"/>
          </p:cNvSpPr>
          <p:nvPr>
            <p:ph type="ftr" sz="quarter" idx="11"/>
          </p:nvPr>
        </p:nvSpPr>
        <p:spPr>
          <a:xfrm>
            <a:off x="1090422" y="3908295"/>
            <a:ext cx="4429125" cy="171450"/>
          </a:xfrm>
        </p:spPr>
        <p:txBody>
          <a:bodyPr/>
          <a:lstStyle>
            <a:lvl1pPr algn="l">
              <a:defRPr>
                <a:solidFill>
                  <a:schemeClr val="tx1">
                    <a:lumMod val="75000"/>
                    <a:lumOff val="25000"/>
                  </a:schemeClr>
                </a:solidFill>
              </a:defRPr>
            </a:lvl1pPr>
          </a:lstStyle>
          <a:p>
            <a:endParaRPr lang="en-US" dirty="0"/>
          </a:p>
        </p:txBody>
      </p:sp>
      <p:sp>
        <p:nvSpPr>
          <p:cNvPr id="22" name="Slide Number Placeholder 21"/>
          <p:cNvSpPr>
            <a:spLocks noGrp="1"/>
          </p:cNvSpPr>
          <p:nvPr>
            <p:ph type="sldNum" sz="quarter" idx="12"/>
          </p:nvPr>
        </p:nvSpPr>
        <p:spPr>
          <a:xfrm>
            <a:off x="6455190" y="3909060"/>
            <a:ext cx="1583911" cy="171450"/>
          </a:xfrm>
        </p:spPr>
        <p:txBody>
          <a:bodyPr/>
          <a:lstStyle>
            <a:lvl1pPr>
              <a:defRPr>
                <a:solidFill>
                  <a:schemeClr val="tx1">
                    <a:lumMod val="75000"/>
                    <a:lumOff val="25000"/>
                  </a:schemeClr>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69236907"/>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2FF5DD9-2C52-442D-92E2-8072C0C3D7CD}" type="datetimeFigureOut">
              <a:rPr lang="en-US" dirty="0"/>
              <a:t>6/29/2026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155660782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9144000" cy="51435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980902" y="950797"/>
            <a:ext cx="7182197" cy="3230963"/>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085850" y="1058711"/>
            <a:ext cx="6972300" cy="3026078"/>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3851910" y="950798"/>
            <a:ext cx="1440180" cy="54864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3937635" y="950798"/>
            <a:ext cx="1268730" cy="483971"/>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172717" y="1570732"/>
            <a:ext cx="6803136" cy="1940814"/>
          </a:xfrm>
        </p:spPr>
        <p:txBody>
          <a:bodyPr anchor="ctr">
            <a:noAutofit/>
          </a:bodyPr>
          <a:lstStyle>
            <a:lvl1pPr algn="ctr">
              <a:lnSpc>
                <a:spcPct val="83000"/>
              </a:lnSpc>
              <a:defRPr lang="en-US" sz="5400" kern="1200" cap="all" spc="-75" baseline="0" dirty="0">
                <a:solidFill>
                  <a:schemeClr val="tx1">
                    <a:lumMod val="85000"/>
                    <a:lumOff val="15000"/>
                  </a:schemeClr>
                </a:solidFill>
                <a:effectLst/>
                <a:latin typeface="+mj-lt"/>
                <a:ea typeface="+mn-ea"/>
                <a:cs typeface="+mn-cs"/>
              </a:defRPr>
            </a:lvl1pPr>
          </a:lstStyle>
          <a:p>
            <a:r>
              <a:rPr lang="en-US" smtClean="0"/>
              <a:t>Click to edit Master title style</a:t>
            </a:r>
            <a:endParaRPr lang="en-US" dirty="0"/>
          </a:p>
        </p:txBody>
      </p:sp>
      <p:sp>
        <p:nvSpPr>
          <p:cNvPr id="3" name="Text Placeholder 2"/>
          <p:cNvSpPr>
            <a:spLocks noGrp="1"/>
          </p:cNvSpPr>
          <p:nvPr>
            <p:ph type="body" idx="1"/>
          </p:nvPr>
        </p:nvSpPr>
        <p:spPr>
          <a:xfrm>
            <a:off x="1172718" y="3511547"/>
            <a:ext cx="6803136" cy="342900"/>
          </a:xfrm>
        </p:spPr>
        <p:txBody>
          <a:bodyPr anchor="t">
            <a:normAutofit/>
          </a:bodyPr>
          <a:lstStyle>
            <a:lvl1pPr marL="0" indent="0" algn="ctr">
              <a:buNone/>
              <a:defRPr sz="1200">
                <a:solidFill>
                  <a:schemeClr val="tx1"/>
                </a:solidFill>
                <a:effectLst/>
              </a:defRPr>
            </a:lvl1pPr>
            <a:lvl2pPr marL="342900" indent="0">
              <a:buNone/>
              <a:defRPr sz="120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3991356" y="1008377"/>
            <a:ext cx="1165860" cy="397764"/>
          </a:xfrm>
        </p:spPr>
        <p:txBody>
          <a:bodyPr/>
          <a:lstStyle>
            <a:lvl1pPr algn="ctr">
              <a:defRPr lang="en-US" sz="975" kern="1200" spc="0" baseline="0">
                <a:solidFill>
                  <a:schemeClr val="tx1"/>
                </a:solidFill>
                <a:latin typeface="+mn-lt"/>
                <a:ea typeface="+mn-ea"/>
                <a:cs typeface="+mn-cs"/>
              </a:defRPr>
            </a:lvl1pPr>
          </a:lstStyle>
          <a:p>
            <a:fld id="{C44961B7-6B89-48AB-966F-622E2788EECC}" type="datetimeFigureOut">
              <a:rPr lang="en-US" dirty="0"/>
              <a:t>6/29/2026</a:t>
            </a:fld>
            <a:endParaRPr lang="en-US" dirty="0"/>
          </a:p>
        </p:txBody>
      </p:sp>
      <p:sp>
        <p:nvSpPr>
          <p:cNvPr id="5" name="Footer Placeholder 4"/>
          <p:cNvSpPr>
            <a:spLocks noGrp="1"/>
          </p:cNvSpPr>
          <p:nvPr>
            <p:ph type="ftr" sz="quarter" idx="11"/>
          </p:nvPr>
        </p:nvSpPr>
        <p:spPr>
          <a:xfrm>
            <a:off x="1090165" y="3908295"/>
            <a:ext cx="4430268" cy="171450"/>
          </a:xfrm>
        </p:spPr>
        <p:txBody>
          <a:bodyPr/>
          <a:lstStyle>
            <a:lvl1pPr algn="l">
              <a:defRPr/>
            </a:lvl1pPr>
          </a:lstStyle>
          <a:p>
            <a:endParaRPr lang="en-US" dirty="0"/>
          </a:p>
        </p:txBody>
      </p:sp>
      <p:sp>
        <p:nvSpPr>
          <p:cNvPr id="6" name="Slide Number Placeholder 5"/>
          <p:cNvSpPr>
            <a:spLocks noGrp="1"/>
          </p:cNvSpPr>
          <p:nvPr>
            <p:ph type="sldNum" sz="quarter" idx="12"/>
          </p:nvPr>
        </p:nvSpPr>
        <p:spPr>
          <a:xfrm>
            <a:off x="6453378" y="3908295"/>
            <a:ext cx="1584198" cy="171450"/>
          </a:xfrm>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4095243646"/>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00100" y="1577340"/>
            <a:ext cx="3566160" cy="281178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777740" y="1577340"/>
            <a:ext cx="3566160" cy="281178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BD3D6FB-79CC-4683-A046-BBE785BA1BED}" type="datetimeFigureOut">
              <a:rPr lang="en-US" dirty="0"/>
              <a:t>6/29/2026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50553133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02386" y="1555751"/>
            <a:ext cx="3566160" cy="480060"/>
          </a:xfrm>
        </p:spPr>
        <p:txBody>
          <a:bodyPr anchor="ctr">
            <a:normAutofit/>
          </a:bodyPr>
          <a:lstStyle>
            <a:lvl1pPr marL="0" indent="0" algn="ctr">
              <a:spcBef>
                <a:spcPts val="0"/>
              </a:spcBef>
              <a:buNone/>
              <a:defRPr sz="1425" b="0">
                <a:solidFill>
                  <a:schemeClr val="tx2"/>
                </a:solidFill>
                <a:latin typeface="+mn-lt"/>
              </a:defRPr>
            </a:lvl1pPr>
            <a:lvl2pPr marL="342900" indent="0">
              <a:buNone/>
              <a:defRPr sz="1425"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4" name="Content Placeholder 3"/>
          <p:cNvSpPr>
            <a:spLocks noGrp="1"/>
          </p:cNvSpPr>
          <p:nvPr>
            <p:ph sz="half" idx="2"/>
          </p:nvPr>
        </p:nvSpPr>
        <p:spPr>
          <a:xfrm>
            <a:off x="802386" y="2066924"/>
            <a:ext cx="3566160" cy="240030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80026" y="1555751"/>
            <a:ext cx="3566160" cy="480060"/>
          </a:xfrm>
        </p:spPr>
        <p:txBody>
          <a:bodyPr anchor="ctr">
            <a:normAutofit/>
          </a:bodyPr>
          <a:lstStyle>
            <a:lvl1pPr marL="0" indent="0" algn="ctr">
              <a:spcBef>
                <a:spcPts val="0"/>
              </a:spcBef>
              <a:buNone/>
              <a:defRPr sz="1425" b="0">
                <a:solidFill>
                  <a:schemeClr val="tx2"/>
                </a:solidFill>
              </a:defRPr>
            </a:lvl1pPr>
            <a:lvl2pPr marL="342900" indent="0">
              <a:buNone/>
              <a:defRPr sz="1425"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6" name="Content Placeholder 5"/>
          <p:cNvSpPr>
            <a:spLocks noGrp="1"/>
          </p:cNvSpPr>
          <p:nvPr>
            <p:ph sz="quarter" idx="4"/>
          </p:nvPr>
        </p:nvSpPr>
        <p:spPr>
          <a:xfrm>
            <a:off x="4780026" y="2067436"/>
            <a:ext cx="3566160" cy="240030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512B3E8-48F1-4B23-8498-D8A04A81EC9C}" type="datetimeFigureOut">
              <a:rPr lang="en-US" dirty="0"/>
              <a:t>6/29/2026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61410062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0B90D90-AA62-404D-A741-635B4370F9CB}" type="datetimeFigureOut">
              <a:rPr lang="en-US" dirty="0"/>
              <a:t>6/29/2026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1646800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7002E4-6836-46D1-9DBB-3C27C0DD3A89}" type="datetimeFigureOut">
              <a:rPr lang="en-US" dirty="0"/>
              <a:t>6/29/2026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283276746"/>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184147" y="178308"/>
            <a:ext cx="6398514" cy="478688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6765290" y="178308"/>
            <a:ext cx="2194560" cy="47868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972300" y="455544"/>
            <a:ext cx="1823085" cy="1234440"/>
          </a:xfrm>
        </p:spPr>
        <p:txBody>
          <a:bodyPr anchor="b">
            <a:normAutofit/>
          </a:bodyPr>
          <a:lstStyle>
            <a:lvl1pPr algn="l" defTabSz="685800" rtl="0" eaLnBrk="1" latinLnBrk="0" hangingPunct="1">
              <a:lnSpc>
                <a:spcPct val="90000"/>
              </a:lnSpc>
              <a:spcBef>
                <a:spcPct val="0"/>
              </a:spcBef>
              <a:buNone/>
              <a:defRPr lang="en-US" sz="2100" b="0" kern="1200" cap="none" spc="0" baseline="0" dirty="0">
                <a:solidFill>
                  <a:srgbClr val="FFFFFF"/>
                </a:solidFill>
                <a:effectLst/>
                <a:latin typeface="+mj-lt"/>
                <a:ea typeface="+mn-ea"/>
                <a:cs typeface="+mn-cs"/>
              </a:defRPr>
            </a:lvl1pPr>
          </a:lstStyle>
          <a:p>
            <a:r>
              <a:rPr lang="en-US" smtClean="0"/>
              <a:t>Click to edit Master title style</a:t>
            </a:r>
            <a:endParaRPr lang="en-US" dirty="0"/>
          </a:p>
        </p:txBody>
      </p:sp>
      <p:sp>
        <p:nvSpPr>
          <p:cNvPr id="3" name="Content Placeholder 2"/>
          <p:cNvSpPr>
            <a:spLocks noGrp="1"/>
          </p:cNvSpPr>
          <p:nvPr>
            <p:ph idx="1"/>
          </p:nvPr>
        </p:nvSpPr>
        <p:spPr>
          <a:xfrm>
            <a:off x="514350" y="457200"/>
            <a:ext cx="5829300" cy="400050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972300" y="1714500"/>
            <a:ext cx="1823085" cy="2628900"/>
          </a:xfrm>
        </p:spPr>
        <p:txBody>
          <a:bodyPr>
            <a:normAutofit/>
          </a:bodyPr>
          <a:lstStyle>
            <a:lvl1pPr marL="0" indent="0">
              <a:lnSpc>
                <a:spcPct val="110000"/>
              </a:lnSpc>
              <a:spcBef>
                <a:spcPts val="600"/>
              </a:spcBef>
              <a:buNone/>
              <a:defRPr sz="1050">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sp>
        <p:nvSpPr>
          <p:cNvPr id="8" name="Date Placeholder 7"/>
          <p:cNvSpPr>
            <a:spLocks noGrp="1"/>
          </p:cNvSpPr>
          <p:nvPr>
            <p:ph type="dt" sz="half" idx="10"/>
          </p:nvPr>
        </p:nvSpPr>
        <p:spPr/>
        <p:txBody>
          <a:bodyPr/>
          <a:lstStyle/>
          <a:p>
            <a:fld id="{1CF131DD-A141-4471-BCF9-C6073EDD7E20}" type="datetimeFigureOut">
              <a:rPr lang="en-US" dirty="0"/>
              <a:t>6/29/2026</a:t>
            </a:fld>
            <a:endParaRPr lang="en-US" dirty="0"/>
          </a:p>
        </p:txBody>
      </p:sp>
      <p:sp>
        <p:nvSpPr>
          <p:cNvPr id="9" name="Footer Placeholder 8"/>
          <p:cNvSpPr>
            <a:spLocks noGrp="1"/>
          </p:cNvSpPr>
          <p:nvPr>
            <p:ph type="ftr" sz="quarter" idx="11"/>
          </p:nvPr>
        </p:nvSpPr>
        <p:spPr/>
        <p:txBody>
          <a:bodyPr/>
          <a:lstStyle>
            <a:lvl1pPr algn="r">
              <a:defRPr/>
            </a:lvl1pPr>
          </a:lstStyle>
          <a:p>
            <a:endParaRPr lang="en-US" dirty="0"/>
          </a:p>
        </p:txBody>
      </p:sp>
      <p:sp>
        <p:nvSpPr>
          <p:cNvPr id="11" name="Slide Number Placeholder 10"/>
          <p:cNvSpPr>
            <a:spLocks noGrp="1"/>
          </p:cNvSpPr>
          <p:nvPr>
            <p:ph type="sldNum" sz="quarter" idx="12"/>
          </p:nvPr>
        </p:nvSpPr>
        <p:spPr>
          <a:xfrm>
            <a:off x="7795258" y="4667252"/>
            <a:ext cx="1097280" cy="205740"/>
          </a:xfrm>
        </p:spPr>
        <p:txBody>
          <a:bodyPr/>
          <a:lstStyle>
            <a:lvl1pPr>
              <a:defRPr>
                <a:solidFill>
                  <a:srgbClr val="FFFFFF"/>
                </a:solidFill>
              </a:defRPr>
            </a:lvl1pPr>
          </a:lstStyle>
          <a:p>
            <a:fld id="{4FAB73BC-B049-4115-A692-8D63A059BFB8}" type="slidenum">
              <a:rPr lang="en-US" dirty="0"/>
              <a:pPr/>
              <a:t>‹#›</a:t>
            </a:fld>
            <a:endParaRPr lang="en-US" dirty="0"/>
          </a:p>
        </p:txBody>
      </p:sp>
      <p:sp>
        <p:nvSpPr>
          <p:cNvPr id="12" name="Rectangle 11"/>
          <p:cNvSpPr/>
          <p:nvPr/>
        </p:nvSpPr>
        <p:spPr>
          <a:xfrm>
            <a:off x="6868160" y="281178"/>
            <a:ext cx="1988820" cy="4581144"/>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99891022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6765290" y="178308"/>
            <a:ext cx="2194560" cy="47868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972300" y="452628"/>
            <a:ext cx="1824228" cy="1234440"/>
          </a:xfrm>
        </p:spPr>
        <p:txBody>
          <a:bodyPr anchor="b">
            <a:noAutofit/>
          </a:bodyPr>
          <a:lstStyle>
            <a:lvl1pPr algn="l">
              <a:defRPr sz="2100" b="0">
                <a:solidFill>
                  <a:srgbClr val="FFFFFF"/>
                </a:solidFill>
                <a:latin typeface="+mj-lt"/>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71449" y="178308"/>
            <a:ext cx="6398514" cy="4786884"/>
          </a:xfrm>
          <a:solidFill>
            <a:schemeClr val="accent1">
              <a:lumMod val="60000"/>
              <a:lumOff val="40000"/>
            </a:schemeClr>
          </a:solidFill>
          <a:ln>
            <a:noFill/>
          </a:ln>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smtClean="0"/>
              <a:t>Click icon to add picture</a:t>
            </a:r>
            <a:endParaRPr lang="en-US" dirty="0"/>
          </a:p>
        </p:txBody>
      </p:sp>
      <p:sp>
        <p:nvSpPr>
          <p:cNvPr id="4" name="Text Placeholder 3"/>
          <p:cNvSpPr>
            <a:spLocks noGrp="1"/>
          </p:cNvSpPr>
          <p:nvPr>
            <p:ph type="body" sz="half" idx="2"/>
          </p:nvPr>
        </p:nvSpPr>
        <p:spPr>
          <a:xfrm>
            <a:off x="6972300" y="1714500"/>
            <a:ext cx="1824228" cy="2626614"/>
          </a:xfrm>
        </p:spPr>
        <p:txBody>
          <a:bodyPr>
            <a:normAutofit/>
          </a:bodyPr>
          <a:lstStyle>
            <a:lvl1pPr marL="0" indent="0" algn="l">
              <a:lnSpc>
                <a:spcPct val="110000"/>
              </a:lnSpc>
              <a:spcBef>
                <a:spcPts val="600"/>
              </a:spcBef>
              <a:buNone/>
              <a:defRPr sz="1050">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AB334A90-EB03-42F3-8859-2C2B2724C058}" type="datetimeFigureOut">
              <a:rPr lang="en-US" dirty="0"/>
              <a:t>6/29/2026</a:t>
            </a:fld>
            <a:endParaRPr lang="en-US" dirty="0"/>
          </a:p>
        </p:txBody>
      </p:sp>
      <p:sp>
        <p:nvSpPr>
          <p:cNvPr id="6" name="Footer Placeholder 5"/>
          <p:cNvSpPr>
            <a:spLocks noGrp="1"/>
          </p:cNvSpPr>
          <p:nvPr>
            <p:ph type="ftr" sz="quarter" idx="11"/>
          </p:nvPr>
        </p:nvSpPr>
        <p:spPr/>
        <p:txBody>
          <a:bodyPr/>
          <a:lstStyle>
            <a:lvl1pPr marL="0" algn="r" defTabSz="685800" rtl="0" eaLnBrk="1" latinLnBrk="0" hangingPunct="1">
              <a:defRPr lang="en-US" sz="75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US" dirty="0"/>
          </a:p>
        </p:txBody>
      </p:sp>
      <p:sp>
        <p:nvSpPr>
          <p:cNvPr id="7" name="Slide Number Placeholder 6"/>
          <p:cNvSpPr>
            <a:spLocks noGrp="1"/>
          </p:cNvSpPr>
          <p:nvPr>
            <p:ph type="sldNum" sz="quarter" idx="12"/>
          </p:nvPr>
        </p:nvSpPr>
        <p:spPr>
          <a:xfrm>
            <a:off x="7797546" y="4670298"/>
            <a:ext cx="1097280" cy="205740"/>
          </a:xfrm>
        </p:spPr>
        <p:txBody>
          <a:bodyPr/>
          <a:lstStyle>
            <a:lvl1pPr>
              <a:defRPr>
                <a:solidFill>
                  <a:srgbClr val="FFFFFF"/>
                </a:solidFill>
              </a:defRPr>
            </a:lvl1pPr>
          </a:lstStyle>
          <a:p>
            <a:fld id="{4FAB73BC-B049-4115-A692-8D63A059BFB8}" type="slidenum">
              <a:rPr lang="en-US" dirty="0"/>
              <a:pPr/>
              <a:t>‹#›</a:t>
            </a:fld>
            <a:endParaRPr lang="en-US" dirty="0"/>
          </a:p>
        </p:txBody>
      </p:sp>
      <p:sp>
        <p:nvSpPr>
          <p:cNvPr id="10" name="Rectangle 9"/>
          <p:cNvSpPr/>
          <p:nvPr/>
        </p:nvSpPr>
        <p:spPr>
          <a:xfrm>
            <a:off x="6868160" y="281178"/>
            <a:ext cx="1988820" cy="4581144"/>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94984967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11A6AA8-A04B-4104-9AE2-BD48D340E27F}" type="datetimeFigureOut">
              <a:rPr lang="en-US" dirty="0"/>
              <a:t>6/29/2026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93367625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571500"/>
            <a:ext cx="1771650" cy="39433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571500"/>
            <a:ext cx="6057900" cy="39433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4E0BF79-FAC6-4A96-8DE1-F7B82E2E1652}" type="datetimeFigureOut">
              <a:rPr lang="en-US" dirty="0"/>
              <a:t>6/29/2026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27337563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3985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176022" y="178308"/>
            <a:ext cx="8791956" cy="4786884"/>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800100" y="481946"/>
            <a:ext cx="7543800" cy="10287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00100" y="1577340"/>
            <a:ext cx="7543800" cy="294894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205740" y="4730754"/>
            <a:ext cx="2057400" cy="205740"/>
          </a:xfrm>
          <a:prstGeom prst="rect">
            <a:avLst/>
          </a:prstGeom>
        </p:spPr>
        <p:txBody>
          <a:bodyPr vert="horz" lIns="91440" tIns="45720" rIns="91440" bIns="45720" rtlCol="0" anchor="b"/>
          <a:lstStyle>
            <a:lvl1pPr algn="l">
              <a:defRPr sz="750">
                <a:solidFill>
                  <a:schemeClr val="tx1">
                    <a:lumMod val="75000"/>
                    <a:lumOff val="25000"/>
                  </a:schemeClr>
                </a:solidFill>
              </a:defRPr>
            </a:lvl1pPr>
          </a:lstStyle>
          <a:p>
            <a:fld id="{CBC48EC7-AF6A-48D3-8284-14BACBEBDD84}" type="datetimeFigureOut">
              <a:rPr lang="en-US" dirty="0"/>
              <a:t>6/29/2026</a:t>
            </a:fld>
            <a:endParaRPr lang="en-US" dirty="0"/>
          </a:p>
        </p:txBody>
      </p:sp>
      <p:sp>
        <p:nvSpPr>
          <p:cNvPr id="5" name="Footer Placeholder 4"/>
          <p:cNvSpPr>
            <a:spLocks noGrp="1"/>
          </p:cNvSpPr>
          <p:nvPr>
            <p:ph type="ftr" sz="quarter" idx="3"/>
          </p:nvPr>
        </p:nvSpPr>
        <p:spPr>
          <a:xfrm>
            <a:off x="2617470" y="4730754"/>
            <a:ext cx="3909060" cy="205740"/>
          </a:xfrm>
          <a:prstGeom prst="rect">
            <a:avLst/>
          </a:prstGeom>
        </p:spPr>
        <p:txBody>
          <a:bodyPr vert="horz" lIns="91440" tIns="45720" rIns="91440" bIns="45720" rtlCol="0" anchor="b"/>
          <a:lstStyle>
            <a:lvl1pPr algn="ctr">
              <a:defRPr sz="750">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852410" y="4730754"/>
            <a:ext cx="1097280" cy="205740"/>
          </a:xfrm>
          <a:prstGeom prst="rect">
            <a:avLst/>
          </a:prstGeom>
        </p:spPr>
        <p:txBody>
          <a:bodyPr vert="horz" lIns="91440" tIns="45720" rIns="91440" bIns="45720" rtlCol="0" anchor="b"/>
          <a:lstStyle>
            <a:lvl1pPr algn="r">
              <a:defRPr sz="750">
                <a:solidFill>
                  <a:schemeClr val="tx1">
                    <a:lumMod val="75000"/>
                    <a:lumOff val="25000"/>
                  </a:schemeClr>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2861844583"/>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sldNum="0" hdr="0" ftr="0" dt="0"/>
  <p:txStyles>
    <p:titleStyle>
      <a:lvl1pPr algn="l" defTabSz="685800" rtl="0" eaLnBrk="1" latinLnBrk="0" hangingPunct="1">
        <a:lnSpc>
          <a:spcPct val="90000"/>
        </a:lnSpc>
        <a:spcBef>
          <a:spcPct val="0"/>
        </a:spcBef>
        <a:buNone/>
        <a:defRPr lang="en-US" sz="3600" kern="1200" cap="none" spc="0" baseline="0" dirty="0">
          <a:solidFill>
            <a:schemeClr val="tx1">
              <a:lumMod val="85000"/>
              <a:lumOff val="15000"/>
            </a:schemeClr>
          </a:solidFill>
          <a:effectLst/>
          <a:latin typeface="+mj-lt"/>
          <a:ea typeface="+mn-ea"/>
          <a:cs typeface="+mn-cs"/>
        </a:defRPr>
      </a:lvl1pPr>
    </p:titleStyle>
    <p:bodyStyle>
      <a:lvl1pPr marL="137160" indent="-137160" algn="l" defTabSz="685800" rtl="0" eaLnBrk="1" latinLnBrk="0" hangingPunct="1">
        <a:lnSpc>
          <a:spcPct val="100000"/>
        </a:lnSpc>
        <a:spcBef>
          <a:spcPts val="675"/>
        </a:spcBef>
        <a:spcAft>
          <a:spcPts val="0"/>
        </a:spcAft>
        <a:buClr>
          <a:schemeClr val="tx1">
            <a:lumMod val="85000"/>
            <a:lumOff val="15000"/>
          </a:schemeClr>
        </a:buClr>
        <a:buFont typeface="Garamond" pitchFamily="18" charset="0"/>
        <a:buChar char="◦"/>
        <a:defRPr sz="1350" kern="1200">
          <a:solidFill>
            <a:schemeClr val="tx1"/>
          </a:solidFill>
          <a:latin typeface="+mn-lt"/>
          <a:ea typeface="+mn-ea"/>
          <a:cs typeface="+mn-cs"/>
        </a:defRPr>
      </a:lvl1pPr>
      <a:lvl2pPr marL="342900" indent="-137160" algn="l" defTabSz="685800" rtl="0" eaLnBrk="1" latinLnBrk="0" hangingPunct="1">
        <a:lnSpc>
          <a:spcPct val="100000"/>
        </a:lnSpc>
        <a:spcBef>
          <a:spcPts val="375"/>
        </a:spcBef>
        <a:buClr>
          <a:schemeClr val="tx1">
            <a:lumMod val="85000"/>
            <a:lumOff val="15000"/>
          </a:schemeClr>
        </a:buClr>
        <a:buFont typeface="Garamond" pitchFamily="18" charset="0"/>
        <a:buChar char="◦"/>
        <a:defRPr sz="1200" kern="1200">
          <a:solidFill>
            <a:schemeClr val="tx1"/>
          </a:solidFill>
          <a:latin typeface="+mn-lt"/>
          <a:ea typeface="+mn-ea"/>
          <a:cs typeface="+mn-cs"/>
        </a:defRPr>
      </a:lvl2pPr>
      <a:lvl3pPr marL="548640" indent="-137160" algn="l" defTabSz="685800" rtl="0" eaLnBrk="1" latinLnBrk="0" hangingPunct="1">
        <a:lnSpc>
          <a:spcPct val="100000"/>
        </a:lnSpc>
        <a:spcBef>
          <a:spcPts val="375"/>
        </a:spcBef>
        <a:buClr>
          <a:schemeClr val="tx1">
            <a:lumMod val="85000"/>
            <a:lumOff val="15000"/>
          </a:schemeClr>
        </a:buClr>
        <a:buFont typeface="Garamond" pitchFamily="18" charset="0"/>
        <a:buChar char="◦"/>
        <a:defRPr sz="1050" kern="1200">
          <a:solidFill>
            <a:schemeClr val="tx1"/>
          </a:solidFill>
          <a:latin typeface="+mn-lt"/>
          <a:ea typeface="+mn-ea"/>
          <a:cs typeface="+mn-cs"/>
        </a:defRPr>
      </a:lvl3pPr>
      <a:lvl4pPr marL="754380" indent="-137160" algn="l" defTabSz="685800" rtl="0" eaLnBrk="1" latinLnBrk="0" hangingPunct="1">
        <a:lnSpc>
          <a:spcPct val="100000"/>
        </a:lnSpc>
        <a:spcBef>
          <a:spcPts val="375"/>
        </a:spcBef>
        <a:buClr>
          <a:schemeClr val="tx1">
            <a:lumMod val="85000"/>
            <a:lumOff val="15000"/>
          </a:schemeClr>
        </a:buClr>
        <a:buFont typeface="Garamond" pitchFamily="18" charset="0"/>
        <a:buChar char="◦"/>
        <a:defRPr sz="1050" kern="1200">
          <a:solidFill>
            <a:schemeClr val="tx1"/>
          </a:solidFill>
          <a:latin typeface="+mn-lt"/>
          <a:ea typeface="+mn-ea"/>
          <a:cs typeface="+mn-cs"/>
        </a:defRPr>
      </a:lvl4pPr>
      <a:lvl5pPr marL="960120" indent="-137160" algn="l" defTabSz="685800" rtl="0" eaLnBrk="1" latinLnBrk="0" hangingPunct="1">
        <a:lnSpc>
          <a:spcPct val="100000"/>
        </a:lnSpc>
        <a:spcBef>
          <a:spcPts val="375"/>
        </a:spcBef>
        <a:buClr>
          <a:schemeClr val="tx1">
            <a:lumMod val="85000"/>
            <a:lumOff val="15000"/>
          </a:schemeClr>
        </a:buClr>
        <a:buFont typeface="Garamond" pitchFamily="18" charset="0"/>
        <a:buChar char="◦"/>
        <a:defRPr sz="1050" kern="1200">
          <a:solidFill>
            <a:schemeClr val="tx1"/>
          </a:solidFill>
          <a:latin typeface="+mn-lt"/>
          <a:ea typeface="+mn-ea"/>
          <a:cs typeface="+mn-cs"/>
        </a:defRPr>
      </a:lvl5pPr>
      <a:lvl6pPr marL="1200000" indent="-171450" algn="l" defTabSz="685800" rtl="0" eaLnBrk="1" latinLnBrk="0" hangingPunct="1">
        <a:lnSpc>
          <a:spcPct val="100000"/>
        </a:lnSpc>
        <a:spcBef>
          <a:spcPts val="375"/>
        </a:spcBef>
        <a:buClr>
          <a:schemeClr val="tx1">
            <a:lumMod val="85000"/>
            <a:lumOff val="15000"/>
          </a:schemeClr>
        </a:buClr>
        <a:buFont typeface="Garamond" pitchFamily="18" charset="0"/>
        <a:buChar char="◦"/>
        <a:defRPr sz="1050" kern="1200">
          <a:solidFill>
            <a:schemeClr val="tx1"/>
          </a:solidFill>
          <a:latin typeface="+mn-lt"/>
          <a:ea typeface="+mn-ea"/>
          <a:cs typeface="+mn-cs"/>
        </a:defRPr>
      </a:lvl6pPr>
      <a:lvl7pPr marL="1425000" indent="-171450" algn="l" defTabSz="685800" rtl="0" eaLnBrk="1" latinLnBrk="0" hangingPunct="1">
        <a:lnSpc>
          <a:spcPct val="100000"/>
        </a:lnSpc>
        <a:spcBef>
          <a:spcPts val="375"/>
        </a:spcBef>
        <a:buClr>
          <a:schemeClr val="tx1">
            <a:lumMod val="85000"/>
            <a:lumOff val="15000"/>
          </a:schemeClr>
        </a:buClr>
        <a:buFont typeface="Garamond" pitchFamily="18" charset="0"/>
        <a:buChar char="◦"/>
        <a:defRPr sz="1050" kern="1200">
          <a:solidFill>
            <a:schemeClr val="tx1"/>
          </a:solidFill>
          <a:latin typeface="+mn-lt"/>
          <a:ea typeface="+mn-ea"/>
          <a:cs typeface="+mn-cs"/>
        </a:defRPr>
      </a:lvl7pPr>
      <a:lvl8pPr marL="1650000" indent="-171450" algn="l" defTabSz="685800" rtl="0" eaLnBrk="1" latinLnBrk="0" hangingPunct="1">
        <a:lnSpc>
          <a:spcPct val="100000"/>
        </a:lnSpc>
        <a:spcBef>
          <a:spcPts val="375"/>
        </a:spcBef>
        <a:buClr>
          <a:schemeClr val="tx1">
            <a:lumMod val="85000"/>
            <a:lumOff val="15000"/>
          </a:schemeClr>
        </a:buClr>
        <a:buFont typeface="Garamond" pitchFamily="18" charset="0"/>
        <a:buChar char="◦"/>
        <a:defRPr sz="1050" kern="1200">
          <a:solidFill>
            <a:schemeClr val="tx1"/>
          </a:solidFill>
          <a:latin typeface="+mn-lt"/>
          <a:ea typeface="+mn-ea"/>
          <a:cs typeface="+mn-cs"/>
        </a:defRPr>
      </a:lvl8pPr>
      <a:lvl9pPr marL="1875000" indent="-171450" algn="l" defTabSz="685800" rtl="0" eaLnBrk="1" latinLnBrk="0" hangingPunct="1">
        <a:lnSpc>
          <a:spcPct val="100000"/>
        </a:lnSpc>
        <a:spcBef>
          <a:spcPts val="375"/>
        </a:spcBef>
        <a:buClr>
          <a:schemeClr val="tx1">
            <a:lumMod val="85000"/>
            <a:lumOff val="15000"/>
          </a:schemeClr>
        </a:buClr>
        <a:buFont typeface="Garamond" pitchFamily="18" charset="0"/>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D52"/>
        </a:solidFill>
        <a:effectLst/>
      </p:bgPr>
    </p:bg>
    <p:spTree>
      <p:nvGrpSpPr>
        <p:cNvPr id="1" name=""/>
        <p:cNvGrpSpPr/>
        <p:nvPr/>
      </p:nvGrpSpPr>
      <p:grpSpPr>
        <a:xfrm>
          <a:off x="0" y="0"/>
          <a:ext cx="0" cy="0"/>
          <a:chOff x="0" y="0"/>
          <a:chExt cx="0" cy="0"/>
        </a:xfrm>
      </p:grpSpPr>
      <p:sp>
        <p:nvSpPr>
          <p:cNvPr id="2" name="Text 0"/>
          <p:cNvSpPr/>
          <p:nvPr/>
        </p:nvSpPr>
        <p:spPr>
          <a:xfrm>
            <a:off x="548640" y="1371600"/>
            <a:ext cx="8229600" cy="1645920"/>
          </a:xfrm>
          <a:prstGeom prst="rect">
            <a:avLst/>
          </a:prstGeom>
          <a:noFill/>
          <a:ln/>
        </p:spPr>
        <p:txBody>
          <a:bodyPr wrap="square" rtlCol="0" anchor="ctr"/>
          <a:lstStyle/>
          <a:p>
            <a:pPr marL="0" indent="0" algn="l">
              <a:buNone/>
            </a:pPr>
            <a:r>
              <a:rPr lang="en-US" sz="3600" b="1" dirty="0">
                <a:latin typeface="Calibri" pitchFamily="34" charset="0"/>
                <a:ea typeface="Calibri" pitchFamily="34" charset="-122"/>
                <a:cs typeface="Calibri" pitchFamily="34" charset="-120"/>
              </a:rPr>
              <a:t>Memory Optimisation within</a:t>
            </a:r>
            <a:endParaRPr lang="en-US" sz="3600" b="1" dirty="0"/>
          </a:p>
          <a:p>
            <a:pPr marL="0" indent="0" algn="l">
              <a:buNone/>
            </a:pPr>
            <a:r>
              <a:rPr lang="en-US" sz="3600" b="1" dirty="0">
                <a:latin typeface="Calibri" pitchFamily="34" charset="0"/>
                <a:ea typeface="Calibri" pitchFamily="34" charset="-122"/>
                <a:cs typeface="Calibri" pitchFamily="34" charset="-120"/>
              </a:rPr>
              <a:t>High-Level Synthesis</a:t>
            </a:r>
            <a:endParaRPr lang="en-US" sz="3600" b="1" dirty="0"/>
          </a:p>
        </p:txBody>
      </p:sp>
      <p:sp>
        <p:nvSpPr>
          <p:cNvPr id="3" name="Text 1"/>
          <p:cNvSpPr/>
          <p:nvPr/>
        </p:nvSpPr>
        <p:spPr>
          <a:xfrm>
            <a:off x="548640" y="4023360"/>
            <a:ext cx="7772400" cy="365760"/>
          </a:xfrm>
          <a:prstGeom prst="rect">
            <a:avLst/>
          </a:prstGeom>
          <a:noFill/>
          <a:ln/>
        </p:spPr>
        <p:txBody>
          <a:bodyPr wrap="square" rtlCol="0" anchor="ctr"/>
          <a:lstStyle/>
          <a:p>
            <a:pPr marL="0" indent="0" algn="l">
              <a:buNone/>
            </a:pPr>
            <a:r>
              <a:rPr lang="de-DE" sz="1300" i="1" dirty="0" smtClean="0">
                <a:solidFill>
                  <a:srgbClr val="A0AEC0"/>
                </a:solidFill>
                <a:latin typeface="Calibri" pitchFamily="34" charset="0"/>
                <a:ea typeface="Calibri" pitchFamily="34" charset="-122"/>
                <a:cs typeface="Calibri" pitchFamily="34" charset="-120"/>
              </a:rPr>
              <a:t>Muhammad Umer Hayat</a:t>
            </a:r>
          </a:p>
        </p:txBody>
      </p:sp>
      <p:sp>
        <p:nvSpPr>
          <p:cNvPr id="4" name="Text 2"/>
          <p:cNvSpPr/>
          <p:nvPr/>
        </p:nvSpPr>
        <p:spPr>
          <a:xfrm>
            <a:off x="548640" y="4389120"/>
            <a:ext cx="7315200" cy="365760"/>
          </a:xfrm>
          <a:prstGeom prst="rect">
            <a:avLst/>
          </a:prstGeom>
          <a:noFill/>
          <a:ln/>
        </p:spPr>
        <p:txBody>
          <a:bodyPr wrap="square" rtlCol="0" anchor="ctr"/>
          <a:lstStyle/>
          <a:p>
            <a:pPr marL="0" indent="0" algn="l">
              <a:buNone/>
            </a:pPr>
            <a:r>
              <a:rPr lang="en-US" sz="1300" dirty="0">
                <a:solidFill>
                  <a:srgbClr val="A0AEC0"/>
                </a:solidFill>
                <a:latin typeface="Calibri" pitchFamily="34" charset="0"/>
                <a:ea typeface="Calibri" pitchFamily="34" charset="-122"/>
                <a:cs typeface="Calibri" pitchFamily="34" charset="-120"/>
              </a:rPr>
              <a:t>Electronics Engineering  ·  Hochschule Hamm-Lippstadt</a:t>
            </a:r>
            <a:endParaRPr lang="en-US" sz="13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lstStyle/>
          <a:p>
            <a:pPr marL="0" indent="0">
              <a:buNone/>
            </a:pPr>
            <a:r>
              <a:rPr lang="en-US" sz="3000" b="1" dirty="0">
                <a:solidFill>
                  <a:srgbClr val="1A1A2E"/>
                </a:solidFill>
                <a:latin typeface="Calibri" pitchFamily="34" charset="0"/>
                <a:ea typeface="Calibri" pitchFamily="34" charset="-122"/>
                <a:cs typeface="Calibri" pitchFamily="34" charset="-120"/>
              </a:rPr>
              <a:t>Motivation</a:t>
            </a:r>
            <a:endParaRPr lang="en-US" sz="3000" dirty="0"/>
          </a:p>
        </p:txBody>
      </p:sp>
      <p:sp>
        <p:nvSpPr>
          <p:cNvPr id="8" name="Text 6"/>
          <p:cNvSpPr/>
          <p:nvPr/>
        </p:nvSpPr>
        <p:spPr>
          <a:xfrm>
            <a:off x="777240" y="2880360"/>
            <a:ext cx="7863840" cy="777240"/>
          </a:xfrm>
          <a:prstGeom prst="rect">
            <a:avLst/>
          </a:prstGeom>
          <a:noFill/>
          <a:ln/>
        </p:spPr>
        <p:txBody>
          <a:bodyPr wrap="square" rtlCol="0" anchor="ctr"/>
          <a:lstStyle/>
          <a:p>
            <a:pPr marL="0" indent="0" algn="l">
              <a:buNone/>
            </a:pPr>
            <a:endParaRPr lang="en-US" sz="1500" dirty="0"/>
          </a:p>
        </p:txBody>
      </p:sp>
      <p:sp>
        <p:nvSpPr>
          <p:cNvPr id="11" name="TextBox 10"/>
          <p:cNvSpPr txBox="1"/>
          <p:nvPr/>
        </p:nvSpPr>
        <p:spPr>
          <a:xfrm>
            <a:off x="457200" y="1307306"/>
            <a:ext cx="5886450" cy="2462213"/>
          </a:xfrm>
          <a:prstGeom prst="rect">
            <a:avLst/>
          </a:prstGeom>
          <a:noFill/>
        </p:spPr>
        <p:txBody>
          <a:bodyPr wrap="square" rtlCol="0">
            <a:spAutoFit/>
          </a:bodyPr>
          <a:lstStyle/>
          <a:p>
            <a:pPr marL="285750"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Memory access is often slower than computation</a:t>
            </a:r>
            <a:r>
              <a:rPr lang="en-US" sz="1400" dirty="0" smtClean="0">
                <a:latin typeface="Calibri" panose="020F0502020204030204" pitchFamily="34" charset="0"/>
                <a:ea typeface="Calibri" panose="020F0502020204030204" pitchFamily="34" charset="0"/>
                <a:cs typeface="Calibri" panose="020F0502020204030204" pitchFamily="34" charset="0"/>
              </a:rPr>
              <a:t>.</a:t>
            </a:r>
          </a:p>
          <a:p>
            <a:pPr marL="285750" indent="-285750">
              <a:buFont typeface="Arial" panose="020B0604020202020204" pitchFamily="34" charset="0"/>
              <a:buChar char="•"/>
            </a:pPr>
            <a:endParaRPr lang="en-US" sz="1400" dirty="0" smtClean="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Multiple operations may compete for the same memory bank</a:t>
            </a:r>
            <a:r>
              <a:rPr lang="en-US" sz="1400" dirty="0" smtClean="0">
                <a:latin typeface="Calibri" panose="020F0502020204030204" pitchFamily="34" charset="0"/>
                <a:ea typeface="Calibri" panose="020F0502020204030204" pitchFamily="34" charset="0"/>
                <a:cs typeface="Calibri" panose="020F0502020204030204" pitchFamily="34" charset="0"/>
              </a:rPr>
              <a:t>.</a:t>
            </a:r>
          </a:p>
          <a:p>
            <a:pPr marL="285750" indent="-285750">
              <a:buFont typeface="Arial" panose="020B0604020202020204" pitchFamily="34" charset="0"/>
              <a:buChar char="•"/>
            </a:pPr>
            <a:endParaRPr lang="en-US" sz="1400" dirty="0" smtClean="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Memory conflicts increase execution latency</a:t>
            </a:r>
            <a:r>
              <a:rPr lang="en-US" sz="1400" dirty="0" smtClean="0">
                <a:latin typeface="Calibri" panose="020F0502020204030204" pitchFamily="34" charset="0"/>
                <a:ea typeface="Calibri" panose="020F0502020204030204" pitchFamily="34" charset="0"/>
                <a:cs typeface="Calibri" panose="020F0502020204030204" pitchFamily="34" charset="0"/>
              </a:rPr>
              <a:t>.</a:t>
            </a:r>
          </a:p>
          <a:p>
            <a:pPr marL="285750" indent="-285750">
              <a:buFont typeface="Arial" panose="020B0604020202020204" pitchFamily="34" charset="0"/>
              <a:buChar char="•"/>
            </a:pPr>
            <a:endParaRPr lang="en-US" sz="1400" dirty="0" smtClean="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Adding more memory improves parallelism but increases hardware cost and area</a:t>
            </a:r>
            <a:r>
              <a:rPr lang="en-US" sz="1400" dirty="0" smtClean="0">
                <a:latin typeface="Calibri" panose="020F0502020204030204" pitchFamily="34" charset="0"/>
                <a:ea typeface="Calibri" panose="020F0502020204030204" pitchFamily="34" charset="0"/>
                <a:cs typeface="Calibri" panose="020F0502020204030204" pitchFamily="34" charset="0"/>
              </a:rPr>
              <a:t>.</a:t>
            </a:r>
          </a:p>
          <a:p>
            <a:pPr marL="285750" indent="-285750">
              <a:buFont typeface="Arial" panose="020B0604020202020204" pitchFamily="34" charset="0"/>
              <a:buChar char="•"/>
            </a:pPr>
            <a:endParaRPr lang="en-US" sz="1400" dirty="0" smtClean="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Memory optimization balances performance, latency, and hardware resources.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4652"/>
            <a:ext cx="8229600" cy="594360"/>
          </a:xfrm>
          <a:prstGeom prst="rect">
            <a:avLst/>
          </a:prstGeom>
          <a:noFill/>
          <a:ln/>
        </p:spPr>
        <p:txBody>
          <a:bodyPr wrap="square" rtlCol="0" anchor="ctr"/>
          <a:lstStyle/>
          <a:p>
            <a:pPr marL="0" indent="0">
              <a:buNone/>
            </a:pPr>
            <a:r>
              <a:rPr lang="en-US" sz="3000" b="1" dirty="0" smtClean="0">
                <a:solidFill>
                  <a:srgbClr val="1A1A2E"/>
                </a:solidFill>
                <a:latin typeface="Calibri" pitchFamily="34" charset="0"/>
                <a:ea typeface="Calibri" pitchFamily="34" charset="-122"/>
                <a:cs typeface="Calibri" pitchFamily="34" charset="-120"/>
              </a:rPr>
              <a:t>High-Level </a:t>
            </a:r>
            <a:r>
              <a:rPr lang="en-US" sz="3000" b="1" dirty="0">
                <a:solidFill>
                  <a:srgbClr val="1A1A2E"/>
                </a:solidFill>
                <a:latin typeface="Calibri" pitchFamily="34" charset="0"/>
                <a:ea typeface="Calibri" pitchFamily="34" charset="-122"/>
                <a:cs typeface="Calibri" pitchFamily="34" charset="-120"/>
              </a:rPr>
              <a:t>Synthesis</a:t>
            </a:r>
            <a:endParaRPr lang="en-US" sz="3000" dirty="0"/>
          </a:p>
        </p:txBody>
      </p:sp>
      <p:sp>
        <p:nvSpPr>
          <p:cNvPr id="3" name="Shape 1"/>
          <p:cNvSpPr/>
          <p:nvPr/>
        </p:nvSpPr>
        <p:spPr>
          <a:xfrm>
            <a:off x="347186" y="1005840"/>
            <a:ext cx="3840480" cy="3474720"/>
          </a:xfrm>
          <a:prstGeom prst="roundRect">
            <a:avLst>
              <a:gd name="adj" fmla="val 2632"/>
            </a:avLst>
          </a:prstGeom>
          <a:solidFill>
            <a:srgbClr val="E8F0FB"/>
          </a:solidFill>
          <a:ln/>
          <a:effectLst>
            <a:outerShdw blurRad="50800" dist="25400" dir="2700000" algn="bl" rotWithShape="0">
              <a:srgbClr val="000000">
                <a:alpha val="8000"/>
              </a:srgbClr>
            </a:outerShdw>
          </a:effectLst>
        </p:spPr>
      </p:sp>
      <p:sp>
        <p:nvSpPr>
          <p:cNvPr id="4" name="Text 2"/>
          <p:cNvSpPr/>
          <p:nvPr/>
        </p:nvSpPr>
        <p:spPr>
          <a:xfrm>
            <a:off x="548640" y="1143000"/>
            <a:ext cx="3474720" cy="411480"/>
          </a:xfrm>
          <a:prstGeom prst="rect">
            <a:avLst/>
          </a:prstGeom>
          <a:noFill/>
          <a:ln/>
        </p:spPr>
        <p:txBody>
          <a:bodyPr wrap="square" rtlCol="0" anchor="ctr"/>
          <a:lstStyle/>
          <a:p>
            <a:pPr marL="0" indent="0">
              <a:buNone/>
            </a:pPr>
            <a:endParaRPr lang="en-US" sz="1600" dirty="0"/>
          </a:p>
        </p:txBody>
      </p:sp>
      <p:sp>
        <p:nvSpPr>
          <p:cNvPr id="5" name="Text 3"/>
          <p:cNvSpPr/>
          <p:nvPr/>
        </p:nvSpPr>
        <p:spPr>
          <a:xfrm>
            <a:off x="548640" y="1359190"/>
            <a:ext cx="3474720" cy="640080"/>
          </a:xfrm>
          <a:prstGeom prst="rect">
            <a:avLst/>
          </a:prstGeom>
          <a:noFill/>
          <a:ln/>
        </p:spPr>
        <p:txBody>
          <a:bodyPr wrap="square" rtlCol="0" anchor="ctr"/>
          <a:lstStyle/>
          <a:p>
            <a:pPr marL="0" indent="0">
              <a:buNone/>
            </a:pPr>
            <a:r>
              <a:rPr lang="en-US" sz="1350" b="1" dirty="0">
                <a:latin typeface="Calibri" pitchFamily="34" charset="0"/>
                <a:ea typeface="Calibri" pitchFamily="34" charset="-122"/>
                <a:cs typeface="Calibri" pitchFamily="34" charset="-120"/>
              </a:rPr>
              <a:t>›  </a:t>
            </a:r>
            <a:r>
              <a:rPr lang="en-US" sz="1350" dirty="0">
                <a:latin typeface="Calibri" pitchFamily="34" charset="0"/>
                <a:ea typeface="Calibri" pitchFamily="34" charset="-122"/>
                <a:cs typeface="Calibri" pitchFamily="34" charset="-120"/>
              </a:rPr>
              <a:t>Translates a behavioural algorithm (e.g. C/MATLAB) into RTL hardware automatically.</a:t>
            </a:r>
            <a:endParaRPr lang="en-US" sz="1350" dirty="0"/>
          </a:p>
        </p:txBody>
      </p:sp>
      <p:sp>
        <p:nvSpPr>
          <p:cNvPr id="6" name="Text 4"/>
          <p:cNvSpPr/>
          <p:nvPr/>
        </p:nvSpPr>
        <p:spPr>
          <a:xfrm>
            <a:off x="548640" y="2238647"/>
            <a:ext cx="3474720" cy="640080"/>
          </a:xfrm>
          <a:prstGeom prst="rect">
            <a:avLst/>
          </a:prstGeom>
          <a:noFill/>
          <a:ln/>
        </p:spPr>
        <p:txBody>
          <a:bodyPr wrap="square" rtlCol="0" anchor="ctr"/>
          <a:lstStyle/>
          <a:p>
            <a:pPr marL="0" indent="0">
              <a:buNone/>
            </a:pPr>
            <a:r>
              <a:rPr lang="en-US" sz="1350" b="1" dirty="0">
                <a:solidFill>
                  <a:srgbClr val="2E5FA3"/>
                </a:solidFill>
                <a:latin typeface="Calibri" pitchFamily="34" charset="0"/>
                <a:ea typeface="Calibri" pitchFamily="34" charset="-122"/>
                <a:cs typeface="Calibri" pitchFamily="34" charset="-120"/>
              </a:rPr>
              <a:t>›  </a:t>
            </a:r>
            <a:r>
              <a:rPr lang="en-US" sz="1350" dirty="0">
                <a:latin typeface="Calibri" pitchFamily="34" charset="0"/>
                <a:ea typeface="Calibri" pitchFamily="34" charset="-122"/>
                <a:cs typeface="Calibri" pitchFamily="34" charset="-120"/>
              </a:rPr>
              <a:t>Performs scheduling, binding, and resource allocation.</a:t>
            </a:r>
            <a:endParaRPr lang="en-US" sz="1350" dirty="0"/>
          </a:p>
        </p:txBody>
      </p:sp>
      <p:sp>
        <p:nvSpPr>
          <p:cNvPr id="7" name="Text 5"/>
          <p:cNvSpPr/>
          <p:nvPr/>
        </p:nvSpPr>
        <p:spPr>
          <a:xfrm>
            <a:off x="548640" y="3118104"/>
            <a:ext cx="3474720" cy="640080"/>
          </a:xfrm>
          <a:prstGeom prst="rect">
            <a:avLst/>
          </a:prstGeom>
          <a:noFill/>
          <a:ln/>
        </p:spPr>
        <p:txBody>
          <a:bodyPr wrap="square" rtlCol="0" anchor="ctr"/>
          <a:lstStyle/>
          <a:p>
            <a:r>
              <a:rPr lang="en-US" sz="1350" b="1" dirty="0" smtClean="0">
                <a:solidFill>
                  <a:srgbClr val="2E5FA3"/>
                </a:solidFill>
                <a:latin typeface="Calibri" pitchFamily="34" charset="0"/>
                <a:ea typeface="Calibri" pitchFamily="34" charset="-122"/>
                <a:cs typeface="Calibri" pitchFamily="34" charset="-120"/>
              </a:rPr>
              <a:t>›</a:t>
            </a:r>
            <a:r>
              <a:rPr lang="en-US" sz="1400" dirty="0">
                <a:latin typeface="Calibri" panose="020F0502020204030204" pitchFamily="34" charset="0"/>
                <a:ea typeface="Calibri" panose="020F0502020204030204" pitchFamily="34" charset="0"/>
                <a:cs typeface="Calibri" panose="020F0502020204030204" pitchFamily="34" charset="0"/>
              </a:rPr>
              <a:t>Traditional HLS mainly optimizes computation resources, while memory accesses </a:t>
            </a:r>
            <a:r>
              <a:rPr lang="en-US" sz="1400" dirty="0" smtClean="0">
                <a:latin typeface="Calibri" panose="020F0502020204030204" pitchFamily="34" charset="0"/>
                <a:ea typeface="Calibri" panose="020F0502020204030204" pitchFamily="34" charset="0"/>
                <a:cs typeface="Calibri" panose="020F0502020204030204" pitchFamily="34" charset="0"/>
              </a:rPr>
              <a:t>are </a:t>
            </a:r>
            <a:r>
              <a:rPr lang="en-US" sz="1400" dirty="0">
                <a:latin typeface="Calibri" panose="020F0502020204030204" pitchFamily="34" charset="0"/>
                <a:ea typeface="Calibri" panose="020F0502020204030204" pitchFamily="34" charset="0"/>
                <a:cs typeface="Calibri" panose="020F0502020204030204" pitchFamily="34" charset="0"/>
              </a:rPr>
              <a:t>treated separately</a:t>
            </a:r>
            <a:r>
              <a:rPr lang="en-US" sz="1400" dirty="0"/>
              <a:t>.</a:t>
            </a:r>
          </a:p>
        </p:txBody>
      </p:sp>
      <p:sp>
        <p:nvSpPr>
          <p:cNvPr id="9" name="Shape 7"/>
          <p:cNvSpPr/>
          <p:nvPr/>
        </p:nvSpPr>
        <p:spPr>
          <a:xfrm>
            <a:off x="4572000" y="1005840"/>
            <a:ext cx="4206240" cy="3680460"/>
          </a:xfrm>
          <a:prstGeom prst="roundRect">
            <a:avLst>
              <a:gd name="adj" fmla="val 2632"/>
            </a:avLst>
          </a:prstGeom>
          <a:solidFill>
            <a:srgbClr val="F0F4FF"/>
          </a:solidFill>
          <a:ln/>
          <a:effectLst>
            <a:outerShdw blurRad="50800" dist="25400" dir="2700000" algn="bl" rotWithShape="0">
              <a:srgbClr val="000000">
                <a:alpha val="8000"/>
              </a:srgbClr>
            </a:outerShdw>
          </a:effectLst>
        </p:spPr>
      </p:sp>
      <p:sp>
        <p:nvSpPr>
          <p:cNvPr id="10" name="Text 8"/>
          <p:cNvSpPr/>
          <p:nvPr/>
        </p:nvSpPr>
        <p:spPr>
          <a:xfrm>
            <a:off x="4754880" y="1143000"/>
            <a:ext cx="3749040" cy="411480"/>
          </a:xfrm>
          <a:prstGeom prst="rect">
            <a:avLst/>
          </a:prstGeom>
          <a:noFill/>
          <a:ln/>
        </p:spPr>
        <p:txBody>
          <a:bodyPr wrap="square" rtlCol="0" anchor="ctr"/>
          <a:lstStyle/>
          <a:p>
            <a:pPr marL="0" indent="0">
              <a:buNone/>
            </a:pPr>
            <a:r>
              <a:rPr lang="en-US" sz="1600" b="1" dirty="0">
                <a:solidFill>
                  <a:srgbClr val="2E5FA3"/>
                </a:solidFill>
                <a:latin typeface="Calibri" pitchFamily="34" charset="0"/>
                <a:ea typeface="Calibri" pitchFamily="34" charset="-122"/>
                <a:cs typeface="Calibri" pitchFamily="34" charset="-120"/>
              </a:rPr>
              <a:t>Generic Architecture</a:t>
            </a:r>
            <a:endParaRPr lang="en-US" sz="1600" dirty="0"/>
          </a:p>
        </p:txBody>
      </p:sp>
      <p:sp>
        <p:nvSpPr>
          <p:cNvPr id="11" name="Shape 9"/>
          <p:cNvSpPr/>
          <p:nvPr/>
        </p:nvSpPr>
        <p:spPr>
          <a:xfrm>
            <a:off x="6027896" y="1988820"/>
            <a:ext cx="1371600" cy="640080"/>
          </a:xfrm>
          <a:prstGeom prst="roundRect">
            <a:avLst>
              <a:gd name="adj" fmla="val 11429"/>
            </a:avLst>
          </a:prstGeom>
          <a:solidFill>
            <a:srgbClr val="2E5FA3"/>
          </a:solidFill>
          <a:ln/>
        </p:spPr>
      </p:sp>
      <p:sp>
        <p:nvSpPr>
          <p:cNvPr id="12" name="Text 10"/>
          <p:cNvSpPr/>
          <p:nvPr/>
        </p:nvSpPr>
        <p:spPr>
          <a:xfrm>
            <a:off x="6029324" y="1965960"/>
            <a:ext cx="1371600" cy="64008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Processing</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Unit (PU)</a:t>
            </a:r>
            <a:endParaRPr lang="en-US" sz="1000" dirty="0"/>
          </a:p>
        </p:txBody>
      </p:sp>
      <p:sp>
        <p:nvSpPr>
          <p:cNvPr id="13" name="Shape 11"/>
          <p:cNvSpPr/>
          <p:nvPr/>
        </p:nvSpPr>
        <p:spPr>
          <a:xfrm>
            <a:off x="6005036" y="3131820"/>
            <a:ext cx="1371600" cy="640080"/>
          </a:xfrm>
          <a:prstGeom prst="roundRect">
            <a:avLst>
              <a:gd name="adj" fmla="val 11429"/>
            </a:avLst>
          </a:prstGeom>
          <a:solidFill>
            <a:srgbClr val="2E7D32"/>
          </a:solidFill>
          <a:ln/>
        </p:spPr>
      </p:sp>
      <p:sp>
        <p:nvSpPr>
          <p:cNvPr id="14" name="Text 12"/>
          <p:cNvSpPr/>
          <p:nvPr/>
        </p:nvSpPr>
        <p:spPr>
          <a:xfrm>
            <a:off x="6005036" y="3087529"/>
            <a:ext cx="1371600" cy="64008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Memory</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Unit (MU)</a:t>
            </a:r>
            <a:endParaRPr lang="en-US" sz="1000" dirty="0"/>
          </a:p>
        </p:txBody>
      </p:sp>
      <p:sp>
        <p:nvSpPr>
          <p:cNvPr id="15" name="Shape 13"/>
          <p:cNvSpPr/>
          <p:nvPr/>
        </p:nvSpPr>
        <p:spPr>
          <a:xfrm>
            <a:off x="6690836" y="2628900"/>
            <a:ext cx="0" cy="457200"/>
          </a:xfrm>
          <a:prstGeom prst="line">
            <a:avLst/>
          </a:prstGeom>
          <a:noFill/>
          <a:ln w="19050">
            <a:solidFill>
              <a:srgbClr val="1A1A2E"/>
            </a:solidFill>
            <a:prstDash val="solid"/>
          </a:ln>
        </p:spPr>
      </p:sp>
      <p:sp>
        <p:nvSpPr>
          <p:cNvPr id="16" name="Shape 14"/>
          <p:cNvSpPr/>
          <p:nvPr/>
        </p:nvSpPr>
        <p:spPr>
          <a:xfrm>
            <a:off x="5204936" y="2331720"/>
            <a:ext cx="822960" cy="0"/>
          </a:xfrm>
          <a:prstGeom prst="line">
            <a:avLst/>
          </a:prstGeom>
          <a:noFill/>
          <a:ln w="19050">
            <a:solidFill>
              <a:srgbClr val="1A1A2E"/>
            </a:solidFill>
            <a:prstDash val="solid"/>
          </a:ln>
        </p:spPr>
      </p:sp>
      <p:sp>
        <p:nvSpPr>
          <p:cNvPr id="17" name="Text 15"/>
          <p:cNvSpPr/>
          <p:nvPr/>
        </p:nvSpPr>
        <p:spPr>
          <a:xfrm>
            <a:off x="4709160" y="2194560"/>
            <a:ext cx="640080" cy="274320"/>
          </a:xfrm>
          <a:prstGeom prst="rect">
            <a:avLst/>
          </a:prstGeom>
          <a:noFill/>
          <a:ln/>
        </p:spPr>
        <p:txBody>
          <a:bodyPr wrap="square" rtlCol="0" anchor="ctr"/>
          <a:lstStyle/>
          <a:p>
            <a:pPr marL="0" indent="0" algn="ctr">
              <a:buNone/>
            </a:pPr>
            <a:r>
              <a:rPr lang="en-US" sz="1000" dirty="0">
                <a:solidFill>
                  <a:srgbClr val="4A5568"/>
                </a:solidFill>
                <a:latin typeface="Calibri" pitchFamily="34" charset="0"/>
                <a:ea typeface="Calibri" pitchFamily="34" charset="-122"/>
                <a:cs typeface="Calibri" pitchFamily="34" charset="-120"/>
              </a:rPr>
              <a:t>Input</a:t>
            </a:r>
            <a:endParaRPr lang="en-US" sz="1000" dirty="0"/>
          </a:p>
        </p:txBody>
      </p:sp>
      <p:sp>
        <p:nvSpPr>
          <p:cNvPr id="18" name="Shape 16"/>
          <p:cNvSpPr/>
          <p:nvPr/>
        </p:nvSpPr>
        <p:spPr>
          <a:xfrm>
            <a:off x="7335202" y="2331720"/>
            <a:ext cx="822960" cy="0"/>
          </a:xfrm>
          <a:prstGeom prst="line">
            <a:avLst/>
          </a:prstGeom>
          <a:noFill/>
          <a:ln w="19050">
            <a:solidFill>
              <a:srgbClr val="1A1A2E"/>
            </a:solidFill>
            <a:prstDash val="solid"/>
          </a:ln>
        </p:spPr>
      </p:sp>
      <p:sp>
        <p:nvSpPr>
          <p:cNvPr id="19" name="Text 17"/>
          <p:cNvSpPr/>
          <p:nvPr/>
        </p:nvSpPr>
        <p:spPr>
          <a:xfrm>
            <a:off x="7993856" y="2194560"/>
            <a:ext cx="731520" cy="274320"/>
          </a:xfrm>
          <a:prstGeom prst="rect">
            <a:avLst/>
          </a:prstGeom>
          <a:noFill/>
          <a:ln/>
        </p:spPr>
        <p:txBody>
          <a:bodyPr wrap="square" rtlCol="0" anchor="ctr"/>
          <a:lstStyle/>
          <a:p>
            <a:pPr marL="0" indent="0" algn="ctr">
              <a:buNone/>
            </a:pPr>
            <a:r>
              <a:rPr lang="en-US" sz="1000" dirty="0">
                <a:solidFill>
                  <a:srgbClr val="4A5568"/>
                </a:solidFill>
                <a:latin typeface="Calibri" pitchFamily="34" charset="0"/>
                <a:ea typeface="Calibri" pitchFamily="34" charset="-122"/>
                <a:cs typeface="Calibri" pitchFamily="34" charset="-120"/>
              </a:rPr>
              <a:t>Output</a:t>
            </a:r>
            <a:endParaRPr lang="en-US" sz="1000" dirty="0"/>
          </a:p>
        </p:txBody>
      </p:sp>
      <p:sp>
        <p:nvSpPr>
          <p:cNvPr id="20" name="Text 18"/>
          <p:cNvSpPr/>
          <p:nvPr/>
        </p:nvSpPr>
        <p:spPr>
          <a:xfrm>
            <a:off x="4754880" y="3840480"/>
            <a:ext cx="3749040" cy="640080"/>
          </a:xfrm>
          <a:prstGeom prst="rect">
            <a:avLst/>
          </a:prstGeom>
          <a:noFill/>
          <a:ln/>
        </p:spPr>
        <p:txBody>
          <a:bodyPr wrap="square" rtlCol="0" anchor="ctr"/>
          <a:lstStyle/>
          <a:p>
            <a:pPr marL="0" indent="0">
              <a:buNone/>
            </a:pPr>
            <a:r>
              <a:rPr lang="en-US" sz="1250" dirty="0">
                <a:solidFill>
                  <a:srgbClr val="4A5568"/>
                </a:solidFill>
                <a:latin typeface="Calibri" pitchFamily="34" charset="0"/>
                <a:ea typeface="Calibri" pitchFamily="34" charset="-122"/>
                <a:cs typeface="Calibri" pitchFamily="34" charset="-120"/>
              </a:rPr>
              <a:t>The designer </a:t>
            </a:r>
            <a:r>
              <a:rPr lang="en-US" sz="1250" dirty="0" smtClean="0">
                <a:solidFill>
                  <a:srgbClr val="4A5568"/>
                </a:solidFill>
                <a:latin typeface="Calibri" pitchFamily="34" charset="0"/>
                <a:ea typeface="Calibri" pitchFamily="34" charset="-122"/>
                <a:cs typeface="Calibri" pitchFamily="34" charset="-120"/>
              </a:rPr>
              <a:t>must specify:</a:t>
            </a:r>
            <a:endParaRPr lang="en-US" sz="1250" dirty="0"/>
          </a:p>
          <a:p>
            <a:pPr marL="0" indent="0">
              <a:buNone/>
            </a:pPr>
            <a:r>
              <a:rPr lang="en-US" sz="1250" dirty="0" smtClean="0">
                <a:solidFill>
                  <a:srgbClr val="4A5568"/>
                </a:solidFill>
                <a:latin typeface="Calibri" pitchFamily="34" charset="0"/>
                <a:ea typeface="Calibri" pitchFamily="34" charset="-122"/>
                <a:cs typeface="Calibri" pitchFamily="34" charset="-120"/>
              </a:rPr>
              <a:t>• </a:t>
            </a:r>
            <a:r>
              <a:rPr lang="en-US" sz="1250" dirty="0">
                <a:solidFill>
                  <a:srgbClr val="4A5568"/>
                </a:solidFill>
                <a:latin typeface="Calibri" pitchFamily="34" charset="0"/>
                <a:ea typeface="Calibri" pitchFamily="34" charset="-122"/>
                <a:cs typeface="Calibri" pitchFamily="34" charset="-120"/>
              </a:rPr>
              <a:t>Memory mapping</a:t>
            </a:r>
            <a:endParaRPr lang="en-US" sz="1250" dirty="0"/>
          </a:p>
          <a:p>
            <a:pPr marL="0" indent="0">
              <a:buNone/>
            </a:pPr>
            <a:r>
              <a:rPr lang="en-US" sz="1250" dirty="0">
                <a:solidFill>
                  <a:srgbClr val="4A5568"/>
                </a:solidFill>
                <a:latin typeface="Calibri" pitchFamily="34" charset="0"/>
                <a:ea typeface="Calibri" pitchFamily="34" charset="-122"/>
                <a:cs typeface="Calibri" pitchFamily="34" charset="-120"/>
              </a:rPr>
              <a:t>• Latency budget</a:t>
            </a:r>
            <a:endParaRPr lang="en-US" sz="125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5050971" y="766354"/>
            <a:ext cx="3811811" cy="3813445"/>
          </a:xfrm>
          <a:prstGeom prst="rect">
            <a:avLst/>
          </a:prstGeom>
        </p:spPr>
      </p:pic>
      <p:sp>
        <p:nvSpPr>
          <p:cNvPr id="3" name="TextBox 2"/>
          <p:cNvSpPr txBox="1"/>
          <p:nvPr/>
        </p:nvSpPr>
        <p:spPr>
          <a:xfrm>
            <a:off x="566057" y="1515291"/>
            <a:ext cx="4023360" cy="2677656"/>
          </a:xfrm>
          <a:prstGeom prst="rect">
            <a:avLst/>
          </a:prstGeom>
          <a:noFill/>
        </p:spPr>
        <p:txBody>
          <a:bodyPr wrap="square" rtlCol="0">
            <a:spAutoFit/>
          </a:bodyPr>
          <a:lstStyle/>
          <a:p>
            <a:pPr marL="285750"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Convert the input algorithm into a Signal Flow Graph (SFG</a:t>
            </a:r>
            <a:r>
              <a:rPr lang="en-US" sz="1400" dirty="0" smtClean="0">
                <a:latin typeface="Calibri" panose="020F0502020204030204" pitchFamily="34" charset="0"/>
                <a:ea typeface="Calibri" panose="020F0502020204030204" pitchFamily="34" charset="0"/>
                <a:cs typeface="Calibri" panose="020F0502020204030204" pitchFamily="34" charset="0"/>
              </a:rPr>
              <a:t>)</a:t>
            </a:r>
          </a:p>
          <a:p>
            <a:pPr marL="285750" indent="-285750">
              <a:buFont typeface="Arial" panose="020B0604020202020204" pitchFamily="34" charset="0"/>
              <a:buChar char="•"/>
            </a:pPr>
            <a:endParaRPr lang="en-US" sz="1400" dirty="0" smtClean="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Define memory </a:t>
            </a:r>
            <a:r>
              <a:rPr lang="en-US" sz="1400" dirty="0" smtClean="0">
                <a:latin typeface="Calibri" panose="020F0502020204030204" pitchFamily="34" charset="0"/>
                <a:ea typeface="Calibri" panose="020F0502020204030204" pitchFamily="34" charset="0"/>
                <a:cs typeface="Calibri" panose="020F0502020204030204" pitchFamily="34" charset="0"/>
              </a:rPr>
              <a:t>mapping</a:t>
            </a:r>
          </a:p>
          <a:p>
            <a:pPr marL="285750" indent="-285750">
              <a:buFont typeface="Arial" panose="020B0604020202020204" pitchFamily="34" charset="0"/>
              <a:buChar char="•"/>
            </a:pPr>
            <a:endParaRPr lang="en-US" sz="1400" dirty="0" smtClean="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Generate constraint graphs to represent timing and memory </a:t>
            </a:r>
            <a:r>
              <a:rPr lang="en-US" sz="1400" dirty="0" smtClean="0">
                <a:latin typeface="Calibri" panose="020F0502020204030204" pitchFamily="34" charset="0"/>
                <a:ea typeface="Calibri" panose="020F0502020204030204" pitchFamily="34" charset="0"/>
                <a:cs typeface="Calibri" panose="020F0502020204030204" pitchFamily="34" charset="0"/>
              </a:rPr>
              <a:t>requirements</a:t>
            </a:r>
          </a:p>
          <a:p>
            <a:pPr marL="285750" indent="-285750">
              <a:buFont typeface="Arial" panose="020B0604020202020204" pitchFamily="34" charset="0"/>
              <a:buChar char="•"/>
            </a:pPr>
            <a:endParaRPr lang="en-US" sz="1400" dirty="0" smtClean="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Schedule operations while avoiding memory access conflicts</a:t>
            </a:r>
            <a:r>
              <a:rPr lang="en-US" sz="1400" dirty="0" smtClean="0">
                <a:latin typeface="Calibri" panose="020F0502020204030204" pitchFamily="34" charset="0"/>
                <a:ea typeface="Calibri" panose="020F0502020204030204" pitchFamily="34" charset="0"/>
                <a:cs typeface="Calibri" panose="020F0502020204030204" pitchFamily="34" charset="0"/>
              </a:rPr>
              <a:t>.</a:t>
            </a:r>
          </a:p>
          <a:p>
            <a:pPr marL="285750" indent="-285750">
              <a:buFont typeface="Arial" panose="020B0604020202020204" pitchFamily="34" charset="0"/>
              <a:buChar char="•"/>
            </a:pPr>
            <a:endParaRPr lang="en-US" sz="1400" dirty="0" smtClean="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Generate final RTL architecture</a:t>
            </a:r>
            <a:endParaRPr lang="en-US" sz="1400" dirty="0" smtClean="0">
              <a:latin typeface="Calibri" panose="020F0502020204030204" pitchFamily="34" charset="0"/>
              <a:ea typeface="Calibri" panose="020F0502020204030204" pitchFamily="34" charset="0"/>
              <a:cs typeface="Calibri" panose="020F0502020204030204" pitchFamily="34" charset="0"/>
            </a:endParaRPr>
          </a:p>
        </p:txBody>
      </p:sp>
      <p:sp>
        <p:nvSpPr>
          <p:cNvPr id="5" name="TextBox 4"/>
          <p:cNvSpPr txBox="1"/>
          <p:nvPr/>
        </p:nvSpPr>
        <p:spPr>
          <a:xfrm>
            <a:off x="938784" y="766354"/>
            <a:ext cx="3060192" cy="400110"/>
          </a:xfrm>
          <a:prstGeom prst="rect">
            <a:avLst/>
          </a:prstGeom>
          <a:noFill/>
        </p:spPr>
        <p:txBody>
          <a:bodyPr wrap="square" rtlCol="0">
            <a:spAutoFit/>
          </a:bodyPr>
          <a:lstStyle/>
          <a:p>
            <a:r>
              <a:rPr lang="de-DE" sz="2000" b="1" dirty="0" smtClean="0"/>
              <a:t>Design flow </a:t>
            </a:r>
            <a:endParaRPr lang="en-US" sz="2000" b="1" dirty="0"/>
          </a:p>
        </p:txBody>
      </p:sp>
    </p:spTree>
    <p:extLst>
      <p:ext uri="{BB962C8B-B14F-4D97-AF65-F5344CB8AC3E}">
        <p14:creationId xmlns:p14="http://schemas.microsoft.com/office/powerpoint/2010/main" val="320498238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95680" y="508000"/>
            <a:ext cx="3637280" cy="369332"/>
          </a:xfrm>
          <a:prstGeom prst="rect">
            <a:avLst/>
          </a:prstGeom>
          <a:noFill/>
        </p:spPr>
        <p:txBody>
          <a:bodyPr wrap="square" rtlCol="0">
            <a:spAutoFit/>
          </a:bodyPr>
          <a:lstStyle/>
          <a:p>
            <a:r>
              <a:rPr lang="de-DE" b="1" dirty="0" smtClean="0">
                <a:latin typeface="Calibri" panose="020F0502020204030204" pitchFamily="34" charset="0"/>
                <a:ea typeface="Calibri" panose="020F0502020204030204" pitchFamily="34" charset="0"/>
                <a:cs typeface="Calibri" panose="020F0502020204030204" pitchFamily="34" charset="0"/>
              </a:rPr>
              <a:t>Memory Constraint Graph (MCG)</a:t>
            </a:r>
            <a:endParaRPr lang="en-US" b="1" dirty="0">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p:cNvPicPr>
            <a:picLocks noChangeAspect="1"/>
          </p:cNvPicPr>
          <p:nvPr/>
        </p:nvPicPr>
        <p:blipFill>
          <a:blip r:embed="rId3"/>
          <a:stretch>
            <a:fillRect/>
          </a:stretch>
        </p:blipFill>
        <p:spPr>
          <a:xfrm>
            <a:off x="4897120" y="721360"/>
            <a:ext cx="3914448" cy="3991795"/>
          </a:xfrm>
          <a:prstGeom prst="rect">
            <a:avLst/>
          </a:prstGeom>
        </p:spPr>
      </p:pic>
      <p:sp>
        <p:nvSpPr>
          <p:cNvPr id="4" name="TextBox 3"/>
          <p:cNvSpPr txBox="1"/>
          <p:nvPr/>
        </p:nvSpPr>
        <p:spPr>
          <a:xfrm>
            <a:off x="406400" y="1381760"/>
            <a:ext cx="4490720" cy="2893100"/>
          </a:xfrm>
          <a:prstGeom prst="rect">
            <a:avLst/>
          </a:prstGeom>
          <a:noFill/>
        </p:spPr>
        <p:txBody>
          <a:bodyPr wrap="square" rtlCol="0">
            <a:spAutoFit/>
          </a:bodyPr>
          <a:lstStyle/>
          <a:p>
            <a:pPr marL="285750" indent="-285750">
              <a:buFont typeface="Arial" panose="020B0604020202020204" pitchFamily="34" charset="0"/>
              <a:buChar char="•"/>
            </a:pPr>
            <a:r>
              <a:rPr lang="en-US" sz="1400" dirty="0" smtClean="0">
                <a:latin typeface="Calibri" panose="020F0502020204030204" pitchFamily="34" charset="0"/>
                <a:ea typeface="Calibri" panose="020F0502020204030204" pitchFamily="34" charset="0"/>
                <a:cs typeface="Calibri" panose="020F0502020204030204" pitchFamily="34" charset="0"/>
              </a:rPr>
              <a:t>The</a:t>
            </a:r>
            <a:r>
              <a:rPr lang="en-US" sz="1400" dirty="0">
                <a:latin typeface="Calibri" panose="020F0502020204030204" pitchFamily="34" charset="0"/>
                <a:ea typeface="Calibri" panose="020F0502020204030204" pitchFamily="34" charset="0"/>
                <a:cs typeface="Calibri" panose="020F0502020204030204" pitchFamily="34" charset="0"/>
              </a:rPr>
              <a:t> </a:t>
            </a:r>
            <a:r>
              <a:rPr lang="en-US" sz="1400" i="1" dirty="0">
                <a:latin typeface="Calibri" panose="020F0502020204030204" pitchFamily="34" charset="0"/>
                <a:ea typeface="Calibri" panose="020F0502020204030204" pitchFamily="34" charset="0"/>
                <a:cs typeface="Calibri" panose="020F0502020204030204" pitchFamily="34" charset="0"/>
              </a:rPr>
              <a:t>MCG</a:t>
            </a:r>
            <a:r>
              <a:rPr lang="en-US" sz="1400" dirty="0">
                <a:latin typeface="Calibri" panose="020F0502020204030204" pitchFamily="34" charset="0"/>
                <a:ea typeface="Calibri" panose="020F0502020204030204" pitchFamily="34" charset="0"/>
                <a:cs typeface="Calibri" panose="020F0502020204030204" pitchFamily="34" charset="0"/>
              </a:rPr>
              <a:t> is constructed from the </a:t>
            </a:r>
            <a:r>
              <a:rPr lang="en-US" sz="1400" i="1" dirty="0">
                <a:latin typeface="Calibri" panose="020F0502020204030204" pitchFamily="34" charset="0"/>
                <a:ea typeface="Calibri" panose="020F0502020204030204" pitchFamily="34" charset="0"/>
                <a:cs typeface="Calibri" panose="020F0502020204030204" pitchFamily="34" charset="0"/>
              </a:rPr>
              <a:t>SFG</a:t>
            </a:r>
            <a:r>
              <a:rPr lang="en-US" sz="1400" dirty="0">
                <a:latin typeface="Calibri" panose="020F0502020204030204" pitchFamily="34" charset="0"/>
                <a:ea typeface="Calibri" panose="020F0502020204030204" pitchFamily="34" charset="0"/>
                <a:cs typeface="Calibri" panose="020F0502020204030204" pitchFamily="34" charset="0"/>
              </a:rPr>
              <a:t> and the memory mapping </a:t>
            </a:r>
            <a:r>
              <a:rPr lang="en-US" sz="1400" dirty="0" smtClean="0">
                <a:latin typeface="Calibri" panose="020F0502020204030204" pitchFamily="34" charset="0"/>
                <a:ea typeface="Calibri" panose="020F0502020204030204" pitchFamily="34" charset="0"/>
                <a:cs typeface="Calibri" panose="020F0502020204030204" pitchFamily="34" charset="0"/>
              </a:rPr>
              <a:t>file.</a:t>
            </a:r>
          </a:p>
          <a:p>
            <a:pPr marL="285750" indent="-285750">
              <a:buFont typeface="Arial" panose="020B0604020202020204" pitchFamily="34" charset="0"/>
              <a:buChar char="•"/>
            </a:pPr>
            <a:endParaRPr lang="en-US" sz="1400" dirty="0" smtClean="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400" dirty="0" smtClean="0">
                <a:latin typeface="Calibri" panose="020F0502020204030204" pitchFamily="34" charset="0"/>
                <a:ea typeface="Calibri" panose="020F0502020204030204" pitchFamily="34" charset="0"/>
                <a:cs typeface="Calibri" panose="020F0502020204030204" pitchFamily="34" charset="0"/>
              </a:rPr>
              <a:t>Identifies </a:t>
            </a:r>
            <a:r>
              <a:rPr lang="en-US" sz="1400" dirty="0">
                <a:latin typeface="Calibri" panose="020F0502020204030204" pitchFamily="34" charset="0"/>
                <a:ea typeface="Calibri" panose="020F0502020204030204" pitchFamily="34" charset="0"/>
                <a:cs typeface="Calibri" panose="020F0502020204030204" pitchFamily="34" charset="0"/>
              </a:rPr>
              <a:t>valid and conflicting memory accesses</a:t>
            </a:r>
            <a:r>
              <a:rPr lang="en-US" sz="1400" dirty="0" smtClean="0">
                <a:latin typeface="Calibri" panose="020F0502020204030204" pitchFamily="34" charset="0"/>
                <a:ea typeface="Calibri" panose="020F0502020204030204" pitchFamily="34" charset="0"/>
                <a:cs typeface="Calibri" panose="020F0502020204030204" pitchFamily="34" charset="0"/>
              </a:rPr>
              <a:t>.</a:t>
            </a:r>
          </a:p>
          <a:p>
            <a:pPr marL="285750" indent="-285750">
              <a:buFont typeface="Arial" panose="020B0604020202020204" pitchFamily="34" charset="0"/>
              <a:buChar char="•"/>
            </a:pPr>
            <a:endParaRPr lang="en-US" sz="1400" dirty="0" smtClean="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Distinguishes sequential and random memory </a:t>
            </a:r>
            <a:r>
              <a:rPr lang="en-US" sz="1400" dirty="0" smtClean="0">
                <a:latin typeface="Calibri" panose="020F0502020204030204" pitchFamily="34" charset="0"/>
                <a:ea typeface="Calibri" panose="020F0502020204030204" pitchFamily="34" charset="0"/>
                <a:cs typeface="Calibri" panose="020F0502020204030204" pitchFamily="34" charset="0"/>
              </a:rPr>
              <a:t>accesses.</a:t>
            </a:r>
          </a:p>
          <a:p>
            <a:pPr marL="285750" indent="-285750">
              <a:buFont typeface="Arial" panose="020B0604020202020204" pitchFamily="34" charset="0"/>
              <a:buChar char="•"/>
            </a:pPr>
            <a:endParaRPr lang="en-US" sz="1400" dirty="0" smtClean="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Improves memory access </a:t>
            </a:r>
            <a:r>
              <a:rPr lang="en-US" sz="1400" dirty="0" smtClean="0">
                <a:latin typeface="Calibri" panose="020F0502020204030204" pitchFamily="34" charset="0"/>
                <a:ea typeface="Calibri" panose="020F0502020204030204" pitchFamily="34" charset="0"/>
                <a:cs typeface="Calibri" panose="020F0502020204030204" pitchFamily="34" charset="0"/>
              </a:rPr>
              <a:t>efficiency using </a:t>
            </a:r>
            <a:r>
              <a:rPr lang="en-US" sz="1400" dirty="0" smtClean="0">
                <a:latin typeface="Calibri" panose="020F0502020204030204" pitchFamily="34" charset="0"/>
                <a:ea typeface="Calibri" panose="020F0502020204030204" pitchFamily="34" charset="0"/>
                <a:cs typeface="Calibri" panose="020F0502020204030204" pitchFamily="34" charset="0"/>
              </a:rPr>
              <a:t>burst </a:t>
            </a:r>
            <a:r>
              <a:rPr lang="en-US" sz="1400" dirty="0" smtClean="0">
                <a:latin typeface="Calibri" panose="020F0502020204030204" pitchFamily="34" charset="0"/>
                <a:ea typeface="Calibri" panose="020F0502020204030204" pitchFamily="34" charset="0"/>
                <a:cs typeface="Calibri" panose="020F0502020204030204" pitchFamily="34" charset="0"/>
              </a:rPr>
              <a:t>memory access.</a:t>
            </a:r>
          </a:p>
          <a:p>
            <a:pPr marL="285750" indent="-285750">
              <a:buFont typeface="Arial" panose="020B0604020202020204" pitchFamily="34" charset="0"/>
              <a:buChar char="•"/>
            </a:pPr>
            <a:endParaRPr lang="en-US"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400" dirty="0" smtClean="0">
                <a:latin typeface="Calibri" panose="020F0502020204030204" pitchFamily="34" charset="0"/>
                <a:ea typeface="Calibri" panose="020F0502020204030204" pitchFamily="34" charset="0"/>
                <a:cs typeface="Calibri" panose="020F0502020204030204" pitchFamily="34" charset="0"/>
              </a:rPr>
              <a:t>The </a:t>
            </a:r>
            <a:r>
              <a:rPr lang="en-US" sz="1400" dirty="0">
                <a:latin typeface="Calibri" panose="020F0502020204030204" pitchFamily="34" charset="0"/>
                <a:ea typeface="Calibri" panose="020F0502020204030204" pitchFamily="34" charset="0"/>
                <a:cs typeface="Calibri" panose="020F0502020204030204" pitchFamily="34" charset="0"/>
              </a:rPr>
              <a:t>scheduler uses the MCG to prioritize sequential memory accesses and minimize conflicts.</a:t>
            </a:r>
          </a:p>
        </p:txBody>
      </p:sp>
    </p:spTree>
    <p:extLst>
      <p:ext uri="{BB962C8B-B14F-4D97-AF65-F5344CB8AC3E}">
        <p14:creationId xmlns:p14="http://schemas.microsoft.com/office/powerpoint/2010/main" val="175555982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56366" y="2059522"/>
            <a:ext cx="3091543" cy="1384995"/>
          </a:xfrm>
          <a:prstGeom prst="rect">
            <a:avLst/>
          </a:prstGeom>
          <a:noFill/>
        </p:spPr>
        <p:txBody>
          <a:bodyPr wrap="square" rtlCol="0">
            <a:spAutoFit/>
          </a:bodyPr>
          <a:lstStyle/>
          <a:p>
            <a:r>
              <a:rPr lang="en-US" sz="1200" dirty="0">
                <a:latin typeface="Calibri" panose="020F0502020204030204" pitchFamily="34" charset="0"/>
                <a:ea typeface="Calibri" panose="020F0502020204030204" pitchFamily="34" charset="0"/>
                <a:cs typeface="Calibri" panose="020F0502020204030204" pitchFamily="34" charset="0"/>
              </a:rPr>
              <a:t>Sequential access total cost: 4 </a:t>
            </a:r>
            <a:r>
              <a:rPr lang="en-US" sz="1200" dirty="0" smtClean="0">
                <a:latin typeface="Calibri" panose="020F0502020204030204" pitchFamily="34" charset="0"/>
                <a:ea typeface="Calibri" panose="020F0502020204030204" pitchFamily="34" charset="0"/>
                <a:cs typeface="Calibri" panose="020F0502020204030204" pitchFamily="34" charset="0"/>
              </a:rPr>
              <a:t>cycles</a:t>
            </a:r>
          </a:p>
          <a:p>
            <a:r>
              <a:rPr lang="en-US" sz="1200" dirty="0">
                <a:latin typeface="Calibri" panose="020F0502020204030204" pitchFamily="34" charset="0"/>
                <a:ea typeface="Calibri" panose="020F0502020204030204" pitchFamily="34" charset="0"/>
                <a:cs typeface="Calibri" panose="020F0502020204030204" pitchFamily="34" charset="0"/>
              </a:rPr>
              <a:t/>
            </a: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Random access total cost: 16 </a:t>
            </a:r>
            <a:r>
              <a:rPr lang="en-US" sz="1200" dirty="0" smtClean="0">
                <a:latin typeface="Calibri" panose="020F0502020204030204" pitchFamily="34" charset="0"/>
                <a:ea typeface="Calibri" panose="020F0502020204030204" pitchFamily="34" charset="0"/>
                <a:cs typeface="Calibri" panose="020F0502020204030204" pitchFamily="34" charset="0"/>
              </a:rPr>
              <a:t>cycles</a:t>
            </a:r>
          </a:p>
          <a:p>
            <a:endParaRPr lang="de-DE" sz="1200" dirty="0">
              <a:latin typeface="Calibri" panose="020F0502020204030204" pitchFamily="34" charset="0"/>
              <a:ea typeface="Calibri" panose="020F0502020204030204" pitchFamily="34" charset="0"/>
              <a:cs typeface="Calibri" panose="020F0502020204030204" pitchFamily="34" charset="0"/>
            </a:endParaRPr>
          </a:p>
          <a:p>
            <a:endParaRPr lang="de-DE" sz="1200" dirty="0" smtClean="0">
              <a:latin typeface="Calibri" panose="020F0502020204030204" pitchFamily="34" charset="0"/>
              <a:ea typeface="Calibri" panose="020F0502020204030204" pitchFamily="34" charset="0"/>
              <a:cs typeface="Calibri" panose="020F0502020204030204" pitchFamily="34" charset="0"/>
            </a:endParaRPr>
          </a:p>
          <a:p>
            <a:r>
              <a:rPr lang="de-DE" sz="1200" dirty="0" smtClean="0">
                <a:latin typeface="Calibri" panose="020F0502020204030204" pitchFamily="34" charset="0"/>
                <a:ea typeface="Calibri" panose="020F0502020204030204" pitchFamily="34" charset="0"/>
                <a:cs typeface="Calibri" panose="020F0502020204030204" pitchFamily="34" charset="0"/>
              </a:rPr>
              <a:t>This shows sequential memory access in more efficient and uses fewer cycles.</a:t>
            </a:r>
            <a:endParaRPr lang="en-US" sz="1200" dirty="0">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3"/>
          <a:stretch>
            <a:fillRect/>
          </a:stretch>
        </p:blipFill>
        <p:spPr>
          <a:xfrm>
            <a:off x="306691" y="330926"/>
            <a:ext cx="5336464" cy="4467497"/>
          </a:xfrm>
          <a:prstGeom prst="rect">
            <a:avLst/>
          </a:prstGeom>
        </p:spPr>
      </p:pic>
    </p:spTree>
    <p:extLst>
      <p:ext uri="{BB962C8B-B14F-4D97-AF65-F5344CB8AC3E}">
        <p14:creationId xmlns:p14="http://schemas.microsoft.com/office/powerpoint/2010/main" val="64152887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9485"/>
            <a:ext cx="8229600" cy="594360"/>
          </a:xfrm>
          <a:prstGeom prst="rect">
            <a:avLst/>
          </a:prstGeom>
          <a:noFill/>
          <a:ln/>
        </p:spPr>
        <p:txBody>
          <a:bodyPr wrap="square" rtlCol="0" anchor="ctr"/>
          <a:lstStyle/>
          <a:p>
            <a:pPr marL="0" indent="0">
              <a:buNone/>
            </a:pPr>
            <a:r>
              <a:rPr lang="en-US" sz="3000" b="1" dirty="0">
                <a:solidFill>
                  <a:srgbClr val="1A1A2E"/>
                </a:solidFill>
                <a:latin typeface="Calibri" pitchFamily="34" charset="0"/>
                <a:ea typeface="Calibri" pitchFamily="34" charset="-122"/>
                <a:cs typeface="Calibri" pitchFamily="34" charset="-120"/>
              </a:rPr>
              <a:t>E</a:t>
            </a:r>
            <a:r>
              <a:rPr lang="en-US" sz="3000" b="1" dirty="0" smtClean="0">
                <a:solidFill>
                  <a:srgbClr val="1A1A2E"/>
                </a:solidFill>
                <a:latin typeface="Calibri" pitchFamily="34" charset="0"/>
                <a:ea typeface="Calibri" pitchFamily="34" charset="-122"/>
                <a:cs typeface="Calibri" pitchFamily="34" charset="-120"/>
              </a:rPr>
              <a:t>xperiment</a:t>
            </a:r>
            <a:r>
              <a:rPr lang="en-US" sz="3000" b="1" dirty="0" smtClean="0">
                <a:solidFill>
                  <a:srgbClr val="1A1A2E"/>
                </a:solidFill>
                <a:latin typeface="Calibri" pitchFamily="34" charset="0"/>
                <a:ea typeface="Calibri" pitchFamily="34" charset="-122"/>
                <a:cs typeface="Calibri" pitchFamily="34" charset="-120"/>
              </a:rPr>
              <a:t>: </a:t>
            </a:r>
            <a:r>
              <a:rPr lang="en-US" sz="3000" b="1" dirty="0">
                <a:solidFill>
                  <a:srgbClr val="1A1A2E"/>
                </a:solidFill>
                <a:latin typeface="Calibri" pitchFamily="34" charset="0"/>
                <a:ea typeface="Calibri" pitchFamily="34" charset="-122"/>
                <a:cs typeface="Calibri" pitchFamily="34" charset="-120"/>
              </a:rPr>
              <a:t>128-Point FFT</a:t>
            </a:r>
            <a:endParaRPr lang="en-US" sz="3000" dirty="0"/>
          </a:p>
        </p:txBody>
      </p:sp>
      <p:sp>
        <p:nvSpPr>
          <p:cNvPr id="3" name="Text 1"/>
          <p:cNvSpPr/>
          <p:nvPr/>
        </p:nvSpPr>
        <p:spPr>
          <a:xfrm>
            <a:off x="457200" y="994954"/>
            <a:ext cx="8229600" cy="347472"/>
          </a:xfrm>
          <a:prstGeom prst="rect">
            <a:avLst/>
          </a:prstGeom>
          <a:noFill/>
          <a:ln/>
        </p:spPr>
        <p:txBody>
          <a:bodyPr wrap="square" rtlCol="0" anchor="ctr"/>
          <a:lstStyle/>
          <a:p>
            <a:pPr marL="0" indent="0">
              <a:buNone/>
            </a:pPr>
            <a:r>
              <a:rPr lang="en-US" sz="1250" i="1" dirty="0">
                <a:solidFill>
                  <a:srgbClr val="4A5568"/>
                </a:solidFill>
                <a:latin typeface="Calibri" pitchFamily="34" charset="0"/>
                <a:ea typeface="Calibri" pitchFamily="34" charset="-122"/>
                <a:cs typeface="Calibri" pitchFamily="34" charset="-120"/>
              </a:rPr>
              <a:t>200 MHz clock · Multiplier latency: 2 cycles · Add/Sub latency: 1 cycle </a:t>
            </a:r>
            <a:r>
              <a:rPr lang="en-US" sz="1250" i="1" dirty="0" smtClean="0">
                <a:solidFill>
                  <a:srgbClr val="4A5568"/>
                </a:solidFill>
                <a:latin typeface="Calibri" pitchFamily="34" charset="0"/>
                <a:ea typeface="Calibri" pitchFamily="34" charset="-122"/>
                <a:cs typeface="Calibri" pitchFamily="34" charset="-120"/>
              </a:rPr>
              <a:t>·</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1417320"/>
          <a:ext cx="8412481" cy="2377440"/>
        </p:xfrm>
        <a:graphic>
          <a:graphicData uri="http://schemas.openxmlformats.org/drawingml/2006/table">
            <a:tbl>
              <a:tblPr/>
              <a:tblGrid>
                <a:gridCol w="1201783">
                  <a:extLst>
                    <a:ext uri="{9D8B030D-6E8A-4147-A177-3AD203B41FA5}">
                      <a16:colId xmlns:a16="http://schemas.microsoft.com/office/drawing/2014/main" val="20000"/>
                    </a:ext>
                  </a:extLst>
                </a:gridCol>
                <a:gridCol w="1201783">
                  <a:extLst>
                    <a:ext uri="{9D8B030D-6E8A-4147-A177-3AD203B41FA5}">
                      <a16:colId xmlns:a16="http://schemas.microsoft.com/office/drawing/2014/main" val="20001"/>
                    </a:ext>
                  </a:extLst>
                </a:gridCol>
                <a:gridCol w="1201783">
                  <a:extLst>
                    <a:ext uri="{9D8B030D-6E8A-4147-A177-3AD203B41FA5}">
                      <a16:colId xmlns:a16="http://schemas.microsoft.com/office/drawing/2014/main" val="20002"/>
                    </a:ext>
                  </a:extLst>
                </a:gridCol>
                <a:gridCol w="1201783">
                  <a:extLst>
                    <a:ext uri="{9D8B030D-6E8A-4147-A177-3AD203B41FA5}">
                      <a16:colId xmlns:a16="http://schemas.microsoft.com/office/drawing/2014/main" val="20003"/>
                    </a:ext>
                  </a:extLst>
                </a:gridCol>
                <a:gridCol w="1201783">
                  <a:extLst>
                    <a:ext uri="{9D8B030D-6E8A-4147-A177-3AD203B41FA5}">
                      <a16:colId xmlns:a16="http://schemas.microsoft.com/office/drawing/2014/main" val="20004"/>
                    </a:ext>
                  </a:extLst>
                </a:gridCol>
                <a:gridCol w="1201783">
                  <a:extLst>
                    <a:ext uri="{9D8B030D-6E8A-4147-A177-3AD203B41FA5}">
                      <a16:colId xmlns:a16="http://schemas.microsoft.com/office/drawing/2014/main" val="20005"/>
                    </a:ext>
                  </a:extLst>
                </a:gridCol>
                <a:gridCol w="1201783">
                  <a:extLst>
                    <a:ext uri="{9D8B030D-6E8A-4147-A177-3AD203B41FA5}">
                      <a16:colId xmlns:a16="http://schemas.microsoft.com/office/drawing/2014/main" val="20006"/>
                    </a:ext>
                  </a:extLst>
                </a:gridCol>
              </a:tblGrid>
              <a:tr h="411480">
                <a:tc>
                  <a:txBody>
                    <a:bodyPr/>
                    <a:lstStyle/>
                    <a:p>
                      <a:pPr marL="0" indent="0" algn="l">
                        <a:buNone/>
                      </a:pPr>
                      <a:endParaRPr lang="en-US" sz="1200" dirty="0">
                        <a:latin typeface="Calibri" charset="0"/>
                        <a:ea typeface="Calibri" charset="0"/>
                        <a:cs typeface="Calibri" charset="0"/>
                      </a:endParaRPr>
                    </a:p>
                  </a:txBody>
                  <a:tcPr anchor="ctr">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solidFill>
                      <a:srgbClr val="2E5FA3"/>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Mem. Banks</a:t>
                      </a:r>
                      <a:endParaRPr lang="en-US" sz="1200" dirty="0">
                        <a:latin typeface="Calibri" charset="0"/>
                        <a:ea typeface="Calibri" charset="0"/>
                        <a:cs typeface="Calibri" charset="0"/>
                      </a:endParaRPr>
                    </a:p>
                  </a:txBody>
                  <a:tcPr anchor="ctr">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solidFill>
                      <a:srgbClr val="2E5FA3"/>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Input Buses</a:t>
                      </a:r>
                      <a:endParaRPr lang="en-US" sz="1200" dirty="0">
                        <a:latin typeface="Calibri" charset="0"/>
                        <a:ea typeface="Calibri" charset="0"/>
                        <a:cs typeface="Calibri" charset="0"/>
                      </a:endParaRPr>
                    </a:p>
                  </a:txBody>
                  <a:tcPr anchor="ctr">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solidFill>
                      <a:srgbClr val="2E5FA3"/>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Out. Buses</a:t>
                      </a:r>
                      <a:endParaRPr lang="en-US" sz="1200" dirty="0">
                        <a:latin typeface="Calibri" charset="0"/>
                        <a:ea typeface="Calibri" charset="0"/>
                        <a:cs typeface="Calibri" charset="0"/>
                      </a:endParaRPr>
                    </a:p>
                  </a:txBody>
                  <a:tcPr anchor="ctr">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solidFill>
                      <a:srgbClr val="2E5FA3"/>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Sub.</a:t>
                      </a:r>
                      <a:endParaRPr lang="en-US" sz="1200" dirty="0">
                        <a:latin typeface="Calibri" charset="0"/>
                        <a:ea typeface="Calibri" charset="0"/>
                        <a:cs typeface="Calibri" charset="0"/>
                      </a:endParaRPr>
                    </a:p>
                  </a:txBody>
                  <a:tcPr anchor="ctr">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solidFill>
                      <a:srgbClr val="2E5FA3"/>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Add.</a:t>
                      </a:r>
                      <a:endParaRPr lang="en-US" sz="1200" dirty="0">
                        <a:latin typeface="Calibri" charset="0"/>
                        <a:ea typeface="Calibri" charset="0"/>
                        <a:cs typeface="Calibri" charset="0"/>
                      </a:endParaRPr>
                    </a:p>
                  </a:txBody>
                  <a:tcPr anchor="ctr">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solidFill>
                      <a:srgbClr val="2E5FA3"/>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Mult.  /  Latency</a:t>
                      </a:r>
                      <a:endParaRPr lang="en-US" sz="1200" dirty="0">
                        <a:latin typeface="Calibri" charset="0"/>
                        <a:ea typeface="Calibri" charset="0"/>
                        <a:cs typeface="Calibri" charset="0"/>
                      </a:endParaRPr>
                    </a:p>
                  </a:txBody>
                  <a:tcPr anchor="ctr">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solidFill>
                      <a:srgbClr val="2E5FA3"/>
                    </a:solidFill>
                  </a:tcPr>
                </a:tc>
                <a:extLst>
                  <a:ext uri="{0D108BD9-81ED-4DB2-BD59-A6C34878D82A}">
                    <a16:rowId xmlns:a16="http://schemas.microsoft.com/office/drawing/2014/main" val="10000"/>
                  </a:ext>
                </a:extLst>
              </a:tr>
              <a:tr h="548640">
                <a:tc>
                  <a:txBody>
                    <a:bodyPr/>
                    <a:lstStyle/>
                    <a:p>
                      <a:pPr marL="0" indent="0" algn="l">
                        <a:buNone/>
                      </a:pPr>
                      <a:r>
                        <a:rPr lang="en-US" sz="1300" dirty="0">
                          <a:solidFill>
                            <a:srgbClr val="1A1A2E"/>
                          </a:solidFill>
                          <a:latin typeface="Calibri" pitchFamily="34" charset="0"/>
                          <a:ea typeface="Calibri" pitchFamily="34" charset="-122"/>
                          <a:cs typeface="Calibri" pitchFamily="34" charset="-120"/>
                        </a:rPr>
                        <a:t>Exp #1</a:t>
                      </a:r>
                      <a:endParaRPr lang="en-US" sz="1300" dirty="0">
                        <a:latin typeface="Calibri" charset="0"/>
                        <a:ea typeface="Calibri" charset="0"/>
                        <a:cs typeface="Calibri" charset="0"/>
                      </a:endParaRPr>
                    </a:p>
                    <a:p>
                      <a:pPr marL="0" indent="0" algn="l">
                        <a:buNone/>
                      </a:pPr>
                      <a:r>
                        <a:rPr lang="en-US" sz="1300" dirty="0">
                          <a:solidFill>
                            <a:srgbClr val="1A1A2E"/>
                          </a:solidFill>
                          <a:latin typeface="Calibri" pitchFamily="34" charset="0"/>
                          <a:ea typeface="Calibri" pitchFamily="34" charset="-122"/>
                          <a:cs typeface="Calibri" pitchFamily="34" charset="-120"/>
                        </a:rPr>
                        <a:t>I/O Timing only</a:t>
                      </a:r>
                      <a:endParaRPr lang="en-US" sz="1300" dirty="0">
                        <a:latin typeface="Calibri" charset="0"/>
                        <a:ea typeface="Calibri" charset="0"/>
                        <a:cs typeface="Calibri" charset="0"/>
                      </a:endParaRPr>
                    </a:p>
                  </a:txBody>
                  <a:tcPr anchor="ctr">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1A2E"/>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anchor="ctr">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1A2E"/>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anchor="ctr">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1A2E"/>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anchor="ctr">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1A2E"/>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anchor="ctr">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1A2E"/>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anchor="ctr">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1A2E"/>
                          </a:solidFill>
                          <a:latin typeface="Calibri" pitchFamily="34" charset="0"/>
                          <a:ea typeface="Calibri" pitchFamily="34" charset="-122"/>
                          <a:cs typeface="Calibri" pitchFamily="34" charset="-120"/>
                        </a:rPr>
                        <a:t>20  /  261 cycles</a:t>
                      </a:r>
                      <a:endParaRPr lang="en-US" sz="1300" dirty="0">
                        <a:latin typeface="Calibri" charset="0"/>
                        <a:ea typeface="Calibri" charset="0"/>
                        <a:cs typeface="Calibri" charset="0"/>
                      </a:endParaRPr>
                    </a:p>
                  </a:txBody>
                  <a:tcPr anchor="ctr">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300" dirty="0">
                          <a:solidFill>
                            <a:srgbClr val="1A1A2E"/>
                          </a:solidFill>
                          <a:latin typeface="Calibri" pitchFamily="34" charset="0"/>
                          <a:ea typeface="Calibri" pitchFamily="34" charset="-122"/>
                          <a:cs typeface="Calibri" pitchFamily="34" charset="-120"/>
                        </a:rPr>
                        <a:t>Exp #2</a:t>
                      </a:r>
                      <a:endParaRPr lang="en-US" sz="1300" dirty="0">
                        <a:latin typeface="Calibri" charset="0"/>
                        <a:ea typeface="Calibri" charset="0"/>
                        <a:cs typeface="Calibri" charset="0"/>
                      </a:endParaRPr>
                    </a:p>
                    <a:p>
                      <a:pPr marL="0" indent="0" algn="l">
                        <a:buNone/>
                      </a:pPr>
                      <a:r>
                        <a:rPr lang="en-US" sz="1300" dirty="0">
                          <a:solidFill>
                            <a:srgbClr val="1A1A2E"/>
                          </a:solidFill>
                          <a:latin typeface="Calibri" pitchFamily="34" charset="0"/>
                          <a:ea typeface="Calibri" pitchFamily="34" charset="-122"/>
                          <a:cs typeface="Calibri" pitchFamily="34" charset="-120"/>
                        </a:rPr>
                        <a:t>Memory only</a:t>
                      </a:r>
                      <a:endParaRPr lang="en-US" sz="1300" dirty="0">
                        <a:latin typeface="Calibri" charset="0"/>
                        <a:ea typeface="Calibri" charset="0"/>
                        <a:cs typeface="Calibri" charset="0"/>
                      </a:endParaRPr>
                    </a:p>
                  </a:txBody>
                  <a:tcPr anchor="ctr">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solidFill>
                      <a:srgbClr val="F7F9FC"/>
                    </a:solidFill>
                  </a:tcPr>
                </a:tc>
                <a:tc>
                  <a:txBody>
                    <a:bodyPr/>
                    <a:lstStyle/>
                    <a:p>
                      <a:pPr marL="0" indent="0" algn="ctr">
                        <a:buNone/>
                      </a:pPr>
                      <a:r>
                        <a:rPr lang="en-US" sz="1300" dirty="0">
                          <a:solidFill>
                            <a:srgbClr val="1A1A2E"/>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anchor="ctr">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solidFill>
                      <a:srgbClr val="F7F9FC"/>
                    </a:solidFill>
                  </a:tcPr>
                </a:tc>
                <a:tc>
                  <a:txBody>
                    <a:bodyPr/>
                    <a:lstStyle/>
                    <a:p>
                      <a:pPr marL="0" indent="0" algn="ctr">
                        <a:buNone/>
                      </a:pPr>
                      <a:r>
                        <a:rPr lang="en-US" sz="1300" dirty="0">
                          <a:solidFill>
                            <a:srgbClr val="1A1A2E"/>
                          </a:solidFill>
                          <a:latin typeface="Calibri" pitchFamily="34" charset="0"/>
                          <a:ea typeface="Calibri" pitchFamily="34" charset="-122"/>
                          <a:cs typeface="Calibri" pitchFamily="34" charset="-120"/>
                        </a:rPr>
                        <a:t>36</a:t>
                      </a:r>
                      <a:endParaRPr lang="en-US" sz="1300" dirty="0">
                        <a:latin typeface="Calibri" charset="0"/>
                        <a:ea typeface="Calibri" charset="0"/>
                        <a:cs typeface="Calibri" charset="0"/>
                      </a:endParaRPr>
                    </a:p>
                  </a:txBody>
                  <a:tcPr anchor="ctr">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solidFill>
                      <a:srgbClr val="F7F9FC"/>
                    </a:solidFill>
                  </a:tcPr>
                </a:tc>
                <a:tc>
                  <a:txBody>
                    <a:bodyPr/>
                    <a:lstStyle/>
                    <a:p>
                      <a:pPr marL="0" indent="0" algn="ctr">
                        <a:buNone/>
                      </a:pPr>
                      <a:r>
                        <a:rPr lang="en-US" sz="1300" dirty="0">
                          <a:solidFill>
                            <a:srgbClr val="1A1A2E"/>
                          </a:solidFill>
                          <a:latin typeface="Calibri" pitchFamily="34" charset="0"/>
                          <a:ea typeface="Calibri" pitchFamily="34" charset="-122"/>
                          <a:cs typeface="Calibri" pitchFamily="34" charset="-120"/>
                        </a:rPr>
                        <a:t>14</a:t>
                      </a:r>
                      <a:endParaRPr lang="en-US" sz="1300" dirty="0">
                        <a:latin typeface="Calibri" charset="0"/>
                        <a:ea typeface="Calibri" charset="0"/>
                        <a:cs typeface="Calibri" charset="0"/>
                      </a:endParaRPr>
                    </a:p>
                  </a:txBody>
                  <a:tcPr anchor="ctr">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solidFill>
                      <a:srgbClr val="F7F9FC"/>
                    </a:solidFill>
                  </a:tcPr>
                </a:tc>
                <a:tc>
                  <a:txBody>
                    <a:bodyPr/>
                    <a:lstStyle/>
                    <a:p>
                      <a:pPr marL="0" indent="0" algn="ctr">
                        <a:buNone/>
                      </a:pPr>
                      <a:r>
                        <a:rPr lang="en-US" sz="1300" dirty="0">
                          <a:solidFill>
                            <a:srgbClr val="1A1A2E"/>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anchor="ctr">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solidFill>
                      <a:srgbClr val="F7F9FC"/>
                    </a:solidFill>
                  </a:tcPr>
                </a:tc>
                <a:tc>
                  <a:txBody>
                    <a:bodyPr/>
                    <a:lstStyle/>
                    <a:p>
                      <a:pPr marL="0" indent="0" algn="ctr">
                        <a:buNone/>
                      </a:pPr>
                      <a:r>
                        <a:rPr lang="en-US" sz="1300" dirty="0">
                          <a:solidFill>
                            <a:srgbClr val="1A1A2E"/>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anchor="ctr">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solidFill>
                      <a:srgbClr val="F7F9FC"/>
                    </a:solidFill>
                  </a:tcPr>
                </a:tc>
                <a:tc>
                  <a:txBody>
                    <a:bodyPr/>
                    <a:lstStyle/>
                    <a:p>
                      <a:pPr marL="0" indent="0" algn="ctr">
                        <a:buNone/>
                      </a:pPr>
                      <a:r>
                        <a:rPr lang="en-US" sz="1300" dirty="0">
                          <a:solidFill>
                            <a:srgbClr val="1A1A2E"/>
                          </a:solidFill>
                          <a:latin typeface="Calibri" pitchFamily="34" charset="0"/>
                          <a:ea typeface="Calibri" pitchFamily="34" charset="-122"/>
                          <a:cs typeface="Calibri" pitchFamily="34" charset="-120"/>
                        </a:rPr>
                        <a:t>20  /  215 cycles</a:t>
                      </a:r>
                      <a:endParaRPr lang="en-US" sz="1300" dirty="0">
                        <a:latin typeface="Calibri" charset="0"/>
                        <a:ea typeface="Calibri" charset="0"/>
                        <a:cs typeface="Calibri" charset="0"/>
                      </a:endParaRPr>
                    </a:p>
                  </a:txBody>
                  <a:tcPr anchor="ctr">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solidFill>
                      <a:srgbClr val="F7F9FC"/>
                    </a:solidFill>
                  </a:tcPr>
                </a:tc>
                <a:extLst>
                  <a:ext uri="{0D108BD9-81ED-4DB2-BD59-A6C34878D82A}">
                    <a16:rowId xmlns:a16="http://schemas.microsoft.com/office/drawing/2014/main" val="10002"/>
                  </a:ext>
                </a:extLst>
              </a:tr>
              <a:tr h="548640">
                <a:tc>
                  <a:txBody>
                    <a:bodyPr/>
                    <a:lstStyle/>
                    <a:p>
                      <a:pPr marL="0" indent="0" algn="l">
                        <a:buNone/>
                      </a:pPr>
                      <a:r>
                        <a:rPr lang="en-US" sz="1300" dirty="0">
                          <a:solidFill>
                            <a:srgbClr val="2E5FA3"/>
                          </a:solidFill>
                          <a:latin typeface="Calibri" pitchFamily="34" charset="0"/>
                          <a:ea typeface="Calibri" pitchFamily="34" charset="-122"/>
                          <a:cs typeface="Calibri" pitchFamily="34" charset="-120"/>
                        </a:rPr>
                        <a:t>Exp #3</a:t>
                      </a:r>
                      <a:endParaRPr lang="en-US" sz="1300" dirty="0">
                        <a:latin typeface="Calibri" charset="0"/>
                        <a:ea typeface="Calibri" charset="0"/>
                        <a:cs typeface="Calibri" charset="0"/>
                      </a:endParaRPr>
                    </a:p>
                    <a:p>
                      <a:pPr marL="0" indent="0" algn="l">
                        <a:buNone/>
                      </a:pPr>
                      <a:r>
                        <a:rPr lang="en-US" sz="1300" dirty="0">
                          <a:solidFill>
                            <a:srgbClr val="2E5FA3"/>
                          </a:solidFill>
                          <a:latin typeface="Calibri" pitchFamily="34" charset="0"/>
                          <a:ea typeface="Calibri" pitchFamily="34" charset="-122"/>
                          <a:cs typeface="Calibri" pitchFamily="34" charset="-120"/>
                        </a:rPr>
                        <a:t>Both constraints</a:t>
                      </a:r>
                      <a:endParaRPr lang="en-US" sz="1300" dirty="0">
                        <a:latin typeface="Calibri" charset="0"/>
                        <a:ea typeface="Calibri" charset="0"/>
                        <a:cs typeface="Calibri" charset="0"/>
                      </a:endParaRPr>
                    </a:p>
                  </a:txBody>
                  <a:tcPr anchor="ctr">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solidFill>
                      <a:srgbClr val="E8F0FB"/>
                    </a:solidFill>
                  </a:tcPr>
                </a:tc>
                <a:tc>
                  <a:txBody>
                    <a:bodyPr/>
                    <a:lstStyle/>
                    <a:p>
                      <a:pPr marL="0" indent="0" algn="ctr">
                        <a:buNone/>
                      </a:pPr>
                      <a:r>
                        <a:rPr lang="en-US" sz="1300" dirty="0">
                          <a:solidFill>
                            <a:srgbClr val="2E5FA3"/>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anchor="ctr">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solidFill>
                      <a:srgbClr val="E8F0FB"/>
                    </a:solidFill>
                  </a:tcPr>
                </a:tc>
                <a:tc>
                  <a:txBody>
                    <a:bodyPr/>
                    <a:lstStyle/>
                    <a:p>
                      <a:pPr marL="0" indent="0" algn="ctr">
                        <a:buNone/>
                      </a:pPr>
                      <a:r>
                        <a:rPr lang="en-US" sz="1300" dirty="0">
                          <a:solidFill>
                            <a:srgbClr val="2E5FA3"/>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anchor="ctr">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solidFill>
                      <a:srgbClr val="E8F0FB"/>
                    </a:solidFill>
                  </a:tcPr>
                </a:tc>
                <a:tc>
                  <a:txBody>
                    <a:bodyPr/>
                    <a:lstStyle/>
                    <a:p>
                      <a:pPr marL="0" indent="0" algn="ctr">
                        <a:buNone/>
                      </a:pPr>
                      <a:r>
                        <a:rPr lang="en-US" sz="1300" dirty="0">
                          <a:solidFill>
                            <a:srgbClr val="2E5FA3"/>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anchor="ctr">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solidFill>
                      <a:srgbClr val="E8F0FB"/>
                    </a:solidFill>
                  </a:tcPr>
                </a:tc>
                <a:tc>
                  <a:txBody>
                    <a:bodyPr/>
                    <a:lstStyle/>
                    <a:p>
                      <a:pPr marL="0" indent="0" algn="ctr">
                        <a:buNone/>
                      </a:pPr>
                      <a:r>
                        <a:rPr lang="en-US" sz="1300" dirty="0">
                          <a:solidFill>
                            <a:srgbClr val="2E5FA3"/>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anchor="ctr">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solidFill>
                      <a:srgbClr val="E8F0FB"/>
                    </a:solidFill>
                  </a:tcPr>
                </a:tc>
                <a:tc>
                  <a:txBody>
                    <a:bodyPr/>
                    <a:lstStyle/>
                    <a:p>
                      <a:pPr marL="0" indent="0" algn="ctr">
                        <a:buNone/>
                      </a:pPr>
                      <a:r>
                        <a:rPr lang="en-US" sz="1300" dirty="0">
                          <a:solidFill>
                            <a:srgbClr val="2E5FA3"/>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anchor="ctr">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solidFill>
                      <a:srgbClr val="E8F0FB"/>
                    </a:solidFill>
                  </a:tcPr>
                </a:tc>
                <a:tc>
                  <a:txBody>
                    <a:bodyPr/>
                    <a:lstStyle/>
                    <a:p>
                      <a:pPr marL="0" indent="0" algn="ctr">
                        <a:buNone/>
                      </a:pPr>
                      <a:r>
                        <a:rPr lang="en-US" sz="1300" dirty="0">
                          <a:solidFill>
                            <a:srgbClr val="2E5FA3"/>
                          </a:solidFill>
                          <a:latin typeface="Calibri" pitchFamily="34" charset="0"/>
                          <a:ea typeface="Calibri" pitchFamily="34" charset="-122"/>
                          <a:cs typeface="Calibri" pitchFamily="34" charset="-120"/>
                        </a:rPr>
                        <a:t>17  /  343 cycles</a:t>
                      </a:r>
                      <a:endParaRPr lang="en-US" sz="1300" dirty="0">
                        <a:latin typeface="Calibri" charset="0"/>
                        <a:ea typeface="Calibri" charset="0"/>
                        <a:cs typeface="Calibri" charset="0"/>
                      </a:endParaRPr>
                    </a:p>
                  </a:txBody>
                  <a:tcPr anchor="ctr">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solidFill>
                      <a:srgbClr val="E8F0FB"/>
                    </a:solidFill>
                  </a:tcPr>
                </a:tc>
                <a:extLst>
                  <a:ext uri="{0D108BD9-81ED-4DB2-BD59-A6C34878D82A}">
                    <a16:rowId xmlns:a16="http://schemas.microsoft.com/office/drawing/2014/main" val="10003"/>
                  </a:ext>
                </a:extLst>
              </a:tr>
            </a:tbl>
          </a:graphicData>
        </a:graphic>
      </p:graphicFrame>
      <p:sp>
        <p:nvSpPr>
          <p:cNvPr id="14" name="TextBox 13"/>
          <p:cNvSpPr txBox="1"/>
          <p:nvPr/>
        </p:nvSpPr>
        <p:spPr>
          <a:xfrm>
            <a:off x="609600" y="4155440"/>
            <a:ext cx="8077200" cy="523220"/>
          </a:xfrm>
          <a:prstGeom prst="rect">
            <a:avLst/>
          </a:prstGeom>
          <a:noFill/>
        </p:spPr>
        <p:txBody>
          <a:bodyPr wrap="square" rtlCol="0">
            <a:spAutoFit/>
          </a:bodyPr>
          <a:lstStyle/>
          <a:p>
            <a:r>
              <a:rPr lang="en-US" sz="1400" b="1" dirty="0">
                <a:latin typeface="Calibri" panose="020F0502020204030204" pitchFamily="34" charset="0"/>
                <a:ea typeface="Calibri" panose="020F0502020204030204" pitchFamily="34" charset="0"/>
                <a:cs typeface="Calibri" panose="020F0502020204030204" pitchFamily="34" charset="0"/>
              </a:rPr>
              <a:t>Best trade-off:</a:t>
            </a:r>
            <a:r>
              <a:rPr lang="en-US" sz="1400" dirty="0">
                <a:latin typeface="Calibri" panose="020F0502020204030204" pitchFamily="34" charset="0"/>
                <a:ea typeface="Calibri" panose="020F0502020204030204" pitchFamily="34" charset="0"/>
                <a:cs typeface="Calibri" panose="020F0502020204030204" pitchFamily="34" charset="0"/>
              </a:rPr>
              <a:t> Experiment #3 satisfies both memory and I/O constraints using only two memory banks, at the cost of higher latency</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lstStyle/>
          <a:p>
            <a:pPr marL="0" indent="0">
              <a:buNone/>
            </a:pPr>
            <a:r>
              <a:rPr lang="en-US" sz="3000" b="1" dirty="0">
                <a:solidFill>
                  <a:srgbClr val="1A1A2E"/>
                </a:solidFill>
                <a:latin typeface="Calibri" pitchFamily="34" charset="0"/>
                <a:ea typeface="Calibri" pitchFamily="34" charset="-122"/>
                <a:cs typeface="Calibri" pitchFamily="34" charset="-120"/>
              </a:rPr>
              <a:t>Strengths &amp; Limitations</a:t>
            </a:r>
            <a:endParaRPr lang="en-US" sz="3000" dirty="0"/>
          </a:p>
        </p:txBody>
      </p:sp>
      <p:sp>
        <p:nvSpPr>
          <p:cNvPr id="3" name="Shape 1"/>
          <p:cNvSpPr/>
          <p:nvPr/>
        </p:nvSpPr>
        <p:spPr>
          <a:xfrm>
            <a:off x="365760" y="1005840"/>
            <a:ext cx="3931920" cy="3566160"/>
          </a:xfrm>
          <a:prstGeom prst="roundRect">
            <a:avLst>
              <a:gd name="adj" fmla="val 2564"/>
            </a:avLst>
          </a:prstGeom>
          <a:solidFill>
            <a:srgbClr val="EAF4EA"/>
          </a:solidFill>
          <a:ln/>
          <a:effectLst>
            <a:outerShdw blurRad="50800" dist="25400" dir="2700000" algn="bl" rotWithShape="0">
              <a:srgbClr val="000000">
                <a:alpha val="8000"/>
              </a:srgbClr>
            </a:outerShdw>
          </a:effectLst>
        </p:spPr>
      </p:sp>
      <p:sp>
        <p:nvSpPr>
          <p:cNvPr id="4" name="Text 2"/>
          <p:cNvSpPr/>
          <p:nvPr/>
        </p:nvSpPr>
        <p:spPr>
          <a:xfrm>
            <a:off x="548640" y="1143000"/>
            <a:ext cx="3657600" cy="411480"/>
          </a:xfrm>
          <a:prstGeom prst="rect">
            <a:avLst/>
          </a:prstGeom>
          <a:noFill/>
          <a:ln/>
        </p:spPr>
        <p:txBody>
          <a:bodyPr wrap="square" rtlCol="0" anchor="ctr"/>
          <a:lstStyle/>
          <a:p>
            <a:pPr marL="0" indent="0">
              <a:buNone/>
            </a:pPr>
            <a:r>
              <a:rPr lang="en-US" sz="1800" b="1" dirty="0">
                <a:solidFill>
                  <a:srgbClr val="2E7D32"/>
                </a:solidFill>
                <a:latin typeface="Calibri" pitchFamily="34" charset="0"/>
                <a:ea typeface="Calibri" pitchFamily="34" charset="-122"/>
                <a:cs typeface="Calibri" pitchFamily="34" charset="-120"/>
              </a:rPr>
              <a:t>Strengths</a:t>
            </a:r>
            <a:endParaRPr lang="en-US" sz="1800" dirty="0"/>
          </a:p>
        </p:txBody>
      </p:sp>
      <p:sp>
        <p:nvSpPr>
          <p:cNvPr id="5" name="Text 3"/>
          <p:cNvSpPr/>
          <p:nvPr/>
        </p:nvSpPr>
        <p:spPr>
          <a:xfrm>
            <a:off x="548640" y="1691640"/>
            <a:ext cx="3611880" cy="530352"/>
          </a:xfrm>
          <a:prstGeom prst="rect">
            <a:avLst/>
          </a:prstGeom>
          <a:noFill/>
          <a:ln/>
        </p:spPr>
        <p:txBody>
          <a:bodyPr wrap="square" rtlCol="0" anchor="ctr"/>
          <a:lstStyle/>
          <a:p>
            <a:pPr marL="285750" indent="-285750">
              <a:buFont typeface="Arial" panose="020B0604020202020204" pitchFamily="34" charset="0"/>
              <a:buChar char="•"/>
            </a:pPr>
            <a:r>
              <a:rPr lang="en-US" sz="1300" b="1" dirty="0" smtClean="0">
                <a:solidFill>
                  <a:srgbClr val="2E7D32"/>
                </a:solidFill>
                <a:latin typeface="Calibri" pitchFamily="34" charset="0"/>
                <a:ea typeface="Calibri" pitchFamily="34" charset="-122"/>
                <a:cs typeface="Calibri" pitchFamily="34" charset="-120"/>
              </a:rPr>
              <a:t> </a:t>
            </a:r>
            <a:r>
              <a:rPr lang="en-US" sz="1400" dirty="0">
                <a:latin typeface="Calibri" panose="020F0502020204030204" pitchFamily="34" charset="0"/>
                <a:ea typeface="Calibri" panose="020F0502020204030204" pitchFamily="34" charset="0"/>
                <a:cs typeface="Calibri" panose="020F0502020204030204" pitchFamily="34" charset="0"/>
              </a:rPr>
              <a:t>Joint optimization of I/O and memory constraints</a:t>
            </a:r>
            <a:endParaRPr lang="en-US" sz="1300" dirty="0">
              <a:latin typeface="Calibri" panose="020F0502020204030204" pitchFamily="34" charset="0"/>
              <a:ea typeface="Calibri" panose="020F0502020204030204" pitchFamily="34" charset="0"/>
              <a:cs typeface="Calibri" panose="020F0502020204030204" pitchFamily="34" charset="0"/>
            </a:endParaRPr>
          </a:p>
        </p:txBody>
      </p:sp>
      <p:sp>
        <p:nvSpPr>
          <p:cNvPr id="6" name="Text 4"/>
          <p:cNvSpPr/>
          <p:nvPr/>
        </p:nvSpPr>
        <p:spPr>
          <a:xfrm>
            <a:off x="548640" y="2267712"/>
            <a:ext cx="3611880" cy="530352"/>
          </a:xfrm>
          <a:prstGeom prst="rect">
            <a:avLst/>
          </a:prstGeom>
          <a:noFill/>
          <a:ln/>
        </p:spPr>
        <p:txBody>
          <a:bodyPr wrap="square" rtlCol="0" anchor="ctr"/>
          <a:lstStyle/>
          <a:p>
            <a:pPr marL="285750" indent="-285750">
              <a:buFont typeface="Arial" panose="020B0604020202020204" pitchFamily="34" charset="0"/>
              <a:buChar char="•"/>
            </a:pPr>
            <a:r>
              <a:rPr lang="en-US" sz="1300" b="1" dirty="0" smtClean="0">
                <a:solidFill>
                  <a:srgbClr val="2E7D32"/>
                </a:solidFill>
                <a:latin typeface="Calibri" pitchFamily="34" charset="0"/>
                <a:ea typeface="Calibri" pitchFamily="34" charset="-122"/>
                <a:cs typeface="Calibri" pitchFamily="34" charset="-120"/>
              </a:rPr>
              <a:t>  </a:t>
            </a:r>
            <a:r>
              <a:rPr lang="en-US" sz="1400" dirty="0">
                <a:solidFill>
                  <a:srgbClr val="4A5568"/>
                </a:solidFill>
                <a:latin typeface="Calibri" pitchFamily="34" charset="0"/>
                <a:ea typeface="Calibri" pitchFamily="34" charset="-122"/>
                <a:cs typeface="Calibri" pitchFamily="34" charset="-120"/>
              </a:rPr>
              <a:t>Formal models (ACG, IOCG, MCG, GCG) make constraints explicit and checkable</a:t>
            </a:r>
            <a:endParaRPr lang="en-US" sz="1400" dirty="0"/>
          </a:p>
        </p:txBody>
      </p:sp>
      <p:sp>
        <p:nvSpPr>
          <p:cNvPr id="7" name="Text 5"/>
          <p:cNvSpPr/>
          <p:nvPr/>
        </p:nvSpPr>
        <p:spPr>
          <a:xfrm>
            <a:off x="548640" y="2843784"/>
            <a:ext cx="3611880" cy="530352"/>
          </a:xfrm>
          <a:prstGeom prst="rect">
            <a:avLst/>
          </a:prstGeom>
          <a:noFill/>
          <a:ln/>
        </p:spPr>
        <p:txBody>
          <a:bodyPr wrap="square" rtlCol="0" anchor="ctr"/>
          <a:lstStyle/>
          <a:p>
            <a:pPr marL="285750" indent="-285750">
              <a:buFont typeface="Arial" panose="020B0604020202020204" pitchFamily="34" charset="0"/>
              <a:buChar char="•"/>
            </a:pPr>
            <a:r>
              <a:rPr lang="en-US" sz="1400" dirty="0" smtClean="0">
                <a:solidFill>
                  <a:srgbClr val="4A5568"/>
                </a:solidFill>
                <a:latin typeface="Calibri" pitchFamily="34" charset="0"/>
                <a:ea typeface="Calibri" pitchFamily="34" charset="-122"/>
                <a:cs typeface="Calibri" pitchFamily="34" charset="-120"/>
              </a:rPr>
              <a:t>Burst-mode </a:t>
            </a:r>
            <a:r>
              <a:rPr lang="en-US" sz="1400" dirty="0">
                <a:solidFill>
                  <a:srgbClr val="4A5568"/>
                </a:solidFill>
                <a:latin typeface="Calibri" pitchFamily="34" charset="0"/>
                <a:ea typeface="Calibri" pitchFamily="34" charset="-122"/>
                <a:cs typeface="Calibri" pitchFamily="34" charset="-120"/>
              </a:rPr>
              <a:t>scheduling reduces random memory access penalties</a:t>
            </a:r>
            <a:endParaRPr lang="en-US" sz="1400" dirty="0"/>
          </a:p>
        </p:txBody>
      </p:sp>
      <p:sp>
        <p:nvSpPr>
          <p:cNvPr id="8" name="Text 6"/>
          <p:cNvSpPr/>
          <p:nvPr/>
        </p:nvSpPr>
        <p:spPr>
          <a:xfrm>
            <a:off x="548640" y="3419856"/>
            <a:ext cx="3611880" cy="530352"/>
          </a:xfrm>
          <a:prstGeom prst="rect">
            <a:avLst/>
          </a:prstGeom>
          <a:noFill/>
          <a:ln/>
        </p:spPr>
        <p:txBody>
          <a:bodyPr wrap="square" rtlCol="0" anchor="ctr"/>
          <a:lstStyle/>
          <a:p>
            <a:endParaRPr lang="en-US" sz="1400" dirty="0"/>
          </a:p>
        </p:txBody>
      </p:sp>
      <p:sp>
        <p:nvSpPr>
          <p:cNvPr id="10" name="Shape 8"/>
          <p:cNvSpPr/>
          <p:nvPr/>
        </p:nvSpPr>
        <p:spPr>
          <a:xfrm>
            <a:off x="4846320" y="1005840"/>
            <a:ext cx="3931920" cy="3566160"/>
          </a:xfrm>
          <a:prstGeom prst="roundRect">
            <a:avLst>
              <a:gd name="adj" fmla="val 2564"/>
            </a:avLst>
          </a:prstGeom>
          <a:solidFill>
            <a:srgbClr val="FDECEA"/>
          </a:solidFill>
          <a:ln/>
          <a:effectLst>
            <a:outerShdw blurRad="50800" dist="25400" dir="2700000" algn="bl" rotWithShape="0">
              <a:srgbClr val="000000">
                <a:alpha val="8000"/>
              </a:srgbClr>
            </a:outerShdw>
          </a:effectLst>
        </p:spPr>
      </p:sp>
      <p:sp>
        <p:nvSpPr>
          <p:cNvPr id="11" name="Text 9"/>
          <p:cNvSpPr/>
          <p:nvPr/>
        </p:nvSpPr>
        <p:spPr>
          <a:xfrm>
            <a:off x="5029200" y="1143000"/>
            <a:ext cx="3657600" cy="411480"/>
          </a:xfrm>
          <a:prstGeom prst="rect">
            <a:avLst/>
          </a:prstGeom>
          <a:noFill/>
          <a:ln/>
        </p:spPr>
        <p:txBody>
          <a:bodyPr wrap="square" rtlCol="0" anchor="ctr"/>
          <a:lstStyle/>
          <a:p>
            <a:pPr marL="0" indent="0">
              <a:buNone/>
            </a:pPr>
            <a:r>
              <a:rPr lang="en-US" sz="1800" b="1" dirty="0">
                <a:solidFill>
                  <a:srgbClr val="E53935"/>
                </a:solidFill>
                <a:latin typeface="Calibri" pitchFamily="34" charset="0"/>
                <a:ea typeface="Calibri" pitchFamily="34" charset="-122"/>
                <a:cs typeface="Calibri" pitchFamily="34" charset="-120"/>
              </a:rPr>
              <a:t>Limitations</a:t>
            </a:r>
            <a:endParaRPr lang="en-US" sz="1800" dirty="0"/>
          </a:p>
        </p:txBody>
      </p:sp>
      <p:sp>
        <p:nvSpPr>
          <p:cNvPr id="13" name="Text 11"/>
          <p:cNvSpPr/>
          <p:nvPr/>
        </p:nvSpPr>
        <p:spPr>
          <a:xfrm>
            <a:off x="5029200" y="1554480"/>
            <a:ext cx="3611880" cy="530352"/>
          </a:xfrm>
          <a:prstGeom prst="rect">
            <a:avLst/>
          </a:prstGeom>
          <a:noFill/>
          <a:ln/>
        </p:spPr>
        <p:txBody>
          <a:bodyPr wrap="square" rtlCol="0" anchor="ctr"/>
          <a:lstStyle/>
          <a:p>
            <a:pPr marL="285750" indent="-285750">
              <a:buFont typeface="Arial" panose="020B0604020202020204" pitchFamily="34" charset="0"/>
              <a:buChar char="•"/>
            </a:pPr>
            <a:r>
              <a:rPr lang="en-US" sz="1300" b="1" dirty="0" smtClean="0">
                <a:solidFill>
                  <a:srgbClr val="E53935"/>
                </a:solidFill>
                <a:latin typeface="Calibri" pitchFamily="34" charset="0"/>
                <a:ea typeface="Calibri" pitchFamily="34" charset="-122"/>
                <a:cs typeface="Calibri" pitchFamily="34" charset="-120"/>
              </a:rPr>
              <a:t> </a:t>
            </a:r>
            <a:r>
              <a:rPr lang="en-US" sz="1400" dirty="0">
                <a:solidFill>
                  <a:srgbClr val="4A5568"/>
                </a:solidFill>
                <a:latin typeface="Calibri" pitchFamily="34" charset="0"/>
                <a:ea typeface="Calibri" pitchFamily="34" charset="-122"/>
                <a:cs typeface="Calibri" pitchFamily="34" charset="-120"/>
              </a:rPr>
              <a:t>Designer must manually adjust memory mapping when scheduling fails</a:t>
            </a:r>
            <a:endParaRPr lang="en-US" sz="1400" dirty="0"/>
          </a:p>
        </p:txBody>
      </p:sp>
      <p:sp>
        <p:nvSpPr>
          <p:cNvPr id="14" name="Text 12"/>
          <p:cNvSpPr/>
          <p:nvPr/>
        </p:nvSpPr>
        <p:spPr>
          <a:xfrm>
            <a:off x="5029200" y="2267712"/>
            <a:ext cx="3611880" cy="530352"/>
          </a:xfrm>
          <a:prstGeom prst="rect">
            <a:avLst/>
          </a:prstGeom>
          <a:noFill/>
          <a:ln/>
        </p:spPr>
        <p:txBody>
          <a:bodyPr wrap="square" rtlCol="0" anchor="ctr"/>
          <a:lstStyle/>
          <a:p>
            <a:endParaRPr lang="en-US" sz="1400" dirty="0"/>
          </a:p>
        </p:txBody>
      </p:sp>
      <p:sp>
        <p:nvSpPr>
          <p:cNvPr id="15" name="Text 13"/>
          <p:cNvSpPr/>
          <p:nvPr/>
        </p:nvSpPr>
        <p:spPr>
          <a:xfrm>
            <a:off x="5006340" y="2220976"/>
            <a:ext cx="3611880" cy="530352"/>
          </a:xfrm>
          <a:prstGeom prst="rect">
            <a:avLst/>
          </a:prstGeom>
          <a:noFill/>
          <a:ln/>
        </p:spPr>
        <p:txBody>
          <a:bodyPr wrap="square" rtlCol="0" anchor="ctr"/>
          <a:lstStyle/>
          <a:p>
            <a:pPr marL="285750" indent="-285750">
              <a:buFont typeface="Arial" panose="020B0604020202020204" pitchFamily="34" charset="0"/>
              <a:buChar char="•"/>
            </a:pPr>
            <a:r>
              <a:rPr lang="en-US" sz="1300" b="1" dirty="0" smtClean="0">
                <a:solidFill>
                  <a:srgbClr val="E53935"/>
                </a:solidFill>
                <a:latin typeface="Calibri" pitchFamily="34" charset="0"/>
                <a:ea typeface="Calibri" pitchFamily="34" charset="-122"/>
                <a:cs typeface="Calibri" pitchFamily="34" charset="-120"/>
              </a:rPr>
              <a:t>  </a:t>
            </a:r>
            <a:r>
              <a:rPr lang="en-US" sz="1400" dirty="0">
                <a:solidFill>
                  <a:srgbClr val="4A5568"/>
                </a:solidFill>
                <a:latin typeface="Calibri" pitchFamily="34" charset="0"/>
                <a:ea typeface="Calibri" pitchFamily="34" charset="-122"/>
                <a:cs typeface="Calibri" pitchFamily="34" charset="-120"/>
              </a:rPr>
              <a:t>No heuristic guidance for which alternative to try when infeasible</a:t>
            </a:r>
            <a:endParaRPr lang="en-US" sz="1400" dirty="0"/>
          </a:p>
        </p:txBody>
      </p:sp>
      <p:sp>
        <p:nvSpPr>
          <p:cNvPr id="16" name="Text 14"/>
          <p:cNvSpPr/>
          <p:nvPr/>
        </p:nvSpPr>
        <p:spPr>
          <a:xfrm>
            <a:off x="5006340" y="2985879"/>
            <a:ext cx="3611880" cy="530352"/>
          </a:xfrm>
          <a:prstGeom prst="rect">
            <a:avLst/>
          </a:prstGeom>
          <a:noFill/>
          <a:ln/>
        </p:spPr>
        <p:txBody>
          <a:bodyPr wrap="square" rtlCol="0" anchor="ctr"/>
          <a:lstStyle/>
          <a:p>
            <a:pPr marL="285750" indent="-285750">
              <a:buFont typeface="Arial" panose="020B0604020202020204" pitchFamily="34" charset="0"/>
              <a:buChar char="•"/>
            </a:pPr>
            <a:r>
              <a:rPr lang="en-US" sz="1300" b="1" dirty="0" smtClean="0">
                <a:solidFill>
                  <a:srgbClr val="E53935"/>
                </a:solidFill>
                <a:latin typeface="Calibri" pitchFamily="34" charset="0"/>
                <a:ea typeface="Calibri" pitchFamily="34" charset="-122"/>
                <a:cs typeface="Calibri" pitchFamily="34" charset="-120"/>
              </a:rPr>
              <a:t>  </a:t>
            </a:r>
            <a:r>
              <a:rPr lang="en-US" sz="1400" dirty="0">
                <a:solidFill>
                  <a:srgbClr val="4A5568"/>
                </a:solidFill>
                <a:latin typeface="Calibri" pitchFamily="34" charset="0"/>
                <a:ea typeface="Calibri" pitchFamily="34" charset="-122"/>
                <a:cs typeface="Calibri" pitchFamily="34" charset="-120"/>
              </a:rPr>
              <a:t>Memory model limited to single-cycle </a:t>
            </a:r>
            <a:r>
              <a:rPr lang="en-US" sz="1400" dirty="0" smtClean="0">
                <a:solidFill>
                  <a:srgbClr val="4A5568"/>
                </a:solidFill>
                <a:latin typeface="Calibri" pitchFamily="34" charset="0"/>
                <a:ea typeface="Calibri" pitchFamily="34" charset="-122"/>
                <a:cs typeface="Calibri" pitchFamily="34" charset="-120"/>
              </a:rPr>
              <a:t>sequential.</a:t>
            </a:r>
            <a:endParaRPr lang="en-US" sz="14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D52"/>
        </a:solidFill>
        <a:effectLst/>
      </p:bgPr>
    </p:bg>
    <p:spTree>
      <p:nvGrpSpPr>
        <p:cNvPr id="1" name=""/>
        <p:cNvGrpSpPr/>
        <p:nvPr/>
      </p:nvGrpSpPr>
      <p:grpSpPr>
        <a:xfrm>
          <a:off x="0" y="0"/>
          <a:ext cx="0" cy="0"/>
          <a:chOff x="0" y="0"/>
          <a:chExt cx="0" cy="0"/>
        </a:xfrm>
      </p:grpSpPr>
      <p:sp>
        <p:nvSpPr>
          <p:cNvPr id="2" name="Text 0"/>
          <p:cNvSpPr/>
          <p:nvPr/>
        </p:nvSpPr>
        <p:spPr>
          <a:xfrm>
            <a:off x="548640" y="502920"/>
            <a:ext cx="8229600" cy="64008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Conclusion</a:t>
            </a:r>
            <a:endParaRPr lang="en-US" sz="3400" dirty="0"/>
          </a:p>
        </p:txBody>
      </p:sp>
      <p:sp>
        <p:nvSpPr>
          <p:cNvPr id="3" name="Text 1"/>
          <p:cNvSpPr/>
          <p:nvPr/>
        </p:nvSpPr>
        <p:spPr>
          <a:xfrm>
            <a:off x="548640" y="1280160"/>
            <a:ext cx="8046720" cy="685800"/>
          </a:xfrm>
          <a:prstGeom prst="rect">
            <a:avLst/>
          </a:prstGeom>
          <a:noFill/>
          <a:ln/>
        </p:spPr>
        <p:txBody>
          <a:bodyPr wrap="square" rtlCol="0" anchor="ctr"/>
          <a:lstStyle/>
          <a:p>
            <a:pPr marL="0" indent="0">
              <a:buNone/>
            </a:pPr>
            <a:r>
              <a:rPr lang="en-US" sz="1450" b="1" dirty="0">
                <a:latin typeface="Calibri" pitchFamily="34" charset="0"/>
                <a:ea typeface="Calibri" pitchFamily="34" charset="-122"/>
                <a:cs typeface="Calibri" pitchFamily="34" charset="-120"/>
              </a:rPr>
              <a:t>›  </a:t>
            </a:r>
            <a:r>
              <a:rPr lang="en-US" sz="1450" dirty="0">
                <a:latin typeface="Calibri" pitchFamily="34" charset="0"/>
                <a:ea typeface="Calibri" pitchFamily="34" charset="-122"/>
                <a:cs typeface="Calibri" pitchFamily="34" charset="-120"/>
              </a:rPr>
              <a:t>Memory access patterns and I/O timing cannot be optimised in isolation — they must be co-designed.</a:t>
            </a:r>
            <a:endParaRPr lang="en-US" sz="1450" dirty="0"/>
          </a:p>
        </p:txBody>
      </p:sp>
      <p:sp>
        <p:nvSpPr>
          <p:cNvPr id="4" name="Text 2"/>
          <p:cNvSpPr/>
          <p:nvPr/>
        </p:nvSpPr>
        <p:spPr>
          <a:xfrm>
            <a:off x="548640" y="2039112"/>
            <a:ext cx="8046720" cy="685800"/>
          </a:xfrm>
          <a:prstGeom prst="rect">
            <a:avLst/>
          </a:prstGeom>
          <a:noFill/>
          <a:ln/>
        </p:spPr>
        <p:txBody>
          <a:bodyPr wrap="square" rtlCol="0" anchor="ctr"/>
          <a:lstStyle/>
          <a:p>
            <a:pPr marL="0" indent="0">
              <a:buNone/>
            </a:pPr>
            <a:r>
              <a:rPr lang="en-US" sz="1450" b="1" dirty="0">
                <a:latin typeface="Calibri" pitchFamily="34" charset="0"/>
                <a:ea typeface="Calibri" pitchFamily="34" charset="-122"/>
                <a:cs typeface="Calibri" pitchFamily="34" charset="-120"/>
              </a:rPr>
              <a:t>›  </a:t>
            </a:r>
            <a:r>
              <a:rPr lang="en-US" sz="1450" dirty="0">
                <a:latin typeface="Calibri" pitchFamily="34" charset="0"/>
                <a:ea typeface="Calibri" pitchFamily="34" charset="-122"/>
                <a:cs typeface="Calibri" pitchFamily="34" charset="-120"/>
              </a:rPr>
              <a:t>The formal models (ACG, IOCG, MCG → GCG) provide a structured way to capture and analyse both constraint types.</a:t>
            </a:r>
            <a:endParaRPr lang="en-US" sz="1450" dirty="0"/>
          </a:p>
        </p:txBody>
      </p:sp>
      <p:sp>
        <p:nvSpPr>
          <p:cNvPr id="5" name="Text 3"/>
          <p:cNvSpPr/>
          <p:nvPr/>
        </p:nvSpPr>
        <p:spPr>
          <a:xfrm>
            <a:off x="548640" y="2798064"/>
            <a:ext cx="8046720" cy="685800"/>
          </a:xfrm>
          <a:prstGeom prst="rect">
            <a:avLst/>
          </a:prstGeom>
          <a:noFill/>
          <a:ln/>
        </p:spPr>
        <p:txBody>
          <a:bodyPr wrap="square" rtlCol="0" anchor="ctr"/>
          <a:lstStyle/>
          <a:p>
            <a:pPr marL="0" indent="0">
              <a:buNone/>
            </a:pPr>
            <a:r>
              <a:rPr lang="en-US" sz="1450" b="1" dirty="0">
                <a:latin typeface="Calibri" pitchFamily="34" charset="0"/>
                <a:ea typeface="Calibri" pitchFamily="34" charset="-122"/>
                <a:cs typeface="Calibri" pitchFamily="34" charset="-120"/>
              </a:rPr>
              <a:t>›  </a:t>
            </a:r>
            <a:r>
              <a:rPr lang="en-US" sz="1450" dirty="0">
                <a:latin typeface="Calibri" pitchFamily="34" charset="0"/>
                <a:ea typeface="Calibri" pitchFamily="34" charset="-122"/>
                <a:cs typeface="Calibri" pitchFamily="34" charset="-120"/>
              </a:rPr>
              <a:t>The scheduling algorithm prioritises burst-mode memory access while respecting I/O timing, reducing hardware cost.</a:t>
            </a:r>
            <a:endParaRPr lang="en-US" sz="1450" dirty="0"/>
          </a:p>
        </p:txBody>
      </p:sp>
      <p:sp>
        <p:nvSpPr>
          <p:cNvPr id="7" name="Text 5"/>
          <p:cNvSpPr/>
          <p:nvPr/>
        </p:nvSpPr>
        <p:spPr>
          <a:xfrm>
            <a:off x="548640" y="3732494"/>
            <a:ext cx="8046720" cy="685800"/>
          </a:xfrm>
          <a:prstGeom prst="rect">
            <a:avLst/>
          </a:prstGeom>
          <a:noFill/>
          <a:ln/>
        </p:spPr>
        <p:txBody>
          <a:bodyPr wrap="square" rtlCol="0" anchor="ctr"/>
          <a:lstStyle/>
          <a:p>
            <a:r>
              <a:rPr lang="en-US" sz="1450" b="1" dirty="0">
                <a:latin typeface="Calibri" pitchFamily="34" charset="0"/>
                <a:ea typeface="Calibri" pitchFamily="34" charset="-122"/>
                <a:cs typeface="Calibri" pitchFamily="34" charset="-120"/>
              </a:rPr>
              <a:t>›  </a:t>
            </a:r>
            <a:r>
              <a:rPr lang="en-US" sz="1400" dirty="0">
                <a:latin typeface="Calibri" panose="020F0502020204030204" pitchFamily="34" charset="0"/>
                <a:ea typeface="Calibri" panose="020F0502020204030204" pitchFamily="34" charset="0"/>
                <a:cs typeface="Calibri" panose="020F0502020204030204" pitchFamily="34" charset="0"/>
              </a:rPr>
              <a:t>Optimizing memory access during HLS leads to simpler hardware and more efficient designs without relying on excessive memory resources</a:t>
            </a:r>
            <a:r>
              <a:rPr lang="en-US" sz="1400" dirty="0" smtClean="0">
                <a:latin typeface="Calibri" panose="020F0502020204030204" pitchFamily="34" charset="0"/>
                <a:ea typeface="Calibri" panose="020F0502020204030204" pitchFamily="34" charset="0"/>
                <a:cs typeface="Calibri" panose="020F0502020204030204" pitchFamily="34" charset="0"/>
              </a:rPr>
              <a:t>.</a:t>
            </a:r>
            <a:endParaRPr lang="en-US" sz="14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TM03457510[[fn=Savon]]</Template>
  <TotalTime>0</TotalTime>
  <Words>755</Words>
  <Application>Microsoft Office PowerPoint</Application>
  <PresentationFormat>On-screen Show (16:9)</PresentationFormat>
  <Paragraphs>109</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Century Gothic</vt:lpstr>
      <vt:lpstr>Garamond</vt:lpstr>
      <vt:lpstr>Savon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Memory Optimisation in High-Level Synthesis</dc:title>
  <dc:subject>PptxGenJS Presentation</dc:subject>
  <dc:creator>PptxGenJS</dc:creator>
  <cp:lastModifiedBy>Umer Gondal</cp:lastModifiedBy>
  <cp:revision>35</cp:revision>
  <dcterms:created xsi:type="dcterms:W3CDTF">2026-06-28T10:23:05Z</dcterms:created>
  <dcterms:modified xsi:type="dcterms:W3CDTF">2026-06-29T17:06:47Z</dcterms:modified>
</cp:coreProperties>
</file>