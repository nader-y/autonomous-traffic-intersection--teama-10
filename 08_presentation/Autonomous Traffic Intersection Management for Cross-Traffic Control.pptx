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660" r:id="rId2"/>
  </p:sldMasterIdLst>
  <p:notesMasterIdLst>
    <p:notesMasterId r:id="rId23"/>
  </p:notesMasterIdLst>
  <p:handoutMasterIdLst>
    <p:handoutMasterId r:id="rId24"/>
  </p:handoutMasterIdLst>
  <p:sldIdLst>
    <p:sldId id="260" r:id="rId3"/>
    <p:sldId id="259" r:id="rId4"/>
    <p:sldId id="258" r:id="rId5"/>
    <p:sldId id="257" r:id="rId6"/>
    <p:sldId id="261" r:id="rId7"/>
    <p:sldId id="262" r:id="rId8"/>
    <p:sldId id="263" r:id="rId9"/>
    <p:sldId id="274" r:id="rId10"/>
    <p:sldId id="275" r:id="rId11"/>
    <p:sldId id="264" r:id="rId12"/>
    <p:sldId id="277" r:id="rId13"/>
    <p:sldId id="276" r:id="rId14"/>
    <p:sldId id="265" r:id="rId15"/>
    <p:sldId id="266" r:id="rId16"/>
    <p:sldId id="268" r:id="rId17"/>
    <p:sldId id="273" r:id="rId18"/>
    <p:sldId id="272" r:id="rId19"/>
    <p:sldId id="271" r:id="rId20"/>
    <p:sldId id="267" r:id="rId21"/>
    <p:sldId id="256" r:id="rId22"/>
  </p:sldIdLst>
  <p:sldSz cx="9144000" cy="6858000" type="screen4x3"/>
  <p:notesSz cx="6858000" cy="9144000"/>
  <p:defaultTextStyle>
    <a:defPPr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3250A4E-CA67-4111-B302-543F83E4B5F3}">
          <p14:sldIdLst>
            <p14:sldId id="260"/>
          </p14:sldIdLst>
        </p14:section>
        <p14:section name="Step_1" id="{2CD44FC8-0DEE-4F99-B151-D201DFC3E862}">
          <p14:sldIdLst>
            <p14:sldId id="259"/>
            <p14:sldId id="258"/>
            <p14:sldId id="257"/>
            <p14:sldId id="261"/>
            <p14:sldId id="262"/>
            <p14:sldId id="263"/>
            <p14:sldId id="274"/>
            <p14:sldId id="275"/>
            <p14:sldId id="264"/>
            <p14:sldId id="277"/>
            <p14:sldId id="276"/>
            <p14:sldId id="265"/>
            <p14:sldId id="266"/>
            <p14:sldId id="268"/>
            <p14:sldId id="273"/>
            <p14:sldId id="272"/>
            <p14:sldId id="271"/>
            <p14:sldId id="267"/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E3E3E3"/>
    <a:srgbClr val="D9DB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2" autoAdjust="0"/>
    <p:restoredTop sz="76993" autoAdjust="0"/>
  </p:normalViewPr>
  <p:slideViewPr>
    <p:cSldViewPr snapToGrid="0" snapToObjects="1">
      <p:cViewPr varScale="1">
        <p:scale>
          <a:sx n="63" d="100"/>
          <a:sy n="63" d="100"/>
        </p:scale>
        <p:origin x="1306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817F0-84FC-C145-AFC3-FA42D1D21F8E}" type="datetimeFigureOut">
              <a:rPr lang="de-DE" smtClean="0"/>
              <a:t>03.07.2026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C16E92-7EF2-5A47-8774-75AC8D7375D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619881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0FA3C8-DE25-7348-A1F7-D749F91943C8}" type="datetimeFigureOut">
              <a:rPr lang="de-DE" smtClean="0"/>
              <a:t>03.07.2026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0E6540-DBC8-1449-A578-CCAD6D2991B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72662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0E6540-DBC8-1449-A578-CCAD6D2991BC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8942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say</a:t>
            </a:r>
            <a:r>
              <a:rPr lang="de-DE" dirty="0"/>
              <a:t> </a:t>
            </a:r>
            <a:r>
              <a:rPr lang="de-DE" dirty="0" err="1"/>
              <a:t>edge</a:t>
            </a:r>
            <a:r>
              <a:rPr lang="de-DE" dirty="0"/>
              <a:t> </a:t>
            </a:r>
            <a:r>
              <a:rPr lang="de-DE" dirty="0" err="1"/>
              <a:t>deployment</a:t>
            </a:r>
            <a:r>
              <a:rPr lang="de-DE" dirty="0"/>
              <a:t> a </a:t>
            </a:r>
            <a:r>
              <a:rPr lang="de-DE" dirty="0" err="1"/>
              <a:t>sa</a:t>
            </a:r>
            <a:r>
              <a:rPr lang="de-DE" dirty="0"/>
              <a:t> title 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0E6540-DBC8-1449-A578-CCAD6D2991BC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97137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0E6540-DBC8-1449-A578-CCAD6D2991BC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18237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Future </a:t>
            </a:r>
            <a:r>
              <a:rPr lang="de-DE" dirty="0" err="1"/>
              <a:t>work</a:t>
            </a:r>
            <a:r>
              <a:rPr lang="de-DE" dirty="0"/>
              <a:t>: </a:t>
            </a:r>
            <a:r>
              <a:rPr lang="de-DE" dirty="0" err="1"/>
              <a:t>EmergencyHandlerOverrides</a:t>
            </a:r>
            <a:r>
              <a:rPr lang="de-DE" dirty="0"/>
              <a:t> normal </a:t>
            </a:r>
            <a:r>
              <a:rPr lang="de-DE" dirty="0" err="1"/>
              <a:t>scheduling</a:t>
            </a:r>
            <a:r>
              <a:rPr lang="de-DE" dirty="0"/>
              <a:t> </a:t>
            </a: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needed</a:t>
            </a:r>
            <a:endParaRPr lang="en-DE" dirty="0"/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0E6540-DBC8-1449-A578-CCAD6D2991BC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7413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Future </a:t>
            </a:r>
            <a:r>
              <a:rPr lang="de-DE" dirty="0" err="1"/>
              <a:t>work</a:t>
            </a:r>
            <a:r>
              <a:rPr lang="de-DE" dirty="0"/>
              <a:t>: </a:t>
            </a:r>
            <a:r>
              <a:rPr lang="de-DE" dirty="0" err="1"/>
              <a:t>EmergencyHandlerOverrides</a:t>
            </a:r>
            <a:r>
              <a:rPr lang="de-DE" dirty="0"/>
              <a:t> normal </a:t>
            </a:r>
            <a:r>
              <a:rPr lang="de-DE" dirty="0" err="1"/>
              <a:t>scheduling</a:t>
            </a:r>
            <a:r>
              <a:rPr lang="de-DE" dirty="0"/>
              <a:t> </a:t>
            </a: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needed</a:t>
            </a:r>
            <a:endParaRPr lang="de-DE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Achieve safe, deterministic, and real-time scheduling while balancing fairness and efficiency under strict intersection constraints.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We verify the system using CTL properties in UPPAAL to ensure safety (no collisions), liveness (progress), and real-time constraints under all possible execution traces.</a:t>
            </a:r>
            <a:endParaRPr lang="en-DE" dirty="0"/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0E6540-DBC8-1449-A578-CCAD6D2991BC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03840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UPPAAL model guarantees that every scheduling decision results in a collision-free, time-bounded, and eventually progressing execution sequence.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0E6540-DBC8-1449-A578-CCAD6D2991BC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2139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48001" y="1438812"/>
            <a:ext cx="7520410" cy="1470025"/>
          </a:xfrm>
        </p:spPr>
        <p:txBody>
          <a:bodyPr>
            <a:normAutofit/>
          </a:bodyPr>
          <a:lstStyle>
            <a:lvl1pPr algn="l">
              <a:defRPr sz="4000" b="1" i="0">
                <a:latin typeface="Source Sans Pro"/>
                <a:cs typeface="Source Sans Pro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648001" y="3176700"/>
            <a:ext cx="7520410" cy="2254848"/>
          </a:xfrm>
        </p:spPr>
        <p:txBody>
          <a:bodyPr/>
          <a:lstStyle>
            <a:lvl1pPr marL="0" indent="0" algn="l">
              <a:buNone/>
              <a:defRPr b="0" i="0">
                <a:solidFill>
                  <a:schemeClr val="tx1"/>
                </a:solidFill>
                <a:latin typeface="Source Sans Pro"/>
                <a:cs typeface="Source Sans Pro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>
          <a:xfrm>
            <a:off x="648000" y="6492816"/>
            <a:ext cx="2133600" cy="11195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C916D949-773C-3845-BFBA-C7D9987445EE}" type="datetime1">
              <a:rPr lang="de-DE" smtClean="0"/>
              <a:t>03.07.2026</a:t>
            </a:fld>
            <a:endParaRPr lang="de-DE" dirty="0"/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398400" y="6493481"/>
            <a:ext cx="21336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E7BE1CCD-89A0-CC45-BF3E-2A331A7F0490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81125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>
          <a:xfrm>
            <a:off x="648000" y="6492816"/>
            <a:ext cx="2133600" cy="11195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C916D949-773C-3845-BFBA-C7D9987445EE}" type="datetime1">
              <a:rPr lang="de-DE" smtClean="0"/>
              <a:t>03.07.2026</a:t>
            </a:fld>
            <a:endParaRPr lang="de-DE" dirty="0"/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398400" y="6493481"/>
            <a:ext cx="21336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E7BE1CCD-89A0-CC45-BF3E-2A331A7F0490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67264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AFB14-23E0-1F4C-A6C5-95691F2AB521}" type="datetime1">
              <a:rPr lang="de-DE" smtClean="0"/>
              <a:t>03.07.2026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8066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0EEAD-2E33-CB41-913B-6235DD169CF5}" type="datetime1">
              <a:rPr lang="de-DE" smtClean="0"/>
              <a:t>03.07.2026</a:t>
            </a:fld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9967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E645A-B693-BB43-8646-3B1C1BAD48BE}" type="datetime1">
              <a:rPr lang="de-DE" smtClean="0"/>
              <a:t>03.07.2026</a:t>
            </a:fld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7632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94868-D7B6-2349-81F6-28D3E8C9671D}" type="datetime1">
              <a:rPr lang="de-DE" smtClean="0"/>
              <a:t>03.07.2026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0085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CBFB4-2031-A542-A2EF-20BD4D9E5256}" type="datetime1">
              <a:rPr lang="de-DE" smtClean="0"/>
              <a:t>03.07.2026</a:t>
            </a:fld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1446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88818-9833-2C4A-8849-8268EC11202B}" type="datetime1">
              <a:rPr lang="de-DE" smtClean="0"/>
              <a:t>03.07.2026</a:t>
            </a:fld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5067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4BE1-0C38-F948-9EB8-8FC2670177F0}" type="datetime1">
              <a:rPr lang="de-DE" smtClean="0"/>
              <a:t>03.07.2026</a:t>
            </a:fld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5759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E3445-959C-4840-857B-0726FC3AABF6}" type="datetime1">
              <a:rPr lang="de-DE" smtClean="0"/>
              <a:t>03.07.2026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5369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16519-39B1-594B-9118-53EDDEBB1F38}" type="datetime1">
              <a:rPr lang="de-DE" smtClean="0"/>
              <a:t>03.07.2026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16972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74C4A-08B8-CA46-0EF6-D7018790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5CD060-1EA1-1311-5D33-C80E8D034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11788-833C-90E4-F59D-EAFFF4243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3D61C-3C80-4EA8-A27E-9CD1D207D77F}" type="datetime8">
              <a:rPr lang="en-DE" smtClean="0"/>
              <a:t>03/07/2026 08:41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05698-1062-D596-6992-BB008620D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RISC-V Foundation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45934-C7AD-F4A3-9AB0-E03FD9C84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FCA2-C7D8-4D7E-994A-0969D3AFD12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301195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50AEA-5376-0590-10F2-E89297666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A1DBE-BFFF-BC1C-5E5E-A7548B646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E7359-446F-80C9-F7AB-90DB5540D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E0078-9CCF-4C16-92D6-6E9B93F11347}" type="datetime8">
              <a:rPr lang="en-DE" smtClean="0"/>
              <a:t>03/07/2026 08:41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A9DCC-93E7-3679-1DC8-BB43B4DE8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RISC-V Foundation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D5285-D699-DCA6-BDC7-1F1B56730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FCA2-C7D8-4D7E-994A-0969D3AFD12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869556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49914-727C-23CE-A41A-AA8C17ECD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2AF17-859B-1884-10B8-A5D83435B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FD882-96F7-2F4F-62B3-CF8865B49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21E47-6574-4F86-BA8B-C94091E6F9D2}" type="datetime8">
              <a:rPr lang="en-DE" smtClean="0"/>
              <a:t>03/07/2026 08:41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99AF6-37DB-A302-7418-7DD9144E1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RISC-V Foundation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78122-48CE-DB49-13E8-654A39E71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FCA2-C7D8-4D7E-994A-0969D3AFD12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434959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C9BEE-6A1F-95BE-AAF2-25F1CB33A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D3BDE-F217-4AD6-2404-671CEBC251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B3E6EB-06AA-6220-138F-FC9C3C437A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816AB-B2CA-3BF7-8B0B-17E9C5F56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F4A53-A4D4-4376-95B1-719F0246BE79}" type="datetime8">
              <a:rPr lang="en-DE" smtClean="0"/>
              <a:t>03/07/2026 08:41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7AD68-AE43-8F58-FB00-555643945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RISC-V Foundation</a:t>
            </a:r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614057-A30C-2AC5-F4FD-94F881061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FCA2-C7D8-4D7E-994A-0969D3AFD12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636599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89EBF-62DC-1EB5-64E9-93117D01C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A92348-2103-7E67-26A2-62047FEC6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2D896E-AF3A-A885-006F-6BEEA6A42E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7DFA14-4D11-2BCA-E108-E99225DBA2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F46532-3570-60AB-3EFB-E100145828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B329D2-4869-907C-4C3B-9149F5F86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74820-0881-4401-9A72-0BCBA9BEB800}" type="datetime8">
              <a:rPr lang="en-DE" smtClean="0"/>
              <a:t>03/07/2026 08:41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DDD4CE-8D97-F3BE-3571-FE1535712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RISC-V Foundation</a:t>
            </a:r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C9C99A-A049-0377-31BD-236F4C554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FCA2-C7D8-4D7E-994A-0969D3AFD12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139380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79658-5FE5-B518-CC8D-2E984548E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C6A41A-4A7F-4A5B-D63E-AA9BD3C8E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04821-A5EB-4A54-BE98-35A3DF170623}" type="datetime8">
              <a:rPr lang="en-DE" smtClean="0"/>
              <a:t>03/07/2026 08:41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D8B191-0CB9-9EA7-A490-0324437CB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RISC-V Foundation</a:t>
            </a:r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1344D3-8EE9-97FB-429C-37FE4FC40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FCA2-C7D8-4D7E-994A-0969D3AFD12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63262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13B90-1915-3F00-DD2A-989B25836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B5D19-845C-4384-B4F0-D0D435BCA582}" type="datetime8">
              <a:rPr lang="en-DE" smtClean="0"/>
              <a:t>03/07/2026 08:41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258BFE-13EA-79B0-3573-B104C1857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RISC-V Foundation</a:t>
            </a:r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F7031-0675-9B57-78A1-09F572A27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FCA2-C7D8-4D7E-994A-0969D3AFD12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687415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12736-8B5D-C696-95D5-CB996DCEF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D950C-F5D3-FCE8-0498-382572397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6F44A-B5F0-505A-DE7D-B95275F475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81B3F-7D6E-E7B9-0EF9-FEC9D9AF7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51FEC-79CE-48E4-88EC-2C13E108C158}" type="datetime8">
              <a:rPr lang="en-DE" smtClean="0"/>
              <a:t>03/07/2026 08:41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CF0BC-3359-1DC1-911C-E59A9C3A8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RISC-V Foundation</a:t>
            </a:r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CD548A-291A-E749-DC47-B969F8A8D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FCA2-C7D8-4D7E-994A-0969D3AFD12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309657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7961-4CE8-91F3-1040-EE49FC109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65BAED-69FB-60AB-10AE-398A88A276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FD6F11-BD5B-1C88-0F0D-7D60A31D0F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0C9286-2966-C3D9-6785-7190DB39C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1528F-0EE2-4849-BB92-A6247EFDDFA4}" type="datetime8">
              <a:rPr lang="en-DE" smtClean="0"/>
              <a:t>03/07/2026 08:41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32DBFA-6F84-350C-7020-F54AE3CCA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RISC-V Foundation</a:t>
            </a:r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45007D-B99A-711F-B898-A1A7F926D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FCA2-C7D8-4D7E-994A-0969D3AFD12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664228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3243C-BBC7-DDC7-23D1-7F0C9E696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2E32E3-41C0-D9B4-A1B7-1EDACDAA5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379B9-B11A-1238-D81A-61A672B13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BBCA4-4CAE-4290-9174-2B78584E53B2}" type="datetime8">
              <a:rPr lang="en-DE" smtClean="0"/>
              <a:t>03/07/2026 08:41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90606-0902-1FAB-9C51-9F9955636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RISC-V Foundation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1B34F-165F-0B27-F90D-2F124BE3E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FCA2-C7D8-4D7E-994A-0969D3AFD12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254521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F90C93-26A8-1A30-719F-5432D6A1D2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F49A52-4173-E8E4-E8D1-F3B55373CD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7729C-4CC9-81CE-F907-1DCB119B3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1EAF5-409D-43ED-A902-770470952D56}" type="datetime8">
              <a:rPr lang="en-DE" smtClean="0"/>
              <a:t>03/07/2026 08:41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C57FE-E9B6-0094-BF07-64F63267E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RISC-V Foundation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D0672-574E-020A-B659-D1DFEFE9B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FCA2-C7D8-4D7E-994A-0969D3AFD12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46387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g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0" y="648000"/>
            <a:ext cx="8532000" cy="567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48000" y="745650"/>
            <a:ext cx="767543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48000" y="2021180"/>
            <a:ext cx="7675432" cy="4104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48000" y="6492816"/>
            <a:ext cx="2133600" cy="11195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C916D949-773C-3845-BFBA-C7D9987445EE}" type="datetime1">
              <a:rPr lang="de-DE" smtClean="0"/>
              <a:t>03.07.2026</a:t>
            </a:fld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398400" y="6493481"/>
            <a:ext cx="21336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E7BE1CCD-89A0-CC45-BF3E-2A331A7F0490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7" name="Bild 6" descr="HSHL_Logo_horizontal_RGB_Sequenz_Animation.gif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8000" y="223200"/>
            <a:ext cx="1404000" cy="20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995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000" b="1" i="0" kern="1200">
          <a:solidFill>
            <a:schemeClr val="tx1"/>
          </a:solidFill>
          <a:latin typeface="Source Sans Pro"/>
          <a:ea typeface="+mj-ea"/>
          <a:cs typeface="Source Sans Pro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b="0" i="0" kern="1200">
          <a:solidFill>
            <a:schemeClr val="tx1"/>
          </a:solidFill>
          <a:latin typeface="Source Sans Pro"/>
          <a:ea typeface="+mn-ea"/>
          <a:cs typeface="Source Sans Pro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b="0" i="0" kern="1200">
          <a:solidFill>
            <a:schemeClr val="tx1"/>
          </a:solidFill>
          <a:latin typeface="Source Sans Pro"/>
          <a:ea typeface="+mn-ea"/>
          <a:cs typeface="Source Sans Pro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chemeClr val="tx1"/>
          </a:solidFill>
          <a:latin typeface="Source Sans Pro"/>
          <a:ea typeface="+mn-ea"/>
          <a:cs typeface="Source Sans Pro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chemeClr val="tx1"/>
          </a:solidFill>
          <a:latin typeface="Source Sans Pro"/>
          <a:ea typeface="+mn-ea"/>
          <a:cs typeface="Source Sans Pro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b="0" i="0" kern="1200">
          <a:solidFill>
            <a:schemeClr val="tx1"/>
          </a:solidFill>
          <a:latin typeface="Source Sans Pro"/>
          <a:ea typeface="+mn-ea"/>
          <a:cs typeface="Source Sans Pro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6754D0-7FAE-A45D-4023-B24D3BAC0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B314D1-BCFC-5234-4EC4-84313D4D7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0EFB6-8CFB-9150-70AF-A80F0BCDDB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8EA34B-BED5-4074-9B60-8930CF6913B9}" type="datetime8">
              <a:rPr lang="en-DE" smtClean="0"/>
              <a:t>03/07/2026 08:41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69B1E-1609-392C-A752-1BB9E6EC7E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RISC-V Foundation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20697-C8AD-7E67-0C34-DE0736978C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CEFCA2-C7D8-4D7E-994A-0969D3AFD12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07001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logo with a white cross&#10;&#10;AI-generated content may be incorrect.">
            <a:extLst>
              <a:ext uri="{FF2B5EF4-FFF2-40B4-BE49-F238E27FC236}">
                <a16:creationId xmlns:a16="http://schemas.microsoft.com/office/drawing/2014/main" id="{0BB7B5BA-86D7-C0E5-6A11-4CEBB6B5C3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339" y="1036416"/>
            <a:ext cx="2635321" cy="22836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56EDA6E-A0F0-2958-F1A7-F6AA59E53C94}"/>
              </a:ext>
            </a:extLst>
          </p:cNvPr>
          <p:cNvSpPr txBox="1"/>
          <p:nvPr/>
        </p:nvSpPr>
        <p:spPr>
          <a:xfrm>
            <a:off x="1086466" y="3537919"/>
            <a:ext cx="739877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3200" b="1" dirty="0" err="1"/>
              <a:t>Autonomous</a:t>
            </a:r>
            <a:r>
              <a:rPr lang="de-DE" sz="3200" b="1" dirty="0"/>
              <a:t> Traffic </a:t>
            </a:r>
            <a:r>
              <a:rPr lang="de-DE" sz="3200" b="1" dirty="0" err="1"/>
              <a:t>Intersection</a:t>
            </a:r>
            <a:r>
              <a:rPr lang="de-DE" sz="3200" b="1" dirty="0"/>
              <a:t> Management </a:t>
            </a:r>
            <a:r>
              <a:rPr lang="de-DE" sz="3200" b="1" dirty="0" err="1"/>
              <a:t>for</a:t>
            </a:r>
            <a:r>
              <a:rPr lang="de-DE" sz="3200" b="1" dirty="0"/>
              <a:t> Cross-Traffic Control</a:t>
            </a:r>
            <a:endParaRPr lang="en-DE" sz="3200" b="1" dirty="0"/>
          </a:p>
        </p:txBody>
      </p:sp>
    </p:spTree>
    <p:extLst>
      <p:ext uri="{BB962C8B-B14F-4D97-AF65-F5344CB8AC3E}">
        <p14:creationId xmlns:p14="http://schemas.microsoft.com/office/powerpoint/2010/main" val="3849976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6C0D0-AEAB-8C89-F987-E135F6113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720000"/>
            <a:ext cx="3517056" cy="685655"/>
          </a:xfrm>
        </p:spPr>
        <p:txBody>
          <a:bodyPr>
            <a:normAutofit fontScale="90000"/>
          </a:bodyPr>
          <a:lstStyle/>
          <a:p>
            <a:r>
              <a:rPr lang="de-DE" dirty="0"/>
              <a:t>Motivation</a:t>
            </a:r>
            <a:endParaRPr lang="en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23178-3710-8B8F-C0A0-D68F8284BE1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03.07.2026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83B76-74F4-C488-DCF1-7EFF666AC1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D87E5B-302B-1418-0444-DA7D87408FEB}"/>
              </a:ext>
            </a:extLst>
          </p:cNvPr>
          <p:cNvSpPr txBox="1"/>
          <p:nvPr/>
        </p:nvSpPr>
        <p:spPr>
          <a:xfrm>
            <a:off x="360000" y="1405655"/>
            <a:ext cx="81361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Urban traffic growth increases congestion, delay, and intersection conflicts.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0341D8-7E46-684B-3B55-860482F852B7}"/>
              </a:ext>
            </a:extLst>
          </p:cNvPr>
          <p:cNvSpPr txBox="1"/>
          <p:nvPr/>
        </p:nvSpPr>
        <p:spPr>
          <a:xfrm>
            <a:off x="360000" y="4559398"/>
            <a:ext cx="76750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motivates the development of a safe, real-time, and verifiable intersection control system that ensures:</a:t>
            </a:r>
            <a:endParaRPr lang="en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6308F6-1AD6-749B-5B3E-6A3F05F09920}"/>
              </a:ext>
            </a:extLst>
          </p:cNvPr>
          <p:cNvSpPr txBox="1"/>
          <p:nvPr/>
        </p:nvSpPr>
        <p:spPr>
          <a:xfrm>
            <a:off x="2662084" y="5243610"/>
            <a:ext cx="44687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collision avoidance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improved traffic throughput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embedded real-time feasibility</a:t>
            </a:r>
            <a:endParaRPr lang="en-D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E70F3B-9F5D-CE7C-144A-BAA566E9E85D}"/>
              </a:ext>
            </a:extLst>
          </p:cNvPr>
          <p:cNvSpPr txBox="1"/>
          <p:nvPr/>
        </p:nvSpPr>
        <p:spPr>
          <a:xfrm>
            <a:off x="360000" y="3880375"/>
            <a:ext cx="81361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Smart intersections replace traffic lights with reservation-based scheduling for conflict-free access.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DFF5E5-61F1-07D8-B5EA-EEE82A3A8B03}"/>
              </a:ext>
            </a:extLst>
          </p:cNvPr>
          <p:cNvSpPr txBox="1"/>
          <p:nvPr/>
        </p:nvSpPr>
        <p:spPr>
          <a:xfrm>
            <a:off x="360000" y="3196163"/>
            <a:ext cx="81607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Autonomous vehicles enable cooperative intersection management beyond signal-based control.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71C65D-BABE-BFC9-92A1-8EB2136E00A8}"/>
              </a:ext>
            </a:extLst>
          </p:cNvPr>
          <p:cNvSpPr txBox="1"/>
          <p:nvPr/>
        </p:nvSpPr>
        <p:spPr>
          <a:xfrm>
            <a:off x="360000" y="2554340"/>
            <a:ext cx="8642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ITS and V2X enable real-time coordination between vehicles and infrastructure. Intelligent Transportation Systems Vehicle-to-Everything (V2X) Communication.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3642ED-26C2-296B-12D1-2D2B272751A7}"/>
              </a:ext>
            </a:extLst>
          </p:cNvPr>
          <p:cNvSpPr txBox="1"/>
          <p:nvPr/>
        </p:nvSpPr>
        <p:spPr>
          <a:xfrm>
            <a:off x="360000" y="1912626"/>
            <a:ext cx="78007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Fixed-time traffic lights are inefficient under dynamic and heterogeneous traffic conditions.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9473DE-A10C-61DF-3165-CCF0B0B01685}"/>
              </a:ext>
            </a:extLst>
          </p:cNvPr>
          <p:cNvSpPr txBox="1"/>
          <p:nvPr/>
        </p:nvSpPr>
        <p:spPr>
          <a:xfrm>
            <a:off x="7886700" y="5960641"/>
            <a:ext cx="736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[1][2]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502872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7B6727F-A29C-678A-47E0-0D7FE46D1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720000"/>
            <a:ext cx="6900336" cy="636279"/>
          </a:xfrm>
        </p:spPr>
        <p:txBody>
          <a:bodyPr>
            <a:noAutofit/>
          </a:bodyPr>
          <a:lstStyle/>
          <a:p>
            <a:r>
              <a:rPr lang="de-DE" i="1" dirty="0"/>
              <a:t>Objectives</a:t>
            </a:r>
            <a:endParaRPr lang="en-DE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D0E17-961A-C295-699A-004C23232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8000" y="6492816"/>
            <a:ext cx="2133600" cy="111954"/>
          </a:xfrm>
        </p:spPr>
        <p:txBody>
          <a:bodyPr/>
          <a:lstStyle/>
          <a:p>
            <a:fld id="{C916D949-773C-3845-BFBA-C7D9987445EE}" type="datetime1">
              <a:rPr lang="de-DE" smtClean="0"/>
              <a:pPr/>
              <a:t>03.07.2026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CE5034-C8F6-54ED-9490-7006CA9DE0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98400" y="6493481"/>
            <a:ext cx="2133600" cy="111290"/>
          </a:xfrm>
        </p:spPr>
        <p:txBody>
          <a:bodyPr/>
          <a:lstStyle/>
          <a:p>
            <a:fld id="{E7BE1CCD-89A0-CC45-BF3E-2A331A7F0490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490DC7-A10F-B59B-3E08-325CB604D266}"/>
              </a:ext>
            </a:extLst>
          </p:cNvPr>
          <p:cNvSpPr txBox="1"/>
          <p:nvPr/>
        </p:nvSpPr>
        <p:spPr>
          <a:xfrm>
            <a:off x="643084" y="1439243"/>
            <a:ext cx="612151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Model a 4-way </a:t>
            </a:r>
            <a:r>
              <a:rPr lang="de-DE" dirty="0" err="1"/>
              <a:t>intersection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lane</a:t>
            </a:r>
            <a:r>
              <a:rPr lang="de-DE" dirty="0"/>
              <a:t>-level </a:t>
            </a:r>
            <a:r>
              <a:rPr lang="de-DE" dirty="0" err="1"/>
              <a:t>detail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Design </a:t>
            </a:r>
            <a:r>
              <a:rPr lang="de-DE" dirty="0" err="1"/>
              <a:t>conflict</a:t>
            </a:r>
            <a:r>
              <a:rPr lang="de-DE" dirty="0"/>
              <a:t>-aware </a:t>
            </a:r>
            <a:r>
              <a:rPr lang="de-DE" dirty="0" err="1"/>
              <a:t>scheduling</a:t>
            </a:r>
            <a:r>
              <a:rPr lang="de-DE" dirty="0"/>
              <a:t> </a:t>
            </a:r>
            <a:r>
              <a:rPr lang="de-DE" dirty="0" err="1"/>
              <a:t>mechanism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Implement </a:t>
            </a:r>
            <a:r>
              <a:rPr lang="de-DE" dirty="0" err="1"/>
              <a:t>reservation-based</a:t>
            </a:r>
            <a:r>
              <a:rPr lang="de-DE" dirty="0"/>
              <a:t> </a:t>
            </a:r>
            <a:r>
              <a:rPr lang="de-DE" dirty="0" err="1"/>
              <a:t>controller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Ensure</a:t>
            </a:r>
            <a:r>
              <a:rPr lang="de-DE" dirty="0"/>
              <a:t>: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dirty="0" err="1"/>
              <a:t>collision-free</a:t>
            </a:r>
            <a:r>
              <a:rPr lang="de-DE" dirty="0"/>
              <a:t> </a:t>
            </a:r>
            <a:r>
              <a:rPr lang="de-DE" dirty="0" err="1"/>
              <a:t>executionfairness</a:t>
            </a:r>
            <a:r>
              <a:rPr lang="de-DE" dirty="0"/>
              <a:t> + </a:t>
            </a:r>
            <a:r>
              <a:rPr lang="de-DE" dirty="0" err="1"/>
              <a:t>reduced</a:t>
            </a:r>
            <a:r>
              <a:rPr lang="de-DE" dirty="0"/>
              <a:t> </a:t>
            </a:r>
            <a:r>
              <a:rPr lang="de-DE" dirty="0" err="1"/>
              <a:t>waiting</a:t>
            </a:r>
            <a:r>
              <a:rPr lang="de-DE" dirty="0"/>
              <a:t> time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dirty="0"/>
              <a:t>Model </a:t>
            </a:r>
            <a:r>
              <a:rPr lang="de-DE" dirty="0" err="1"/>
              <a:t>system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a cyber-</a:t>
            </a:r>
            <a:r>
              <a:rPr lang="de-DE" dirty="0" err="1"/>
              <a:t>physical</a:t>
            </a:r>
            <a:r>
              <a:rPr lang="de-DE" dirty="0"/>
              <a:t> </a:t>
            </a:r>
            <a:r>
              <a:rPr lang="de-DE" dirty="0" err="1"/>
              <a:t>system</a:t>
            </a:r>
            <a:endParaRPr lang="de-DE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dirty="0" err="1"/>
              <a:t>Enable:UPPAAL</a:t>
            </a:r>
            <a:r>
              <a:rPr lang="de-DE" dirty="0"/>
              <a:t> formal </a:t>
            </a:r>
            <a:r>
              <a:rPr lang="de-DE" dirty="0" err="1"/>
              <a:t>verification</a:t>
            </a:r>
            <a:endParaRPr lang="de-DE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dirty="0" err="1"/>
              <a:t>FreeRTOS</a:t>
            </a:r>
            <a:r>
              <a:rPr lang="de-DE" dirty="0"/>
              <a:t> </a:t>
            </a:r>
            <a:r>
              <a:rPr lang="de-DE" dirty="0" err="1"/>
              <a:t>embedded</a:t>
            </a:r>
            <a:r>
              <a:rPr lang="de-DE" dirty="0"/>
              <a:t> </a:t>
            </a:r>
            <a:r>
              <a:rPr lang="de-DE" dirty="0" err="1"/>
              <a:t>mapping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769480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09088" y="715049"/>
            <a:ext cx="7705008" cy="645221"/>
          </a:xfrm>
        </p:spPr>
        <p:txBody>
          <a:bodyPr>
            <a:noAutofit/>
          </a:bodyPr>
          <a:lstStyle/>
          <a:p>
            <a:r>
              <a:rPr lang="de-DE" i="1" dirty="0" err="1"/>
              <a:t>Requirments</a:t>
            </a:r>
            <a:endParaRPr lang="de-DE" i="1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03.07.2026</a:t>
            </a:fld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9C78DE-B33D-6FAA-0FA7-A23E0894573B}"/>
              </a:ext>
            </a:extLst>
          </p:cNvPr>
          <p:cNvSpPr txBox="1"/>
          <p:nvPr/>
        </p:nvSpPr>
        <p:spPr>
          <a:xfrm>
            <a:off x="8055864" y="5960903"/>
            <a:ext cx="540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[4]</a:t>
            </a:r>
            <a:endParaRPr lang="en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D62A54-048D-0975-2ADE-87FCCC6D1F6D}"/>
              </a:ext>
            </a:extLst>
          </p:cNvPr>
          <p:cNvSpPr txBox="1"/>
          <p:nvPr/>
        </p:nvSpPr>
        <p:spPr>
          <a:xfrm>
            <a:off x="209088" y="1486818"/>
            <a:ext cx="4576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 err="1"/>
              <a:t>Functional</a:t>
            </a:r>
            <a:r>
              <a:rPr lang="de-DE" b="1" dirty="0"/>
              <a:t> Core</a:t>
            </a:r>
            <a:endParaRPr lang="en-DE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2273E7-CDE4-BE12-3774-8A8116B21261}"/>
              </a:ext>
            </a:extLst>
          </p:cNvPr>
          <p:cNvSpPr txBox="1"/>
          <p:nvPr/>
        </p:nvSpPr>
        <p:spPr>
          <a:xfrm>
            <a:off x="648000" y="1982698"/>
            <a:ext cx="535951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Detect vehicle state (V2X + sensors).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Maintain intersection queue and global state.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Detect conflicts between vehicle paths.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Assign safe time-space reservations.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Control entry + execution of vehicles.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Handle emergency priority requests.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0348E3-EFD8-23EE-800D-C088608E0826}"/>
              </a:ext>
            </a:extLst>
          </p:cNvPr>
          <p:cNvSpPr txBox="1"/>
          <p:nvPr/>
        </p:nvSpPr>
        <p:spPr>
          <a:xfrm>
            <a:off x="209088" y="3805151"/>
            <a:ext cx="4576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 err="1"/>
              <a:t>Safety</a:t>
            </a:r>
            <a:r>
              <a:rPr lang="de-DE" b="1" dirty="0"/>
              <a:t> </a:t>
            </a:r>
            <a:r>
              <a:rPr lang="de-DE" b="1" dirty="0" err="1"/>
              <a:t>Requirements</a:t>
            </a:r>
            <a:endParaRPr lang="en-DE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0B6AFB-AC32-4F51-05F9-FAECAC945CB3}"/>
              </a:ext>
            </a:extLst>
          </p:cNvPr>
          <p:cNvSpPr txBox="1"/>
          <p:nvPr/>
        </p:nvSpPr>
        <p:spPr>
          <a:xfrm>
            <a:off x="553308" y="4298910"/>
            <a:ext cx="701656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collision</a:t>
            </a:r>
            <a:r>
              <a:rPr lang="de-DE" dirty="0"/>
              <a:t> in </a:t>
            </a:r>
            <a:r>
              <a:rPr lang="de-DE" dirty="0" err="1"/>
              <a:t>intersection</a:t>
            </a:r>
            <a:r>
              <a:rPr lang="de-DE" dirty="0"/>
              <a:t> </a:t>
            </a:r>
            <a:r>
              <a:rPr lang="de-DE" dirty="0" err="1"/>
              <a:t>zones</a:t>
            </a:r>
            <a:r>
              <a:rPr lang="de-DE" dirty="0"/>
              <a:t>→ mutual </a:t>
            </a:r>
            <a:r>
              <a:rPr lang="de-DE" dirty="0" err="1"/>
              <a:t>exclusion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Q1–Q4.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deadlock</a:t>
            </a:r>
            <a:r>
              <a:rPr lang="de-DE" dirty="0"/>
              <a:t> in </a:t>
            </a:r>
            <a:r>
              <a:rPr lang="de-DE" dirty="0" err="1"/>
              <a:t>system</a:t>
            </a:r>
            <a:r>
              <a:rPr lang="de-DE" dirty="0"/>
              <a:t>→ </a:t>
            </a:r>
            <a:r>
              <a:rPr lang="de-DE" dirty="0" err="1"/>
              <a:t>system</a:t>
            </a:r>
            <a:r>
              <a:rPr lang="de-DE" dirty="0"/>
              <a:t> </a:t>
            </a:r>
            <a:r>
              <a:rPr lang="de-DE" dirty="0" err="1"/>
              <a:t>always</a:t>
            </a:r>
            <a:r>
              <a:rPr lang="de-DE" dirty="0"/>
              <a:t> </a:t>
            </a:r>
            <a:r>
              <a:rPr lang="de-DE" dirty="0" err="1"/>
              <a:t>progresses</a:t>
            </a:r>
            <a:r>
              <a:rPr lang="de-DE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starvation</a:t>
            </a:r>
            <a:r>
              <a:rPr lang="de-DE" dirty="0"/>
              <a:t>→ </a:t>
            </a:r>
            <a:r>
              <a:rPr lang="de-DE" dirty="0" err="1"/>
              <a:t>every</a:t>
            </a:r>
            <a:r>
              <a:rPr lang="de-DE" dirty="0"/>
              <a:t> </a:t>
            </a:r>
            <a:r>
              <a:rPr lang="de-DE" dirty="0" err="1"/>
              <a:t>vehicle</a:t>
            </a:r>
            <a:r>
              <a:rPr lang="de-DE" dirty="0"/>
              <a:t> </a:t>
            </a:r>
            <a:r>
              <a:rPr lang="de-DE" dirty="0" err="1"/>
              <a:t>eventually</a:t>
            </a:r>
            <a:r>
              <a:rPr lang="de-DE" dirty="0"/>
              <a:t> </a:t>
            </a:r>
            <a:r>
              <a:rPr lang="de-DE" dirty="0" err="1"/>
              <a:t>gets</a:t>
            </a:r>
            <a:r>
              <a:rPr lang="de-DE" dirty="0"/>
              <a:t> </a:t>
            </a:r>
            <a:r>
              <a:rPr lang="de-DE" dirty="0" err="1"/>
              <a:t>service</a:t>
            </a:r>
            <a:r>
              <a:rPr lang="de-DE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Real-time </a:t>
            </a:r>
            <a:r>
              <a:rPr lang="de-DE" dirty="0" err="1"/>
              <a:t>bounded</a:t>
            </a:r>
            <a:r>
              <a:rPr lang="de-DE" dirty="0"/>
              <a:t> </a:t>
            </a:r>
            <a:r>
              <a:rPr lang="de-DE" dirty="0" err="1"/>
              <a:t>response</a:t>
            </a:r>
            <a:r>
              <a:rPr lang="de-DE" dirty="0"/>
              <a:t>→ </a:t>
            </a:r>
            <a:r>
              <a:rPr lang="de-DE" dirty="0" err="1"/>
              <a:t>scheduling</a:t>
            </a:r>
            <a:r>
              <a:rPr lang="de-DE" dirty="0"/>
              <a:t> </a:t>
            </a:r>
            <a:r>
              <a:rPr lang="de-DE" dirty="0" err="1"/>
              <a:t>within</a:t>
            </a:r>
            <a:r>
              <a:rPr lang="de-DE" dirty="0"/>
              <a:t> time </a:t>
            </a:r>
            <a:r>
              <a:rPr lang="de-DE" dirty="0" err="1"/>
              <a:t>limits</a:t>
            </a:r>
            <a:r>
              <a:rPr lang="de-DE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Safe </a:t>
            </a:r>
            <a:r>
              <a:rPr lang="de-DE" dirty="0" err="1"/>
              <a:t>emergency</a:t>
            </a:r>
            <a:r>
              <a:rPr lang="de-DE" dirty="0"/>
              <a:t> </a:t>
            </a:r>
            <a:r>
              <a:rPr lang="de-DE" dirty="0" err="1"/>
              <a:t>handling</a:t>
            </a:r>
            <a:r>
              <a:rPr lang="de-DE" dirty="0"/>
              <a:t>→ </a:t>
            </a:r>
            <a:r>
              <a:rPr lang="de-DE" dirty="0" err="1"/>
              <a:t>priority</a:t>
            </a:r>
            <a:r>
              <a:rPr lang="de-DE" dirty="0"/>
              <a:t> </a:t>
            </a:r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violating</a:t>
            </a:r>
            <a:r>
              <a:rPr lang="de-DE" dirty="0"/>
              <a:t> </a:t>
            </a:r>
            <a:r>
              <a:rPr lang="de-DE" dirty="0" err="1"/>
              <a:t>safety</a:t>
            </a:r>
            <a:r>
              <a:rPr lang="de-DE" dirty="0"/>
              <a:t>.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911613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D70EB-327A-8B39-9CD1-F4A45D1DA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720000"/>
            <a:ext cx="8084520" cy="589374"/>
          </a:xfrm>
        </p:spPr>
        <p:txBody>
          <a:bodyPr>
            <a:noAutofit/>
          </a:bodyPr>
          <a:lstStyle/>
          <a:p>
            <a:r>
              <a:rPr lang="de-DE" i="1" dirty="0"/>
              <a:t>System Architecture</a:t>
            </a:r>
            <a:endParaRPr lang="en-DE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36757-5485-034C-6F27-5528EBBE4F4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03.07.2026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EDB136-9E7D-DD82-D5ED-51CC59C4D4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5</a:t>
            </a:fld>
            <a:endParaRPr lang="de-D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BC201C-A5EB-6F53-DCCE-F4D90B51F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00" y="1646505"/>
            <a:ext cx="7188310" cy="45085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8D8B01-BE49-5DBD-A841-C9F9DD9DADD9}"/>
              </a:ext>
            </a:extLst>
          </p:cNvPr>
          <p:cNvSpPr txBox="1"/>
          <p:nvPr/>
        </p:nvSpPr>
        <p:spPr>
          <a:xfrm>
            <a:off x="495600" y="129294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Block </a:t>
            </a:r>
            <a:r>
              <a:rPr lang="de-DE" b="1" dirty="0" err="1"/>
              <a:t>Diagram</a:t>
            </a:r>
            <a:endParaRPr lang="en-DE" b="1" dirty="0"/>
          </a:p>
        </p:txBody>
      </p:sp>
    </p:spTree>
    <p:extLst>
      <p:ext uri="{BB962C8B-B14F-4D97-AF65-F5344CB8AC3E}">
        <p14:creationId xmlns:p14="http://schemas.microsoft.com/office/powerpoint/2010/main" val="2824777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C9318-8F1A-969F-2876-BE6B9151A0B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03.07.2026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3E56DB-EB75-9487-4AB5-3D80EA11CF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FFD7BC2-DC91-531C-7F7D-7EFC323B5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746125"/>
            <a:ext cx="5067300" cy="720725"/>
          </a:xfrm>
        </p:spPr>
        <p:txBody>
          <a:bodyPr>
            <a:noAutofit/>
          </a:bodyPr>
          <a:lstStyle/>
          <a:p>
            <a:r>
              <a:rPr lang="de-DE" i="1" dirty="0"/>
              <a:t>System Workflow</a:t>
            </a:r>
            <a:endParaRPr lang="en-DE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9C3AC6-017E-DCD9-5DD6-0E3F024CF3C7}"/>
              </a:ext>
            </a:extLst>
          </p:cNvPr>
          <p:cNvSpPr txBox="1"/>
          <p:nvPr/>
        </p:nvSpPr>
        <p:spPr>
          <a:xfrm>
            <a:off x="714367" y="1379574"/>
            <a:ext cx="20008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 err="1"/>
              <a:t>Sequence</a:t>
            </a:r>
            <a:r>
              <a:rPr lang="de-DE" b="1" dirty="0"/>
              <a:t> </a:t>
            </a:r>
            <a:r>
              <a:rPr lang="de-DE" b="1" dirty="0" err="1"/>
              <a:t>Diagram</a:t>
            </a:r>
            <a:endParaRPr lang="en-DE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F75C88-764C-55C8-F2EF-C89218507E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323" y="1748906"/>
            <a:ext cx="5820696" cy="45491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04273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A2D84-176B-646E-EBD7-7BED7C110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00" y="745650"/>
            <a:ext cx="5605316" cy="646331"/>
          </a:xfrm>
        </p:spPr>
        <p:txBody>
          <a:bodyPr>
            <a:normAutofit fontScale="90000"/>
          </a:bodyPr>
          <a:lstStyle/>
          <a:p>
            <a:r>
              <a:rPr lang="de-DE" i="1" dirty="0"/>
              <a:t>Behavioral Models</a:t>
            </a:r>
            <a:endParaRPr lang="en-DE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067E7-6A4C-16FD-8C05-E76F8484CA2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03.07.2026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492F5F-70C6-F2A9-67B5-D6B5C7E0E5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26514A-9DC9-4DD5-FEC5-057298677C13}"/>
              </a:ext>
            </a:extLst>
          </p:cNvPr>
          <p:cNvSpPr txBox="1"/>
          <p:nvPr/>
        </p:nvSpPr>
        <p:spPr>
          <a:xfrm>
            <a:off x="714367" y="1379574"/>
            <a:ext cx="20008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FSM</a:t>
            </a:r>
            <a:endParaRPr lang="en-DE" b="1" dirty="0"/>
          </a:p>
        </p:txBody>
      </p:sp>
    </p:spTree>
    <p:extLst>
      <p:ext uri="{BB962C8B-B14F-4D97-AF65-F5344CB8AC3E}">
        <p14:creationId xmlns:p14="http://schemas.microsoft.com/office/powerpoint/2010/main" val="3251905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114AB-651C-C920-D3F1-730CE9FB8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600" y="642881"/>
            <a:ext cx="3543912" cy="772254"/>
          </a:xfrm>
        </p:spPr>
        <p:txBody>
          <a:bodyPr>
            <a:normAutofit/>
          </a:bodyPr>
          <a:lstStyle/>
          <a:p>
            <a:r>
              <a:rPr lang="de-DE" sz="3600" i="1" dirty="0">
                <a:solidFill>
                  <a:prstClr val="black"/>
                </a:solidFill>
              </a:rPr>
              <a:t>UPPAAL Model</a:t>
            </a:r>
            <a:endParaRPr lang="en-DE" sz="3600" i="1" dirty="0">
              <a:solidFill>
                <a:prstClr val="black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9AA14-9F8F-5672-5C66-06A69307C5F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03.07.2026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F3F053-9116-B064-F84F-6DE29FBBE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BEF85A-AE7D-16E7-9D93-D76D9E418AC1}"/>
              </a:ext>
            </a:extLst>
          </p:cNvPr>
          <p:cNvSpPr txBox="1"/>
          <p:nvPr/>
        </p:nvSpPr>
        <p:spPr>
          <a:xfrm>
            <a:off x="643084" y="141513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System Templates</a:t>
            </a:r>
            <a:endParaRPr lang="en-DE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6215B2-C6EC-C708-A07E-8E60737E3A57}"/>
              </a:ext>
            </a:extLst>
          </p:cNvPr>
          <p:cNvSpPr txBox="1"/>
          <p:nvPr/>
        </p:nvSpPr>
        <p:spPr>
          <a:xfrm>
            <a:off x="648000" y="179966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de-DE" dirty="0" err="1"/>
              <a:t>VehicleGenerator</a:t>
            </a:r>
            <a:endParaRPr lang="en-D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B6F53F-7386-4588-481A-2C6F44883EBD}"/>
              </a:ext>
            </a:extLst>
          </p:cNvPr>
          <p:cNvSpPr txBox="1"/>
          <p:nvPr/>
        </p:nvSpPr>
        <p:spPr>
          <a:xfrm>
            <a:off x="1440000" y="2201275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Generates </a:t>
            </a:r>
            <a:r>
              <a:rPr lang="de-DE" dirty="0" err="1"/>
              <a:t>vehicle</a:t>
            </a:r>
            <a:r>
              <a:rPr lang="de-DE" dirty="0"/>
              <a:t> </a:t>
            </a:r>
            <a:r>
              <a:rPr lang="de-DE" dirty="0" err="1"/>
              <a:t>requests</a:t>
            </a:r>
            <a:r>
              <a:rPr lang="de-DE" dirty="0"/>
              <a:t> </a:t>
            </a:r>
            <a:r>
              <a:rPr lang="de-DE" dirty="0" err="1"/>
              <a:t>dynamically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Assigns</a:t>
            </a:r>
            <a:r>
              <a:rPr lang="de-DE" dirty="0"/>
              <a:t> </a:t>
            </a:r>
            <a:r>
              <a:rPr lang="de-DE" dirty="0" err="1"/>
              <a:t>movement</a:t>
            </a:r>
            <a:r>
              <a:rPr lang="de-DE" dirty="0"/>
              <a:t> type + </a:t>
            </a:r>
            <a:r>
              <a:rPr lang="de-DE" dirty="0" err="1"/>
              <a:t>activates</a:t>
            </a:r>
            <a:r>
              <a:rPr lang="de-DE" dirty="0"/>
              <a:t> </a:t>
            </a:r>
            <a:r>
              <a:rPr lang="de-DE" dirty="0" err="1"/>
              <a:t>vehicles</a:t>
            </a:r>
            <a:endParaRPr lang="de-D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27CEFF-185A-A5F0-812B-C42AAAA07084}"/>
              </a:ext>
            </a:extLst>
          </p:cNvPr>
          <p:cNvSpPr txBox="1"/>
          <p:nvPr/>
        </p:nvSpPr>
        <p:spPr>
          <a:xfrm>
            <a:off x="648000" y="284356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de-DE" dirty="0"/>
              <a:t>Vehicle (Agent Model)</a:t>
            </a:r>
            <a:endParaRPr lang="en-DE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AA4485-2066-DCC3-C025-EF0EE1594509}"/>
              </a:ext>
            </a:extLst>
          </p:cNvPr>
          <p:cNvSpPr txBox="1"/>
          <p:nvPr/>
        </p:nvSpPr>
        <p:spPr>
          <a:xfrm>
            <a:off x="1440000" y="318002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Represents</a:t>
            </a:r>
            <a:r>
              <a:rPr lang="de-DE" dirty="0"/>
              <a:t> </a:t>
            </a:r>
            <a:r>
              <a:rPr lang="de-DE" dirty="0" err="1"/>
              <a:t>vehicle</a:t>
            </a:r>
            <a:r>
              <a:rPr lang="de-DE" dirty="0"/>
              <a:t> </a:t>
            </a:r>
            <a:r>
              <a:rPr lang="de-DE" dirty="0" err="1"/>
              <a:t>lifecycle</a:t>
            </a:r>
            <a:endParaRPr lang="en-DE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B46EBC-C22C-BF1D-CFF1-305C16BD73F4}"/>
              </a:ext>
            </a:extLst>
          </p:cNvPr>
          <p:cNvSpPr txBox="1"/>
          <p:nvPr/>
        </p:nvSpPr>
        <p:spPr>
          <a:xfrm>
            <a:off x="1440000" y="357818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idle</a:t>
            </a:r>
            <a:r>
              <a:rPr lang="de-DE" dirty="0"/>
              <a:t> → </a:t>
            </a:r>
            <a:r>
              <a:rPr lang="de-DE" dirty="0" err="1"/>
              <a:t>request</a:t>
            </a:r>
            <a:r>
              <a:rPr lang="de-DE" dirty="0"/>
              <a:t> → </a:t>
            </a:r>
            <a:r>
              <a:rPr lang="de-DE" dirty="0" err="1"/>
              <a:t>waiting</a:t>
            </a:r>
            <a:r>
              <a:rPr lang="de-DE" dirty="0"/>
              <a:t> → </a:t>
            </a:r>
            <a:r>
              <a:rPr lang="de-DE" dirty="0" err="1"/>
              <a:t>done</a:t>
            </a:r>
            <a:endParaRPr lang="en-DE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D5D314-B614-2B4B-A7F4-11829365C9DA}"/>
              </a:ext>
            </a:extLst>
          </p:cNvPr>
          <p:cNvSpPr txBox="1"/>
          <p:nvPr/>
        </p:nvSpPr>
        <p:spPr>
          <a:xfrm>
            <a:off x="643084" y="392142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de-DE" dirty="0"/>
              <a:t>Scheduler</a:t>
            </a:r>
            <a:endParaRPr lang="en-DE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F6FF25-7588-7668-2CC4-2D42F859EF4B}"/>
              </a:ext>
            </a:extLst>
          </p:cNvPr>
          <p:cNvSpPr txBox="1"/>
          <p:nvPr/>
        </p:nvSpPr>
        <p:spPr>
          <a:xfrm>
            <a:off x="1440000" y="4255823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Computes</a:t>
            </a:r>
            <a:r>
              <a:rPr lang="de-DE" dirty="0"/>
              <a:t> </a:t>
            </a:r>
            <a:r>
              <a:rPr lang="de-DE" dirty="0" err="1"/>
              <a:t>priority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aging</a:t>
            </a:r>
            <a:r>
              <a:rPr lang="de-DE" dirty="0"/>
              <a:t> + </a:t>
            </a:r>
            <a:r>
              <a:rPr lang="de-DE" dirty="0" err="1"/>
              <a:t>cost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Selects</a:t>
            </a:r>
            <a:r>
              <a:rPr lang="de-DE" dirty="0"/>
              <a:t> </a:t>
            </a:r>
            <a:r>
              <a:rPr lang="de-DE" dirty="0" err="1"/>
              <a:t>selectedVehicle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Produces</a:t>
            </a:r>
            <a:r>
              <a:rPr lang="de-DE" dirty="0"/>
              <a:t> </a:t>
            </a:r>
            <a:r>
              <a:rPr lang="de-DE" dirty="0" err="1"/>
              <a:t>scheduling</a:t>
            </a:r>
            <a:r>
              <a:rPr lang="de-DE" dirty="0"/>
              <a:t> </a:t>
            </a:r>
            <a:r>
              <a:rPr lang="de-DE" dirty="0" err="1"/>
              <a:t>decision</a:t>
            </a:r>
            <a:endParaRPr lang="en-DE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118485-7821-D6B4-2A6F-49E20F0D37C3}"/>
              </a:ext>
            </a:extLst>
          </p:cNvPr>
          <p:cNvSpPr txBox="1"/>
          <p:nvPr/>
        </p:nvSpPr>
        <p:spPr>
          <a:xfrm>
            <a:off x="648000" y="5142150"/>
            <a:ext cx="47342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4"/>
            </a:pPr>
            <a:r>
              <a:rPr lang="de-DE" dirty="0" err="1"/>
              <a:t>IntersectionController</a:t>
            </a:r>
            <a:endParaRPr lang="en-DE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1F7909-AF02-AEC9-33FB-2513BBA09737}"/>
              </a:ext>
            </a:extLst>
          </p:cNvPr>
          <p:cNvSpPr txBox="1"/>
          <p:nvPr/>
        </p:nvSpPr>
        <p:spPr>
          <a:xfrm>
            <a:off x="1440000" y="5478610"/>
            <a:ext cx="47342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Reserves</a:t>
            </a:r>
            <a:r>
              <a:rPr lang="de-DE" dirty="0"/>
              <a:t> </a:t>
            </a:r>
            <a:r>
              <a:rPr lang="de-DE" dirty="0" err="1"/>
              <a:t>intersection</a:t>
            </a:r>
            <a:r>
              <a:rPr lang="de-DE" dirty="0"/>
              <a:t> </a:t>
            </a:r>
            <a:r>
              <a:rPr lang="de-DE" dirty="0" err="1"/>
              <a:t>quadrants</a:t>
            </a:r>
            <a:r>
              <a:rPr lang="de-DE" dirty="0"/>
              <a:t> (Q1–Q4)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Executes</a:t>
            </a:r>
            <a:r>
              <a:rPr lang="de-DE" dirty="0"/>
              <a:t> </a:t>
            </a:r>
            <a:r>
              <a:rPr lang="de-DE" dirty="0" err="1"/>
              <a:t>movement</a:t>
            </a:r>
            <a:r>
              <a:rPr lang="de-DE" dirty="0"/>
              <a:t> </a:t>
            </a:r>
            <a:r>
              <a:rPr lang="de-DE" dirty="0" err="1"/>
              <a:t>safely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Releases </a:t>
            </a:r>
            <a:r>
              <a:rPr lang="de-DE" dirty="0" err="1"/>
              <a:t>resources</a:t>
            </a:r>
            <a:r>
              <a:rPr lang="de-DE" dirty="0"/>
              <a:t> after </a:t>
            </a:r>
            <a:r>
              <a:rPr lang="de-DE" dirty="0" err="1"/>
              <a:t>execution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216875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114AB-651C-C920-D3F1-730CE9FB8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600" y="642881"/>
            <a:ext cx="3543912" cy="772254"/>
          </a:xfrm>
        </p:spPr>
        <p:txBody>
          <a:bodyPr>
            <a:normAutofit/>
          </a:bodyPr>
          <a:lstStyle/>
          <a:p>
            <a:r>
              <a:rPr lang="de-DE" sz="3600" i="1" dirty="0">
                <a:solidFill>
                  <a:prstClr val="black"/>
                </a:solidFill>
              </a:rPr>
              <a:t>UPPAAL Model</a:t>
            </a:r>
            <a:endParaRPr lang="en-DE" sz="3600" i="1" dirty="0">
              <a:solidFill>
                <a:prstClr val="black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9AA14-9F8F-5672-5C66-06A69307C5F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03.07.2026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F3F053-9116-B064-F84F-6DE29FBBE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BEF85A-AE7D-16E7-9D93-D76D9E418AC1}"/>
              </a:ext>
            </a:extLst>
          </p:cNvPr>
          <p:cNvSpPr txBox="1"/>
          <p:nvPr/>
        </p:nvSpPr>
        <p:spPr>
          <a:xfrm>
            <a:off x="552600" y="132664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Scheduling </a:t>
            </a:r>
            <a:r>
              <a:rPr lang="de-DE" b="1" dirty="0" err="1"/>
              <a:t>policy</a:t>
            </a:r>
            <a:r>
              <a:rPr lang="de-DE" b="1" dirty="0"/>
              <a:t> </a:t>
            </a:r>
            <a:endParaRPr lang="en-DE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EDBC81-1602-B4CE-D26A-64BC7FB9160D}"/>
              </a:ext>
            </a:extLst>
          </p:cNvPr>
          <p:cNvSpPr txBox="1"/>
          <p:nvPr/>
        </p:nvSpPr>
        <p:spPr>
          <a:xfrm>
            <a:off x="552600" y="1628654"/>
            <a:ext cx="78578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reservation-based, conflict-aware scheduling policy</a:t>
            </a:r>
            <a:r>
              <a:rPr lang="en-US" dirty="0"/>
              <a:t> selects vehicles for safe intersection access while ensuring fairness and real-time constraints.</a:t>
            </a:r>
            <a:endParaRPr lang="en-D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966F8A-03DB-F823-8584-75903414E42A}"/>
              </a:ext>
            </a:extLst>
          </p:cNvPr>
          <p:cNvSpPr txBox="1"/>
          <p:nvPr/>
        </p:nvSpPr>
        <p:spPr>
          <a:xfrm>
            <a:off x="1106129" y="2219781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Triggered when </a:t>
            </a:r>
            <a:r>
              <a:rPr lang="en-US" dirty="0" err="1"/>
              <a:t>queue_len</a:t>
            </a:r>
            <a:r>
              <a:rPr lang="en-US" dirty="0"/>
              <a:t> &gt;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Computes: score = </a:t>
            </a:r>
            <a:r>
              <a:rPr lang="en-US" dirty="0" err="1"/>
              <a:t>waitTime</a:t>
            </a:r>
            <a:r>
              <a:rPr lang="en-US" dirty="0"/>
              <a:t> − cost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Selects vehicle with highest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Output: </a:t>
            </a:r>
            <a:r>
              <a:rPr lang="en-US" dirty="0" err="1"/>
              <a:t>selectedVehicle</a:t>
            </a:r>
            <a:endParaRPr lang="en-DE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84A87B1-DACB-B0E9-B0DB-ABFEA991E7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810271"/>
              </p:ext>
            </p:extLst>
          </p:nvPr>
        </p:nvGraphicFramePr>
        <p:xfrm>
          <a:off x="552600" y="3490389"/>
          <a:ext cx="7647500" cy="275940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11875">
                  <a:extLst>
                    <a:ext uri="{9D8B030D-6E8A-4147-A177-3AD203B41FA5}">
                      <a16:colId xmlns:a16="http://schemas.microsoft.com/office/drawing/2014/main" val="1381788551"/>
                    </a:ext>
                  </a:extLst>
                </a:gridCol>
                <a:gridCol w="1763396">
                  <a:extLst>
                    <a:ext uri="{9D8B030D-6E8A-4147-A177-3AD203B41FA5}">
                      <a16:colId xmlns:a16="http://schemas.microsoft.com/office/drawing/2014/main" val="1566798491"/>
                    </a:ext>
                  </a:extLst>
                </a:gridCol>
                <a:gridCol w="2060354">
                  <a:extLst>
                    <a:ext uri="{9D8B030D-6E8A-4147-A177-3AD203B41FA5}">
                      <a16:colId xmlns:a16="http://schemas.microsoft.com/office/drawing/2014/main" val="2857545442"/>
                    </a:ext>
                  </a:extLst>
                </a:gridCol>
                <a:gridCol w="1911875">
                  <a:extLst>
                    <a:ext uri="{9D8B030D-6E8A-4147-A177-3AD203B41FA5}">
                      <a16:colId xmlns:a16="http://schemas.microsoft.com/office/drawing/2014/main" val="376275336"/>
                    </a:ext>
                  </a:extLst>
                </a:gridCol>
              </a:tblGrid>
              <a:tr h="422812">
                <a:tc>
                  <a:txBody>
                    <a:bodyPr/>
                    <a:lstStyle/>
                    <a:p>
                      <a:r>
                        <a:rPr lang="de-DE" sz="1400"/>
                        <a:t>Trade-off Dimension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Design Choice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Benefit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Limitation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5910068"/>
                  </a:ext>
                </a:extLst>
              </a:tr>
              <a:tr h="778864">
                <a:tc>
                  <a:txBody>
                    <a:bodyPr/>
                    <a:lstStyle/>
                    <a:p>
                      <a:r>
                        <a:rPr lang="de-DE" sz="1400" dirty="0"/>
                        <a:t>Fairness </a:t>
                      </a:r>
                      <a:r>
                        <a:rPr lang="de-DE" sz="1400" dirty="0" err="1"/>
                        <a:t>vs</a:t>
                      </a:r>
                      <a:r>
                        <a:rPr lang="de-DE" sz="1400" dirty="0"/>
                        <a:t> Efficiency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Aging (waitTime) + cost-aware scoring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Prevents starvation, prioritizes waiting vehicles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May select less optimal routes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9628781"/>
                  </a:ext>
                </a:extLst>
              </a:tr>
              <a:tr h="956890">
                <a:tc>
                  <a:txBody>
                    <a:bodyPr/>
                    <a:lstStyle/>
                    <a:p>
                      <a:r>
                        <a:rPr lang="de-DE" sz="1400"/>
                        <a:t>Optimality vs Real-Time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Greedy single-step selection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Bounded computation time, predictable behavior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 global optimization or future prediction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906648"/>
                  </a:ext>
                </a:extLst>
              </a:tr>
              <a:tr h="600838">
                <a:tc>
                  <a:txBody>
                    <a:bodyPr/>
                    <a:lstStyle/>
                    <a:p>
                      <a:r>
                        <a:rPr lang="de-DE" sz="1400"/>
                        <a:t>Safety vs Throughput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400"/>
                        <a:t>Strict quadrant reservation (Q1–Q4)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Collision-free execution guarantee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Limits parallel </a:t>
                      </a:r>
                      <a:r>
                        <a:rPr lang="de-DE" sz="1400" dirty="0" err="1"/>
                        <a:t>vehicle</a:t>
                      </a:r>
                      <a:r>
                        <a:rPr lang="de-DE" sz="1400" dirty="0"/>
                        <a:t> </a:t>
                      </a:r>
                      <a:r>
                        <a:rPr lang="de-DE" sz="1400" dirty="0" err="1"/>
                        <a:t>movement</a:t>
                      </a:r>
                      <a:endParaRPr lang="de-D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7743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0056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114AB-651C-C920-D3F1-730CE9FB8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600" y="642881"/>
            <a:ext cx="3543912" cy="772254"/>
          </a:xfrm>
        </p:spPr>
        <p:txBody>
          <a:bodyPr>
            <a:normAutofit/>
          </a:bodyPr>
          <a:lstStyle/>
          <a:p>
            <a:r>
              <a:rPr lang="de-DE" sz="3600" i="1" dirty="0" err="1">
                <a:solidFill>
                  <a:prstClr val="black"/>
                </a:solidFill>
              </a:rPr>
              <a:t>Verification</a:t>
            </a:r>
            <a:endParaRPr lang="en-DE" sz="3600" i="1" dirty="0">
              <a:solidFill>
                <a:prstClr val="black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9AA14-9F8F-5672-5C66-06A69307C5F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03.07.2026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F3F053-9116-B064-F84F-6DE29FBBE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10</a:t>
            </a:fld>
            <a:endParaRPr lang="de-D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9B1453-D803-B787-ADC3-93B28EBFA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058" y="1117914"/>
            <a:ext cx="2855020" cy="11512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35F790B-7499-A98F-8A11-95704B231B57}"/>
              </a:ext>
            </a:extLst>
          </p:cNvPr>
          <p:cNvSpPr txBox="1"/>
          <p:nvPr/>
        </p:nvSpPr>
        <p:spPr>
          <a:xfrm>
            <a:off x="556743" y="141513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 err="1"/>
              <a:t>Objective</a:t>
            </a:r>
            <a:endParaRPr lang="en-DE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EC9AB2-2A27-5833-FDEC-6438FB1335F8}"/>
              </a:ext>
            </a:extLst>
          </p:cNvPr>
          <p:cNvSpPr txBox="1"/>
          <p:nvPr/>
        </p:nvSpPr>
        <p:spPr>
          <a:xfrm>
            <a:off x="1509252" y="2062874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safe (no collisions)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live (progress guaranteed)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deadlock-free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real-time compliant</a:t>
            </a:r>
            <a:endParaRPr lang="en-D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34F103-0E93-55D3-B249-CC949B688911}"/>
              </a:ext>
            </a:extLst>
          </p:cNvPr>
          <p:cNvSpPr txBox="1"/>
          <p:nvPr/>
        </p:nvSpPr>
        <p:spPr>
          <a:xfrm>
            <a:off x="556743" y="169354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Ensure the system is:</a:t>
            </a:r>
            <a:endParaRPr lang="en-DE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E7DCFC-EEBF-1A9E-1653-2619C98B394F}"/>
              </a:ext>
            </a:extLst>
          </p:cNvPr>
          <p:cNvSpPr txBox="1"/>
          <p:nvPr/>
        </p:nvSpPr>
        <p:spPr>
          <a:xfrm>
            <a:off x="552600" y="326077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Safety</a:t>
            </a:r>
            <a:r>
              <a:rPr lang="de-DE" dirty="0"/>
              <a:t> Properties</a:t>
            </a:r>
            <a:endParaRPr lang="en-DE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C845BC2-B49D-B3D6-6815-C3FDFF56B7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378209"/>
              </p:ext>
            </p:extLst>
          </p:nvPr>
        </p:nvGraphicFramePr>
        <p:xfrm>
          <a:off x="2075372" y="3745478"/>
          <a:ext cx="5131674" cy="21640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565837">
                  <a:extLst>
                    <a:ext uri="{9D8B030D-6E8A-4147-A177-3AD203B41FA5}">
                      <a16:colId xmlns:a16="http://schemas.microsoft.com/office/drawing/2014/main" val="782185988"/>
                    </a:ext>
                  </a:extLst>
                </a:gridCol>
                <a:gridCol w="2565837">
                  <a:extLst>
                    <a:ext uri="{9D8B030D-6E8A-4147-A177-3AD203B41FA5}">
                      <a16:colId xmlns:a16="http://schemas.microsoft.com/office/drawing/2014/main" val="232481964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de-DE" sz="1400"/>
                        <a:t>Property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298555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de-DE" sz="1400"/>
                        <a:t>A[] not (Q1 &amp;&amp; Q4)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 conflicting vehicles occupy same intersection space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517474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de-DE" sz="1400"/>
                        <a:t>A[] not (Q2 &amp;&amp; Q3)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Mutual exclusion in crossing zones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264404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400"/>
                        <a:t>A[] system_busy imply !(Q1 &amp;&amp; Q2 &amp;&amp; Q3 &amp;&amp; Q4)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Intersection cannot be in invalid full-state overlap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4518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7012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114AB-651C-C920-D3F1-730CE9FB8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600" y="642881"/>
            <a:ext cx="3543912" cy="772254"/>
          </a:xfrm>
        </p:spPr>
        <p:txBody>
          <a:bodyPr>
            <a:normAutofit/>
          </a:bodyPr>
          <a:lstStyle/>
          <a:p>
            <a:r>
              <a:rPr lang="de-DE" sz="3600" i="1" dirty="0" err="1">
                <a:solidFill>
                  <a:prstClr val="black"/>
                </a:solidFill>
              </a:rPr>
              <a:t>Verification</a:t>
            </a:r>
            <a:endParaRPr lang="en-DE" sz="3600" i="1" dirty="0">
              <a:solidFill>
                <a:prstClr val="black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9AA14-9F8F-5672-5C66-06A69307C5F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03.07.2026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F3F053-9116-B064-F84F-6DE29FBBE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C994E7-4D9E-0D6D-C9FF-283AFAA06126}"/>
              </a:ext>
            </a:extLst>
          </p:cNvPr>
          <p:cNvSpPr txBox="1"/>
          <p:nvPr/>
        </p:nvSpPr>
        <p:spPr>
          <a:xfrm>
            <a:off x="552600" y="134845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 err="1"/>
              <a:t>Liveness</a:t>
            </a:r>
            <a:r>
              <a:rPr lang="de-DE" b="1" dirty="0"/>
              <a:t> Properties (Progress)</a:t>
            </a:r>
            <a:endParaRPr lang="en-DE" b="1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7091C2F-F82A-6DDD-99D1-06F432DE5F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7445704"/>
              </p:ext>
            </p:extLst>
          </p:nvPr>
        </p:nvGraphicFramePr>
        <p:xfrm>
          <a:off x="854177" y="2000885"/>
          <a:ext cx="6795320" cy="16459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397660">
                  <a:extLst>
                    <a:ext uri="{9D8B030D-6E8A-4147-A177-3AD203B41FA5}">
                      <a16:colId xmlns:a16="http://schemas.microsoft.com/office/drawing/2014/main" val="331300063"/>
                    </a:ext>
                  </a:extLst>
                </a:gridCol>
                <a:gridCol w="3397660">
                  <a:extLst>
                    <a:ext uri="{9D8B030D-6E8A-4147-A177-3AD203B41FA5}">
                      <a16:colId xmlns:a16="http://schemas.microsoft.com/office/drawing/2014/main" val="205733244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de-DE" sz="1800"/>
                        <a:t>Property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800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751824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de-DE" sz="1800"/>
                        <a:t>A&lt;&gt; Scheduler.Propose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Scheduler eventually makes a decision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11817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de-DE" sz="1800"/>
                        <a:t>A&lt;&gt; IntersectionController.Execute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800" dirty="0" err="1"/>
                        <a:t>Vehicles</a:t>
                      </a:r>
                      <a:r>
                        <a:rPr lang="de-DE" sz="1800" dirty="0"/>
                        <a:t> </a:t>
                      </a:r>
                      <a:r>
                        <a:rPr lang="de-DE" sz="1800" dirty="0" err="1"/>
                        <a:t>eventually</a:t>
                      </a:r>
                      <a:r>
                        <a:rPr lang="de-DE" sz="1800" dirty="0"/>
                        <a:t> </a:t>
                      </a:r>
                      <a:r>
                        <a:rPr lang="de-DE" sz="1800" dirty="0" err="1"/>
                        <a:t>cross</a:t>
                      </a:r>
                      <a:r>
                        <a:rPr lang="de-DE" sz="1800" dirty="0"/>
                        <a:t> </a:t>
                      </a:r>
                      <a:r>
                        <a:rPr lang="de-DE" sz="1800" dirty="0" err="1"/>
                        <a:t>intersection</a:t>
                      </a:r>
                      <a:endParaRPr lang="de-DE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476867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421403C-CE5A-A85B-0114-02C4EE74B94C}"/>
              </a:ext>
            </a:extLst>
          </p:cNvPr>
          <p:cNvSpPr txBox="1"/>
          <p:nvPr/>
        </p:nvSpPr>
        <p:spPr>
          <a:xfrm>
            <a:off x="551371" y="392990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Real-Time </a:t>
            </a:r>
            <a:r>
              <a:rPr lang="de-DE" b="1" dirty="0" err="1"/>
              <a:t>Constraints</a:t>
            </a:r>
            <a:endParaRPr lang="en-DE" b="1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DF995FC-2861-8142-791E-CAF978FF1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7303653"/>
              </p:ext>
            </p:extLst>
          </p:nvPr>
        </p:nvGraphicFramePr>
        <p:xfrm>
          <a:off x="685058" y="4518829"/>
          <a:ext cx="7133558" cy="16459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566779">
                  <a:extLst>
                    <a:ext uri="{9D8B030D-6E8A-4147-A177-3AD203B41FA5}">
                      <a16:colId xmlns:a16="http://schemas.microsoft.com/office/drawing/2014/main" val="2727349905"/>
                    </a:ext>
                  </a:extLst>
                </a:gridCol>
                <a:gridCol w="3566779">
                  <a:extLst>
                    <a:ext uri="{9D8B030D-6E8A-4147-A177-3AD203B41FA5}">
                      <a16:colId xmlns:a16="http://schemas.microsoft.com/office/drawing/2014/main" val="17218872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de-DE" sz="1800"/>
                        <a:t>Property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800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747113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/>
                        <a:t>A[] sched_clk &lt;= SCHED_DEADLINE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Scheduling completes within bounded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722423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A[] exec_clk &lt;= SLOT_TIME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Execution is time-bounded per vehicle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16009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7752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114AB-651C-C920-D3F1-730CE9FB8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600" y="642881"/>
            <a:ext cx="3543912" cy="772254"/>
          </a:xfrm>
        </p:spPr>
        <p:txBody>
          <a:bodyPr>
            <a:normAutofit/>
          </a:bodyPr>
          <a:lstStyle/>
          <a:p>
            <a:r>
              <a:rPr lang="de-DE" sz="3600" i="1" dirty="0" err="1">
                <a:solidFill>
                  <a:prstClr val="black"/>
                </a:solidFill>
              </a:rPr>
              <a:t>Verification</a:t>
            </a:r>
            <a:endParaRPr lang="en-DE" sz="3600" i="1" dirty="0">
              <a:solidFill>
                <a:prstClr val="black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9AA14-9F8F-5672-5C66-06A69307C5F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03.07.2026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F3F053-9116-B064-F84F-6DE29FBBE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12</a:t>
            </a:fld>
            <a:endParaRPr lang="de-D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9B1453-D803-B787-ADC3-93B28EBFA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53" y="1779639"/>
            <a:ext cx="7878799" cy="3630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762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D1727-9B0C-C4BD-E9E7-296C9A0FEE7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03.07.2026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413D7D-33E5-A9C6-A049-1AC0A9A987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13</a:t>
            </a:fld>
            <a:endParaRPr lang="de-DE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EC4DEB-9E43-2B65-C4CB-046D8E789F7C}"/>
              </a:ext>
            </a:extLst>
          </p:cNvPr>
          <p:cNvSpPr txBox="1">
            <a:spLocks/>
          </p:cNvSpPr>
          <p:nvPr/>
        </p:nvSpPr>
        <p:spPr>
          <a:xfrm>
            <a:off x="552600" y="642881"/>
            <a:ext cx="5622058" cy="772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Source Sans Pro"/>
                <a:ea typeface="+mj-ea"/>
                <a:cs typeface="Source Sans Pro"/>
              </a:defRPr>
            </a:lvl1pPr>
          </a:lstStyle>
          <a:p>
            <a:r>
              <a:rPr lang="de-DE" sz="3600" i="1" dirty="0"/>
              <a:t>Implementation Mapping</a:t>
            </a:r>
            <a:endParaRPr lang="en-DE" sz="3600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A2CD5A-5408-87F7-A102-2CBDD5E481BC}"/>
              </a:ext>
            </a:extLst>
          </p:cNvPr>
          <p:cNvSpPr txBox="1"/>
          <p:nvPr/>
        </p:nvSpPr>
        <p:spPr>
          <a:xfrm>
            <a:off x="2286000" y="3246792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FreeRTOS</a:t>
            </a:r>
            <a:r>
              <a:rPr lang="en-US" dirty="0"/>
              <a:t> tasks mapping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VHDL FSM mapping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C3087C-04D4-8B44-35C3-44FFB7908807}"/>
              </a:ext>
            </a:extLst>
          </p:cNvPr>
          <p:cNvSpPr txBox="1"/>
          <p:nvPr/>
        </p:nvSpPr>
        <p:spPr>
          <a:xfrm>
            <a:off x="2320413" y="401482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is how it runs on real systems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539735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8D7A7-34FA-411B-AE59-B56DF653808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03.07.2026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86DE09-7500-6AF8-02AF-B2853A55B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14</a:t>
            </a:fld>
            <a:endParaRPr lang="de-D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26F1CD-1E99-6452-45DD-3A9E85A59FCC}"/>
              </a:ext>
            </a:extLst>
          </p:cNvPr>
          <p:cNvSpPr txBox="1"/>
          <p:nvPr/>
        </p:nvSpPr>
        <p:spPr>
          <a:xfrm>
            <a:off x="657144" y="664387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DE" sz="3600" b="1" i="1" dirty="0">
              <a:solidFill>
                <a:prstClr val="black"/>
              </a:solidFill>
              <a:latin typeface="Source Sans Pro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5C29CF-1F3F-8FDE-D301-4DE581BA5F19}"/>
              </a:ext>
            </a:extLst>
          </p:cNvPr>
          <p:cNvSpPr txBox="1"/>
          <p:nvPr/>
        </p:nvSpPr>
        <p:spPr>
          <a:xfrm>
            <a:off x="1315512" y="1723196"/>
            <a:ext cx="7216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DF67BE-8A33-BAD1-6F0E-8CCA6D54DA1E}"/>
              </a:ext>
            </a:extLst>
          </p:cNvPr>
          <p:cNvSpPr txBox="1"/>
          <p:nvPr/>
        </p:nvSpPr>
        <p:spPr>
          <a:xfrm>
            <a:off x="648000" y="131071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de-DE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180022-8FE9-FD12-61FF-6FBDC47D72A3}"/>
              </a:ext>
            </a:extLst>
          </p:cNvPr>
          <p:cNvSpPr txBox="1"/>
          <p:nvPr/>
        </p:nvSpPr>
        <p:spPr>
          <a:xfrm>
            <a:off x="1895928" y="2396983"/>
            <a:ext cx="5591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§"/>
            </a:pPr>
            <a:endParaRPr lang="de-DE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A2DDA8-965E-C574-E036-0F1F96BFEAC5}"/>
              </a:ext>
            </a:extLst>
          </p:cNvPr>
          <p:cNvSpPr txBox="1"/>
          <p:nvPr/>
        </p:nvSpPr>
        <p:spPr>
          <a:xfrm>
            <a:off x="1315512" y="302453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CCC4D8-692F-137C-980B-0FFF26942730}"/>
              </a:ext>
            </a:extLst>
          </p:cNvPr>
          <p:cNvSpPr txBox="1"/>
          <p:nvPr/>
        </p:nvSpPr>
        <p:spPr>
          <a:xfrm>
            <a:off x="1937304" y="3429000"/>
            <a:ext cx="3950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§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966801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22670-7F8E-F07F-6EFF-EBF819E930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03.07.2026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5399D2-3261-AEDC-138E-EB27E3338C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15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300429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B8CE0-60CA-57D5-6CD9-A0A030B3C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00" y="745650"/>
            <a:ext cx="2442672" cy="607662"/>
          </a:xfrm>
        </p:spPr>
        <p:txBody>
          <a:bodyPr>
            <a:normAutofit fontScale="90000"/>
          </a:bodyPr>
          <a:lstStyle/>
          <a:p>
            <a:r>
              <a:rPr lang="de-DE" sz="3600" i="1" dirty="0" err="1">
                <a:solidFill>
                  <a:prstClr val="black"/>
                </a:solidFill>
                <a:cs typeface="+mn-cs"/>
              </a:rPr>
              <a:t>Conclusion</a:t>
            </a:r>
            <a:endParaRPr lang="en-DE" sz="3600" i="1" dirty="0">
              <a:solidFill>
                <a:prstClr val="black"/>
              </a:solidFill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D1DE7-E8DD-09CD-1199-9440A4F1292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03.07.2026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174174-ED98-D8A7-A9FE-C932E6666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16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745610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37CDA-4CDF-9195-4543-5ECB686DE05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03.07.2026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07D9B9-B6BC-AEB2-D58E-E48CF4F428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17</a:t>
            </a:fld>
            <a:endParaRPr lang="de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AADA15-D0FD-812D-170E-963195BF8DA6}"/>
              </a:ext>
            </a:extLst>
          </p:cNvPr>
          <p:cNvSpPr txBox="1"/>
          <p:nvPr/>
        </p:nvSpPr>
        <p:spPr>
          <a:xfrm>
            <a:off x="657144" y="664387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600" b="1" i="1" dirty="0" err="1">
                <a:solidFill>
                  <a:prstClr val="black"/>
                </a:solidFill>
                <a:latin typeface="Source Sans Pro"/>
                <a:ea typeface="+mj-ea"/>
              </a:rPr>
              <a:t>Refereneces</a:t>
            </a:r>
            <a:endParaRPr lang="en-DE" sz="3600" b="1" i="1" dirty="0">
              <a:solidFill>
                <a:prstClr val="black"/>
              </a:solidFill>
              <a:latin typeface="Source Sans Pro"/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BAB230-F4D2-D394-EEE6-BB6407E239DE}"/>
              </a:ext>
            </a:extLst>
          </p:cNvPr>
          <p:cNvSpPr txBox="1"/>
          <p:nvPr/>
        </p:nvSpPr>
        <p:spPr>
          <a:xfrm>
            <a:off x="292568" y="1435114"/>
            <a:ext cx="82443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[1] M. </a:t>
            </a:r>
            <a:r>
              <a:rPr lang="en-US" dirty="0" err="1"/>
              <a:t>Dresner</a:t>
            </a:r>
            <a:r>
              <a:rPr lang="en-US" dirty="0"/>
              <a:t> and P. Stone, “A Multiagent Approach to Autonomous Intersection Management,” </a:t>
            </a:r>
            <a:r>
              <a:rPr lang="en-US" i="1" dirty="0"/>
              <a:t>Journal of Artificial Intelligence Research</a:t>
            </a:r>
            <a:r>
              <a:rPr lang="en-US" dirty="0"/>
              <a:t>, 2008.</a:t>
            </a:r>
            <a:endParaRPr lang="en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572A64-F0A1-B598-2E15-0A8BBACB040B}"/>
              </a:ext>
            </a:extLst>
          </p:cNvPr>
          <p:cNvSpPr txBox="1"/>
          <p:nvPr/>
        </p:nvSpPr>
        <p:spPr>
          <a:xfrm>
            <a:off x="292568" y="2081445"/>
            <a:ext cx="82443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[2] H. Hartenstein and K. </a:t>
            </a:r>
            <a:r>
              <a:rPr lang="de-DE" dirty="0" err="1"/>
              <a:t>Laberteaux</a:t>
            </a:r>
            <a:r>
              <a:rPr lang="de-DE" dirty="0"/>
              <a:t>, “A Tutorial Survey on </a:t>
            </a:r>
            <a:r>
              <a:rPr lang="de-DE" dirty="0" err="1"/>
              <a:t>Vehicular</a:t>
            </a:r>
            <a:r>
              <a:rPr lang="de-DE" dirty="0"/>
              <a:t> Ad Hoc Networks,” </a:t>
            </a:r>
            <a:r>
              <a:rPr lang="de-DE" i="1" dirty="0"/>
              <a:t>IEEE Communications Magazine</a:t>
            </a:r>
            <a:r>
              <a:rPr lang="de-DE" dirty="0"/>
              <a:t>, 2008.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166849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ACA37-32B3-F8DC-C407-B770EAA17F2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03.07.2026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CE3ED2-7472-DE4C-975C-3FC79575B0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18</a:t>
            </a:fld>
            <a:endParaRPr lang="de-D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C1C536-9D42-3D7C-6251-2D6238BDC84F}"/>
              </a:ext>
            </a:extLst>
          </p:cNvPr>
          <p:cNvSpPr/>
          <p:nvPr/>
        </p:nvSpPr>
        <p:spPr>
          <a:xfrm>
            <a:off x="2531806" y="2657167"/>
            <a:ext cx="4080387" cy="1543665"/>
          </a:xfrm>
          <a:prstGeom prst="rect">
            <a:avLst/>
          </a:prstGeom>
          <a:solidFill>
            <a:srgbClr val="92D05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400" b="1" dirty="0"/>
              <a:t>Q &amp; A</a:t>
            </a:r>
            <a:endParaRPr lang="en-DE" sz="4400" b="1" dirty="0"/>
          </a:p>
        </p:txBody>
      </p:sp>
    </p:spTree>
    <p:extLst>
      <p:ext uri="{BB962C8B-B14F-4D97-AF65-F5344CB8AC3E}">
        <p14:creationId xmlns:p14="http://schemas.microsoft.com/office/powerpoint/2010/main" val="18335170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5DC7B-70F0-F30B-AAC5-B0658C29C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Appendix</a:t>
            </a:r>
            <a:endParaRPr lang="en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CD8E2-33F8-AD35-74CA-355E77BE54F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03.07.2026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19A2D0-C386-B8B9-9C8A-6DFE31C25D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19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019391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4070FE-F5FB-AA7B-95E6-3377C2DFA3A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60000" y="720000"/>
            <a:ext cx="70923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i="1" dirty="0"/>
              <a:t>Problem Statement </a:t>
            </a:r>
            <a:endParaRPr lang="en-DE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E188FE-96AD-3E06-6E67-663C5C76DCAC}"/>
              </a:ext>
            </a:extLst>
          </p:cNvPr>
          <p:cNvSpPr txBox="1"/>
          <p:nvPr/>
        </p:nvSpPr>
        <p:spPr>
          <a:xfrm>
            <a:off x="7886700" y="5960641"/>
            <a:ext cx="736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[1][2]</a:t>
            </a:r>
            <a:endParaRPr lang="en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782109-09AE-D275-8D9D-52DC0F066248}"/>
              </a:ext>
            </a:extLst>
          </p:cNvPr>
          <p:cNvSpPr txBox="1"/>
          <p:nvPr/>
        </p:nvSpPr>
        <p:spPr>
          <a:xfrm>
            <a:off x="1620179" y="1860731"/>
            <a:ext cx="564585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static signal timing → inefficient utilization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high waiting times under variable traffic load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limited adaptability to autonomous vehicles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lack of global coordination between vehicles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10C97B-C9FF-ABD1-5A55-5D38DC26471B}"/>
              </a:ext>
            </a:extLst>
          </p:cNvPr>
          <p:cNvSpPr txBox="1"/>
          <p:nvPr/>
        </p:nvSpPr>
        <p:spPr>
          <a:xfrm>
            <a:off x="360000" y="150634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Traditional traffic systems suffer from: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87BB7C-4FCE-F4F6-FCC3-6DAD763A512B}"/>
              </a:ext>
            </a:extLst>
          </p:cNvPr>
          <p:cNvSpPr txBox="1"/>
          <p:nvPr/>
        </p:nvSpPr>
        <p:spPr>
          <a:xfrm>
            <a:off x="360000" y="319939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Core Challenge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2EC948-6D21-2EF9-C034-64BA8FAEEF6D}"/>
              </a:ext>
            </a:extLst>
          </p:cNvPr>
          <p:cNvSpPr txBox="1"/>
          <p:nvPr/>
        </p:nvSpPr>
        <p:spPr>
          <a:xfrm>
            <a:off x="1150372" y="3568728"/>
            <a:ext cx="521601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dynamically schedules vehicles.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ensures collision-free intersection access.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satisfies real-time constraints.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is implementable on embedded systems.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091084-4AA2-2A61-8CC1-AFB7DFF39C70}"/>
              </a:ext>
            </a:extLst>
          </p:cNvPr>
          <p:cNvSpPr txBox="1"/>
          <p:nvPr/>
        </p:nvSpPr>
        <p:spPr>
          <a:xfrm>
            <a:off x="346374" y="4813995"/>
            <a:ext cx="27284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Project Objectives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694128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PowerPoint_Template</Template>
  <TotalTime>0</TotalTime>
  <Words>818</Words>
  <Application>Microsoft Office PowerPoint</Application>
  <PresentationFormat>On-screen Show (4:3)</PresentationFormat>
  <Paragraphs>185</Paragraphs>
  <Slides>20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Source Sans Pro</vt:lpstr>
      <vt:lpstr>Wingdings</vt:lpstr>
      <vt:lpstr>Office-Design</vt:lpstr>
      <vt:lpstr>Office Theme</vt:lpstr>
      <vt:lpstr>PowerPoint Presentation</vt:lpstr>
      <vt:lpstr>Motivation</vt:lpstr>
      <vt:lpstr>Objectives</vt:lpstr>
      <vt:lpstr>Requirments</vt:lpstr>
      <vt:lpstr>System Architecture</vt:lpstr>
      <vt:lpstr>System Workflow</vt:lpstr>
      <vt:lpstr>Behavioral Models</vt:lpstr>
      <vt:lpstr>UPPAAL Model</vt:lpstr>
      <vt:lpstr>UPPAAL Model</vt:lpstr>
      <vt:lpstr>Verification</vt:lpstr>
      <vt:lpstr>Verification</vt:lpstr>
      <vt:lpstr>Verification</vt:lpstr>
      <vt:lpstr>PowerPoint Presentation</vt:lpstr>
      <vt:lpstr>PowerPoint Presentation</vt:lpstr>
      <vt:lpstr>PowerPoint Presentation</vt:lpstr>
      <vt:lpstr>Conclusion</vt:lpstr>
      <vt:lpstr>PowerPoint Presentation</vt:lpstr>
      <vt:lpstr>PowerPoint Presentation</vt:lpstr>
      <vt:lpstr>Appendix</vt:lpstr>
      <vt:lpstr>Problem Statement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nader yahia</dc:creator>
  <cp:lastModifiedBy>nader yahia</cp:lastModifiedBy>
  <cp:revision>64</cp:revision>
  <dcterms:created xsi:type="dcterms:W3CDTF">2026-06-13T16:58:24Z</dcterms:created>
  <dcterms:modified xsi:type="dcterms:W3CDTF">2026-07-03T08:17:40Z</dcterms:modified>
</cp:coreProperties>
</file>